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4"/>
  </p:sldMasterIdLst>
  <p:notesMasterIdLst>
    <p:notesMasterId r:id="rId6"/>
  </p:notesMasterIdLst>
  <p:sldIdLst>
    <p:sldId id="256" r:id="rId5"/>
  </p:sldIdLst>
  <p:sldSz cx="35999738" cy="251999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E3E3"/>
    <a:srgbClr val="19BAEE"/>
    <a:srgbClr val="F5F5F5"/>
    <a:srgbClr val="DEDEDE"/>
    <a:srgbClr val="99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241"/>
    <p:restoredTop sz="94478"/>
  </p:normalViewPr>
  <p:slideViewPr>
    <p:cSldViewPr snapToGrid="0">
      <p:cViewPr>
        <p:scale>
          <a:sx n="30" d="100"/>
          <a:sy n="30" d="100"/>
        </p:scale>
        <p:origin x="1744" y="216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3C07F9-1B79-424C-9BBA-83FE565097F5}" type="datetimeFigureOut">
              <a:rPr lang="en-IL" smtClean="0"/>
              <a:t>24/05/2026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23963" y="1143000"/>
            <a:ext cx="44100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FB7ABC-3973-1347-A874-1B896AAF673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4763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B7ABC-3973-1347-A874-1B896AAF6731}" type="slidenum">
              <a:rPr lang="en-IL" smtClean="0"/>
              <a:t>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98727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81" y="4124164"/>
            <a:ext cx="30599777" cy="8773325"/>
          </a:xfrm>
        </p:spPr>
        <p:txBody>
          <a:bodyPr anchor="b"/>
          <a:lstStyle>
            <a:lvl1pPr algn="ctr">
              <a:defRPr sz="220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9967" y="13235822"/>
            <a:ext cx="26999804" cy="6084159"/>
          </a:xfrm>
        </p:spPr>
        <p:txBody>
          <a:bodyPr/>
          <a:lstStyle>
            <a:lvl1pPr marL="0" indent="0" algn="ctr">
              <a:buNone/>
              <a:defRPr sz="8819"/>
            </a:lvl1pPr>
            <a:lvl2pPr marL="1679981" indent="0" algn="ctr">
              <a:buNone/>
              <a:defRPr sz="7349"/>
            </a:lvl2pPr>
            <a:lvl3pPr marL="3359963" indent="0" algn="ctr">
              <a:buNone/>
              <a:defRPr sz="6614"/>
            </a:lvl3pPr>
            <a:lvl4pPr marL="5039944" indent="0" algn="ctr">
              <a:buNone/>
              <a:defRPr sz="5879"/>
            </a:lvl4pPr>
            <a:lvl5pPr marL="6719926" indent="0" algn="ctr">
              <a:buNone/>
              <a:defRPr sz="5879"/>
            </a:lvl5pPr>
            <a:lvl6pPr marL="8399907" indent="0" algn="ctr">
              <a:buNone/>
              <a:defRPr sz="5879"/>
            </a:lvl6pPr>
            <a:lvl7pPr marL="10079888" indent="0" algn="ctr">
              <a:buNone/>
              <a:defRPr sz="5879"/>
            </a:lvl7pPr>
            <a:lvl8pPr marL="11759870" indent="0" algn="ctr">
              <a:buNone/>
              <a:defRPr sz="5879"/>
            </a:lvl8pPr>
            <a:lvl9pPr marL="13439851" indent="0" algn="ctr">
              <a:buNone/>
              <a:defRPr sz="587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603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720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234" y="6282501"/>
            <a:ext cx="31049774" cy="10482488"/>
          </a:xfrm>
        </p:spPr>
        <p:txBody>
          <a:bodyPr anchor="b"/>
          <a:lstStyle>
            <a:lvl1pPr>
              <a:defRPr sz="220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234" y="16864157"/>
            <a:ext cx="31049774" cy="5512493"/>
          </a:xfrm>
        </p:spPr>
        <p:txBody>
          <a:bodyPr/>
          <a:lstStyle>
            <a:lvl1pPr marL="0" indent="0">
              <a:buNone/>
              <a:defRPr sz="8819">
                <a:solidFill>
                  <a:schemeClr val="tx1">
                    <a:tint val="82000"/>
                  </a:schemeClr>
                </a:solidFill>
              </a:defRPr>
            </a:lvl1pPr>
            <a:lvl2pPr marL="1679981" indent="0">
              <a:buNone/>
              <a:defRPr sz="7349">
                <a:solidFill>
                  <a:schemeClr val="tx1">
                    <a:tint val="82000"/>
                  </a:schemeClr>
                </a:solidFill>
              </a:defRPr>
            </a:lvl2pPr>
            <a:lvl3pPr marL="3359963" indent="0">
              <a:buNone/>
              <a:defRPr sz="6614">
                <a:solidFill>
                  <a:schemeClr val="tx1">
                    <a:tint val="82000"/>
                  </a:schemeClr>
                </a:solidFill>
              </a:defRPr>
            </a:lvl3pPr>
            <a:lvl4pPr marL="5039944" indent="0">
              <a:buNone/>
              <a:defRPr sz="5879">
                <a:solidFill>
                  <a:schemeClr val="tx1">
                    <a:tint val="82000"/>
                  </a:schemeClr>
                </a:solidFill>
              </a:defRPr>
            </a:lvl4pPr>
            <a:lvl5pPr marL="6719926" indent="0">
              <a:buNone/>
              <a:defRPr sz="5879">
                <a:solidFill>
                  <a:schemeClr val="tx1">
                    <a:tint val="82000"/>
                  </a:schemeClr>
                </a:solidFill>
              </a:defRPr>
            </a:lvl5pPr>
            <a:lvl6pPr marL="8399907" indent="0">
              <a:buNone/>
              <a:defRPr sz="5879">
                <a:solidFill>
                  <a:schemeClr val="tx1">
                    <a:tint val="82000"/>
                  </a:schemeClr>
                </a:solidFill>
              </a:defRPr>
            </a:lvl6pPr>
            <a:lvl7pPr marL="10079888" indent="0">
              <a:buNone/>
              <a:defRPr sz="5879">
                <a:solidFill>
                  <a:schemeClr val="tx1">
                    <a:tint val="82000"/>
                  </a:schemeClr>
                </a:solidFill>
              </a:defRPr>
            </a:lvl7pPr>
            <a:lvl8pPr marL="11759870" indent="0">
              <a:buNone/>
              <a:defRPr sz="5879">
                <a:solidFill>
                  <a:schemeClr val="tx1">
                    <a:tint val="82000"/>
                  </a:schemeClr>
                </a:solidFill>
              </a:defRPr>
            </a:lvl8pPr>
            <a:lvl9pPr marL="13439851" indent="0">
              <a:buNone/>
              <a:defRPr sz="587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818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4982" y="6708326"/>
            <a:ext cx="15299889" cy="159891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4867" y="6708326"/>
            <a:ext cx="15299889" cy="159891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521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1341671"/>
            <a:ext cx="31049774" cy="48708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675" y="6177496"/>
            <a:ext cx="15229574" cy="3027495"/>
          </a:xfrm>
        </p:spPr>
        <p:txBody>
          <a:bodyPr anchor="b"/>
          <a:lstStyle>
            <a:lvl1pPr marL="0" indent="0">
              <a:buNone/>
              <a:defRPr sz="8819" b="1"/>
            </a:lvl1pPr>
            <a:lvl2pPr marL="1679981" indent="0">
              <a:buNone/>
              <a:defRPr sz="7349" b="1"/>
            </a:lvl2pPr>
            <a:lvl3pPr marL="3359963" indent="0">
              <a:buNone/>
              <a:defRPr sz="6614" b="1"/>
            </a:lvl3pPr>
            <a:lvl4pPr marL="5039944" indent="0">
              <a:buNone/>
              <a:defRPr sz="5879" b="1"/>
            </a:lvl4pPr>
            <a:lvl5pPr marL="6719926" indent="0">
              <a:buNone/>
              <a:defRPr sz="5879" b="1"/>
            </a:lvl5pPr>
            <a:lvl6pPr marL="8399907" indent="0">
              <a:buNone/>
              <a:defRPr sz="5879" b="1"/>
            </a:lvl6pPr>
            <a:lvl7pPr marL="10079888" indent="0">
              <a:buNone/>
              <a:defRPr sz="5879" b="1"/>
            </a:lvl7pPr>
            <a:lvl8pPr marL="11759870" indent="0">
              <a:buNone/>
              <a:defRPr sz="5879" b="1"/>
            </a:lvl8pPr>
            <a:lvl9pPr marL="13439851" indent="0">
              <a:buNone/>
              <a:defRPr sz="587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79675" y="9204991"/>
            <a:ext cx="15229574" cy="13539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4869" y="6177496"/>
            <a:ext cx="15304578" cy="3027495"/>
          </a:xfrm>
        </p:spPr>
        <p:txBody>
          <a:bodyPr anchor="b"/>
          <a:lstStyle>
            <a:lvl1pPr marL="0" indent="0">
              <a:buNone/>
              <a:defRPr sz="8819" b="1"/>
            </a:lvl1pPr>
            <a:lvl2pPr marL="1679981" indent="0">
              <a:buNone/>
              <a:defRPr sz="7349" b="1"/>
            </a:lvl2pPr>
            <a:lvl3pPr marL="3359963" indent="0">
              <a:buNone/>
              <a:defRPr sz="6614" b="1"/>
            </a:lvl3pPr>
            <a:lvl4pPr marL="5039944" indent="0">
              <a:buNone/>
              <a:defRPr sz="5879" b="1"/>
            </a:lvl4pPr>
            <a:lvl5pPr marL="6719926" indent="0">
              <a:buNone/>
              <a:defRPr sz="5879" b="1"/>
            </a:lvl5pPr>
            <a:lvl6pPr marL="8399907" indent="0">
              <a:buNone/>
              <a:defRPr sz="5879" b="1"/>
            </a:lvl6pPr>
            <a:lvl7pPr marL="10079888" indent="0">
              <a:buNone/>
              <a:defRPr sz="5879" b="1"/>
            </a:lvl7pPr>
            <a:lvl8pPr marL="11759870" indent="0">
              <a:buNone/>
              <a:defRPr sz="5879" b="1"/>
            </a:lvl8pPr>
            <a:lvl9pPr marL="13439851" indent="0">
              <a:buNone/>
              <a:defRPr sz="587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4869" y="9204991"/>
            <a:ext cx="15304578" cy="13539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641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277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056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1679998"/>
            <a:ext cx="11610853" cy="5879994"/>
          </a:xfrm>
        </p:spPr>
        <p:txBody>
          <a:bodyPr anchor="b"/>
          <a:lstStyle>
            <a:lvl1pPr>
              <a:defRPr sz="1175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4578" y="3628335"/>
            <a:ext cx="18224867" cy="17908316"/>
          </a:xfrm>
        </p:spPr>
        <p:txBody>
          <a:bodyPr/>
          <a:lstStyle>
            <a:lvl1pPr>
              <a:defRPr sz="11758"/>
            </a:lvl1pPr>
            <a:lvl2pPr>
              <a:defRPr sz="10289"/>
            </a:lvl2pPr>
            <a:lvl3pPr>
              <a:defRPr sz="8819"/>
            </a:lvl3pPr>
            <a:lvl4pPr>
              <a:defRPr sz="7349"/>
            </a:lvl4pPr>
            <a:lvl5pPr>
              <a:defRPr sz="7349"/>
            </a:lvl5pPr>
            <a:lvl6pPr>
              <a:defRPr sz="7349"/>
            </a:lvl6pPr>
            <a:lvl7pPr>
              <a:defRPr sz="7349"/>
            </a:lvl7pPr>
            <a:lvl8pPr>
              <a:defRPr sz="7349"/>
            </a:lvl8pPr>
            <a:lvl9pPr>
              <a:defRPr sz="734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7559993"/>
            <a:ext cx="11610853" cy="14005821"/>
          </a:xfrm>
        </p:spPr>
        <p:txBody>
          <a:bodyPr/>
          <a:lstStyle>
            <a:lvl1pPr marL="0" indent="0">
              <a:buNone/>
              <a:defRPr sz="5879"/>
            </a:lvl1pPr>
            <a:lvl2pPr marL="1679981" indent="0">
              <a:buNone/>
              <a:defRPr sz="5144"/>
            </a:lvl2pPr>
            <a:lvl3pPr marL="3359963" indent="0">
              <a:buNone/>
              <a:defRPr sz="4409"/>
            </a:lvl3pPr>
            <a:lvl4pPr marL="5039944" indent="0">
              <a:buNone/>
              <a:defRPr sz="3674"/>
            </a:lvl4pPr>
            <a:lvl5pPr marL="6719926" indent="0">
              <a:buNone/>
              <a:defRPr sz="3674"/>
            </a:lvl5pPr>
            <a:lvl6pPr marL="8399907" indent="0">
              <a:buNone/>
              <a:defRPr sz="3674"/>
            </a:lvl6pPr>
            <a:lvl7pPr marL="10079888" indent="0">
              <a:buNone/>
              <a:defRPr sz="3674"/>
            </a:lvl7pPr>
            <a:lvl8pPr marL="11759870" indent="0">
              <a:buNone/>
              <a:defRPr sz="3674"/>
            </a:lvl8pPr>
            <a:lvl9pPr marL="13439851" indent="0">
              <a:buNone/>
              <a:defRPr sz="367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197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1679998"/>
            <a:ext cx="11610853" cy="5879994"/>
          </a:xfrm>
        </p:spPr>
        <p:txBody>
          <a:bodyPr anchor="b"/>
          <a:lstStyle>
            <a:lvl1pPr>
              <a:defRPr sz="1175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4578" y="3628335"/>
            <a:ext cx="18224867" cy="17908316"/>
          </a:xfrm>
        </p:spPr>
        <p:txBody>
          <a:bodyPr anchor="t"/>
          <a:lstStyle>
            <a:lvl1pPr marL="0" indent="0">
              <a:buNone/>
              <a:defRPr sz="11758"/>
            </a:lvl1pPr>
            <a:lvl2pPr marL="1679981" indent="0">
              <a:buNone/>
              <a:defRPr sz="10289"/>
            </a:lvl2pPr>
            <a:lvl3pPr marL="3359963" indent="0">
              <a:buNone/>
              <a:defRPr sz="8819"/>
            </a:lvl3pPr>
            <a:lvl4pPr marL="5039944" indent="0">
              <a:buNone/>
              <a:defRPr sz="7349"/>
            </a:lvl4pPr>
            <a:lvl5pPr marL="6719926" indent="0">
              <a:buNone/>
              <a:defRPr sz="7349"/>
            </a:lvl5pPr>
            <a:lvl6pPr marL="8399907" indent="0">
              <a:buNone/>
              <a:defRPr sz="7349"/>
            </a:lvl6pPr>
            <a:lvl7pPr marL="10079888" indent="0">
              <a:buNone/>
              <a:defRPr sz="7349"/>
            </a:lvl7pPr>
            <a:lvl8pPr marL="11759870" indent="0">
              <a:buNone/>
              <a:defRPr sz="7349"/>
            </a:lvl8pPr>
            <a:lvl9pPr marL="13439851" indent="0">
              <a:buNone/>
              <a:defRPr sz="734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7559993"/>
            <a:ext cx="11610853" cy="14005821"/>
          </a:xfrm>
        </p:spPr>
        <p:txBody>
          <a:bodyPr/>
          <a:lstStyle>
            <a:lvl1pPr marL="0" indent="0">
              <a:buNone/>
              <a:defRPr sz="5879"/>
            </a:lvl1pPr>
            <a:lvl2pPr marL="1679981" indent="0">
              <a:buNone/>
              <a:defRPr sz="5144"/>
            </a:lvl2pPr>
            <a:lvl3pPr marL="3359963" indent="0">
              <a:buNone/>
              <a:defRPr sz="4409"/>
            </a:lvl3pPr>
            <a:lvl4pPr marL="5039944" indent="0">
              <a:buNone/>
              <a:defRPr sz="3674"/>
            </a:lvl4pPr>
            <a:lvl5pPr marL="6719926" indent="0">
              <a:buNone/>
              <a:defRPr sz="3674"/>
            </a:lvl5pPr>
            <a:lvl6pPr marL="8399907" indent="0">
              <a:buNone/>
              <a:defRPr sz="3674"/>
            </a:lvl6pPr>
            <a:lvl7pPr marL="10079888" indent="0">
              <a:buNone/>
              <a:defRPr sz="3674"/>
            </a:lvl7pPr>
            <a:lvl8pPr marL="11759870" indent="0">
              <a:buNone/>
              <a:defRPr sz="3674"/>
            </a:lvl8pPr>
            <a:lvl9pPr marL="13439851" indent="0">
              <a:buNone/>
              <a:defRPr sz="367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506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775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2314" y="1341665"/>
            <a:ext cx="7762444" cy="213558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4984" y="1341665"/>
            <a:ext cx="22837334" cy="2135581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164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4982" y="1341671"/>
            <a:ext cx="31049774" cy="48708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4982" y="6708326"/>
            <a:ext cx="31049774" cy="159891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4982" y="23356649"/>
            <a:ext cx="8099941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ABFBC8-CE72-EF49-83B3-C915A10C458B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4913" y="23356649"/>
            <a:ext cx="12149912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4815" y="23356649"/>
            <a:ext cx="8099941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724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3359963" rtl="0" eaLnBrk="1" latinLnBrk="0" hangingPunct="1">
        <a:lnSpc>
          <a:spcPct val="90000"/>
        </a:lnSpc>
        <a:spcBef>
          <a:spcPct val="0"/>
        </a:spcBef>
        <a:buNone/>
        <a:defRPr sz="161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39991" indent="-839991" algn="l" defTabSz="3359963" rtl="0" eaLnBrk="1" latinLnBrk="0" hangingPunct="1">
        <a:lnSpc>
          <a:spcPct val="90000"/>
        </a:lnSpc>
        <a:spcBef>
          <a:spcPts val="3674"/>
        </a:spcBef>
        <a:buFont typeface="Arial" panose="020B0604020202020204" pitchFamily="34" charset="0"/>
        <a:buChar char="•"/>
        <a:defRPr sz="10289" kern="1200">
          <a:solidFill>
            <a:schemeClr val="tx1"/>
          </a:solidFill>
          <a:latin typeface="+mn-lt"/>
          <a:ea typeface="+mn-ea"/>
          <a:cs typeface="+mn-cs"/>
        </a:defRPr>
      </a:lvl1pPr>
      <a:lvl2pPr marL="2519972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8819" kern="1200">
          <a:solidFill>
            <a:schemeClr val="tx1"/>
          </a:solidFill>
          <a:latin typeface="+mn-lt"/>
          <a:ea typeface="+mn-ea"/>
          <a:cs typeface="+mn-cs"/>
        </a:defRPr>
      </a:lvl2pPr>
      <a:lvl3pPr marL="4199954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7349" kern="1200">
          <a:solidFill>
            <a:schemeClr val="tx1"/>
          </a:solidFill>
          <a:latin typeface="+mn-lt"/>
          <a:ea typeface="+mn-ea"/>
          <a:cs typeface="+mn-cs"/>
        </a:defRPr>
      </a:lvl3pPr>
      <a:lvl4pPr marL="5879935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4pPr>
      <a:lvl5pPr marL="7559916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5pPr>
      <a:lvl6pPr marL="9239898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6pPr>
      <a:lvl7pPr marL="10919879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7pPr>
      <a:lvl8pPr marL="12599861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8pPr>
      <a:lvl9pPr marL="14279842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1pPr>
      <a:lvl2pPr marL="1679981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2pPr>
      <a:lvl3pPr marL="3359963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3pPr>
      <a:lvl4pPr marL="5039944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4pPr>
      <a:lvl5pPr marL="6719926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5pPr>
      <a:lvl6pPr marL="8399907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6pPr>
      <a:lvl7pPr marL="10079888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7pPr>
      <a:lvl8pPr marL="11759870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8pPr>
      <a:lvl9pPr marL="13439851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11" Type="http://schemas.openxmlformats.org/officeDocument/2006/relationships/image" Target="../media/image8.png"/><Relationship Id="rId5" Type="http://schemas.openxmlformats.org/officeDocument/2006/relationships/image" Target="../media/image2.svg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4" Type="http://schemas.microsoft.com/office/2007/relationships/hdphoto" Target="../media/hdphoto1.wdp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BG"/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alphaModFix amt="97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  <a14:imgEffect>
                      <a14:brightnessContrast bright="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3" y="0"/>
            <a:ext cx="35999851" cy="2519997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5E4EFAB-AB8C-CA28-1D50-48A1B49E8B20}"/>
              </a:ext>
            </a:extLst>
          </p:cNvPr>
          <p:cNvSpPr>
            <a:spLocks/>
          </p:cNvSpPr>
          <p:nvPr/>
        </p:nvSpPr>
        <p:spPr>
          <a:xfrm>
            <a:off x="809778" y="1440891"/>
            <a:ext cx="34403273" cy="39210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646357" rtl="0" eaLnBrk="1" latinLnBrk="0" hangingPunct="1"/>
            <a:endParaRPr lang="en-US" sz="3037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DC5E95-292C-ABA8-58EF-6AEFEBCEF01C}"/>
              </a:ext>
            </a:extLst>
          </p:cNvPr>
          <p:cNvSpPr txBox="1">
            <a:spLocks/>
          </p:cNvSpPr>
          <p:nvPr/>
        </p:nvSpPr>
        <p:spPr>
          <a:xfrm>
            <a:off x="809779" y="199874"/>
            <a:ext cx="3438018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8800" b="1" dirty="0">
                <a:solidFill>
                  <a:srgbClr val="F5F5F5"/>
                </a:solidFill>
                <a:latin typeface="Georgia" panose="02040502050405020303" pitchFamily="18" charset="0"/>
              </a:rPr>
              <a:t>Optical Fibers for Smart Cities</a:t>
            </a:r>
            <a:endParaRPr lang="he-IL" sz="8800" b="1" dirty="0">
              <a:solidFill>
                <a:srgbClr val="F5F5F5"/>
              </a:solidFill>
              <a:latin typeface="Georgia" panose="02040502050405020303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56FB1D-CB3A-ADB9-F137-C4249CAB9851}"/>
              </a:ext>
            </a:extLst>
          </p:cNvPr>
          <p:cNvSpPr txBox="1">
            <a:spLocks/>
          </p:cNvSpPr>
          <p:nvPr/>
        </p:nvSpPr>
        <p:spPr>
          <a:xfrm>
            <a:off x="8487505" y="1483373"/>
            <a:ext cx="18390794" cy="1658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89" b="1" dirty="0">
                <a:solidFill>
                  <a:srgbClr val="E3E3E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Noa Sapir, Nitai Dobrecki</a:t>
            </a:r>
            <a:endParaRPr lang="he-IL" sz="4000" dirty="0">
              <a:cs typeface="Open Sans Hebrew" panose="00000500000000000000" pitchFamily="2" charset="-79"/>
            </a:endParaRPr>
          </a:p>
          <a:p>
            <a:pPr algn="ctr"/>
            <a:r>
              <a:rPr lang="en-US" sz="5089" b="1" dirty="0">
                <a:solidFill>
                  <a:srgbClr val="E3E3E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Advisor: Khen Cohen</a:t>
            </a:r>
            <a:endParaRPr lang="he-IL" sz="5089" b="1" dirty="0">
              <a:solidFill>
                <a:srgbClr val="E3E3E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9E7048A-0105-0DB4-1E9E-8A43F18ADB4F}"/>
              </a:ext>
            </a:extLst>
          </p:cNvPr>
          <p:cNvSpPr txBox="1">
            <a:spLocks/>
          </p:cNvSpPr>
          <p:nvPr/>
        </p:nvSpPr>
        <p:spPr>
          <a:xfrm>
            <a:off x="8736431" y="3082267"/>
            <a:ext cx="18390794" cy="875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89" b="1" dirty="0">
                <a:solidFill>
                  <a:srgbClr val="E3E3E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Project Number: 25-1-1-3221</a:t>
            </a:r>
          </a:p>
        </p:txBody>
      </p:sp>
      <p:sp>
        <p:nvSpPr>
          <p:cNvPr id="100" name="Box_Abs"/>
          <p:cNvSpPr>
            <a:spLocks noGrp="1"/>
          </p:cNvSpPr>
          <p:nvPr/>
        </p:nvSpPr>
        <p:spPr>
          <a:xfrm>
            <a:off x="584772" y="4116271"/>
            <a:ext cx="11273569" cy="3707170"/>
          </a:xfrm>
          <a:prstGeom prst="roundRect">
            <a:avLst>
              <a:gd name="adj" fmla="val 9698"/>
            </a:avLst>
          </a:prstGeom>
          <a:solidFill>
            <a:srgbClr val="FFFFFF">
              <a:alpha val="80000"/>
            </a:srgbClr>
          </a:solidFill>
          <a:ln w="9525">
            <a:solidFill>
              <a:srgbClr val="B0C8E0"/>
            </a:solidFill>
          </a:ln>
          <a:effectLst>
            <a:outerShdw blurRad="304800" dist="152400" dir="5400000" algn="tl" rotWithShape="0">
              <a:srgbClr val="000000">
                <a:alpha val="22000"/>
              </a:srgbClr>
            </a:outerShdw>
          </a:effectLst>
        </p:spPr>
        <p:txBody>
          <a:bodyPr wrap="square" lIns="304800" tIns="190500" rIns="304800" bIns="190500" rtlCol="0" anchor="t">
            <a:noAutofit/>
          </a:bodyPr>
          <a:lstStyle/>
          <a:p>
            <a:pPr algn="ctr">
              <a:spcBef>
                <a:spcPts val="120"/>
              </a:spcBef>
            </a:pPr>
            <a:r>
              <a:rPr lang="en-US" sz="5400" b="1" dirty="0">
                <a:solidFill>
                  <a:srgbClr val="0A2342"/>
                </a:solidFill>
                <a:latin typeface="Georgia" panose="02040502050405020303" pitchFamily="18" charset="0"/>
              </a:rPr>
              <a:t>Intro &amp; Motivation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IL" sz="3400" dirty="0" err="1">
                <a:solidFill>
                  <a:srgbClr val="000000"/>
                </a:solidFill>
                <a:latin typeface="-webkit-standard"/>
              </a:rPr>
              <a:t>SimStudio</a:t>
            </a:r>
            <a:r>
              <a:rPr lang="en-US" altLang="en-IL" sz="3400" dirty="0">
                <a:solidFill>
                  <a:srgbClr val="000000"/>
                </a:solidFill>
                <a:latin typeface="-webkit-standard"/>
              </a:rPr>
              <a:t> combines DAS, camera, and GPS data to track vehicles and detect abnormal traffic events.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IL" sz="3400" dirty="0">
                <a:solidFill>
                  <a:srgbClr val="000000"/>
                </a:solidFill>
                <a:latin typeface="-webkit-standard"/>
              </a:rPr>
              <a:t>Since cameras and GPS can be limited by weather, lighting, or coverage, DAS adds continuous road sensing through existing fiber-optic infrastructure.</a:t>
            </a:r>
          </a:p>
        </p:txBody>
      </p:sp>
      <p:sp>
        <p:nvSpPr>
          <p:cNvPr id="102" name="Box_Goals"/>
          <p:cNvSpPr>
            <a:spLocks noGrp="1"/>
          </p:cNvSpPr>
          <p:nvPr/>
        </p:nvSpPr>
        <p:spPr>
          <a:xfrm>
            <a:off x="584772" y="7981950"/>
            <a:ext cx="11273568" cy="17028584"/>
          </a:xfrm>
          <a:prstGeom prst="roundRect">
            <a:avLst>
              <a:gd name="adj" fmla="val 5000"/>
            </a:avLst>
          </a:prstGeom>
          <a:solidFill>
            <a:srgbClr val="FFFFFF">
              <a:alpha val="80000"/>
            </a:srgbClr>
          </a:solidFill>
          <a:ln w="9525">
            <a:solidFill>
              <a:srgbClr val="B0C8E0"/>
            </a:solidFill>
          </a:ln>
          <a:effectLst>
            <a:outerShdw blurRad="304800" dist="152400" dir="5400000" algn="tl" rotWithShape="0">
              <a:srgbClr val="000000">
                <a:alpha val="22000"/>
              </a:srgbClr>
            </a:outerShdw>
          </a:effectLst>
        </p:spPr>
        <p:txBody>
          <a:bodyPr wrap="square" lIns="304800" tIns="190500" rIns="304800" bIns="190500" rtlCol="0" anchor="t">
            <a:noAutofit/>
          </a:bodyPr>
          <a:lstStyle/>
          <a:p>
            <a:pPr algn="ctr">
              <a:spcAft>
                <a:spcPts val="1400"/>
              </a:spcAft>
            </a:pPr>
            <a:r>
              <a:rPr lang="en-US" sz="4800" b="1" dirty="0">
                <a:solidFill>
                  <a:srgbClr val="0A2342"/>
                </a:solidFill>
                <a:latin typeface="Georgia"/>
              </a:rPr>
              <a:t>Methods &amp; Implementation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L" sz="3400" dirty="0">
                <a:solidFill>
                  <a:srgbClr val="000000"/>
                </a:solidFill>
                <a:latin typeface="-webkit-standard"/>
              </a:rPr>
              <a:t>Using SimStudio, we import true street geometry across North Tel Aviv, divided into 144 regions, and generate many anomaly free</a:t>
            </a:r>
            <a:r>
              <a:rPr lang="en-US" sz="3400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en-IL" sz="3400" dirty="0">
                <a:solidFill>
                  <a:srgbClr val="000000"/>
                </a:solidFill>
                <a:latin typeface="-webkit-standard"/>
              </a:rPr>
              <a:t>traffic scenes that set the baseline of normal behavior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400" dirty="0">
                <a:solidFill>
                  <a:srgbClr val="000000"/>
                </a:solidFill>
                <a:latin typeface="-webkit-standard"/>
              </a:rPr>
              <a:t>We defined</a:t>
            </a:r>
            <a:endParaRPr lang="en-IL" sz="3400" dirty="0">
              <a:solidFill>
                <a:srgbClr val="000000"/>
              </a:solidFill>
              <a:latin typeface="-webkit-standard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L" altLang="en-IL" sz="3400" dirty="0">
                <a:solidFill>
                  <a:srgbClr val="000000"/>
                </a:solidFill>
                <a:latin typeface="-webkit-standard"/>
              </a:rPr>
              <a:t>anomalies: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L" altLang="en-IL" sz="3400" dirty="0">
                <a:solidFill>
                  <a:srgbClr val="000000"/>
                </a:solidFill>
                <a:latin typeface="-webkit-standard"/>
              </a:rPr>
              <a:t>- sudden braking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IL" sz="3400" dirty="0">
                <a:solidFill>
                  <a:srgbClr val="000000"/>
                </a:solidFill>
                <a:latin typeface="-webkit-standard"/>
              </a:rPr>
              <a:t>- C</a:t>
            </a:r>
            <a:r>
              <a:rPr lang="en-IL" altLang="en-IL" sz="3400" dirty="0">
                <a:solidFill>
                  <a:srgbClr val="000000"/>
                </a:solidFill>
                <a:latin typeface="-webkit-standard"/>
              </a:rPr>
              <a:t>ollision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L" altLang="en-IL" sz="3400" dirty="0">
                <a:solidFill>
                  <a:srgbClr val="000000"/>
                </a:solidFill>
                <a:latin typeface="-webkit-standard"/>
              </a:rPr>
              <a:t>- </a:t>
            </a:r>
            <a:r>
              <a:rPr lang="en-US" altLang="en-IL" sz="3400" dirty="0">
                <a:solidFill>
                  <a:srgbClr val="000000"/>
                </a:solidFill>
                <a:latin typeface="-webkit-standard"/>
              </a:rPr>
              <a:t>Speeding</a:t>
            </a:r>
            <a:endParaRPr lang="en-IL" altLang="en-IL" sz="3400" dirty="0">
              <a:solidFill>
                <a:srgbClr val="000000"/>
              </a:solidFill>
              <a:latin typeface="-webkit-standard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L" altLang="en-IL" sz="3400" dirty="0">
                <a:solidFill>
                  <a:srgbClr val="000000"/>
                </a:solidFill>
                <a:latin typeface="-webkit-standard"/>
              </a:rPr>
              <a:t>- Stalled Vehicle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IL" sz="3400" dirty="0">
                <a:solidFill>
                  <a:srgbClr val="000000"/>
                </a:solidFill>
                <a:latin typeface="-webkit-standard"/>
              </a:rPr>
              <a:t>- T</a:t>
            </a:r>
            <a:r>
              <a:rPr lang="en-IL" altLang="en-IL" sz="3400" dirty="0">
                <a:solidFill>
                  <a:srgbClr val="000000"/>
                </a:solidFill>
                <a:latin typeface="-webkit-standard"/>
              </a:rPr>
              <a:t>ailgating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L" altLang="en-IL" sz="3400" dirty="0">
                <a:solidFill>
                  <a:srgbClr val="000000"/>
                </a:solidFill>
                <a:latin typeface="-webkit-standard"/>
              </a:rPr>
              <a:t>- Heavy Vehicle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IL" sz="3400" dirty="0">
                <a:solidFill>
                  <a:srgbClr val="000000"/>
                </a:solidFill>
                <a:latin typeface="-webkit-standard"/>
              </a:rPr>
              <a:t>- W</a:t>
            </a:r>
            <a:r>
              <a:rPr lang="en-IL" altLang="en-IL" sz="3400" dirty="0">
                <a:solidFill>
                  <a:srgbClr val="000000"/>
                </a:solidFill>
                <a:latin typeface="-webkit-standard"/>
              </a:rPr>
              <a:t>eaving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L" altLang="en-IL" sz="3400" dirty="0">
                <a:solidFill>
                  <a:srgbClr val="000000"/>
                </a:solidFill>
                <a:latin typeface="-webkit-standard"/>
              </a:rPr>
              <a:t>and generate multiple scenes to each region. From the resulting.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L" altLang="en-IL" sz="3400" dirty="0">
              <a:solidFill>
                <a:srgbClr val="000000"/>
              </a:solidFill>
              <a:latin typeface="-webkit-standard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L" altLang="en-IL" sz="3400" dirty="0">
                <a:solidFill>
                  <a:srgbClr val="000000"/>
                </a:solidFill>
                <a:latin typeface="-webkit-standard"/>
              </a:rPr>
              <a:t>we developed a ML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L" altLang="en-IL" sz="3400" dirty="0">
                <a:solidFill>
                  <a:srgbClr val="000000"/>
                </a:solidFill>
                <a:latin typeface="-webkit-standard"/>
              </a:rPr>
              <a:t> moudle to identify</a:t>
            </a:r>
            <a:br>
              <a:rPr lang="en-IL" altLang="en-IL" sz="3400" dirty="0">
                <a:solidFill>
                  <a:srgbClr val="000000"/>
                </a:solidFill>
                <a:latin typeface="-webkit-standard"/>
              </a:rPr>
            </a:br>
            <a:r>
              <a:rPr lang="en-IL" altLang="en-IL" sz="3400" dirty="0">
                <a:solidFill>
                  <a:srgbClr val="000000"/>
                </a:solidFill>
                <a:latin typeface="-webkit-standard"/>
              </a:rPr>
              <a:t>anomalies.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L" altLang="en-IL" sz="3400" dirty="0">
                <a:solidFill>
                  <a:srgbClr val="000000"/>
                </a:solidFill>
                <a:latin typeface="-webkit-standard"/>
              </a:rPr>
              <a:t>The moudle learns</a:t>
            </a:r>
            <a:br>
              <a:rPr lang="en-IL" altLang="en-IL" sz="3400" dirty="0">
                <a:solidFill>
                  <a:srgbClr val="000000"/>
                </a:solidFill>
                <a:latin typeface="-webkit-standard"/>
              </a:rPr>
            </a:br>
            <a:r>
              <a:rPr lang="en-IL" altLang="en-IL" sz="3400" dirty="0">
                <a:solidFill>
                  <a:srgbClr val="000000"/>
                </a:solidFill>
                <a:latin typeface="-webkit-standard"/>
              </a:rPr>
              <a:t>162 behavior features </a:t>
            </a:r>
            <a:br>
              <a:rPr lang="en-IL" altLang="en-IL" sz="3400" dirty="0">
                <a:solidFill>
                  <a:srgbClr val="000000"/>
                </a:solidFill>
                <a:latin typeface="-webkit-standard"/>
              </a:rPr>
            </a:br>
            <a:r>
              <a:rPr lang="en-IL" altLang="en-IL" sz="3400" dirty="0">
                <a:solidFill>
                  <a:srgbClr val="000000"/>
                </a:solidFill>
                <a:latin typeface="-webkit-standard"/>
              </a:rPr>
              <a:t>for each scene, then </a:t>
            </a:r>
            <a:br>
              <a:rPr lang="en-IL" altLang="en-IL" sz="3400" dirty="0">
                <a:solidFill>
                  <a:srgbClr val="000000"/>
                </a:solidFill>
                <a:latin typeface="-webkit-standard"/>
              </a:rPr>
            </a:br>
            <a:r>
              <a:rPr lang="en-IL" altLang="en-IL" sz="3400" dirty="0">
                <a:solidFill>
                  <a:srgbClr val="000000"/>
                </a:solidFill>
                <a:latin typeface="-webkit-standard"/>
              </a:rPr>
              <a:t>scores each vehicle in </a:t>
            </a:r>
            <a:br>
              <a:rPr lang="en-IL" altLang="en-IL" sz="3400" dirty="0">
                <a:solidFill>
                  <a:srgbClr val="000000"/>
                </a:solidFill>
                <a:latin typeface="-webkit-standard"/>
              </a:rPr>
            </a:br>
            <a:r>
              <a:rPr lang="en-IL" altLang="en-IL" sz="3400" dirty="0">
                <a:solidFill>
                  <a:srgbClr val="000000"/>
                </a:solidFill>
                <a:latin typeface="-webkit-standard"/>
              </a:rPr>
              <a:t>the scene by how far</a:t>
            </a:r>
            <a:br>
              <a:rPr lang="en-IL" altLang="en-IL" sz="3400" dirty="0">
                <a:solidFill>
                  <a:srgbClr val="000000"/>
                </a:solidFill>
                <a:latin typeface="-webkit-standard"/>
              </a:rPr>
            </a:br>
            <a:r>
              <a:rPr lang="en-IL" altLang="en-IL" sz="3400" dirty="0">
                <a:solidFill>
                  <a:srgbClr val="000000"/>
                </a:solidFill>
                <a:latin typeface="-webkit-standard"/>
              </a:rPr>
              <a:t>it deviates - Z score, </a:t>
            </a:r>
            <a:br>
              <a:rPr lang="en-IL" altLang="en-IL" sz="3400" dirty="0">
                <a:solidFill>
                  <a:srgbClr val="000000"/>
                </a:solidFill>
                <a:latin typeface="-webkit-standard"/>
              </a:rPr>
            </a:br>
            <a:r>
              <a:rPr lang="en-IL" altLang="en-IL" sz="3400" dirty="0">
                <a:solidFill>
                  <a:srgbClr val="000000"/>
                </a:solidFill>
                <a:latin typeface="-webkit-standard"/>
              </a:rPr>
              <a:t>flagging anything </a:t>
            </a:r>
            <a:br>
              <a:rPr lang="en-IL" altLang="en-IL" sz="3400" dirty="0">
                <a:solidFill>
                  <a:srgbClr val="000000"/>
                </a:solidFill>
                <a:latin typeface="-webkit-standard"/>
              </a:rPr>
            </a:br>
            <a:r>
              <a:rPr lang="en-IL" altLang="en-IL" sz="3400" dirty="0">
                <a:solidFill>
                  <a:srgbClr val="000000"/>
                </a:solidFill>
                <a:latin typeface="-webkit-standard"/>
              </a:rPr>
              <a:t>past 15.8σ.</a:t>
            </a:r>
            <a:endParaRPr lang="en-IL" sz="3400" dirty="0">
              <a:solidFill>
                <a:srgbClr val="1A203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L" sz="3400" dirty="0">
              <a:solidFill>
                <a:srgbClr val="000000"/>
              </a:solidFill>
              <a:latin typeface="-webkit-standard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L" sz="3400" dirty="0">
              <a:solidFill>
                <a:srgbClr val="000000"/>
              </a:solidFill>
              <a:latin typeface="-webkit-standard"/>
            </a:endParaRPr>
          </a:p>
          <a:p>
            <a:pPr marL="0" algn="l" defTabSz="457200" rtl="0" eaLnBrk="1" latinLnBrk="0" hangingPunct="1">
              <a:spcBef>
                <a:spcPts val="120"/>
              </a:spcBef>
            </a:pPr>
            <a:endParaRPr lang="en-US" sz="3000" b="0" dirty="0">
              <a:solidFill>
                <a:srgbClr val="1A2035"/>
              </a:solidFill>
              <a:latin typeface="Calibri" panose="020F0502020204030204" pitchFamily="34" charset="0"/>
            </a:endParaRPr>
          </a:p>
        </p:txBody>
      </p:sp>
      <p:sp>
        <p:nvSpPr>
          <p:cNvPr id="103" name="Box_Arch"/>
          <p:cNvSpPr>
            <a:spLocks noGrp="1"/>
          </p:cNvSpPr>
          <p:nvPr/>
        </p:nvSpPr>
        <p:spPr>
          <a:xfrm>
            <a:off x="12337651" y="4116271"/>
            <a:ext cx="11273568" cy="20865773"/>
          </a:xfrm>
          <a:prstGeom prst="roundRect">
            <a:avLst>
              <a:gd name="adj" fmla="val 5000"/>
            </a:avLst>
          </a:prstGeom>
          <a:solidFill>
            <a:srgbClr val="FFFFFF">
              <a:alpha val="80000"/>
            </a:srgbClr>
          </a:solidFill>
          <a:ln w="9525">
            <a:solidFill>
              <a:srgbClr val="B0C8E0"/>
            </a:solidFill>
          </a:ln>
          <a:effectLst>
            <a:outerShdw blurRad="304800" dist="152400" dir="5400000" algn="tl" rotWithShape="0">
              <a:srgbClr val="000000">
                <a:alpha val="22000"/>
              </a:srgbClr>
            </a:outerShdw>
          </a:effectLst>
        </p:spPr>
        <p:txBody>
          <a:bodyPr wrap="square" lIns="304800" tIns="190500" rIns="304800" bIns="190500" rtlCol="0" anchor="t">
            <a:noAutofit/>
          </a:bodyPr>
          <a:lstStyle/>
          <a:p>
            <a:pPr algn="ctr">
              <a:spcBef>
                <a:spcPts val="60"/>
              </a:spcBef>
            </a:pPr>
            <a:r>
              <a:rPr lang="en-US" sz="4800" b="1" dirty="0">
                <a:solidFill>
                  <a:srgbClr val="0A2342"/>
                </a:solidFill>
                <a:latin typeface="Georgia" panose="02040502050405020303" pitchFamily="18" charset="0"/>
              </a:rPr>
              <a:t>Results - </a:t>
            </a:r>
            <a:r>
              <a:rPr lang="en-IL" altLang="en-IL" sz="3200" b="1" dirty="0">
                <a:solidFill>
                  <a:srgbClr val="0A2342"/>
                </a:solidFill>
                <a:latin typeface="Georgia" panose="02040502050405020303" pitchFamily="18" charset="0"/>
              </a:rPr>
              <a:t>Region 120, over speeding </a:t>
            </a:r>
            <a:endParaRPr lang="en-US" sz="3400" b="1" dirty="0">
              <a:solidFill>
                <a:srgbClr val="000000"/>
              </a:solidFill>
              <a:latin typeface="-webkit-standard"/>
            </a:endParaRPr>
          </a:p>
          <a:p>
            <a:pPr algn="ctr">
              <a:spcBef>
                <a:spcPts val="60"/>
              </a:spcBef>
            </a:pPr>
            <a:r>
              <a:rPr lang="en-US" sz="3400" b="1" u="sng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CROSS SEGMENT TRACKING</a:t>
            </a:r>
          </a:p>
          <a:p>
            <a:pPr algn="ctr">
              <a:spcBef>
                <a:spcPts val="60"/>
              </a:spcBef>
            </a:pPr>
            <a:endParaRPr lang="en-US" altLang="en-IL" sz="34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60"/>
              </a:spcBef>
            </a:pPr>
            <a:endParaRPr lang="en-US" altLang="en-IL" sz="34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60"/>
              </a:spcBef>
            </a:pPr>
            <a:endParaRPr lang="en-US" altLang="en-IL" sz="34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60"/>
              </a:spcBef>
            </a:pPr>
            <a:endParaRPr lang="en-US" altLang="en-IL" sz="34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60"/>
              </a:spcBef>
            </a:pPr>
            <a:endParaRPr lang="en-US" altLang="en-IL" sz="34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60"/>
              </a:spcBef>
            </a:pPr>
            <a:endParaRPr lang="en-US" altLang="en-IL" sz="34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60"/>
              </a:spcBef>
            </a:pPr>
            <a:endParaRPr lang="en-US" altLang="en-IL" sz="34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60"/>
              </a:spcBef>
            </a:pPr>
            <a:endParaRPr lang="en-IL" altLang="en-IL" sz="3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60"/>
              </a:spcBef>
            </a:pPr>
            <a:endParaRPr lang="en-IL" altLang="en-IL" sz="3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60"/>
              </a:spcBef>
            </a:pPr>
            <a:endParaRPr lang="en-IL" altLang="en-IL" sz="3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60"/>
              </a:spcBef>
            </a:pPr>
            <a:endParaRPr lang="en-IL" altLang="en-IL" sz="3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60"/>
              </a:spcBef>
            </a:pPr>
            <a:endParaRPr lang="en-IL" altLang="en-IL" sz="3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60"/>
              </a:spcBef>
            </a:pPr>
            <a:endParaRPr lang="en-IL" altLang="en-IL" sz="3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en-IL" altLang="en-IL" sz="3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IL" altLang="en-IL" sz="3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Kalman filter with 0.37 m RMSE of ground truth.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US" altLang="en-IL" sz="3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IL" altLang="en-IL" sz="3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chieving over 90% accurecy and less than </a:t>
            </a:r>
            <a:r>
              <a:rPr lang="en-IL" sz="3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 km/h speed estimation error.</a:t>
            </a:r>
            <a:endParaRPr lang="en-IL" altLang="en-IL" sz="3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IL" altLang="en-IL" sz="3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Same vehicle re identified across 3 segment from motion + sensors alone, one unbroken track.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en-IL" sz="34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en-IL" sz="34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en-IL" sz="34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en-IL" sz="34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en-IL" sz="34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en-IL" sz="34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en-IL" sz="34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en-IL" sz="34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en-IL" sz="34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en-IL" sz="34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en-IL" sz="34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en-IL" sz="34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en-IL" sz="34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en-IL" sz="34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en-IL" sz="34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en-IL" sz="34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en-IL" sz="34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L" sz="34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IL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algn="l" defTabSz="457200" rtl="0" eaLnBrk="1" latinLnBrk="0" hangingPunct="1">
              <a:spcBef>
                <a:spcPts val="120"/>
              </a:spcBef>
            </a:pPr>
            <a:endParaRPr lang="en-US" sz="3400" b="0" dirty="0">
              <a:solidFill>
                <a:srgbClr val="1A2035"/>
              </a:solidFill>
              <a:latin typeface="Calibri" panose="020F0502020204030204" pitchFamily="34" charset="0"/>
            </a:endParaRPr>
          </a:p>
        </p:txBody>
      </p:sp>
      <p:sp>
        <p:nvSpPr>
          <p:cNvPr id="104" name="Box_Meth"/>
          <p:cNvSpPr>
            <a:spLocks noGrp="1"/>
          </p:cNvSpPr>
          <p:nvPr/>
        </p:nvSpPr>
        <p:spPr>
          <a:xfrm>
            <a:off x="24232838" y="22268904"/>
            <a:ext cx="11273568" cy="2713140"/>
          </a:xfrm>
          <a:prstGeom prst="roundRect">
            <a:avLst>
              <a:gd name="adj" fmla="val 13024"/>
            </a:avLst>
          </a:prstGeom>
          <a:solidFill>
            <a:srgbClr val="FFFFFF">
              <a:alpha val="80000"/>
            </a:srgbClr>
          </a:solidFill>
          <a:ln w="9525">
            <a:solidFill>
              <a:srgbClr val="B0C8E0"/>
            </a:solidFill>
          </a:ln>
          <a:effectLst>
            <a:outerShdw blurRad="304800" dist="152400" dir="5400000" algn="tl" rotWithShape="0">
              <a:srgbClr val="000000">
                <a:alpha val="22000"/>
              </a:srgbClr>
            </a:outerShdw>
            <a:softEdge rad="0"/>
          </a:effectLst>
        </p:spPr>
        <p:txBody>
          <a:bodyPr wrap="square" lIns="304800" tIns="190500" rIns="304800" bIns="190500" rtlCol="0" anchor="t">
            <a:noAutofit/>
          </a:bodyPr>
          <a:lstStyle/>
          <a:p>
            <a:pPr algn="ctr"/>
            <a:r>
              <a:rPr lang="en-US" sz="5400" b="1" dirty="0">
                <a:solidFill>
                  <a:srgbClr val="0A2342"/>
                </a:solidFill>
                <a:latin typeface="Georgia" panose="02040502050405020303" pitchFamily="18" charset="0"/>
              </a:rPr>
              <a:t>Conclusions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L" altLang="en-IL" sz="3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Proven here in simulation.Every street could become a city wide nervous system, sensing the roads everywhere, with no new hardware.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D98D66F-CCB6-A110-3D20-A536A7B998D0}"/>
              </a:ext>
            </a:extLst>
          </p:cNvPr>
          <p:cNvGrpSpPr/>
          <p:nvPr/>
        </p:nvGrpSpPr>
        <p:grpSpPr>
          <a:xfrm>
            <a:off x="584772" y="616608"/>
            <a:ext cx="5796815" cy="1005571"/>
            <a:chOff x="569740" y="572547"/>
            <a:chExt cx="5796815" cy="1005571"/>
          </a:xfrm>
        </p:grpSpPr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B9E3783F-7F0C-9E77-2154-632F528A65C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9740" y="572547"/>
              <a:ext cx="5796815" cy="1005571"/>
            </a:xfrm>
            <a:prstGeom prst="rect">
              <a:avLst/>
            </a:prstGeom>
          </p:spPr>
        </p:pic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DE821500-D376-4ED2-F9B1-D663C9AA0B32}"/>
                </a:ext>
              </a:extLst>
            </p:cNvPr>
            <p:cNvSpPr/>
            <p:nvPr/>
          </p:nvSpPr>
          <p:spPr>
            <a:xfrm>
              <a:off x="3522337" y="808015"/>
              <a:ext cx="411272" cy="510724"/>
            </a:xfrm>
            <a:custGeom>
              <a:avLst/>
              <a:gdLst>
                <a:gd name="csX0" fmla="*/ 291613 w 411272"/>
                <a:gd name="csY0" fmla="*/ 209053 h 510724"/>
                <a:gd name="csX1" fmla="*/ 271227 w 411272"/>
                <a:gd name="csY1" fmla="*/ 239926 h 510724"/>
                <a:gd name="csX2" fmla="*/ 255272 w 411272"/>
                <a:gd name="csY2" fmla="*/ 267270 h 510724"/>
                <a:gd name="csX3" fmla="*/ 226909 w 411272"/>
                <a:gd name="csY3" fmla="*/ 279619 h 510724"/>
                <a:gd name="csX4" fmla="*/ 225136 w 411272"/>
                <a:gd name="csY4" fmla="*/ 270799 h 510724"/>
                <a:gd name="csX5" fmla="*/ 259704 w 411272"/>
                <a:gd name="csY5" fmla="*/ 172888 h 510724"/>
                <a:gd name="csX6" fmla="*/ 230454 w 411272"/>
                <a:gd name="csY6" fmla="*/ 57335 h 510724"/>
                <a:gd name="csX7" fmla="*/ 208295 w 411272"/>
                <a:gd name="csY7" fmla="*/ 0 h 510724"/>
                <a:gd name="csX8" fmla="*/ 186136 w 411272"/>
                <a:gd name="csY8" fmla="*/ 57335 h 510724"/>
                <a:gd name="csX9" fmla="*/ 156886 w 411272"/>
                <a:gd name="csY9" fmla="*/ 172888 h 510724"/>
                <a:gd name="csX10" fmla="*/ 191454 w 411272"/>
                <a:gd name="csY10" fmla="*/ 270799 h 510724"/>
                <a:gd name="csX11" fmla="*/ 189682 w 411272"/>
                <a:gd name="csY11" fmla="*/ 279619 h 510724"/>
                <a:gd name="csX12" fmla="*/ 161318 w 411272"/>
                <a:gd name="csY12" fmla="*/ 267270 h 510724"/>
                <a:gd name="csX13" fmla="*/ 145364 w 411272"/>
                <a:gd name="csY13" fmla="*/ 239926 h 510724"/>
                <a:gd name="csX14" fmla="*/ 124977 w 411272"/>
                <a:gd name="csY14" fmla="*/ 209053 h 510724"/>
                <a:gd name="csX15" fmla="*/ 0 w 411272"/>
                <a:gd name="csY15" fmla="*/ 187883 h 510724"/>
                <a:gd name="csX16" fmla="*/ 57614 w 411272"/>
                <a:gd name="csY16" fmla="*/ 329016 h 510724"/>
                <a:gd name="csX17" fmla="*/ 95727 w 411272"/>
                <a:gd name="csY17" fmla="*/ 357242 h 510724"/>
                <a:gd name="csX18" fmla="*/ 179045 w 411272"/>
                <a:gd name="csY18" fmla="*/ 357242 h 510724"/>
                <a:gd name="csX19" fmla="*/ 188795 w 411272"/>
                <a:gd name="csY19" fmla="*/ 363417 h 510724"/>
                <a:gd name="csX20" fmla="*/ 188795 w 411272"/>
                <a:gd name="csY20" fmla="*/ 381941 h 510724"/>
                <a:gd name="csX21" fmla="*/ 182591 w 411272"/>
                <a:gd name="csY21" fmla="*/ 388997 h 510724"/>
                <a:gd name="csX22" fmla="*/ 93068 w 411272"/>
                <a:gd name="csY22" fmla="*/ 388997 h 510724"/>
                <a:gd name="csX23" fmla="*/ 93068 w 411272"/>
                <a:gd name="csY23" fmla="*/ 424280 h 510724"/>
                <a:gd name="csX24" fmla="*/ 114341 w 411272"/>
                <a:gd name="csY24" fmla="*/ 424280 h 510724"/>
                <a:gd name="csX25" fmla="*/ 106364 w 411272"/>
                <a:gd name="csY25" fmla="*/ 471031 h 510724"/>
                <a:gd name="csX26" fmla="*/ 78000 w 411272"/>
                <a:gd name="csY26" fmla="*/ 477205 h 510724"/>
                <a:gd name="csX27" fmla="*/ 85091 w 411272"/>
                <a:gd name="csY27" fmla="*/ 510724 h 510724"/>
                <a:gd name="csX28" fmla="*/ 135613 w 411272"/>
                <a:gd name="csY28" fmla="*/ 500139 h 510724"/>
                <a:gd name="csX29" fmla="*/ 149795 w 411272"/>
                <a:gd name="csY29" fmla="*/ 423398 h 510724"/>
                <a:gd name="csX30" fmla="*/ 179045 w 411272"/>
                <a:gd name="csY30" fmla="*/ 423398 h 510724"/>
                <a:gd name="csX31" fmla="*/ 187022 w 411272"/>
                <a:gd name="csY31" fmla="*/ 429573 h 510724"/>
                <a:gd name="csX32" fmla="*/ 187022 w 411272"/>
                <a:gd name="csY32" fmla="*/ 500139 h 510724"/>
                <a:gd name="csX33" fmla="*/ 224250 w 411272"/>
                <a:gd name="csY33" fmla="*/ 500139 h 510724"/>
                <a:gd name="csX34" fmla="*/ 224250 w 411272"/>
                <a:gd name="csY34" fmla="*/ 423398 h 510724"/>
                <a:gd name="csX35" fmla="*/ 243750 w 411272"/>
                <a:gd name="csY35" fmla="*/ 425163 h 510724"/>
                <a:gd name="csX36" fmla="*/ 310227 w 411272"/>
                <a:gd name="csY36" fmla="*/ 505432 h 510724"/>
                <a:gd name="csX37" fmla="*/ 337704 w 411272"/>
                <a:gd name="csY37" fmla="*/ 484262 h 510724"/>
                <a:gd name="csX38" fmla="*/ 305795 w 411272"/>
                <a:gd name="csY38" fmla="*/ 444568 h 510724"/>
                <a:gd name="csX39" fmla="*/ 324409 w 411272"/>
                <a:gd name="csY39" fmla="*/ 426927 h 510724"/>
                <a:gd name="csX40" fmla="*/ 333272 w 411272"/>
                <a:gd name="csY40" fmla="*/ 387233 h 510724"/>
                <a:gd name="csX41" fmla="*/ 297818 w 411272"/>
                <a:gd name="csY41" fmla="*/ 387233 h 510724"/>
                <a:gd name="csX42" fmla="*/ 293386 w 411272"/>
                <a:gd name="csY42" fmla="*/ 406639 h 510724"/>
                <a:gd name="csX43" fmla="*/ 281863 w 411272"/>
                <a:gd name="csY43" fmla="*/ 416342 h 510724"/>
                <a:gd name="csX44" fmla="*/ 250841 w 411272"/>
                <a:gd name="csY44" fmla="*/ 387233 h 510724"/>
                <a:gd name="csX45" fmla="*/ 228682 w 411272"/>
                <a:gd name="csY45" fmla="*/ 387233 h 510724"/>
                <a:gd name="csX46" fmla="*/ 222477 w 411272"/>
                <a:gd name="csY46" fmla="*/ 380176 h 510724"/>
                <a:gd name="csX47" fmla="*/ 222477 w 411272"/>
                <a:gd name="csY47" fmla="*/ 361653 h 510724"/>
                <a:gd name="csX48" fmla="*/ 232227 w 411272"/>
                <a:gd name="csY48" fmla="*/ 355478 h 510724"/>
                <a:gd name="csX49" fmla="*/ 315545 w 411272"/>
                <a:gd name="csY49" fmla="*/ 355478 h 510724"/>
                <a:gd name="csX50" fmla="*/ 353659 w 411272"/>
                <a:gd name="csY50" fmla="*/ 327252 h 510724"/>
                <a:gd name="csX51" fmla="*/ 411272 w 411272"/>
                <a:gd name="csY51" fmla="*/ 186119 h 510724"/>
                <a:gd name="csX52" fmla="*/ 286295 w 411272"/>
                <a:gd name="csY52" fmla="*/ 207289 h 510724"/>
                <a:gd name="csX53" fmla="*/ 187909 w 411272"/>
                <a:gd name="csY53" fmla="*/ 167595 h 510724"/>
                <a:gd name="csX54" fmla="*/ 208295 w 411272"/>
                <a:gd name="csY54" fmla="*/ 73213 h 510724"/>
                <a:gd name="csX55" fmla="*/ 208295 w 411272"/>
                <a:gd name="csY55" fmla="*/ 73213 h 510724"/>
                <a:gd name="csX56" fmla="*/ 228682 w 411272"/>
                <a:gd name="csY56" fmla="*/ 167595 h 510724"/>
                <a:gd name="csX57" fmla="*/ 219818 w 411272"/>
                <a:gd name="csY57" fmla="*/ 220520 h 510724"/>
                <a:gd name="csX58" fmla="*/ 218045 w 411272"/>
                <a:gd name="csY58" fmla="*/ 224048 h 510724"/>
                <a:gd name="csX59" fmla="*/ 217159 w 411272"/>
                <a:gd name="csY59" fmla="*/ 222284 h 510724"/>
                <a:gd name="csX60" fmla="*/ 208295 w 411272"/>
                <a:gd name="csY60" fmla="*/ 131430 h 510724"/>
                <a:gd name="csX61" fmla="*/ 199432 w 411272"/>
                <a:gd name="csY61" fmla="*/ 222284 h 510724"/>
                <a:gd name="csX62" fmla="*/ 198545 w 411272"/>
                <a:gd name="csY62" fmla="*/ 224048 h 510724"/>
                <a:gd name="csX63" fmla="*/ 196772 w 411272"/>
                <a:gd name="csY63" fmla="*/ 220520 h 510724"/>
                <a:gd name="csX64" fmla="*/ 187909 w 411272"/>
                <a:gd name="csY64" fmla="*/ 167595 h 510724"/>
                <a:gd name="csX65" fmla="*/ 209181 w 411272"/>
                <a:gd name="csY65" fmla="*/ 328134 h 510724"/>
                <a:gd name="csX66" fmla="*/ 49636 w 411272"/>
                <a:gd name="csY66" fmla="*/ 227577 h 510724"/>
                <a:gd name="csX67" fmla="*/ 105477 w 411272"/>
                <a:gd name="csY67" fmla="*/ 235515 h 510724"/>
                <a:gd name="csX68" fmla="*/ 115227 w 411272"/>
                <a:gd name="csY68" fmla="*/ 245218 h 510724"/>
                <a:gd name="csX69" fmla="*/ 209181 w 411272"/>
                <a:gd name="csY69" fmla="*/ 318431 h 510724"/>
                <a:gd name="csX70" fmla="*/ 302250 w 411272"/>
                <a:gd name="csY70" fmla="*/ 246100 h 510724"/>
                <a:gd name="csX71" fmla="*/ 312886 w 411272"/>
                <a:gd name="csY71" fmla="*/ 236397 h 510724"/>
                <a:gd name="csX72" fmla="*/ 368727 w 411272"/>
                <a:gd name="csY72" fmla="*/ 227577 h 510724"/>
                <a:gd name="csX73" fmla="*/ 209181 w 411272"/>
                <a:gd name="csY73" fmla="*/ 328134 h 5107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</a:cxnLst>
              <a:rect l="l" t="t" r="r" b="b"/>
              <a:pathLst>
                <a:path w="411272" h="510724">
                  <a:moveTo>
                    <a:pt x="291613" y="209053"/>
                  </a:moveTo>
                  <a:cubicBezTo>
                    <a:pt x="272113" y="213463"/>
                    <a:pt x="273000" y="232869"/>
                    <a:pt x="271227" y="239926"/>
                  </a:cubicBezTo>
                  <a:cubicBezTo>
                    <a:pt x="268568" y="248747"/>
                    <a:pt x="266795" y="254921"/>
                    <a:pt x="255272" y="267270"/>
                  </a:cubicBezTo>
                  <a:cubicBezTo>
                    <a:pt x="244636" y="278737"/>
                    <a:pt x="233113" y="284912"/>
                    <a:pt x="226909" y="279619"/>
                  </a:cubicBezTo>
                  <a:cubicBezTo>
                    <a:pt x="224250" y="277855"/>
                    <a:pt x="224250" y="272563"/>
                    <a:pt x="225136" y="270799"/>
                  </a:cubicBezTo>
                  <a:cubicBezTo>
                    <a:pt x="230454" y="263742"/>
                    <a:pt x="260591" y="224930"/>
                    <a:pt x="259704" y="172888"/>
                  </a:cubicBezTo>
                  <a:cubicBezTo>
                    <a:pt x="258818" y="137604"/>
                    <a:pt x="249954" y="109378"/>
                    <a:pt x="230454" y="57335"/>
                  </a:cubicBezTo>
                  <a:cubicBezTo>
                    <a:pt x="213613" y="14995"/>
                    <a:pt x="208295" y="0"/>
                    <a:pt x="208295" y="0"/>
                  </a:cubicBezTo>
                  <a:cubicBezTo>
                    <a:pt x="208295" y="0"/>
                    <a:pt x="202977" y="14995"/>
                    <a:pt x="186136" y="57335"/>
                  </a:cubicBezTo>
                  <a:cubicBezTo>
                    <a:pt x="165750" y="109378"/>
                    <a:pt x="157773" y="137604"/>
                    <a:pt x="156886" y="172888"/>
                  </a:cubicBezTo>
                  <a:cubicBezTo>
                    <a:pt x="155114" y="224930"/>
                    <a:pt x="186136" y="264624"/>
                    <a:pt x="191454" y="270799"/>
                  </a:cubicBezTo>
                  <a:cubicBezTo>
                    <a:pt x="192341" y="272563"/>
                    <a:pt x="192341" y="276973"/>
                    <a:pt x="189682" y="279619"/>
                  </a:cubicBezTo>
                  <a:cubicBezTo>
                    <a:pt x="183477" y="284912"/>
                    <a:pt x="171954" y="278737"/>
                    <a:pt x="161318" y="267270"/>
                  </a:cubicBezTo>
                  <a:cubicBezTo>
                    <a:pt x="149795" y="255803"/>
                    <a:pt x="148022" y="249629"/>
                    <a:pt x="145364" y="239926"/>
                  </a:cubicBezTo>
                  <a:cubicBezTo>
                    <a:pt x="143591" y="232869"/>
                    <a:pt x="145364" y="213463"/>
                    <a:pt x="124977" y="209053"/>
                  </a:cubicBezTo>
                  <a:cubicBezTo>
                    <a:pt x="109023" y="205525"/>
                    <a:pt x="0" y="187883"/>
                    <a:pt x="0" y="187883"/>
                  </a:cubicBezTo>
                  <a:cubicBezTo>
                    <a:pt x="0" y="187883"/>
                    <a:pt x="54068" y="320195"/>
                    <a:pt x="57614" y="329016"/>
                  </a:cubicBezTo>
                  <a:cubicBezTo>
                    <a:pt x="61159" y="337837"/>
                    <a:pt x="75341" y="357242"/>
                    <a:pt x="95727" y="357242"/>
                  </a:cubicBezTo>
                  <a:cubicBezTo>
                    <a:pt x="119659" y="357242"/>
                    <a:pt x="171068" y="357242"/>
                    <a:pt x="179045" y="357242"/>
                  </a:cubicBezTo>
                  <a:cubicBezTo>
                    <a:pt x="185250" y="357242"/>
                    <a:pt x="188795" y="359007"/>
                    <a:pt x="188795" y="363417"/>
                  </a:cubicBezTo>
                  <a:cubicBezTo>
                    <a:pt x="188795" y="367827"/>
                    <a:pt x="188795" y="377530"/>
                    <a:pt x="188795" y="381941"/>
                  </a:cubicBezTo>
                  <a:cubicBezTo>
                    <a:pt x="188795" y="386351"/>
                    <a:pt x="187022" y="388997"/>
                    <a:pt x="182591" y="388997"/>
                  </a:cubicBezTo>
                  <a:lnTo>
                    <a:pt x="93068" y="388997"/>
                  </a:lnTo>
                  <a:lnTo>
                    <a:pt x="93068" y="424280"/>
                  </a:lnTo>
                  <a:lnTo>
                    <a:pt x="114341" y="424280"/>
                  </a:lnTo>
                  <a:lnTo>
                    <a:pt x="106364" y="471031"/>
                  </a:lnTo>
                  <a:lnTo>
                    <a:pt x="78000" y="477205"/>
                  </a:lnTo>
                  <a:lnTo>
                    <a:pt x="85091" y="510724"/>
                  </a:lnTo>
                  <a:lnTo>
                    <a:pt x="135613" y="500139"/>
                  </a:lnTo>
                  <a:lnTo>
                    <a:pt x="149795" y="423398"/>
                  </a:lnTo>
                  <a:lnTo>
                    <a:pt x="179045" y="423398"/>
                  </a:lnTo>
                  <a:cubicBezTo>
                    <a:pt x="180818" y="423398"/>
                    <a:pt x="187022" y="424280"/>
                    <a:pt x="187022" y="429573"/>
                  </a:cubicBezTo>
                  <a:lnTo>
                    <a:pt x="187022" y="500139"/>
                  </a:lnTo>
                  <a:lnTo>
                    <a:pt x="224250" y="500139"/>
                  </a:lnTo>
                  <a:lnTo>
                    <a:pt x="224250" y="423398"/>
                  </a:lnTo>
                  <a:cubicBezTo>
                    <a:pt x="235772" y="423398"/>
                    <a:pt x="241977" y="422516"/>
                    <a:pt x="243750" y="425163"/>
                  </a:cubicBezTo>
                  <a:cubicBezTo>
                    <a:pt x="263250" y="448979"/>
                    <a:pt x="310227" y="505432"/>
                    <a:pt x="310227" y="505432"/>
                  </a:cubicBezTo>
                  <a:lnTo>
                    <a:pt x="337704" y="484262"/>
                  </a:lnTo>
                  <a:lnTo>
                    <a:pt x="305795" y="444568"/>
                  </a:lnTo>
                  <a:cubicBezTo>
                    <a:pt x="305795" y="444568"/>
                    <a:pt x="320863" y="436630"/>
                    <a:pt x="324409" y="426927"/>
                  </a:cubicBezTo>
                  <a:cubicBezTo>
                    <a:pt x="327954" y="418106"/>
                    <a:pt x="333272" y="387233"/>
                    <a:pt x="333272" y="387233"/>
                  </a:cubicBezTo>
                  <a:cubicBezTo>
                    <a:pt x="333272" y="387233"/>
                    <a:pt x="317318" y="387233"/>
                    <a:pt x="297818" y="387233"/>
                  </a:cubicBezTo>
                  <a:cubicBezTo>
                    <a:pt x="297818" y="387233"/>
                    <a:pt x="294272" y="403111"/>
                    <a:pt x="293386" y="406639"/>
                  </a:cubicBezTo>
                  <a:cubicBezTo>
                    <a:pt x="291613" y="416342"/>
                    <a:pt x="281863" y="416342"/>
                    <a:pt x="281863" y="416342"/>
                  </a:cubicBezTo>
                  <a:cubicBezTo>
                    <a:pt x="265909" y="397818"/>
                    <a:pt x="262363" y="387233"/>
                    <a:pt x="250841" y="387233"/>
                  </a:cubicBezTo>
                  <a:cubicBezTo>
                    <a:pt x="228682" y="387233"/>
                    <a:pt x="234000" y="387233"/>
                    <a:pt x="228682" y="387233"/>
                  </a:cubicBezTo>
                  <a:cubicBezTo>
                    <a:pt x="226023" y="387233"/>
                    <a:pt x="222477" y="384587"/>
                    <a:pt x="222477" y="380176"/>
                  </a:cubicBezTo>
                  <a:cubicBezTo>
                    <a:pt x="222477" y="375766"/>
                    <a:pt x="222477" y="366063"/>
                    <a:pt x="222477" y="361653"/>
                  </a:cubicBezTo>
                  <a:cubicBezTo>
                    <a:pt x="222477" y="358124"/>
                    <a:pt x="226909" y="355478"/>
                    <a:pt x="232227" y="355478"/>
                  </a:cubicBezTo>
                  <a:cubicBezTo>
                    <a:pt x="240204" y="355478"/>
                    <a:pt x="291613" y="355478"/>
                    <a:pt x="315545" y="355478"/>
                  </a:cubicBezTo>
                  <a:cubicBezTo>
                    <a:pt x="335932" y="355478"/>
                    <a:pt x="350113" y="336072"/>
                    <a:pt x="353659" y="327252"/>
                  </a:cubicBezTo>
                  <a:cubicBezTo>
                    <a:pt x="357204" y="318431"/>
                    <a:pt x="411272" y="186119"/>
                    <a:pt x="411272" y="186119"/>
                  </a:cubicBezTo>
                  <a:cubicBezTo>
                    <a:pt x="411272" y="186119"/>
                    <a:pt x="301363" y="203760"/>
                    <a:pt x="286295" y="207289"/>
                  </a:cubicBezTo>
                  <a:moveTo>
                    <a:pt x="187909" y="167595"/>
                  </a:moveTo>
                  <a:cubicBezTo>
                    <a:pt x="187909" y="145543"/>
                    <a:pt x="208295" y="73213"/>
                    <a:pt x="208295" y="73213"/>
                  </a:cubicBezTo>
                  <a:lnTo>
                    <a:pt x="208295" y="73213"/>
                  </a:lnTo>
                  <a:cubicBezTo>
                    <a:pt x="208295" y="73213"/>
                    <a:pt x="227795" y="145543"/>
                    <a:pt x="228682" y="167595"/>
                  </a:cubicBezTo>
                  <a:cubicBezTo>
                    <a:pt x="228682" y="189647"/>
                    <a:pt x="220704" y="219638"/>
                    <a:pt x="219818" y="220520"/>
                  </a:cubicBezTo>
                  <a:cubicBezTo>
                    <a:pt x="219818" y="222284"/>
                    <a:pt x="219818" y="224048"/>
                    <a:pt x="218045" y="224048"/>
                  </a:cubicBezTo>
                  <a:cubicBezTo>
                    <a:pt x="216273" y="224048"/>
                    <a:pt x="217159" y="223166"/>
                    <a:pt x="217159" y="222284"/>
                  </a:cubicBezTo>
                  <a:cubicBezTo>
                    <a:pt x="217159" y="222284"/>
                    <a:pt x="208295" y="131430"/>
                    <a:pt x="208295" y="131430"/>
                  </a:cubicBezTo>
                  <a:cubicBezTo>
                    <a:pt x="208295" y="131430"/>
                    <a:pt x="199432" y="221402"/>
                    <a:pt x="199432" y="222284"/>
                  </a:cubicBezTo>
                  <a:cubicBezTo>
                    <a:pt x="199432" y="223166"/>
                    <a:pt x="199432" y="224048"/>
                    <a:pt x="198545" y="224048"/>
                  </a:cubicBezTo>
                  <a:cubicBezTo>
                    <a:pt x="197659" y="224048"/>
                    <a:pt x="197659" y="223166"/>
                    <a:pt x="196772" y="220520"/>
                  </a:cubicBezTo>
                  <a:cubicBezTo>
                    <a:pt x="196772" y="218756"/>
                    <a:pt x="187022" y="189647"/>
                    <a:pt x="187909" y="167595"/>
                  </a:cubicBezTo>
                  <a:moveTo>
                    <a:pt x="209181" y="328134"/>
                  </a:moveTo>
                  <a:cubicBezTo>
                    <a:pt x="92182" y="328134"/>
                    <a:pt x="49636" y="227577"/>
                    <a:pt x="49636" y="227577"/>
                  </a:cubicBezTo>
                  <a:cubicBezTo>
                    <a:pt x="49636" y="227577"/>
                    <a:pt x="97500" y="233751"/>
                    <a:pt x="105477" y="235515"/>
                  </a:cubicBezTo>
                  <a:cubicBezTo>
                    <a:pt x="109909" y="235515"/>
                    <a:pt x="114341" y="241690"/>
                    <a:pt x="115227" y="245218"/>
                  </a:cubicBezTo>
                  <a:cubicBezTo>
                    <a:pt x="117000" y="254921"/>
                    <a:pt x="140932" y="318431"/>
                    <a:pt x="209181" y="318431"/>
                  </a:cubicBezTo>
                  <a:cubicBezTo>
                    <a:pt x="277432" y="318431"/>
                    <a:pt x="298704" y="260214"/>
                    <a:pt x="302250" y="246100"/>
                  </a:cubicBezTo>
                  <a:cubicBezTo>
                    <a:pt x="303136" y="240808"/>
                    <a:pt x="306681" y="237279"/>
                    <a:pt x="312886" y="236397"/>
                  </a:cubicBezTo>
                  <a:cubicBezTo>
                    <a:pt x="323523" y="234633"/>
                    <a:pt x="368727" y="227577"/>
                    <a:pt x="368727" y="227577"/>
                  </a:cubicBezTo>
                  <a:cubicBezTo>
                    <a:pt x="368727" y="227577"/>
                    <a:pt x="325295" y="328134"/>
                    <a:pt x="209181" y="328134"/>
                  </a:cubicBezTo>
                </a:path>
              </a:pathLst>
            </a:custGeom>
            <a:solidFill>
              <a:schemeClr val="tx1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45E9C74-36B9-7A51-A17D-77FBC10AAB83}"/>
              </a:ext>
            </a:extLst>
          </p:cNvPr>
          <p:cNvGrpSpPr/>
          <p:nvPr/>
        </p:nvGrpSpPr>
        <p:grpSpPr>
          <a:xfrm>
            <a:off x="32128987" y="616608"/>
            <a:ext cx="3655103" cy="933662"/>
            <a:chOff x="32128987" y="649265"/>
            <a:chExt cx="3655103" cy="933662"/>
          </a:xfrm>
        </p:grpSpPr>
        <p:pic>
          <p:nvPicPr>
            <p:cNvPr id="55" name="Graphic 54">
              <a:extLst>
                <a:ext uri="{FF2B5EF4-FFF2-40B4-BE49-F238E27FC236}">
                  <a16:creationId xmlns:a16="http://schemas.microsoft.com/office/drawing/2014/main" id="{B29351C0-AD7D-757E-D7BD-B1FD478E734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8987" y="649265"/>
              <a:ext cx="3655103" cy="928853"/>
            </a:xfrm>
            <a:prstGeom prst="rect">
              <a:avLst/>
            </a:prstGeom>
          </p:spPr>
        </p:pic>
        <p:grpSp>
          <p:nvGrpSpPr>
            <p:cNvPr id="57" name="Graphic 142">
              <a:extLst>
                <a:ext uri="{FF2B5EF4-FFF2-40B4-BE49-F238E27FC236}">
                  <a16:creationId xmlns:a16="http://schemas.microsoft.com/office/drawing/2014/main" id="{82E352BC-F1F0-20C8-CF96-71F0A3C00FA5}"/>
                </a:ext>
              </a:extLst>
            </p:cNvPr>
            <p:cNvGrpSpPr/>
            <p:nvPr/>
          </p:nvGrpSpPr>
          <p:grpSpPr>
            <a:xfrm>
              <a:off x="32151289" y="663994"/>
              <a:ext cx="1383878" cy="918933"/>
              <a:chOff x="26887914" y="7617668"/>
              <a:chExt cx="1383878" cy="918933"/>
            </a:xfrm>
          </p:grpSpPr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436B8319-B5EF-E8F8-7F78-10873BF42091}"/>
                  </a:ext>
                </a:extLst>
              </p:cNvPr>
              <p:cNvSpPr/>
              <p:nvPr/>
            </p:nvSpPr>
            <p:spPr>
              <a:xfrm>
                <a:off x="27349206" y="7617668"/>
                <a:ext cx="922585" cy="918933"/>
              </a:xfrm>
              <a:custGeom>
                <a:avLst/>
                <a:gdLst>
                  <a:gd name="csX0" fmla="*/ 461293 w 922585"/>
                  <a:gd name="csY0" fmla="*/ 0 h 918933"/>
                  <a:gd name="csX1" fmla="*/ 922586 w 922585"/>
                  <a:gd name="csY1" fmla="*/ 459467 h 918933"/>
                  <a:gd name="csX2" fmla="*/ 922586 w 922585"/>
                  <a:gd name="csY2" fmla="*/ 918933 h 918933"/>
                  <a:gd name="csX3" fmla="*/ 0 w 922585"/>
                  <a:gd name="csY3" fmla="*/ 451 h 918933"/>
                  <a:gd name="csX4" fmla="*/ 461293 w 922585"/>
                  <a:gd name="csY4" fmla="*/ 451 h 91893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922585" h="918933">
                    <a:moveTo>
                      <a:pt x="461293" y="0"/>
                    </a:moveTo>
                    <a:cubicBezTo>
                      <a:pt x="461293" y="253856"/>
                      <a:pt x="667768" y="459467"/>
                      <a:pt x="922586" y="459467"/>
                    </a:cubicBezTo>
                    <a:lnTo>
                      <a:pt x="922586" y="918933"/>
                    </a:lnTo>
                    <a:cubicBezTo>
                      <a:pt x="412498" y="918933"/>
                      <a:pt x="0" y="508164"/>
                      <a:pt x="0" y="451"/>
                    </a:cubicBezTo>
                    <a:lnTo>
                      <a:pt x="461293" y="451"/>
                    </a:lnTo>
                    <a:close/>
                  </a:path>
                </a:pathLst>
              </a:custGeom>
              <a:solidFill>
                <a:srgbClr val="000000"/>
              </a:solidFill>
              <a:ln w="4509" cap="flat">
                <a:solidFill>
                  <a:schemeClr val="bg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L"/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26D834ED-8839-07C2-B24D-74DA6ACFCA49}"/>
                  </a:ext>
                </a:extLst>
              </p:cNvPr>
              <p:cNvSpPr/>
              <p:nvPr/>
            </p:nvSpPr>
            <p:spPr>
              <a:xfrm>
                <a:off x="26887914" y="7617668"/>
                <a:ext cx="923037" cy="918482"/>
              </a:xfrm>
              <a:custGeom>
                <a:avLst/>
                <a:gdLst>
                  <a:gd name="csX0" fmla="*/ 0 w 923037"/>
                  <a:gd name="csY0" fmla="*/ 0 h 918482"/>
                  <a:gd name="csX1" fmla="*/ 470329 w 923037"/>
                  <a:gd name="csY1" fmla="*/ 128055 h 918482"/>
                  <a:gd name="csX2" fmla="*/ 914002 w 923037"/>
                  <a:gd name="csY2" fmla="*/ 790878 h 918482"/>
                  <a:gd name="csX3" fmla="*/ 923038 w 923037"/>
                  <a:gd name="csY3" fmla="*/ 918482 h 918482"/>
                  <a:gd name="csX4" fmla="*/ 461745 w 923037"/>
                  <a:gd name="csY4" fmla="*/ 918482 h 918482"/>
                  <a:gd name="csX5" fmla="*/ 452 w 923037"/>
                  <a:gd name="csY5" fmla="*/ 459016 h 918482"/>
                  <a:gd name="csX6" fmla="*/ 452 w 923037"/>
                  <a:gd name="csY6" fmla="*/ 0 h 9184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923037" h="918482">
                    <a:moveTo>
                      <a:pt x="0" y="0"/>
                    </a:moveTo>
                    <a:cubicBezTo>
                      <a:pt x="171686" y="0"/>
                      <a:pt x="332529" y="46443"/>
                      <a:pt x="470329" y="128055"/>
                    </a:cubicBezTo>
                    <a:cubicBezTo>
                      <a:pt x="706171" y="267383"/>
                      <a:pt x="874695" y="508615"/>
                      <a:pt x="914002" y="790878"/>
                    </a:cubicBezTo>
                    <a:cubicBezTo>
                      <a:pt x="919875" y="832811"/>
                      <a:pt x="923038" y="875196"/>
                      <a:pt x="923038" y="918482"/>
                    </a:cubicBezTo>
                    <a:lnTo>
                      <a:pt x="461745" y="918482"/>
                    </a:lnTo>
                    <a:cubicBezTo>
                      <a:pt x="461745" y="664626"/>
                      <a:pt x="255270" y="459016"/>
                      <a:pt x="452" y="459016"/>
                    </a:cubicBezTo>
                    <a:lnTo>
                      <a:pt x="452" y="0"/>
                    </a:lnTo>
                    <a:close/>
                  </a:path>
                </a:pathLst>
              </a:custGeom>
              <a:solidFill>
                <a:srgbClr val="FFFFFF"/>
              </a:solidFill>
              <a:ln w="4509" cap="flat">
                <a:solidFill>
                  <a:schemeClr val="bg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L"/>
              </a:p>
            </p:txBody>
          </p:sp>
        </p:grpSp>
      </p:grpSp>
      <p:sp>
        <p:nvSpPr>
          <p:cNvPr id="28" name="Box_Arch">
            <a:extLst>
              <a:ext uri="{FF2B5EF4-FFF2-40B4-BE49-F238E27FC236}">
                <a16:creationId xmlns:a16="http://schemas.microsoft.com/office/drawing/2014/main" id="{D87768B5-14B4-BCF7-864C-7A4AF4958F41}"/>
              </a:ext>
            </a:extLst>
          </p:cNvPr>
          <p:cNvSpPr>
            <a:spLocks noGrp="1"/>
          </p:cNvSpPr>
          <p:nvPr/>
        </p:nvSpPr>
        <p:spPr>
          <a:xfrm>
            <a:off x="24181969" y="4116271"/>
            <a:ext cx="11273570" cy="17934702"/>
          </a:xfrm>
          <a:prstGeom prst="roundRect">
            <a:avLst>
              <a:gd name="adj" fmla="val 5000"/>
            </a:avLst>
          </a:prstGeom>
          <a:solidFill>
            <a:srgbClr val="FFFFFF">
              <a:alpha val="80000"/>
            </a:srgbClr>
          </a:solidFill>
          <a:ln w="9525">
            <a:solidFill>
              <a:srgbClr val="B0C8E0"/>
            </a:solidFill>
          </a:ln>
          <a:effectLst>
            <a:outerShdw blurRad="304800" dist="152400" dir="5400000" algn="tl" rotWithShape="0">
              <a:srgbClr val="000000">
                <a:alpha val="22000"/>
              </a:srgbClr>
            </a:outerShdw>
          </a:effectLst>
        </p:spPr>
        <p:txBody>
          <a:bodyPr wrap="square" lIns="304800" tIns="190500" rIns="304800" bIns="190500" rtlCol="0" anchor="t">
            <a:noAutofit/>
          </a:bodyPr>
          <a:lstStyle/>
          <a:p>
            <a:pPr algn="ctr">
              <a:spcBef>
                <a:spcPts val="60"/>
              </a:spcBef>
            </a:pPr>
            <a:r>
              <a:rPr lang="en-US" sz="3600" b="1" u="sng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ANOMALY DETECTION</a:t>
            </a:r>
            <a:endParaRPr lang="en-IL" altLang="en-IL" sz="4000" u="sng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IL" altLang="en-IL" sz="3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Over limit speeder flagged at 21.58σ</a:t>
            </a:r>
          </a:p>
          <a:p>
            <a:pPr marL="45720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US" altLang="en-IL" sz="3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IL" altLang="en-IL" sz="3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chiving more than 80% detection accurecy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IL" altLang="en-IL" sz="3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Over limit speeder is elevated across the entire speed feature block and extreme on high speed gap behaviour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L" altLang="en-IL" sz="3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L" altLang="en-IL" sz="3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L" altLang="en-IL" sz="3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L" altLang="en-IL" sz="3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L" altLang="en-IL" sz="3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L" altLang="en-IL" sz="3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L" altLang="en-IL" sz="3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L" altLang="en-IL" sz="3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L" altLang="en-IL" sz="3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L" altLang="en-IL" sz="3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L" altLang="en-IL" sz="3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IL" altLang="en-IL" sz="3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its measured speed aspects and lateral velocity values fall outside the training distribution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L" altLang="en-IL" sz="3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L" altLang="en-IL" sz="3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L" altLang="en-IL" sz="3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L" altLang="en-IL" sz="3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L" altLang="en-IL" sz="3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L" altLang="en-IL" sz="3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L" altLang="en-IL" sz="3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L" altLang="en-IL" sz="3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L" altLang="en-IL" sz="3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L" altLang="en-IL" sz="3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L" altLang="en-IL" sz="3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L" altLang="en-IL" sz="3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IL" altLang="en-IL" sz="34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L" altLang="en-IL" sz="34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Across all anomaly types, and different regions, results were consistent, achieving </a:t>
            </a:r>
            <a:r>
              <a:rPr lang="en-US" altLang="en-IL" sz="34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lang="en-IL" altLang="en-IL" sz="34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ess than 60s pipeline latency (less than 3s per event)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E10C05D-CC7D-0BA9-4972-52DF5DAC1B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80592" y="17053560"/>
            <a:ext cx="8224963" cy="8115483"/>
          </a:xfrm>
          <a:prstGeom prst="rect">
            <a:avLst/>
          </a:prstGeom>
        </p:spPr>
      </p:pic>
      <p:sp>
        <p:nvSpPr>
          <p:cNvPr id="34" name="Box_Arch">
            <a:extLst>
              <a:ext uri="{FF2B5EF4-FFF2-40B4-BE49-F238E27FC236}">
                <a16:creationId xmlns:a16="http://schemas.microsoft.com/office/drawing/2014/main" id="{85FA907B-9837-55DE-416B-3B177E5A710B}"/>
              </a:ext>
            </a:extLst>
          </p:cNvPr>
          <p:cNvSpPr>
            <a:spLocks noGrp="1"/>
          </p:cNvSpPr>
          <p:nvPr/>
        </p:nvSpPr>
        <p:spPr>
          <a:xfrm>
            <a:off x="22959526" y="1810233"/>
            <a:ext cx="2147196" cy="2133257"/>
          </a:xfrm>
          <a:prstGeom prst="roundRect">
            <a:avLst>
              <a:gd name="adj" fmla="val 5000"/>
            </a:avLst>
          </a:prstGeom>
          <a:solidFill>
            <a:srgbClr val="FFFFFF">
              <a:alpha val="91000"/>
            </a:srgbClr>
          </a:solidFill>
          <a:ln w="9525">
            <a:solidFill>
              <a:srgbClr val="B0C8E0"/>
            </a:solidFill>
          </a:ln>
          <a:effectLst>
            <a:outerShdw blurRad="304800" dist="152400" dir="5400000" algn="tl" rotWithShape="0">
              <a:srgbClr val="000000">
                <a:alpha val="22000"/>
              </a:srgbClr>
            </a:outerShdw>
          </a:effectLst>
        </p:spPr>
        <p:txBody>
          <a:bodyPr wrap="square" lIns="304800" tIns="190500" rIns="304800" bIns="190500" rtlCol="0" anchor="t">
            <a:noAutofit/>
          </a:bodyPr>
          <a:lstStyle/>
          <a:p>
            <a:pPr>
              <a:lnSpc>
                <a:spcPct val="40000"/>
              </a:lnSpc>
              <a:spcBef>
                <a:spcPts val="0"/>
              </a:spcBef>
            </a:pPr>
            <a:endParaRPr lang="en-US" sz="3400" dirty="0">
              <a:solidFill>
                <a:srgbClr val="000000"/>
              </a:solidFill>
              <a:latin typeface="-webkit-standard"/>
            </a:endParaRPr>
          </a:p>
          <a:p>
            <a:pPr>
              <a:spcBef>
                <a:spcPts val="60"/>
              </a:spcBef>
            </a:pPr>
            <a:endParaRPr lang="en-IL" sz="3600" dirty="0"/>
          </a:p>
          <a:p>
            <a:pPr marL="0" algn="l" defTabSz="457200" rtl="0" eaLnBrk="1" latinLnBrk="0" hangingPunct="1">
              <a:spcBef>
                <a:spcPts val="120"/>
              </a:spcBef>
            </a:pPr>
            <a:endParaRPr lang="en-US" sz="3400" b="0" dirty="0">
              <a:solidFill>
                <a:srgbClr val="1A2035"/>
              </a:solidFill>
              <a:latin typeface="Calibri" panose="020F0502020204030204" pitchFamily="34" charset="0"/>
            </a:endParaRPr>
          </a:p>
        </p:txBody>
      </p:sp>
      <p:pic>
        <p:nvPicPr>
          <p:cNvPr id="1046" name="Picture 22">
            <a:extLst>
              <a:ext uri="{FF2B5EF4-FFF2-40B4-BE49-F238E27FC236}">
                <a16:creationId xmlns:a16="http://schemas.microsoft.com/office/drawing/2014/main" id="{ECE9140F-86AE-D8D6-1F34-A0D2E47707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47280" y="7185558"/>
            <a:ext cx="8879966" cy="5650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18149D-A035-19CC-A5B0-9353EF41DCE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713" t="910" r="454" b="1133"/>
          <a:stretch>
            <a:fillRect/>
          </a:stretch>
        </p:blipFill>
        <p:spPr>
          <a:xfrm>
            <a:off x="24439624" y="13842914"/>
            <a:ext cx="10830190" cy="67612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9F3ADCA-C31C-98D5-861A-C545522D8ABC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651" t="790" b="547"/>
          <a:stretch>
            <a:fillRect/>
          </a:stretch>
        </p:blipFill>
        <p:spPr>
          <a:xfrm>
            <a:off x="13731498" y="15944850"/>
            <a:ext cx="8256124" cy="87674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5A4BC29-6CAB-675E-7590-FE0105ACA42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16390" y="10800343"/>
            <a:ext cx="7646700" cy="514450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32A660F-768C-D976-4861-E5F5B968AE5D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b="32556"/>
          <a:stretch>
            <a:fillRect/>
          </a:stretch>
        </p:blipFill>
        <p:spPr>
          <a:xfrm>
            <a:off x="10490917" y="1203661"/>
            <a:ext cx="3655103" cy="255229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D8D2F2E-5E22-77FD-0BD7-A35986E8CC54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23196" t="27311" r="24221" b="33868"/>
          <a:stretch>
            <a:fillRect/>
          </a:stretch>
        </p:blipFill>
        <p:spPr>
          <a:xfrm rot="20032018">
            <a:off x="23981200" y="1149145"/>
            <a:ext cx="2813275" cy="146842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0B16877-FD86-861B-45BD-7F8C2B9FA1C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010431" y="1883355"/>
            <a:ext cx="2045386" cy="2003501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7399329B-57A7-31DE-0161-C2A9843C2714}"/>
              </a:ext>
            </a:extLst>
          </p:cNvPr>
          <p:cNvSpPr txBox="1"/>
          <p:nvPr/>
        </p:nvSpPr>
        <p:spPr>
          <a:xfrm>
            <a:off x="25948803" y="2108028"/>
            <a:ext cx="2378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457200" rtl="0" eaLnBrk="1" latinLnBrk="0" hangingPunct="1"/>
            <a:r>
              <a:rPr lang="en-US" sz="2400" dirty="0">
                <a:solidFill>
                  <a:schemeClr val="bg1"/>
                </a:solidFill>
                <a:latin typeface="Cooper Black" panose="0208090404030B020404" pitchFamily="18" charset="77"/>
              </a:rPr>
              <a:t>SCAN  ME </a:t>
            </a:r>
          </a:p>
          <a:p>
            <a:pPr marL="0" algn="ctr" defTabSz="457200" rtl="0" eaLnBrk="1" latinLnBrk="0" hangingPunct="1"/>
            <a:r>
              <a:rPr lang="en-US" sz="2400" dirty="0">
                <a:solidFill>
                  <a:schemeClr val="bg1"/>
                </a:solidFill>
                <a:latin typeface="Cooper Black" panose="0208090404030B020404" pitchFamily="18" charset="77"/>
              </a:rPr>
              <a:t>FOR A DEMO!</a:t>
            </a:r>
            <a:endParaRPr lang="en-IL" sz="2400" dirty="0">
              <a:solidFill>
                <a:schemeClr val="bg1"/>
              </a:solidFill>
              <a:latin typeface="Cooper Black" panose="0208090404030B020404" pitchFamily="18" charset="77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A14B3FED-36FD-9121-2365-032DB65FE221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5580" r="8716"/>
          <a:stretch>
            <a:fillRect/>
          </a:stretch>
        </p:blipFill>
        <p:spPr>
          <a:xfrm>
            <a:off x="12132594" y="5597309"/>
            <a:ext cx="11571260" cy="7590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494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>
              <p:cTn id="2" repeatCount="indefinite" restart="whenNotActive" fill="hold" evtFilter="cancelBubble" nodeType="interactiveSeq">
                <p:stCondLst>
                  <p:cond delay="indefinite"/>
                  <p:cond evt="onBegin" delay="0">
                    <p:tn val="1"/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7946 0.24962" pathEditMode="relative" ptsTypes="AA">
                                      <p:cBhvr>
                                        <p:cTn id="6" dur="30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30000" fill="hold"/>
                                        <p:tgtEl>
                                          <p:spTgt spid="20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00"/>
                            </p:stCondLst>
                            <p:childTnLst>
                              <p:par>
                                <p:cTn id="10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0.07946 0.24962 L 0.24974 0.24962" pathEditMode="relative" ptsTypes="AA">
                                      <p:cBhvr>
                                        <p:cTn id="11" dur="30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5000"/>
                            </p:stCondLst>
                            <p:childTnLst>
                              <p:par>
                                <p:cTn id="13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0.24974 0.24962 L 0 0" pathEditMode="relative" ptsTypes="AA">
                                      <p:cBhvr>
                                        <p:cTn id="14" dur="30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accel="50000" decel="5000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Scale>
                                      <p:cBhvr>
                                        <p:cTn id="16" dur="30000" fill="hold"/>
                                        <p:tgtEl>
                                          <p:spTgt spid="200"/>
                                        </p:tgtEl>
                                      </p:cBhvr>
                                      <p:by x="150000" y="15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00"/>
                            </p:stCondLst>
                            <p:childTnLst>
                              <p:par>
                                <p:cTn id="1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" pathEditMode="relative" ptsTypes="AA">
                                      <p:cBhvr>
                                        <p:cTn id="19" dur="5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44e0735-f53f-4baa-bd75-b10ae3a2bbd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3894B321F97984089F660A1B37BD856" ma:contentTypeVersion="8" ma:contentTypeDescription="Create a new document." ma:contentTypeScope="" ma:versionID="69f2837f18e45e11aaa12c857e6c5827">
  <xsd:schema xmlns:xsd="http://www.w3.org/2001/XMLSchema" xmlns:xs="http://www.w3.org/2001/XMLSchema" xmlns:p="http://schemas.microsoft.com/office/2006/metadata/properties" xmlns:ns3="844e0735-f53f-4baa-bd75-b10ae3a2bbdb" targetNamespace="http://schemas.microsoft.com/office/2006/metadata/properties" ma:root="true" ma:fieldsID="44cfe3dd05ba74ef950c29cbe3f766ab" ns3:_="">
    <xsd:import namespace="844e0735-f53f-4baa-bd75-b10ae3a2bbd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_activity" minOccurs="0"/>
                <xsd:element ref="ns3:MediaServiceDateTaken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4e0735-f53f-4baa-bd75-b10ae3a2bbd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2713F10-82D8-4B91-A273-2BA44EB6FF7B}">
  <ds:schemaRefs>
    <ds:schemaRef ds:uri="http://schemas.microsoft.com/office/2006/metadata/properties"/>
    <ds:schemaRef ds:uri="http://purl.org/dc/dcmitype/"/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844e0735-f53f-4baa-bd75-b10ae3a2bbdb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DAADE9C2-8609-4046-AFB7-2D78D2E3679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03E978F-3A35-4737-8BBB-B7BB0C7F7EB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44e0735-f53f-4baa-bd75-b10ae3a2bbd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5165</TotalTime>
  <Words>346</Words>
  <Application>Microsoft Macintosh PowerPoint</Application>
  <PresentationFormat>Custom</PresentationFormat>
  <Paragraphs>96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-webkit-standard</vt:lpstr>
      <vt:lpstr>Aptos</vt:lpstr>
      <vt:lpstr>Aptos Display</vt:lpstr>
      <vt:lpstr>Arial</vt:lpstr>
      <vt:lpstr>Calibri</vt:lpstr>
      <vt:lpstr>Cooper Black</vt:lpstr>
      <vt:lpstr>Georgia</vt:lpstr>
      <vt:lpstr>Open Sans Hebrew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 Ost</dc:creator>
  <cp:lastModifiedBy>Noa Sapir</cp:lastModifiedBy>
  <cp:revision>48</cp:revision>
  <dcterms:created xsi:type="dcterms:W3CDTF">2025-05-10T11:28:38Z</dcterms:created>
  <dcterms:modified xsi:type="dcterms:W3CDTF">2026-05-24T19:53:02Z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0x01010063894B321F97984089F660A1B37BD856</vt:lpwstr>
  </property>
</Properties>
</file>