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5"/>
  </p:normalViewPr>
  <p:slideViewPr>
    <p:cSldViewPr snapToGrid="0">
      <p:cViewPr>
        <p:scale>
          <a:sx n="33" d="100"/>
          <a:sy n="33" d="100"/>
        </p:scale>
        <p:origin x="1044" y="-58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emf"/><Relationship Id="rId5" Type="http://schemas.openxmlformats.org/officeDocument/2006/relationships/image" Target="../media/image4.svg"/><Relationship Id="rId10" Type="http://schemas.openxmlformats.org/officeDocument/2006/relationships/package" Target="../embeddings/Microsoft_Word_Document.docx"/><Relationship Id="rId4" Type="http://schemas.openxmlformats.org/officeDocument/2006/relationships/image" Target="../media/image3.png"/><Relationship Id="rId9" Type="http://schemas.openxmlformats.org/officeDocument/2006/relationships/image" Target="../media/image8.emf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drawing/2016/SVG/main" xmlns:ns5="http://schemas.microsoft.com/office/drawing/2010/main" xmlns:ns6="http://schemas.microsoft.com/office/powerpoint/2010/main" xmlns:ns7="http://schemas.openxmlformats.org/markup-compatibility/2006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00" name="BG"/>
          <ns0:cNvPicPr>
            <ns1:picLocks noChangeAspect="0"/>
          </ns0:cNvPicPr>
          <ns0:nvPr/>
        </ns0:nvPicPr>
        <ns0:blipFill>
          <ns1:blip ns2:embed="rId12"/>
          <ns1:stretch>
            <ns1:fillRect/>
          </ns1:stretch>
        </ns0:blipFill>
        <ns0:spPr>
          <ns1:xfrm>
            <ns1:off x="0" y="0"/>
            <ns1:ext cx="36000000" cy="25200000"/>
          </ns1:xfrm>
          <ns1:prstGeom prst="rect">
            <ns1:avLst/>
          </ns1:prstGeom>
        </ns0:spPr>
      </ns0:pic>
      <ns0:pic>
        <ns0:nvPicPr>
          <ns0:cNvPr id="9" name="Picture 8">
            <ns1:extLst>
              <ns1:ext uri="{FF2B5EF4-FFF2-40B4-BE49-F238E27FC236}">
                <ns3:creationId id="{9A1BDC1F-4253-93BE-E909-D2E3E16B33BD}"/>
              </ns1:ext>
            </ns1:extLst>
          </ns0:cNvPr>
          <ns0:cNvPicPr>
            <ns1:picLocks noGrp="1" noRot="1" noChangeAspect="1" noMove="1" noResize="1" noEditPoints="1" noAdjustHandles="1" noChangeArrowheads="1" noChangeShapeType="1" noCrop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62644" y="23773252"/>
            <ns1:ext cx="35651367" cy="1407088"/>
          </ns1:xfrm>
          <ns1:prstGeom prst="rect">
            <ns1:avLst/>
          </ns1:prstGeom>
        </ns0:spPr>
      </ns0:pic>
      <ns0:grpSp>
        <ns0:nvGrpSpPr>
          <ns0:cNvPr id="8" name="Group 7">
            <ns1:extLst>
              <ns1:ext uri="{FF2B5EF4-FFF2-40B4-BE49-F238E27FC236}">
                <ns3:creationId id="{BFEDB904-F567-0976-A615-296E3DFB021F}"/>
              </ns1:ext>
            </ns1:extLst>
          </ns0:cNvPr>
          <ns0:cNvGrpSpPr/>
          <ns0:nvPr/>
        </ns0:nvGrpSpPr>
        <ns0:grpSpPr>
          <ns1:xfrm>
            <ns1:off x="185731" y="18722"/>
            <ns1:ext cx="35651367" cy="1407088"/>
            <ns1:chOff x="185731" y="18722"/>
            <ns1:chExt cx="35651367" cy="1407088"/>
          </ns1:xfrm>
        </ns0:grpSpPr>
        <ns0:pic>
          <ns0:nvPicPr>
            <ns0:cNvPr id="7" name="Picture 6">
              <ns1:extLst>
                <ns1:ext uri="{FF2B5EF4-FFF2-40B4-BE49-F238E27FC236}">
                  <ns3:creationId id="{7F0D1D2B-CD74-3EC0-1A7E-DD2823DA67DF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2:embed="rId3"/>
            <ns1:stretch>
              <ns1:fillRect/>
            </ns1:stretch>
          </ns0:blipFill>
          <ns0:spPr>
            <ns1:xfrm>
              <ns1:off x="185731" y="18722"/>
              <ns1:ext cx="35651367" cy="1407088"/>
            </ns1:xfrm>
            <ns1:prstGeom prst="rect">
              <ns1:avLst/>
            </ns1:prstGeom>
          </ns0:spPr>
        </ns0:pic>
        <ns0:pic>
          <ns0:nvPicPr>
            <ns0:cNvPr id="5" name="Graphic 4">
              <ns1:extLst>
                <ns1:ext uri="{FF2B5EF4-FFF2-40B4-BE49-F238E27FC236}">
                  <ns3:creationId id="{A5350F39-C37A-6532-34D2-E7EA627780BC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2:embed="rId4">
              <ns1:extLst>
                <ns1:ext uri="{96DAC541-7B7A-43D3-8B79-37D633B846F1}">
                  <ns4:svgBlip ns2:embed="rId5"/>
                </ns1:ext>
              </ns1:extLst>
            </ns1:blip>
            <ns1:stretch>
              <ns1:fillRect/>
            </ns1:stretch>
          </ns0:blipFill>
          <ns0:spPr>
            <ns1:xfrm>
              <ns1:off x="31408874" y="257838"/>
              <ns1:ext cx="3655103" cy="928853"/>
            </ns1:xfrm>
            <ns1:prstGeom prst="rect">
              <ns1:avLst/>
            </ns1:prstGeom>
          </ns0:spPr>
        </ns0:pic>
        <ns0:pic>
          <ns0:nvPicPr>
            <ns0:cNvPr id="4" name="Graphic 3">
              <ns1:extLst>
                <ns1:ext uri="{FF2B5EF4-FFF2-40B4-BE49-F238E27FC236}">
                  <ns3:creationId id="{1FF67915-D1F3-C9D7-C6EC-4FD70CFE979D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2:embed="rId6">
              <ns1:extLst>
                <ns1:ext uri="{96DAC541-7B7A-43D3-8B79-37D633B846F1}">
                  <ns4:svgBlip ns2:embed="rId7"/>
                </ns1:ext>
              </ns1:extLst>
            </ns1:blip>
            <ns1:stretch>
              <ns1:fillRect/>
            </ns1:stretch>
          </ns0:blipFill>
          <ns0:spPr>
            <ns1:xfrm>
              <ns1:off x="935764" y="181120"/>
              <ns1:ext cx="5796815" cy="1005571"/>
            </ns1:xfrm>
            <ns1:prstGeom prst="rect">
              <ns1:avLst/>
            </ns1:prstGeom>
          </ns0:spPr>
        </ns0:pic>
      </ns0:grpSp>
      <ns0:sp>
        <ns0:nvSpPr>
          <ns0:cNvPr id="15" name="Rectangle 14">
            <ns1:extLst>
              <ns1:ext uri="{FF2B5EF4-FFF2-40B4-BE49-F238E27FC236}">
                <ns3:creationId id="{C5E4EFAB-AB8C-CA28-1D50-48A1B49E8B20}"/>
              </ns1:ext>
            </ns1:extLst>
          </ns0:cNvPr>
          <ns0:cNvSpPr>
            <ns1:spLocks/>
          </ns0:cNvSpPr>
          <ns0:nvPr/>
        </ns0:nvSpPr>
        <ns0:spPr>
          <ns1:xfrm>
            <ns1:off x="809778" y="1440891"/>
            <ns1:ext cx="34403273" cy="3921038"/>
          </ns1:xfrm>
          <ns1:prstGeom prst="rect">
            <ns1:avLst/>
          </ns1:prstGeom>
          <ns1:solidFill>
            <ns1:schemeClr val="tx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 defTabSz="646357" rtl="1"/>
            <ns1:endParaRPr lang="en-US" sz="3037" dirty="0"/>
          </ns1:p>
        </ns0:txBody>
      </ns0:sp>
      <ns0:sp>
        <ns0:nvSpPr>
          <ns0:cNvPr id="14" name="TextBox 13">
            <ns1:extLst>
              <ns1:ext uri="{FF2B5EF4-FFF2-40B4-BE49-F238E27FC236}">
                <ns3:creationId id="{F4DC5E95-292C-ABA8-58EF-6AEFEBCEF01C}"/>
              </ns1:ext>
            </ns1:extLst>
          </ns0:cNvPr>
          <ns0:cNvSpPr txBox="1">
            <ns1:spLocks/>
          </ns0:cNvSpPr>
          <ns0:nvPr/>
        </ns0:nvSpPr>
        <ns0:spPr>
          <ns1:xfrm>
            <ns1:off x="809779" y="1578118"/>
            <ns1:ext cx="34380186" cy="126714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marL="0" marR="0" lvl="0" indent="0" algn="ctr" defTabSz="4572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lang="en-US" sz="7634" b="1" dirty="0">
                <ns1:solidFill>
                  <ns1:srgbClr val="F5F5F5"/>
                </ns1:solidFill>
                <ns1:latin typeface="Georgia" panose="02040502050405020303" pitchFamily="18" charset="0"/>
              </ns1:rPr>
              <ns1:t>Smart City Traffic Monitoring: Fiber DAS &amp; Sensor Fusion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3:creationId id="{BB56FB1D-CB3A-ADB9-F137-C4249CAB9851}"/>
              </ns1:ext>
            </ns1:extLst>
          </ns0:cNvPr>
          <ns0:cNvSpPr txBox="1">
            <ns1:spLocks/>
          </ns0:cNvSpPr>
          <ns0:nvPr/>
        </ns0:nvSpPr>
        <ns0:spPr>
          <ns1:xfrm>
            <ns1:off x="8487505" y="2765365"/>
            <ns1:ext cx="18390794" cy="165865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>[Student Name 1], [Student Name 2]</ns1:t>
            </ns1:r>
            <ns1:endParaRPr lang="he-IL" sz="4000" dirty="0">
              <ns1:cs typeface="Open Sans Hebrew" panose="00000500000000000000" pitchFamily="2" charset="-79"/>
            </ns1:endParaRPr>
          </ns1:p>
          <ns1:p>
            <ns1:pPr algn="ctr"/>
            <ns1:r>
              <ns1:rPr lang="en-US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 xml:space="preserve">Advisor: </ns1:t>
            </ns1:r>
            <ns1:r>
              <ns1:rPr lang="he-IL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>Prof. Moshe Tur, Prof. Yair Moshe</ns1:t>
            </ns1:r>
            <ns1:r>
              <ns1:rPr lang="en-US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 xml:space="preserve"/>
            </ns1:r>
            <ns1:endParaRPr lang="he-IL" sz="5089" b="1" dirty="0">
              <ns1:solidFill>
                <ns1:srgbClr val="E3E3E3"/>
              </ns1:solidFill>
              <ns1:latin typeface="Calibri" panose="020F0502020204030204" pitchFamily="34" charset="0"/>
              <ns1:cs typeface="Calibri" panose="020F0502020204030204" pitchFamily="34" charset="0"/>
            </ns1:endParaRPr>
          </ns1:p>
        </ns0:txBody>
      </ns0:sp>
      <ns0:grpSp>
        <ns0:nvGrpSpPr>
          <ns0:cNvPr id="2" name="Group 1">
            <ns1:extLst>
              <ns1:ext uri="{FF2B5EF4-FFF2-40B4-BE49-F238E27FC236}">
                <ns3:creationId id="{60E47AE2-524E-7C54-74C4-06234B8937AE}"/>
              </ns1:ext>
            </ns1:extLst>
          </ns0:cNvPr>
          <ns0:cNvGrpSpPr/>
          <ns0:nvPr/>
        </ns0:nvGrpSpPr>
        <ns0:grpSpPr>
          <ns1:xfrm>
            <ns1:off x="13628576" y="9438302"/>
            <ns1:ext cx="7408616" cy="5039803"/>
            <ns1:chOff x="1921269" y="11735141"/>
            <ns1:chExt cx="7408616" cy="5039803"/>
          </ns1:xfrm>
        </ns0:grpSpPr>
        <ns0:grpSp>
          <ns0:nvGrpSpPr>
            <ns0:cNvPr id="3" name="Group 2">
              <ns1:extLst>
                <ns1:ext uri="{FF2B5EF4-FFF2-40B4-BE49-F238E27FC236}">
                  <ns3:creationId id="{76DA3214-42FB-82A4-EEA5-B8A71F60FA77}"/>
                </ns1:ext>
              </ns1:extLst>
            </ns0:cNvPr>
            <ns0:cNvGrpSpPr/>
            <ns0:nvPr/>
          </ns0:nvGrpSpPr>
          <ns0:grpSpPr>
            <ns1:xfrm>
              <ns1:off x="1921269" y="11735141"/>
              <ns1:ext cx="7408616" cy="5039803"/>
              <ns1:chOff x="1219862" y="256213"/>
              <ns1:chExt cx="7425678" cy="2853953"/>
            </ns1:xfrm>
          </ns0:grpSpPr>
          <ns0:sp>
            <ns0:nvSpPr>
              <ns0:cNvPr id="21" name="TextBox 21">
                <ns1:extLst>
                  <ns1:ext uri="{FF2B5EF4-FFF2-40B4-BE49-F238E27FC236}">
                    <ns3:creationId id="{3CFCEF28-CD63-6D87-D0B4-9DD7FF628065}"/>
                  </ns1:ext>
                </ns1:extLst>
              </ns0:cNvPr>
              <ns0:cNvSpPr txBox="1"/>
              <ns0:nvPr/>
            </ns0:nvSpPr>
            <ns0:spPr>
              <ns1:xfrm>
                <ns1:off x="7881438" y="1439589"/>
                <ns1:ext cx="764102" cy="642519"/>
              </ns1:xfrm>
              <ns1:prstGeom prst="rect">
                <ns1:avLst/>
              </ns1:prstGeom>
              <ns1:noFill/>
              <ns1:ln w="9525" cmpd="sng">
                <ns1:noFill/>
              </ns1:ln>
            </ns0:spPr>
            <ns0:style>
              <ns1:lnRef idx="0">
                <ns1:scrgbClr r="0" g="0" b="0"/>
              </ns1:lnRef>
              <ns1:fillRef idx="0">
                <ns1:scrgbClr r="0" g="0" b="0"/>
              </ns1:fillRef>
              <ns1:effectRef idx="0">
                <ns1:scrgbClr r="0" g="0" b="0"/>
              </ns1:effectRef>
              <ns1:fontRef idx="minor">
                <ns1:schemeClr val="dk1"/>
              </ns1:fontRef>
            </ns0:style>
            <ns0:txBody>
              <ns1:bodyPr wrap="none" rtlCol="0" anchor="t">
                <ns1:normAutofit/>
              </ns1:bodyPr>
              <ns1:lstStyle>
                <ns1:lvl1pPr marL="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indent="0">
                  <ns1:defRPr sz="1100">
                    <ns1:solidFill>
                      <ns1:schemeClr val="dk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r>
                  <ns1:rPr lang="en-US" sz="2000" b="1" dirty="0">
                    <ns1:solidFill>
                      <ns1:schemeClr val="tx2"/>
                    </ns1:solidFill>
                    <ns1:latin typeface="Tahoma" pitchFamily="34" charset="0"/>
                    <ns1:ea typeface="Tahoma" pitchFamily="34" charset="0"/>
                    <ns1:cs typeface="Tahoma" pitchFamily="34" charset="0"/>
                  </ns1:rPr>
                  <ns1:t>GPS</ns1:t>
                </ns1:r>
              </ns1:p>
            </ns0:txBody>
          </ns0:sp>
          <ns0:grpSp>
            <ns0:nvGrpSpPr>
              <ns0:cNvPr id="24" name="Group 23">
                <ns1:extLst>
                  <ns1:ext uri="{FF2B5EF4-FFF2-40B4-BE49-F238E27FC236}">
                    <ns3:creationId id="{129F74FA-2806-ABFE-FEBE-1F3A9F5DA95C}"/>
                  </ns1:ext>
                </ns1:extLst>
              </ns0:cNvPr>
              <ns0:cNvGrpSpPr/>
              <ns0:nvPr/>
            </ns0:nvGrpSpPr>
            <ns0:grpSpPr>
              <ns1:xfrm>
                <ns1:off x="1219862" y="256213"/>
                <ns1:ext cx="6903312" cy="2853953"/>
                <ns1:chOff x="1219862" y="256213"/>
                <ns1:chExt cx="6903312" cy="2853953"/>
              </ns1:xfrm>
            </ns0:grpSpPr>
            <ns0:grpSp>
              <ns0:nvGrpSpPr>
                <ns0:cNvPr id="26" name="Group 25">
                  <ns1:extLst>
                    <ns1:ext uri="{FF2B5EF4-FFF2-40B4-BE49-F238E27FC236}">
                      <ns3:creationId id="{EEA818D3-8288-6C86-A098-F61F156C1CED}"/>
                    </ns1:ext>
                  </ns1:extLst>
                </ns0:cNvPr>
                <ns0:cNvGrpSpPr/>
                <ns0:nvPr/>
              </ns0:nvGrpSpPr>
              <ns0:grpSpPr>
                <ns1:xfrm>
                  <ns1:off x="1219862" y="256213"/>
                  <ns1:ext cx="6903312" cy="2282201"/>
                  <ns1:chOff x="1219862" y="256213"/>
                  <ns1:chExt cx="6903312" cy="2282201"/>
                </ns1:xfrm>
              </ns0:grpSpPr>
              <ns0:sp>
                <ns0:nvSpPr>
                  <ns0:cNvPr id="29" name="Rounded Rectangle 22">
                    <ns1:extLst>
                      <ns1:ext uri="{FF2B5EF4-FFF2-40B4-BE49-F238E27FC236}">
                        <ns3:creationId id="{447A8F72-734F-7603-CC7F-6DD0BE1A8420}"/>
                      </ns1:ext>
                    </ns1:extLst>
                  </ns0:cNvPr>
                  <ns0:cNvSpPr/>
                  <ns0:nvPr/>
                </ns0:nvSpPr>
                <ns0:spPr>
                  <ns1:xfrm>
                    <ns1:off x="1219862" y="1524659"/>
                    <ns1:ext cx="1857375" cy="543519"/>
                  </ns1:xfrm>
                  <ns1:prstGeom prst="roundRect">
                    <ns1:avLst/>
                  </ns1:prstGeom>
                  <ns1:noFill/>
                  <ns1:ln w="12700">
                    <ns1:solidFill>
                      <ns1:sysClr val="windowText" lastClr="000000"/>
                    </ns1:solidFill>
                  </ns1:ln>
                  <ns1:effectLst>
                    <ns1:outerShdw blurRad="63500" sx="102000" sy="102000" algn="ctr" rotWithShape="0">
                      <ns1:prstClr val="black">
                        <ns1:alpha val="40000"/>
                      </ns1:prstClr>
                    </ns1:outerShdw>
                  </ns1:effectLst>
                </ns0:spPr>
                <ns0:style>
                  <ns1:lnRef idx="2">
                    <ns1:schemeClr val="accent1">
                      <ns1:shade val="50000"/>
                    </ns1:schemeClr>
                  </ns1:lnRef>
                  <ns1:fillRef idx="1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lt1"/>
                  </ns1:fontRef>
                </ns0:style>
                <ns0:txBody>
                  <ns1:bodyPr rot="0" spcFirstLastPara="0" vert="horz" wrap="none" lIns="91440" tIns="45720" rIns="91440" bIns="45720" numCol="1" spcCol="0" rtlCol="0" fromWordArt="0" anchor="ctr" anchorCtr="0" forceAA="0" compatLnSpc="1">
                    <ns1:prstTxWarp prst="textNoShape">
                      <ns1:avLst/>
                    </ns1:prstTxWarp>
                    <ns1:normAutofit/>
                  </ns1:bodyPr>
                  <ns1:lstStyle>
                    <ns1:lvl1pPr marL="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1pPr>
                    <ns1:lvl2pPr marL="457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2pPr>
                    <ns1:lvl3pPr marL="914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3pPr>
                    <ns1:lvl4pPr marL="1371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4pPr>
                    <ns1:lvl5pPr marL="18288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5pPr>
                    <ns1:lvl6pPr marL="22860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6pPr>
                    <ns1:lvl7pPr marL="2743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7pPr>
                    <ns1:lvl8pPr marL="3200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8pPr>
                    <ns1:lvl9pPr marL="3657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9pPr>
                  </ns1:lstStyle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>
                        <ns1:solidFill>
                          <ns1:schemeClr val="tx2"/>
                        </ns1:solidFill>
                        <ns1:effectLst/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IMU</ns1:t>
                    </ns1:r>
                  </ns1:p>
                </ns0:txBody>
              </ns0:sp>
              <ns0:sp>
                <ns0:nvSpPr>
                  <ns0:cNvPr id="30" name="Rounded Rectangle 24">
                    <ns1:extLst>
                      <ns1:ext uri="{FF2B5EF4-FFF2-40B4-BE49-F238E27FC236}">
                        <ns3:creationId id="{24645860-9791-9DC7-249A-00C1F70A2ED3}"/>
                      </ns1:ext>
                    </ns1:extLst>
                  </ns0:cNvPr>
                  <ns0:cNvSpPr/>
                  <ns0:nvPr/>
                </ns0:nvSpPr>
                <ns0:spPr>
                  <ns1:xfrm>
                    <ns1:off x="5867400" y="1355050"/>
                    <ns1:ext cx="1061539" cy="516614"/>
                  </ns1:xfrm>
                  <ns1:prstGeom prst="roundRect">
                    <ns1:avLst/>
                  </ns1:prstGeom>
                  <ns1:noFill/>
                  <ns1:ln w="12700">
                    <ns1:solidFill>
                      <ns1:sysClr val="windowText" lastClr="000000"/>
                    </ns1:solidFill>
                  </ns1:ln>
                  <ns1:effectLst>
                    <ns1:outerShdw blurRad="63500" sx="102000" sy="102000" algn="ctr" rotWithShape="0">
                      <ns1:prstClr val="black">
                        <ns1:alpha val="40000"/>
                      </ns1:prstClr>
                    </ns1:outerShdw>
                  </ns1:effectLst>
                </ns0:spPr>
                <ns0:style>
                  <ns1:lnRef idx="2">
                    <ns1:schemeClr val="accent1">
                      <ns1:shade val="50000"/>
                    </ns1:schemeClr>
                  </ns1:lnRef>
                  <ns1:fillRef idx="1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lt1"/>
                  </ns1:fontRef>
                </ns0:style>
                <ns0:txBody>
                  <ns1:bodyPr rot="0" spcFirstLastPara="0" vert="horz" wrap="none" lIns="91440" tIns="45720" rIns="91440" bIns="45720" numCol="1" spcCol="0" rtlCol="0" fromWordArt="0" anchor="ctr" anchorCtr="0" forceAA="0" compatLnSpc="1">
                    <ns1:prstTxWarp prst="textNoShape">
                      <ns1:avLst/>
                    </ns1:prstTxWarp>
                    <ns1:normAutofit/>
                  </ns1:bodyPr>
                  <ns1:lstStyle>
                    <ns1:lvl1pPr marL="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1pPr>
                    <ns1:lvl2pPr marL="457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2pPr>
                    <ns1:lvl3pPr marL="914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3pPr>
                    <ns1:lvl4pPr marL="1371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4pPr>
                    <ns1:lvl5pPr marL="18288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5pPr>
                    <ns1:lvl6pPr marL="22860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6pPr>
                    <ns1:lvl7pPr marL="2743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7pPr>
                    <ns1:lvl8pPr marL="3200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8pPr>
                    <ns1:lvl9pPr marL="3657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9pPr>
                  </ns1:lstStyle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 err="1">
                        <ns1:solidFill>
                          <ns1:schemeClr val="tx2"/>
                        </ns1:solidFill>
                        <ns1:effectLst/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Kalman</ns1:t>
                    </ns1:r>
                    <ns1:endParaRPr lang="en-US" sz="2000" b="1" dirty="0">
                      <ns1:solidFill>
                        <ns1:schemeClr val="tx2"/>
                      </ns1:solidFill>
                      <ns1:effectLst/>
                      <ns1:latin typeface="Tahoma" pitchFamily="34" charset="0"/>
                      <ns1:ea typeface="Tahoma" pitchFamily="34" charset="0"/>
                      <ns1:cs typeface="Tahoma" pitchFamily="34" charset="0"/>
                    </ns1:endParaRPr>
                  </ns1:p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>
                        <ns1:solidFill>
                          <ns1:schemeClr val="tx2"/>
                        </ns1:solidFill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Filter</ns1:t>
                    </ns1:r>
                    <ns1:endParaRPr lang="en-US" sz="2000" b="1" dirty="0">
                      <ns1:solidFill>
                        <ns1:schemeClr val="tx2"/>
                      </ns1:solidFill>
                      <ns1:effectLst/>
                      <ns1:latin typeface="Tahoma" pitchFamily="34" charset="0"/>
                      <ns1:ea typeface="Tahoma" pitchFamily="34" charset="0"/>
                      <ns1:cs typeface="Tahoma" pitchFamily="34" charset="0"/>
                    </ns1:endParaRPr>
                  </ns1:p>
                </ns0:txBody>
              </ns0:sp>
              <ns0:sp>
                <ns0:nvSpPr>
                  <ns0:cNvPr id="32" name="Rounded Rectangle 25">
                    <ns1:extLst>
                      <ns1:ext uri="{FF2B5EF4-FFF2-40B4-BE49-F238E27FC236}">
                        <ns3:creationId id="{7B02F705-5F68-9634-41F4-3CBAA13EA6A1}"/>
                      </ns1:ext>
                    </ns1:extLst>
                  </ns0:cNvPr>
                  <ns0:cNvSpPr/>
                  <ns0:nvPr/>
                </ns0:nvSpPr>
                <ns0:spPr>
                  <ns1:xfrm>
                    <ns1:off x="3820188" y="1184791"/>
                    <ns1:ext cx="1465817" cy="783193"/>
                  </ns1:xfrm>
                  <ns1:prstGeom prst="roundRect">
                    <ns1:avLst/>
                  </ns1:prstGeom>
                  <ns1:noFill/>
                  <ns1:ln w="12700">
                    <ns1:solidFill>
                      <ns1:sysClr val="windowText" lastClr="000000"/>
                    </ns1:solidFill>
                  </ns1:ln>
                  <ns1:effectLst>
                    <ns1:outerShdw blurRad="63500" sx="102000" sy="102000" algn="ctr" rotWithShape="0">
                      <ns1:prstClr val="black">
                        <ns1:alpha val="40000"/>
                      </ns1:prstClr>
                    </ns1:outerShdw>
                  </ns1:effectLst>
                </ns0:spPr>
                <ns0:style>
                  <ns1:lnRef idx="2">
                    <ns1:schemeClr val="accent1">
                      <ns1:shade val="50000"/>
                    </ns1:schemeClr>
                  </ns1:lnRef>
                  <ns1:fillRef idx="1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lt1"/>
                  </ns1:fontRef>
                </ns0:style>
                <ns0:txBody>
                  <ns1:bodyPr rot="0" spcFirstLastPara="0" vert="horz" wrap="none" lIns="91440" tIns="45720" rIns="91440" bIns="45720" numCol="1" spcCol="0" rtlCol="0" fromWordArt="0" anchor="ctr" anchorCtr="0" forceAA="0" compatLnSpc="1">
                    <ns1:prstTxWarp prst="textNoShape">
                      <ns1:avLst/>
                    </ns1:prstTxWarp>
                    <ns1:normAutofit/>
                  </ns1:bodyPr>
                  <ns1:lstStyle>
                    <ns1:lvl1pPr marL="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1pPr>
                    <ns1:lvl2pPr marL="457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2pPr>
                    <ns1:lvl3pPr marL="914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3pPr>
                    <ns1:lvl4pPr marL="1371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4pPr>
                    <ns1:lvl5pPr marL="18288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5pPr>
                    <ns1:lvl6pPr marL="22860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6pPr>
                    <ns1:lvl7pPr marL="2743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7pPr>
                    <ns1:lvl8pPr marL="3200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8pPr>
                    <ns1:lvl9pPr marL="3657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9pPr>
                  </ns1:lstStyle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 err="1">
                        <ns1:solidFill>
                          <ns1:schemeClr val="tx2"/>
                        </ns1:solidFill>
                        <ns1:effectLst/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Strapdown</ns1:t>
                    </ns1:r>
                    <ns1:endParaRPr lang="en-US" sz="2000" b="1" dirty="0">
                      <ns1:solidFill>
                        <ns1:schemeClr val="tx2"/>
                      </ns1:solidFill>
                      <ns1:effectLst/>
                      <ns1:latin typeface="Tahoma" pitchFamily="34" charset="0"/>
                      <ns1:ea typeface="Tahoma" pitchFamily="34" charset="0"/>
                      <ns1:cs typeface="Tahoma" pitchFamily="34" charset="0"/>
                    </ns1:endParaRPr>
                  </ns1:p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>
                        <ns1:solidFill>
                          <ns1:schemeClr val="tx2"/>
                        </ns1:solidFill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Solution</ns1:t>
                    </ns1:r>
                    <ns1:endParaRPr lang="en-US" sz="2000" b="1" dirty="0">
                      <ns1:solidFill>
                        <ns1:schemeClr val="tx2"/>
                      </ns1:solidFill>
                      <ns1:effectLst/>
                      <ns1:latin typeface="Tahoma" pitchFamily="34" charset="0"/>
                      <ns1:ea typeface="Tahoma" pitchFamily="34" charset="0"/>
                      <ns1:cs typeface="Tahoma" pitchFamily="34" charset="0"/>
                    </ns1:endParaRPr>
                  </ns1:p>
                </ns0:txBody>
              </ns0:sp>
              <ns0:cxnSp>
                <ns0:nvCxnSpPr>
                  <ns0:cNvPr id="33" name="Straight Arrow Connector 32">
                    <ns1:extLst>
                      <ns1:ext uri="{FF2B5EF4-FFF2-40B4-BE49-F238E27FC236}">
                        <ns3:creationId id="{F66A8F27-E948-6FE6-C2DD-C7E3E6873EDA}"/>
                      </ns1:ext>
                    </ns1:extLst>
                  </ns0:cNvPr>
                  <ns0:cNvCxnSpPr/>
                  <ns0:nvPr/>
                </ns0:nvCxnSpPr>
                <ns0:spPr>
                  <ns1:xfrm flipV="1">
                    <ns1:off x="3077237" y="1688450"/>
                    <ns1:ext cx="742950" cy="1"/>
                  </ns1:xfrm>
                  <ns1:prstGeom prst="straightConnector1">
                    <ns1:avLst/>
                  </ns1:prstGeom>
                  <ns1:ln w="57150">
                    <ns1:solidFill>
                      <ns1:schemeClr val="tx1"/>
                    </ns1:solidFill>
                    <ns1:tailEnd type="arrow"/>
                  </ns1:ln>
                </ns0:spPr>
                <ns0:style>
                  <ns1:lnRef idx="1">
                    <ns1:schemeClr val="accent1"/>
                  </ns1:lnRef>
                  <ns1:fillRef idx="0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tx1"/>
                  </ns1:fontRef>
                </ns0:style>
              </ns0:cxnSp>
              <ns0:cxnSp>
                <ns0:nvCxnSpPr>
                  <ns0:cNvPr id="34" name="Straight Arrow Connector 33">
                    <ns1:extLst>
                      <ns1:ext uri="{FF2B5EF4-FFF2-40B4-BE49-F238E27FC236}">
                        <ns3:creationId id="{1C8B23A7-E5E3-E73E-7C73-0ADA628B3B19}"/>
                      </ns1:ext>
                    </ns1:extLst>
                  </ns0:cNvPr>
                  <ns0:cNvCxnSpPr/>
                  <ns0:nvPr/>
                </ns0:nvCxnSpPr>
                <ns0:spPr>
                  <ns1:xfrm>
                    <ns1:off x="5318844" y="1617908"/>
                    <ns1:ext cx="600075" cy="1"/>
                  </ns1:xfrm>
                  <ns1:prstGeom prst="straightConnector1">
                    <ns1:avLst/>
                  </ns1:prstGeom>
                  <ns1:ln w="57150">
                    <ns1:solidFill>
                      <ns1:schemeClr val="tx1"/>
                    </ns1:solidFill>
                    <ns1:tailEnd type="arrow"/>
                  </ns1:ln>
                </ns0:spPr>
                <ns0:style>
                  <ns1:lnRef idx="1">
                    <ns1:schemeClr val="accent1"/>
                  </ns1:lnRef>
                  <ns1:fillRef idx="0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tx1"/>
                  </ns1:fontRef>
                </ns0:style>
              </ns0:cxnSp>
              <ns0:cxnSp>
                <ns0:nvCxnSpPr>
                  <ns0:cNvPr id="35" name="Straight Arrow Connector 34">
                    <ns1:extLst>
                      <ns1:ext uri="{FF2B5EF4-FFF2-40B4-BE49-F238E27FC236}">
                        <ns3:creationId id="{C08DDC0F-1B04-5C88-F140-6D1928C8B9A9}"/>
                      </ns1:ext>
                    </ns1:extLst>
                  </ns0:cNvPr>
                  <ns0:cNvCxnSpPr/>
                  <ns0:nvPr/>
                </ns0:nvCxnSpPr>
                <ns0:spPr>
                  <ns1:xfrm flipH="1">
                    <ns1:off x="6886574" y="1600200"/>
                    <ns1:ext cx="962025" cy="0"/>
                  </ns1:xfrm>
                  <ns1:prstGeom prst="straightConnector1">
                    <ns1:avLst/>
                  </ns1:prstGeom>
                  <ns1:ln w="57150">
                    <ns1:solidFill>
                      <ns1:schemeClr val="tx1"/>
                    </ns1:solidFill>
                    <ns1:tailEnd type="arrow"/>
                  </ns1:ln>
                </ns0:spPr>
                <ns0:style>
                  <ns1:lnRef idx="1">
                    <ns1:schemeClr val="accent1"/>
                  </ns1:lnRef>
                  <ns1:fillRef idx="0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tx1"/>
                  </ns1:fontRef>
                </ns0:style>
              </ns0:cxnSp>
              <ns0:cxnSp>
                <ns0:nvCxnSpPr>
                  <ns0:cNvPr id="36" name="Straight Arrow Connector 35">
                    <ns1:extLst>
                      <ns1:ext uri="{FF2B5EF4-FFF2-40B4-BE49-F238E27FC236}">
                        <ns3:creationId id="{FE04B1FB-7C63-7F2D-7A4E-018ED4495FF4}"/>
                      </ns1:ext>
                    </ns1:extLst>
                  </ns0:cNvPr>
                  <ns0:cNvCxnSpPr/>
                  <ns0:nvPr/>
                </ns0:nvCxnSpPr>
                <ns0:spPr>
                  <ns1:xfrm flipV="1">
                    <ns1:off x="6398169" y="1001545"/>
                    <ns1:ext cx="424866" cy="363651"/>
                  </ns1:xfrm>
                  <ns1:prstGeom prst="straightConnector1">
                    <ns1:avLst/>
                  </ns1:prstGeom>
                  <ns1:ln w="57150">
                    <ns1:solidFill>
                      <ns1:schemeClr val="tx1"/>
                    </ns1:solidFill>
                    <ns1:tailEnd type="arrow"/>
                  </ns1:ln>
                </ns0:spPr>
                <ns0:style>
                  <ns1:lnRef idx="1">
                    <ns1:schemeClr val="accent1"/>
                  </ns1:lnRef>
                  <ns1:fillRef idx="0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tx1"/>
                  </ns1:fontRef>
                </ns0:style>
              </ns0:cxnSp>
              <ns0:sp>
                <ns0:nvSpPr>
                  <ns0:cNvPr id="37" name="Rounded Rectangle 32">
                    <ns1:extLst>
                      <ns1:ext uri="{FF2B5EF4-FFF2-40B4-BE49-F238E27FC236}">
                        <ns3:creationId id="{5974E322-F5C3-C7DC-67E3-3E3B9D2666BD}"/>
                      </ns1:ext>
                    </ns1:extLst>
                  </ns0:cNvPr>
                  <ns0:cNvSpPr/>
                  <ns0:nvPr/>
                </ns0:nvSpPr>
                <ns0:spPr>
                  <ns1:xfrm>
                    <ns1:off x="6743699" y="256213"/>
                    <ns1:ext cx="1379475" cy="735349"/>
                  </ns1:xfrm>
                  <ns1:prstGeom prst="roundRect">
                    <ns1:avLst/>
                  </ns1:prstGeom>
                  <ns1:noFill/>
                  <ns1:ln w="12700">
                    <ns1:solidFill>
                      <ns1:sysClr val="windowText" lastClr="000000"/>
                    </ns1:solidFill>
                  </ns1:ln>
                  <ns1:effectLst>
                    <ns1:outerShdw blurRad="63500" sx="102000" sy="102000" algn="ctr" rotWithShape="0">
                      <ns1:prstClr val="black">
                        <ns1:alpha val="40000"/>
                      </ns1:prstClr>
                    </ns1:outerShdw>
                  </ns1:effectLst>
                </ns0:spPr>
                <ns0:style>
                  <ns1:lnRef idx="2">
                    <ns1:schemeClr val="accent1">
                      <ns1:shade val="50000"/>
                    </ns1:schemeClr>
                  </ns1:lnRef>
                  <ns1:fillRef idx="1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lt1"/>
                  </ns1:fontRef>
                </ns0:style>
                <ns0:txBody>
                  <ns1:bodyPr rot="0" spcFirstLastPara="0" vert="horz" wrap="none" lIns="91440" tIns="45720" rIns="91440" bIns="45720" numCol="1" spcCol="0" rtlCol="0" fromWordArt="0" anchor="ctr" anchorCtr="0" forceAA="0" compatLnSpc="1">
                    <ns1:prstTxWarp prst="textNoShape">
                      <ns1:avLst/>
                    </ns1:prstTxWarp>
                    <ns1:normAutofit/>
                  </ns1:bodyPr>
                  <ns1:lstStyle>
                    <ns1:lvl1pPr marL="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1pPr>
                    <ns1:lvl2pPr marL="457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2pPr>
                    <ns1:lvl3pPr marL="914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3pPr>
                    <ns1:lvl4pPr marL="1371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4pPr>
                    <ns1:lvl5pPr marL="18288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5pPr>
                    <ns1:lvl6pPr marL="22860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6pPr>
                    <ns1:lvl7pPr marL="27432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7pPr>
                    <ns1:lvl8pPr marL="32004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8pPr>
                    <ns1:lvl9pPr marL="3657600" indent="0">
                      <ns1:defRPr sz="1100">
                        <ns1:solidFill>
                          <ns1:schemeClr val="lt1"/>
                        </ns1:solidFill>
                        <ns1:latin typeface="+mn-lt"/>
                        <ns1:ea typeface="+mn-ea"/>
                        <ns1:cs typeface="+mn-cs"/>
                      </ns1:defRPr>
                    </ns1:lvl9pPr>
                  </ns1:lstStyle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>
                        <ns1:solidFill>
                          <ns1:schemeClr val="tx2"/>
                        </ns1:solidFill>
                        <ns1:effectLst/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Initial</ns1:t>
                    </ns1:r>
                  </ns1:p>
                  <ns1:p>
                    <ns1:pPr algn="ctr">
                      <ns1:spcAft>
                        <ns1:spcPts val="0"/>
                      </ns1:spcAft>
                    </ns1:pPr>
                    <ns1:r>
                      <ns1:rPr lang="en-US" sz="2000" b="1" dirty="0">
                        <ns1:solidFill>
                          <ns1:schemeClr val="tx2"/>
                        </ns1:solidFill>
                        <ns1:latin typeface="Tahoma" pitchFamily="34" charset="0"/>
                        <ns1:ea typeface="Tahoma" pitchFamily="34" charset="0"/>
                        <ns1:cs typeface="Tahoma" pitchFamily="34" charset="0"/>
                      </ns1:rPr>
                      <ns1:t>Conditions</ns1:t>
                    </ns1:r>
                    <ns1:endParaRPr lang="en-US" sz="2000" b="1" dirty="0">
                      <ns1:solidFill>
                        <ns1:schemeClr val="tx2"/>
                      </ns1:solidFill>
                      <ns1:effectLst/>
                      <ns1:latin typeface="Tahoma" pitchFamily="34" charset="0"/>
                      <ns1:ea typeface="Tahoma" pitchFamily="34" charset="0"/>
                      <ns1:cs typeface="Tahoma" pitchFamily="34" charset="0"/>
                    </ns1:endParaRPr>
                  </ns1:p>
                </ns0:txBody>
              </ns0:sp>
              <ns0:cxnSp>
                <ns0:nvCxnSpPr>
                  <ns0:cNvPr id="38" name="Straight Arrow Connector 37">
                    <ns1:extLst>
                      <ns1:ext uri="{FF2B5EF4-FFF2-40B4-BE49-F238E27FC236}">
                        <ns3:creationId id="{38A0225C-769D-5B4D-7591-C57E01E19192}"/>
                      </ns1:ext>
                    </ns1:extLst>
                  </ns0:cNvPr>
                  <ns0:cNvCxnSpPr/>
                  <ns0:nvPr/>
                </ns0:nvCxnSpPr>
                <ns0:spPr>
                  <ns1:xfrm rot="5400000">
                    <ns1:off x="5981701" y="2200276"/>
                    <ns1:ext cx="666750" cy="9525"/>
                  </ns1:xfrm>
                  <ns1:prstGeom prst="straightConnector1">
                    <ns1:avLst/>
                  </ns1:prstGeom>
                  <ns1:ln w="57150">
                    <ns1:solidFill>
                      <ns1:schemeClr val="tx1"/>
                    </ns1:solidFill>
                    <ns1:tailEnd type="arrow"/>
                  </ns1:ln>
                </ns0:spPr>
                <ns0:style>
                  <ns1:lnRef idx="1">
                    <ns1:schemeClr val="accent1"/>
                  </ns1:lnRef>
                  <ns1:fillRef idx="0">
                    <ns1:schemeClr val="accent1"/>
                  </ns1:fillRef>
                  <ns1:effectRef idx="0">
                    <ns1:schemeClr val="accent1"/>
                  </ns1:effectRef>
                  <ns1:fontRef idx="minor">
                    <ns1:schemeClr val="tx1"/>
                  </ns1:fontRef>
                </ns0:style>
              </ns0:cxnSp>
            </ns0:grpSp>
            <ns0:sp>
              <ns0:nvSpPr>
                <ns0:cNvPr id="27" name="TextBox 23">
                  <ns1:extLst>
                    <ns1:ext uri="{FF2B5EF4-FFF2-40B4-BE49-F238E27FC236}">
                      <ns3:creationId id="{D7A5C822-2ACC-B782-D693-4A846DEBB628}"/>
                    </ns1:ext>
                  </ns1:extLst>
                </ns0:cNvPr>
                <ns0:cNvSpPr txBox="1"/>
                <ns0:nvPr/>
              </ns0:nvSpPr>
              <ns0:spPr>
                <ns1:xfrm>
                  <ns1:off x="5641937" y="2538414"/>
                  <ns1:ext cx="1181099" cy="571752"/>
                </ns1:xfrm>
                <ns1:prstGeom prst="rect">
                  <ns1:avLst/>
                </ns1:prstGeom>
                <ns1:noFill/>
                <ns1:ln w="9525" cmpd="sng">
                  <ns1:noFill/>
                </ns1:ln>
              </ns0:spPr>
              <ns0:style>
                <ns1:lnRef idx="0">
                  <ns1:scrgbClr r="0" g="0" b="0"/>
                </ns1:lnRef>
                <ns1:fillRef idx="0">
                  <ns1:scrgbClr r="0" g="0" b="0"/>
                </ns1:fillRef>
                <ns1:effectRef idx="0">
                  <ns1:scrgbClr r="0" g="0" b="0"/>
                </ns1:effectRef>
                <ns1:fontRef idx="minor">
                  <ns1:schemeClr val="dk1"/>
                </ns1:fontRef>
              </ns0:style>
              <ns0:txBody>
                <ns1:bodyPr wrap="none" rtlCol="0" anchor="t">
                  <ns1:normAutofit/>
                </ns1:bodyPr>
                <ns1:lstStyle>
                  <ns1:lvl1pPr marL="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1pPr>
                  <ns1:lvl2pPr marL="4572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2pPr>
                  <ns1:lvl3pPr marL="9144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3pPr>
                  <ns1:lvl4pPr marL="13716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4pPr>
                  <ns1:lvl5pPr marL="18288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5pPr>
                  <ns1:lvl6pPr marL="22860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6pPr>
                  <ns1:lvl7pPr marL="27432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7pPr>
                  <ns1:lvl8pPr marL="32004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8pPr>
                  <ns1:lvl9pPr marL="3657600" indent="0">
                    <ns1:defRPr sz="1100">
                      <ns1:solidFill>
                        <ns1:schemeClr val="dk1"/>
                      </ns1:solidFill>
                      <ns1:latin typeface="+mn-lt"/>
                      <ns1:ea typeface="+mn-ea"/>
                      <ns1:cs typeface="+mn-cs"/>
                    </ns1:defRPr>
                  </ns1:lvl9pPr>
                </ns1:lstStyle>
                <ns1:p>
                  <ns1:pPr algn="ctr"/>
                  <ns1:r>
                    <ns1:rPr lang="en-US" sz="2000" b="1" dirty="0">
                      <ns1:solidFill>
                        <ns1:schemeClr val="tx2"/>
                      </ns1:solidFill>
                      <ns1:latin typeface="Tahoma" pitchFamily="34" charset="0"/>
                      <ns1:ea typeface="Tahoma" pitchFamily="34" charset="0"/>
                      <ns1:cs typeface="Tahoma" pitchFamily="34" charset="0"/>
                    </ns1:rPr>
                    <ns1:t>Integrated</ns1:t>
                  </ns1:r>
                </ns1:p>
                <ns1:p>
                  <ns1:pPr algn="ctr"/>
                  <ns1:r>
                    <ns1:rPr lang="en-US" sz="2000" b="1" dirty="0">
                      <ns1:solidFill>
                        <ns1:schemeClr val="tx2"/>
                      </ns1:solidFill>
                      <ns1:latin typeface="Tahoma" pitchFamily="34" charset="0"/>
                      <ns1:ea typeface="Tahoma" pitchFamily="34" charset="0"/>
                      <ns1:cs typeface="Tahoma" pitchFamily="34" charset="0"/>
                    </ns1:rPr>
                    <ns1:t>Solution</ns1:t>
                  </ns1:r>
                </ns1:p>
              </ns0:txBody>
            </ns0:sp>
          </ns0:grpSp>
        </ns0:grpSp>
        <ns0:cxnSp>
          <ns0:nvCxnSpPr>
            <ns0:cNvPr id="6" name="Straight Arrow Connector 5">
              <ns1:extLst>
                <ns1:ext uri="{FF2B5EF4-FFF2-40B4-BE49-F238E27FC236}">
                  <ns3:creationId id="{670E31FD-1312-0FDC-3323-208BC668ECDB}"/>
                </ns1:ext>
              </ns1:extLst>
            </ns0:cNvPr>
            <ns0:cNvCxnSpPr/>
            <ns0:nvPr/>
          </ns0:nvCxnSpPr>
          <ns0:spPr>
            <ns1:xfrm>
              <ns1:off x="3312812" y="12355547"/>
              <ns1:ext cx="1" cy="1584176"/>
            </ns1:xfrm>
            <ns1:prstGeom prst="straightConnector1">
              <ns1:avLst/>
            </ns1:prstGeom>
            <ns1:ln w="57150">
              <ns1:solidFill>
                <ns1:schemeClr val="tx1"/>
              </ns1:solidFill>
              <ns1:tailEnd type="arrow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cxnSp>
          <ns0:nvCxnSpPr>
            <ns0:cNvPr id="19" name="Straight Connector 18">
              <ns1:extLst>
                <ns1:ext uri="{FF2B5EF4-FFF2-40B4-BE49-F238E27FC236}">
                  <ns3:creationId id="{0416AB92-0152-E415-DB26-33EC5EAF0CFE}"/>
                </ns1:ext>
              </ns1:extLst>
            </ns0:cNvPr>
            <ns0:cNvCxnSpPr/>
            <ns0:nvPr/>
          </ns0:nvCxnSpPr>
          <ns0:spPr bwMode="auto">
            <ns1:xfrm flipV="1">
              <ns1:off x="3312812" y="12312699"/>
              <ns1:ext cx="4070092" cy="42848"/>
            </ns1:xfrm>
            <ns1:prstGeom prst="line">
              <ns1:avLst/>
            </ns1:prstGeom>
            <ns1:solidFill>
              <ns1:schemeClr val="accent1"/>
            </ns1:solidFill>
            <ns1:ln w="57150" cap="flat" cmpd="sng" algn="ctr">
              <ns1:solidFill>
                <ns1:schemeClr val="tx1"/>
              </ns1:solidFill>
              <ns1:prstDash val="solid"/>
              <ns1:round/>
              <ns1:headEnd type="none" w="med" len="med"/>
              <ns1:tailEnd type="none" w="med" len="med"/>
            </ns1:ln>
            <ns1:effectLst/>
            <ns1:extLst>
              <ns1:ext uri="{AF507438-7753-43E0-B8FC-AC1667EBCBE1}">
                <ns5:hiddenEffects>
                  <ns1:effectLst>
                    <ns1:outerShdw dist="35921" dir="2700000" algn="ctr" rotWithShape="0">
                      <ns1:schemeClr val="bg2"/>
                    </ns1:outerShdw>
                  </ns1:effectLst>
                </ns5:hiddenEffects>
              </ns1:ext>
            </ns1:extLst>
          </ns0:spPr>
        </ns0:cxnSp>
      </ns0:grpSp>
      <ns0:graphicFrame>
        <ns0:nvGraphicFramePr>
          <ns0:cNvPr id="40" name="Object 39">
            <ns1:extLst>
              <ns1:ext uri="{FF2B5EF4-FFF2-40B4-BE49-F238E27FC236}">
                <ns3:creationId id="{FA2C9B1A-6C03-D5D2-C407-DA31EE9CECB9}"/>
              </ns1:ext>
            </ns1:extLst>
          </ns0:cNvPr>
          <ns0:cNvGraphicFramePr>
            <ns1:graphicFrameLocks noChangeAspect="1"/>
          </ns0:cNvGraphicFramePr>
          <ns0:nvPr>
            <ns0:extLst>
              <ns0:ext uri="{D42A27DB-BD31-4B8C-83A1-F6EECF244321}">
                <ns6:modId val="3308334617"/>
              </ns0:ext>
            </ns0:extLst>
          </ns0:nvPr>
        </ns0:nvGraphicFramePr>
        <ns0:xfrm>
          <ns1:off x="23338479" y="8155860"/>
          <ns1:ext cx="11539193" cy="3630593"/>
        </ns0:xfrm>
        <ns1:graphic>
          <ns1:graphicData uri="http://schemas.openxmlformats.org/presentationml/2006/ole">
            <ns7:AlternateContent>
              <ns7:Choice Requires="v">
                <ns0:oleObj name="Document" ns2:id="rId10" imgW="7036093" imgH="2213776" progId="Word.Document.12">
                  <ns0:embed/>
                </ns0:oleObj>
              </ns7:Choice>
              <ns7:Fallback>
                <ns0:oleObj name="Document" ns2:id="rId10" imgW="7036093" imgH="2213776" progId="Word.Document.12">
                  <ns0:embed/>
                  <ns0:pic>
                    <ns0:nvPicPr>
                      <ns0:cNvPr id="5" name="Object 4"/>
                      <ns0:cNvPicPr/>
                      <ns0:nvPr/>
                    </ns0:nvPicPr>
                    <ns0:blipFill>
                      <ns1:blip ns2:embed="rId11"/>
                      <ns1:stretch>
                        <ns1:fillRect/>
                      </ns1:stretch>
                    </ns0:blipFill>
                    <ns0:spPr>
                      <ns1:xfrm>
                        <ns1:off x="23338479" y="8155860"/>
                        <ns1:ext cx="11539193" cy="3630593"/>
                      </ns1:xfrm>
                      <ns1:prstGeom prst="rect">
                        <ns1:avLst/>
                      </ns1:prstGeom>
                    </ns0:spPr>
                  </ns0:pic>
                </ns0:oleObj>
              </ns7:Fallback>
            </ns7:AlternateContent>
          </ns1:graphicData>
        </ns1:graphic>
      </ns0:graphicFrame>
      <ns0:sp>
        <ns0:nvSpPr>
          <ns0:cNvPr id="43" name="TextBox 42">
            <ns1:extLst>
              <ns1:ext uri="{FF2B5EF4-FFF2-40B4-BE49-F238E27FC236}">
                <ns3:creationId id="{A9E7048A-0105-0DB4-1E9E-8A43F18ADB4F}"/>
              </ns1:ext>
            </ns1:extLst>
          </ns0:cNvPr>
          <ns0:cNvSpPr txBox="1">
            <ns1:spLocks/>
          </ns0:cNvSpPr>
          <ns0:nvPr/>
        </ns0:nvSpPr>
        <ns0:spPr>
          <ns1:xfrm>
            <ns1:off x="9121439" y="4364259"/>
            <ns1:ext cx="18390794" cy="87549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>Project Number: XX-X-X-XXXX</ns1:t>
            </ns1:r>
            <ns1:r>
              <ns1:rPr lang="en-US" sz="395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 xml:space="preserve"/>
            </ns1:r>
            <ns1:r>
              <ns1:rPr lang="en-US" sz="5089" b="1" dirty="0">
                <ns1:solidFill>
                  <ns1:srgbClr val="E3E3E3"/>
                </ns1:solidFill>
                <ns1:latin typeface="Calibri" panose="020F0502020204030204" pitchFamily="34" charset="0"/>
                <ns1:cs typeface="Calibri" panose="020F0502020204030204" pitchFamily="34" charset="0"/>
              </ns1:rPr>
              <ns1:t/>
            </ns1:r>
          </ns1:p>
        </ns0:txBody>
      </ns0:sp>
      <ns0:sp>
        <ns0:nvSpPr>
          <ns0:cNvPr id="100" name="Box_Abs"/>
          <ns0:cNvSpPr txBox="0">
            <ns1:spLocks noGrp="1"/>
          </ns0:cNvSpPr>
          <ns0:nvPr/>
        </ns0:nvSpPr>
        <ns0:spPr>
          <ns1:xfrm>
            <ns1:off x="972000" y="5760000"/>
            <ns1:ext cx="10296000" cy="4248000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Abstract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A fiber optic-based traffic monitoring system for smart cities — combining Distributed Acoustic Sensing (DAS), computer vision cameras, and GPS to track vehicles across road segments, estimate speed, and detect anomalies in real time using existing underground “dark fiber” infrastructure.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Enables scalable, all-weather, city-wide coverage with no new roadside hardware required.</ns1:t>
            </ns1:r>
          </ns1:p>
        </ns0:txBody>
      </ns0:sp>
      <ns0:sp>
        <ns0:nvSpPr>
          <ns0:cNvPr id="101" name="Box_Motiv"/>
          <ns0:cNvSpPr txBox="0">
            <ns1:spLocks noGrp="1"/>
          </ns0:cNvSpPr>
          <ns0:nvPr/>
        </ns0:nvSpPr>
        <ns0:spPr>
          <ns1:xfrm>
            <ns1:off x="972000" y="10152000"/>
            <ns1:ext cx="10296000" cy="13175999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Introduction &amp; Motivation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Conventional monitoring approaches have critical limitations: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Cameras — degrade in fog/rain/night; intersection-only coverage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GPS probes — sparse, user-dependent; no continuous spatial data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Single-sensor DAS — high false alarms in dense urban environments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Our system fuses all three modalities via a Kalman filter. Vehicle vibrations travel through road structure and are sensed as Rayleigh backscattering phase shifts in the buried fiber: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1" dirty="0">
                <ns1:solidFill>
                  <ns1:srgbClr val="1565C0"/>
                </ns1:solidFill>
                <ns1:latin typeface="Calibri" panose="020F0502020204030204" pitchFamily="34" charset="0"/>
              </ns1:rPr>
              <ns1:t>ε̇(t,z) ≈ ∂/∂t [(u(t,z+L)−u(t,z))/L]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Dark fibers: unused telecom cables already deployed underground, repurposed as distributed sensor arrays at near-zero marginal cost.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spcBef>
                <ns1:spcPts val="120"/>
              </ns1:spcBef>
            </ns1:pPr>
            <ns1:r>
              <ns1:rPr lang="en-US" sz="4000" b="1" dirty="0">
                <ns1:solidFill>
                  <ns1:srgbClr val="0A5C8A"/>
                </ns1:solidFill>
                <ns1:latin typeface="Georgia" panose="02040502050405020303" pitchFamily="18" charset="0"/>
              </ns1:rPr>
              <ns1:t>vs. Commercial Alternatives</ns1:t>
            </ns1: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2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OptaSense  —  DAS only; single modality; high false alarm rates</ns1:t>
            </ns1: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2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Miovision  —  Cameras only; intersection-limited; weather-sensitive</ns1:t>
            </ns1: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200" b="1" dirty="0">
                <ns1:solidFill>
                  <ns1:srgbClr val="00796B"/>
                </ns1:solidFill>
                <ns1:latin typeface="Calibri" panose="020F0502020204030204" pitchFamily="34" charset="0"/>
              </ns1:rPr>
              <ns1:t>Our System  —  DAS + Camera + GPS; all-weather; continuous coverage</ns1:t>
            </ns1:r>
          </ns1:p>
        </ns0:txBody>
      </ns0:sp>
      <ns0:sp>
        <ns0:nvSpPr>
          <ns0:cNvPr id="102" name="Box_Goals"/>
          <ns0:cNvSpPr txBox="0">
            <ns1:spLocks noGrp="1"/>
          </ns0:cNvSpPr>
          <ns0:nvPr/>
        </ns0:nvSpPr>
        <ns0:spPr>
          <ns1:xfrm>
            <ns1:off x="12527999" y="5760000"/>
            <ns1:ext cx="10296000" cy="6660000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Goals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Performance targets, validated through simulation: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lnSpc>
                <ns1:spcPct val="100000"/>
              </ns1:lnSpc>
              <ns1:spcBef>
                <ns1:spcPts val="130"/>
              </ns1:spcBef>
              <ns1:buNone/>
            </ns1:pPr>
            <ns1:r>
              <ns1:rPr lang="en-US" sz="5000" b="1" dirty="0">
                <ns1:solidFill>
                  <ns1:srgbClr val="1565C0"/>
                </ns1:solidFill>
                <ns1:latin typeface="Georgia" panose="02040502050405020303" pitchFamily="18" charset="0"/>
              </ns1:rPr>
              <ns1:t xml:space="preserve">≥90%  </ns1:t>
            </ns1:r>
            <ns1:r>
              <ns1:rPr lang="en-US" sz="30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Cross-Street Tracking Accuracy  (DAS + Camera + GPS fused)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lnSpc>
                <ns1:spcPct val="100000"/>
              </ns1:lnSpc>
              <ns1:spcBef>
                <ns1:spcPts val="130"/>
              </ns1:spcBef>
              <ns1:buNone/>
            </ns1:pPr>
            <ns1:r>
              <ns1:rPr lang="en-US" sz="5000" b="1" dirty="0">
                <ns1:solidFill>
                  <ns1:srgbClr val="00796B"/>
                </ns1:solidFill>
                <ns1:latin typeface="Georgia" panose="02040502050405020303" pitchFamily="18" charset="0"/>
              </ns1:rPr>
              <ns1:t xml:space="preserve">≤5 km/h  </ns1:t>
            </ns1:r>
            <ns1:r>
              <ns1:rPr lang="en-US" sz="30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Speed Estimation Error  (GPS-calibrated DAS delays)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lnSpc>
                <ns1:spcPct val="100000"/>
              </ns1:lnSpc>
              <ns1:spcBef>
                <ns1:spcPts val="130"/>
              </ns1:spcBef>
              <ns1:buNone/>
            </ns1:pPr>
            <ns1:r>
              <ns1:rPr lang="en-US" sz="5000" b="1" dirty="0">
                <ns1:solidFill>
                  <ns1:srgbClr val="37474F"/>
                </ns1:solidFill>
                <ns1:latin typeface="Georgia" panose="02040502050405020303" pitchFamily="18" charset="0"/>
              </ns1:rPr>
              <ns1:t xml:space="preserve">&lt;60 s  </ns1:t>
            </ns1:r>
            <ns1:r>
              <ns1:rPr lang="en-US" sz="30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Full Pipeline Latency  (≤3 s per-event processing)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lnSpc>
                <ns1:spcPct val="100000"/>
              </ns1:lnSpc>
              <ns1:spcBef>
                <ns1:spcPts val="130"/>
              </ns1:spcBef>
              <ns1:buNone/>
            </ns1:pPr>
            <ns1:r>
              <ns1:rPr lang="en-US" sz="5000" b="1" dirty="0">
                <ns1:solidFill>
                  <ns1:srgbClr val="B71C1C"/>
                </ns1:solidFill>
                <ns1:latin typeface="Georgia" panose="02040502050405020303" pitchFamily="18" charset="0"/>
              </ns1:rPr>
              <ns1:t xml:space="preserve">≥80%  </ns1:t>
            </ns1:r>
            <ns1:r>
              <ns1:rPr lang="en-US" sz="30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Anomaly Detection Accuracy  (Phase B, 5/10 types in Phase A)</ns1:t>
            </ns1:r>
          </ns1:p>
        </ns0:txBody>
      </ns0:sp>
      <ns0:sp>
        <ns0:nvSpPr>
          <ns0:cNvPr id="103" name="Box_Arch"/>
          <ns0:cNvSpPr txBox="0">
            <ns1:spLocks noGrp="1"/>
          </ns0:cNvSpPr>
          <ns0:nvPr/>
        </ns0:nvSpPr>
        <ns0:spPr>
          <ns1:xfrm>
            <ns1:off x="12527999" y="12564000"/>
            <ns1:ext cx="10296000" cy="10764000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System Architecture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Camera frames provide visual ground-truth; fiber DAS gives continuous vibration signatures; GPS supplies precise timing for speed calibration. Streams are fused via Kalman Filter into a unified vehicle state estimate, then classified by a PyTorch neural network for anomaly detection and real-time alerts.</ns1:t>
            </ns1:r>
          </ns1:p>
        </ns0:txBody>
      </ns0:sp>
      <ns0:sp>
        <ns0:nvSpPr>
          <ns0:cNvPr id="104" name="Box_Meth"/>
          <ns0:cNvSpPr txBox="0">
            <ns1:spLocks noGrp="1"/>
          </ns0:cNvSpPr>
          <ns0:nvPr/>
        </ns0:nvSpPr>
        <ns0:spPr>
          <ns1:xfrm>
            <ns1:off x="24155999" y="5760000"/>
            <ns1:ext cx="10296000" cy="5760000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Methods &amp; Implementation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Traffic Simulation: Python-based configurable multi-street environment generating synchronized DAS signals, camera detections, and GPS traces.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DAS Signal Processing Pipeline — raw optical data to vehicle signatures:</ns1:t>
            </ns1:r>
          </ns1:p>
        </ns0:txBody>
      </ns0:sp>
      <ns0:sp>
        <ns0:nvSpPr>
          <ns0:cNvPr id="105" name="Box_Res"/>
          <ns0:cNvSpPr txBox="0">
            <ns1:spLocks noGrp="1"/>
          </ns0:cNvSpPr>
          <ns0:nvPr/>
        </ns0:nvSpPr>
        <ns0:spPr>
          <ns1:xfrm>
            <ns1:off x="24155999" y="11664000"/>
            <ns1:ext cx="10296000" cy="7848000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Sensor Fusion &amp; Results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Kalman Filter integrates asynchronous DAS, camera, and GPS into a unified state estimate enabling cross-street tracking and trajectory reconstruction.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Completed milestones (May 2026):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Multi-street simulation: ✓ Operational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DAS processing pipeline: ✓ Validated on synthetic data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Kalman filter fusion: ✓ Implemented and tested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Speed estimation ≤5 km/h: ✓ Achieved in simulation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Anomaly detection results — pending model training completion:</ns1:t>
            </ns1:r>
          </ns1:p>
        </ns0:txBody>
      </ns0:sp>
      <ns0:sp>
        <ns0:nvSpPr>
          <ns0:cNvPr id="106" name="Box_Conc"/>
          <ns0:cNvSpPr txBox="0">
            <ns1:spLocks noGrp="1"/>
          </ns0:cNvSpPr>
          <ns0:nvPr/>
        </ns0:nvSpPr>
        <ns0:spPr>
          <ns1:xfrm>
            <ns1:off x="24155999" y="19656000"/>
            <ns1:ext cx="10296000" cy="3671999"/>
          </ns1:xfrm>
          <ns1:prstGeom prst="roundRect">
            <ns1:avLst>
              <ns1:gd name="adj" fmla="val 5000"/>
            </ns1:avLst>
          </ns1:prstGeom>
          <ns1:solidFill>
            <ns1:srgbClr val="FFFFFF">
              <ns1:alpha val="93000"/>
            </ns1:srgbClr>
          </ns1:solidFill>
          <ns1:ln w="9525">
            <ns1:solidFill>
              <ns1:srgbClr val="B0C8E0"/>
            </ns1:solidFill>
          </ns1:ln>
          <ns1:effectLst>
            <ns1:outerShdw blurRad="304800" dist="152400" dir="5400000" algn="tl" rotWithShape="0">
              <ns1:srgbClr val="000000">
                <ns1:alpha val="22000"/>
              </ns1:srgbClr>
            </ns1:outerShdw>
          </ns1:effectLst>
        </ns0:spPr>
        <ns0:txBody>
          <ns1:bodyPr wrap="square" lIns="304800" rIns="304800" tIns="190500" bIns="190500" rtlCol="0" anchor="t">
            <ns1:noAutofit/>
          </ns1:bodyPr>
          <ns1:lstStyle/>
          <ns1:p>
            <ns1:pPr algn="l">
              <ns1:spcBef>
                <ns1:spcPts val="120"/>
              </ns1:spcBef>
            </ns1:pPr>
            <ns1:r>
              <ns1:rPr lang="en-US" sz="5654" b="1" dirty="0">
                <ns1:solidFill>
                  <ns1:srgbClr val="0A2342"/>
                </ns1:solidFill>
                <ns1:latin typeface="Georgia" panose="02040502050405020303" pitchFamily="18" charset="0"/>
              </ns1:rPr>
              <ns1:t>Conclusions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City-scale monitoring demonstrated using existing fiber infrastructure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Kalman fusion of DAS + Camera + GPS achieves consistent cross-street tracking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Scalable architecture — dark fiber needs no new hardware</ns1:t>
            </ns1:r>
          </ns1:p>
          <ns1:p>
            <ns1:pPr algn="l" marL="228600" indent="-228600">
              <ns1:lnSpc>
                <ns1:spcPct val="100000"/>
              </ns1:lnSpc>
              <ns1:spcBef>
                <ns1:spcPts val="60"/>
              </ns1:spcBef>
              <ns1:buChar char="•"/>
            </ns1:pPr>
            <ns1:r>
              <ns1:rPr lang="en-US" sz="34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Anomaly detection (PyTorch NN) under training; results in final submission</ns1:t>
            </ns1:r>
          </ns1:p>
          <ns1:p>
            <ns1:pPr>
              <ns1:lnSpc>
                <ns1:spcPct val="40000"/>
              </ns1:lnSpc>
              <ns1:spcBef>
                <ns1:spcPts val="0"/>
              </ns1:spcBef>
            </ns1:pPr>
            <ns1:endParaRPr lang="en-US" sz="1600" dirty="0">
              <ns1:latin typeface="Calibri"/>
            </ns1:endParaRPr>
          </ns1:p>
          <ns1:p>
            <ns1:pPr algn="l">
              <ns1:spcBef>
                <ns1:spcPts val="120"/>
              </ns1:spcBef>
            </ns1:pPr>
            <ns1:r>
              <ns1:rPr lang="en-US" sz="4200" b="1" dirty="0">
                <ns1:solidFill>
                  <ns1:srgbClr val="37474F"/>
                </ns1:solidFill>
                <ns1:latin typeface="Georgia" panose="02040502050405020303" pitchFamily="18" charset="0"/>
              </ns1:rPr>
              <ns1:t>References</ns1:t>
            </ns1: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27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[1] DAS research, Tel Aviv University — fiber sensing for urban traffic.</ns1:t>
            </ns1:r>
          </ns1:p>
          <ns1:p>
            <ns1:pPr algn="l" marL="0" indent="0">
              <ns1:lnSpc>
                <ns1:spcPct val="100000"/>
              </ns1:lnSpc>
              <ns1:spcBef>
                <ns1:spcPts val="60"/>
              </ns1:spcBef>
              <ns1:buNone/>
            </ns1:pPr>
            <ns1:r>
              <ns1:rPr lang="en-US" sz="2700" b="0" dirty="0">
                <ns1:solidFill>
                  <ns1:srgbClr val="1A2035"/>
                </ns1:solidFill>
                <ns1:latin typeface="Calibri" panose="020F0502020204030204" pitchFamily="34" charset="0"/>
              </ns1:rPr>
              <ns1:t>[2] G. Welch &amp; G. Bishop, “Kalman Filter,” UNC Chapel Hill, 2006.</ns1:t>
            </ns1:r>
          </ns1:p>
        </ns0:txBody>
      </ns0:sp>
      <ns0:pic>
        <ns0:nvPicPr>
          <ns0:cNvPr id="201" name="Img_Sys"/>
          <ns0:cNvPicPr>
            <ns1:picLocks noChangeAspect="0"/>
          </ns0:cNvPicPr>
          <ns0:nvPr/>
        </ns0:nvPicPr>
        <ns0:blipFill>
          <ns1:blip ns2:embed="rId13"/>
          <ns1:stretch>
            <ns1:fillRect/>
          </ns1:stretch>
        </ns0:blipFill>
        <ns0:spPr>
          <ns1:xfrm>
            <ns1:off x="12671999" y="14472000"/>
            <ns1:ext cx="10008000" cy="8460000"/>
          </ns1:xfrm>
          <ns1:prstGeom prst="roundRect">
            <ns1:avLst>
              <ns1:gd name="adj" fmla="val 4000"/>
            </ns1:avLst>
          </ns1:prstGeom>
        </ns0:spPr>
      </ns0:pic>
      <ns0:pic>
        <ns0:nvPicPr>
          <ns0:cNvPr id="202" name="Img_DAS"/>
          <ns0:cNvPicPr>
            <ns1:picLocks noChangeAspect="0"/>
          </ns0:cNvPicPr>
          <ns0:nvPr/>
        </ns0:nvPicPr>
        <ns0:blipFill>
          <ns1:blip ns2:embed="rId14"/>
          <ns1:stretch>
            <ns1:fillRect/>
          </ns1:stretch>
        </ns0:blipFill>
        <ns0:spPr>
          <ns1:xfrm>
            <ns1:off x="24300000" y="8028000"/>
            <ns1:ext cx="10008000" cy="3060000"/>
          </ns1:xfrm>
          <ns1:prstGeom prst="roundRect">
            <ns1:avLst>
              <ns1:gd name="adj" fmla="val 4000"/>
            </ns1:avLst>
          </ns1:prstGeom>
        </ns0:spPr>
      </ns0:pic>
      <ns0:pic>
        <ns0:nvPicPr>
          <ns0:cNvPr id="203" name="Img_Ano"/>
          <ns0:cNvPicPr>
            <ns1:picLocks noChangeAspect="0"/>
          </ns0:cNvPicPr>
          <ns0:nvPr/>
        </ns0:nvPicPr>
        <ns0:blipFill>
          <ns1:blip ns2:embed="rId15"/>
          <ns1:stretch>
            <ns1:fillRect/>
          </ns1:stretch>
        </ns0:blipFill>
        <ns0:spPr>
          <ns1:xfrm>
            <ns1:off x="24300000" y="15480000"/>
            <ns1:ext cx="10008000" cy="3600000"/>
          </ns1:xfrm>
          <ns1:prstGeom prst="roundRect">
            <ns1:avLst>
              <ns1:gd name="adj" fmla="val 4000"/>
            </ns1:avLst>
          </ns1:prstGeom>
        </ns0:spPr>
      </ns0:pic>
    </ns0:spTree>
    <ns0:extLst>
      <ns0:ext uri="{BB962C8B-B14F-4D97-AF65-F5344CB8AC3E}">
        <ns6:creationId val="2119494376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539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Georgia</vt:lpstr>
      <vt:lpstr>Open Sans Hebrew</vt:lpstr>
      <vt:lpstr>Tahoma</vt:lpstr>
      <vt:lpstr>Office Theme</vt:lpstr>
      <vt:lpstr>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Roi Raich</cp:lastModifiedBy>
  <cp:revision>17</cp:revision>
  <dcterms:created xsi:type="dcterms:W3CDTF">2025-05-10T11:28:38Z</dcterms:created>
  <dcterms:modified xsi:type="dcterms:W3CDTF">2025-12-25T08:50:52Z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