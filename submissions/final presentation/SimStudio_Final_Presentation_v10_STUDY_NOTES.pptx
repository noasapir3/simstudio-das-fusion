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98" r:id="rId2"/>
    <p:sldId id="257" r:id="rId3"/>
    <p:sldId id="299" r:id="rId4"/>
    <p:sldId id="259" r:id="rId5"/>
    <p:sldId id="260" r:id="rId6"/>
    <p:sldId id="261" r:id="rId7"/>
    <p:sldId id="262" r:id="rId8"/>
    <p:sldId id="263" r:id="rId9"/>
    <p:sldId id="264" r:id="rId10"/>
    <p:sldId id="265" r:id="rId11"/>
    <p:sldId id="266" r:id="rId12"/>
    <p:sldId id="300"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8" r:id="rId29"/>
    <p:sldId id="283" r:id="rId30"/>
    <p:sldId id="301" r:id="rId31"/>
    <p:sldId id="284" r:id="rId32"/>
    <p:sldId id="285" r:id="rId33"/>
    <p:sldId id="286" r:id="rId34"/>
    <p:sldId id="287" r:id="rId35"/>
    <p:sldId id="289" r:id="rId36"/>
    <p:sldId id="302" r:id="rId37"/>
    <p:sldId id="290" r:id="rId38"/>
    <p:sldId id="291" r:id="rId39"/>
    <p:sldId id="292" r:id="rId40"/>
    <p:sldId id="293" r:id="rId41"/>
    <p:sldId id="294" r:id="rId42"/>
    <p:sldId id="295" r:id="rId43"/>
    <p:sldId id="296" r:id="rId44"/>
    <p:sldId id="297"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85"/>
    <p:restoredTop sz="73571"/>
  </p:normalViewPr>
  <p:slideViewPr>
    <p:cSldViewPr snapToGrid="0" snapToObjects="1">
      <p:cViewPr varScale="1">
        <p:scale>
          <a:sx n="97" d="100"/>
          <a:sy n="97" d="100"/>
        </p:scale>
        <p:origin x="1288"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27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dirty="0"/>
              <a:t>[</a:t>
            </a:r>
            <a:r>
              <a:rPr lang="he-IL" dirty="0"/>
              <a:t>נועה]  — 90 </a:t>
            </a:r>
            <a:r>
              <a:rPr lang="he-IL" noProof="0" dirty="0"/>
              <a:t>שניות</a:t>
            </a:r>
            <a:endParaRPr lang="he-IL" dirty="0"/>
          </a:p>
          <a:p>
            <a:pPr algn="r" rtl="1"/>
            <a:endParaRPr lang="he-IL" dirty="0"/>
          </a:p>
          <a:p>
            <a:pPr algn="r" rtl="1"/>
            <a:r>
              <a:rPr lang="he-IL" dirty="0"/>
              <a:t>"נתחיל מהנושא. מתחת לכל רחוב בעיר כבר עוברים אלפי קילומטרים של סיב אופטי — תשתית תקשורת שכבר שילמו עליה ושכבר קבורה באדמה.</a:t>
            </a:r>
          </a:p>
          <a:p>
            <a:pPr algn="r" rtl="1"/>
            <a:endParaRPr lang="he-IL" dirty="0"/>
          </a:p>
          <a:p>
            <a:pPr algn="r" rtl="1"/>
            <a:r>
              <a:rPr lang="he-IL" dirty="0"/>
              <a:t>הטכנולוגיה שנקראת DAS — חישה אקוסטית מבוזרת — הופכת את הכבל הזה למערך חיישנים צפוף. כל מטר של סיב הוא ערוץ מדידה עצמאי. רכב שנוסע מעל הכבל מפעיל עומס על הקרקע, הקרקע מתעוותת, הסיב נמתח קלות — והפאזה של האור שחוזר מהסיב משתנה. מהאות הזה אפשר לחלץ את המיקום, המהירות ואפילו המשקל של הרכב.</a:t>
            </a:r>
          </a:p>
          <a:p>
            <a:pPr algn="r" rtl="1"/>
            <a:endParaRPr lang="he-IL" dirty="0"/>
          </a:p>
          <a:p>
            <a:pPr algn="r" rtl="1"/>
            <a:r>
              <a:rPr lang="he-IL" dirty="0"/>
              <a:t>מה שבנינו נקרא </a:t>
            </a:r>
            <a:r>
              <a:rPr lang="he-IL" dirty="0" err="1"/>
              <a:t>SimStudio</a:t>
            </a:r>
            <a:r>
              <a:rPr lang="he-IL" dirty="0"/>
              <a:t>: סימולטור מקצה לקצה </a:t>
            </a:r>
            <a:r>
              <a:rPr lang="he-IL" dirty="0" err="1"/>
              <a:t>ופייפליין</a:t>
            </a:r>
            <a:r>
              <a:rPr lang="he-IL" dirty="0"/>
              <a:t> היתוך שמקבל DAS, מצלמה ו‑GPS, מייצר מסלול אחד מאוחד לכל רכב, ומעליו מודל לזיהוי חריגות.</a:t>
            </a:r>
          </a:p>
          <a:p>
            <a:pPr algn="r" rtl="1"/>
            <a:endParaRPr lang="he-IL" dirty="0"/>
          </a:p>
          <a:p>
            <a:pPr algn="r" rtl="1"/>
            <a:r>
              <a:rPr lang="he-IL" dirty="0"/>
              <a:t>בתמונה מימין — רשת הכבישים האמיתית של צפון תל אביב, שממנה שאבנו 144 אזורי סימולציה שמגדירים את בסיס ה'נהיגה הנורמלית'.</a:t>
            </a:r>
          </a:p>
          <a:p>
            <a:pPr algn="r" rtl="1"/>
            <a:endParaRPr lang="he-IL" dirty="0"/>
          </a:p>
          <a:p>
            <a:pPr algn="r" rtl="1"/>
            <a:r>
              <a:rPr lang="he-IL" dirty="0"/>
              <a:t>היתרונות: פרטיות — אין מצלמות; עמידות למזג אוויר ותאורה; ועלות תוספתית כמעט אפסית."</a:t>
            </a:r>
          </a:p>
          <a:p>
            <a:pPr algn="r" rtl="1"/>
            <a:endParaRPr lang="he-IL" dirty="0"/>
          </a:p>
          <a:p>
            <a:pPr algn="r" rtl="1"/>
            <a:r>
              <a:rPr lang="he-IL" dirty="0"/>
              <a:t>מעבר: "אז איך בדיוק סיב אחד הופך לאלפי חיישנים? — זה השקף הבא."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noProof="0" dirty="0"/>
              <a:t>[נועה]  — כ‑200 שניות  (שקף הפיזיקה — הכי חשוב. להסביר לאט, ולהצביע על הפאנלים)</a:t>
            </a:r>
          </a:p>
          <a:p>
            <a:pPr algn="r" rtl="1"/>
            <a:endParaRPr lang="he-IL" noProof="0" dirty="0"/>
          </a:p>
          <a:p>
            <a:pPr algn="r" rtl="1"/>
            <a:r>
              <a:rPr lang="he-IL" noProof="0" dirty="0"/>
              <a:t>"זה הלב הפיזיקלי של הפרויקט, ואני אקדיש לו רגע.</a:t>
            </a:r>
          </a:p>
          <a:p>
            <a:pPr algn="r" rtl="1"/>
            <a:endParaRPr lang="he-IL" noProof="0" dirty="0"/>
          </a:p>
          <a:p>
            <a:pPr algn="r" rtl="1"/>
            <a:r>
              <a:rPr lang="he-IL" noProof="0" dirty="0"/>
              <a:t>איך סיב תקשורת רגיל הופך לאלפי חיישנים? בזכות פיזור </a:t>
            </a:r>
            <a:r>
              <a:rPr lang="he-IL" noProof="0" dirty="0" err="1"/>
              <a:t>ריילי</a:t>
            </a:r>
            <a:r>
              <a:rPr lang="he-IL" noProof="0" dirty="0"/>
              <a:t>. בתוך הזכוכית יש אי‑</a:t>
            </a:r>
            <a:r>
              <a:rPr lang="he-IL" noProof="0" dirty="0" err="1"/>
              <a:t>סדירויות</a:t>
            </a:r>
            <a:r>
              <a:rPr lang="he-IL" noProof="0" dirty="0"/>
              <a:t> זעירות במקדם השבירה, 'קפואות' עוד מהייצור. כשמזריקים פולס לייזר לתוך הסיב — החץ האדום למעלה — כל נקודה לאורכו מחזירה מעט אור אחורה. אנחנו לא מתקינים שום חיישן; החיישנים הם הזכוכית עצמה.</a:t>
            </a:r>
          </a:p>
          <a:p>
            <a:pPr algn="r" rtl="1"/>
            <a:endParaRPr lang="he-IL" noProof="0" dirty="0"/>
          </a:p>
          <a:p>
            <a:pPr algn="r" rtl="1"/>
            <a:r>
              <a:rPr lang="he-IL" noProof="0" dirty="0"/>
              <a:t>המכשיר בקצה, ה‑</a:t>
            </a:r>
            <a:r>
              <a:rPr lang="he-IL" noProof="0" dirty="0" err="1"/>
              <a:t>Interrogator</a:t>
            </a:r>
            <a:r>
              <a:rPr lang="he-IL" noProof="0" dirty="0"/>
              <a:t>, עובד בשיטת </a:t>
            </a:r>
            <a:r>
              <a:rPr lang="he-IL" noProof="0" dirty="0" err="1"/>
              <a:t>φ</a:t>
            </a:r>
            <a:r>
              <a:rPr lang="he-IL" noProof="0" dirty="0"/>
              <a:t>‑OTDR: זמן ההחזרה נותן את המיקום לאורך הסיב, והפאזה של האור שחזר נותנת את המדידה. הפרש הפאזה בין שתי נקודות שמרוחקות אורך מדידה </a:t>
            </a:r>
            <a:r>
              <a:rPr lang="he-IL" noProof="0" dirty="0" err="1"/>
              <a:t>L</a:t>
            </a:r>
            <a:r>
              <a:rPr lang="he-IL" noProof="0" dirty="0"/>
              <a:t> — ה‑</a:t>
            </a:r>
            <a:r>
              <a:rPr lang="he-IL" noProof="0" dirty="0" err="1"/>
              <a:t>gauge</a:t>
            </a:r>
            <a:r>
              <a:rPr lang="he-IL" noProof="0" dirty="0"/>
              <a:t> </a:t>
            </a:r>
            <a:r>
              <a:rPr lang="he-IL" noProof="0" dirty="0" err="1"/>
              <a:t>length</a:t>
            </a:r>
            <a:r>
              <a:rPr lang="he-IL" noProof="0" dirty="0"/>
              <a:t> — הוא בדיוק המתיחה של קטע הסיב. ככה כל קטע של מטרים בודדים הוא ערוץ עצמאי: בכבל של 10 קילומטר מקבלים בסדר גודל 10,000 ערוצים, והכול מקצה אחד.</a:t>
            </a:r>
          </a:p>
          <a:p>
            <a:pPr algn="r" rtl="1"/>
            <a:endParaRPr lang="he-IL" noProof="0" dirty="0"/>
          </a:p>
          <a:p>
            <a:pPr algn="r" rtl="1"/>
            <a:r>
              <a:rPr lang="he-IL" noProof="0" dirty="0"/>
              <a:t>עכשיו הרכב. לפי הקירוב של </a:t>
            </a:r>
            <a:r>
              <a:rPr lang="he-IL" noProof="0" dirty="0" err="1"/>
              <a:t>פלמן‑בוסינסק</a:t>
            </a:r>
            <a:r>
              <a:rPr lang="he-IL" noProof="0" dirty="0"/>
              <a:t> — משוואה 1 מימין — משקל הרכב הוא עומס נקודתי שמעוות את הקרקע, והסיב מודד את ההפרש של העיוות על פני ה‑</a:t>
            </a:r>
            <a:r>
              <a:rPr lang="he-IL" noProof="0" dirty="0" err="1"/>
              <a:t>gauge</a:t>
            </a:r>
            <a:r>
              <a:rPr lang="he-IL" noProof="0" dirty="0"/>
              <a:t> </a:t>
            </a:r>
            <a:r>
              <a:rPr lang="he-IL" noProof="0" dirty="0" err="1"/>
              <a:t>length</a:t>
            </a:r>
            <a:r>
              <a:rPr lang="he-IL" noProof="0" dirty="0"/>
              <a:t>, בקצב מתיחה — משוואה 2.</a:t>
            </a:r>
          </a:p>
          <a:p>
            <a:pPr algn="r" rtl="1"/>
            <a:endParaRPr lang="he-IL" noProof="0" dirty="0"/>
          </a:p>
          <a:p>
            <a:pPr algn="r" rtl="1"/>
            <a:r>
              <a:rPr lang="he-IL" noProof="0" dirty="0"/>
              <a:t>ומכאן — איך מוציאים מזה תכונות של רכב? שלושה דברים.</a:t>
            </a:r>
          </a:p>
          <a:p>
            <a:pPr algn="r" rtl="1"/>
            <a:endParaRPr lang="he-IL" noProof="0" dirty="0"/>
          </a:p>
          <a:p>
            <a:pPr algn="r" rtl="1"/>
            <a:r>
              <a:rPr lang="he-IL" noProof="0" dirty="0"/>
              <a:t>מיקום: הערוץ שנדלק הוא המיקום. הסיב ממופה גיאוגרפית פעם אחת בהתקנה.</a:t>
            </a:r>
          </a:p>
          <a:p>
            <a:pPr algn="r" rtl="1"/>
            <a:endParaRPr lang="he-IL" noProof="0" dirty="0"/>
          </a:p>
          <a:p>
            <a:pPr algn="r" rtl="1"/>
            <a:r>
              <a:rPr lang="he-IL" noProof="0" dirty="0"/>
              <a:t>מהירות — פאנל </a:t>
            </a:r>
            <a:r>
              <a:rPr lang="he-IL" noProof="0" dirty="0" err="1"/>
              <a:t>B</a:t>
            </a:r>
            <a:r>
              <a:rPr lang="he-IL" noProof="0" dirty="0"/>
              <a:t>. הציר האופקי הוא מרחק לאורך הסיב, האנכי הוא זמן, והצבע הוא קצב המתיחה. רכב שנוסע מדליק ערוצים עוקבים בזה אחר זה ולכן מצייר פס אלכסוני. הנקודות הלבנות הן </a:t>
            </a:r>
            <a:r>
              <a:rPr lang="he-IL" noProof="0" dirty="0" err="1"/>
              <a:t>הדטקציות</a:t>
            </a:r>
            <a:r>
              <a:rPr lang="he-IL" noProof="0" dirty="0"/>
              <a:t> של המערכת שלנו. השיפוע של הפס — דלתא אל חלקי דלתא טי — הוא המהירות, והכיוון של השיפוע נותן את כיוון הנסיעה. שימו לב שיש שם פס שני, של רכב שנוסע בכיוון ההפוך.</a:t>
            </a:r>
          </a:p>
          <a:p>
            <a:pPr algn="r" rtl="1"/>
            <a:endParaRPr lang="he-IL" noProof="0" dirty="0"/>
          </a:p>
          <a:p>
            <a:pPr algn="r" rtl="1"/>
            <a:r>
              <a:rPr lang="he-IL" noProof="0" dirty="0"/>
              <a:t>משקל — פאנל </a:t>
            </a:r>
            <a:r>
              <a:rPr lang="he-IL" noProof="0" dirty="0" err="1"/>
              <a:t>C</a:t>
            </a:r>
            <a:r>
              <a:rPr lang="he-IL" noProof="0" dirty="0"/>
              <a:t>. זה מה שכל הערוצים רואים ברגע אחד: כל רכב מדפיס חתימה כמעט‑סטטית, מתחת ל‑1 הרץ. המשרעת פרופורציונית למשקל ודועכת עם המרחק מהסיב. הרכב הכבד בכתום גדול פי כמה מהקל. ומכיוון שאנחנו יודעים את המרחק — כי יש לנו את המיקום — אפשר להפוך את היחס ולהעריך את המשקל. זה מה שמאפשר לסמן רכב עמוס מדי.</a:t>
            </a:r>
          </a:p>
          <a:p>
            <a:pPr algn="r" rtl="1"/>
            <a:endParaRPr lang="he-IL" noProof="0" dirty="0"/>
          </a:p>
          <a:p>
            <a:pPr algn="r" rtl="1"/>
            <a:r>
              <a:rPr lang="he-IL" noProof="0" dirty="0"/>
              <a:t>ותאוצה — פשוט גזירה של המהירות לאורך המסלול; זה מה שחושף בלימות חירום.</a:t>
            </a:r>
          </a:p>
          <a:p>
            <a:pPr algn="r" rtl="1"/>
            <a:endParaRPr lang="he-IL" noProof="0" dirty="0"/>
          </a:p>
          <a:p>
            <a:pPr algn="r" rtl="1"/>
            <a:r>
              <a:rPr lang="he-IL" noProof="0" dirty="0"/>
              <a:t>כל אלה יחד הם חומר הגלם של 166 המאפיינים שמודל החריגות יקבל בהמשך."</a:t>
            </a:r>
          </a:p>
          <a:p>
            <a:pPr algn="r" rtl="1"/>
            <a:endParaRPr lang="he-IL" noProof="0" dirty="0"/>
          </a:p>
          <a:p>
            <a:pPr algn="r" rtl="1"/>
            <a:r>
              <a:rPr lang="he-IL" noProof="0" dirty="0"/>
              <a:t>מעבר: "</a:t>
            </a:r>
            <a:r>
              <a:rPr lang="he-IL" noProof="0" dirty="0" err="1"/>
              <a:t>נתאי</a:t>
            </a:r>
            <a:r>
              <a:rPr lang="he-IL" noProof="0" dirty="0"/>
              <a:t> — המוטיבציה והיעדים."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noProof="0" dirty="0"/>
              <a:t>[</a:t>
            </a:r>
            <a:r>
              <a:rPr lang="he-IL" noProof="0" dirty="0" err="1"/>
              <a:t>נתאי</a:t>
            </a:r>
            <a:r>
              <a:rPr lang="he-IL" noProof="0" dirty="0"/>
              <a:t>]  — 100 שניות</a:t>
            </a:r>
          </a:p>
          <a:p>
            <a:pPr algn="r" rtl="1"/>
            <a:endParaRPr lang="he-IL" noProof="0" dirty="0"/>
          </a:p>
          <a:p>
            <a:pPr algn="r" rtl="1"/>
            <a:r>
              <a:rPr lang="he-IL" noProof="0" dirty="0"/>
              <a:t>"תודה נועה. אני אמשיך למוטיבציה ההנדסית.</a:t>
            </a:r>
          </a:p>
          <a:p>
            <a:pPr algn="r" rtl="1"/>
            <a:endParaRPr lang="he-IL" noProof="0" dirty="0"/>
          </a:p>
          <a:p>
            <a:pPr algn="r" rtl="1"/>
            <a:r>
              <a:rPr lang="he-IL" noProof="0" dirty="0"/>
              <a:t>שלוש סיבות שהופכות את הרעיון לאטרקטיבי: ראשית, שימוש חוזר בתשתית קיימת — הסיב כבר באדמה, אין צורך בחומרה חדשה, והעלות התוספתית שואפת לאפס. שנית, כיסוי רציף של עשרות קילומטרים מכבל בודד, בלי תלות במזג אוויר, תאורה או </a:t>
            </a:r>
            <a:r>
              <a:rPr lang="he-IL" noProof="0" dirty="0" err="1"/>
              <a:t>הסתרות</a:t>
            </a:r>
            <a:r>
              <a:rPr lang="he-IL" noProof="0" dirty="0"/>
              <a:t> — בניגוד למצלמות. ושלישית, הצפיפות: כל מטר הוא ערוץ, כך שרכב אחד נמדד בו זמנית בעשרות ערוצים.</a:t>
            </a:r>
          </a:p>
          <a:p>
            <a:pPr algn="r" rtl="1"/>
            <a:endParaRPr lang="he-IL" noProof="0" dirty="0"/>
          </a:p>
          <a:p>
            <a:pPr algn="r" rtl="1"/>
            <a:r>
              <a:rPr lang="he-IL" noProof="0" dirty="0"/>
              <a:t>שאלת המחקר שהגדרנו: האם היתוך של DAS עם מצלמה ו‑GPS מאפשר לעקוב באופן אמין אחרי כלי רכב בודדים לאורך רשת כבישים — ולזהות התנהגות חריגה מתוך האות המאוחד בלבד?</a:t>
            </a:r>
          </a:p>
          <a:p>
            <a:pPr algn="r" rtl="1"/>
            <a:endParaRPr lang="he-IL" noProof="0" dirty="0"/>
          </a:p>
          <a:p>
            <a:pPr algn="r" rtl="1"/>
            <a:r>
              <a:rPr lang="he-IL" noProof="0" dirty="0"/>
              <a:t>מימין טבלת היעדים מול מה שהושג. חמישה מתוך שישה יעדים הושגו: דיוק תת‑מטרי בעקיבה מול יעד של 90 אחוז, שגיאה מקסימלית של 1.52 מטר מול סף של 5 מטר, שישה מתוך תשעה תרחישי חריגה זוהו מול יעד של חמישה, והיתוך של שלושת החיישנים עובד. היעד היחיד שנשאר פתוח הוא זמן התגובה מקצה לקצה — המערכת רצה, אבל עוד לא </a:t>
            </a:r>
            <a:r>
              <a:rPr lang="he-IL" noProof="0" dirty="0" err="1"/>
              <a:t>פרופלנו</a:t>
            </a:r>
            <a:r>
              <a:rPr lang="he-IL" noProof="0" dirty="0"/>
              <a:t> אותה תחת עומס אמיתי, ולכן סימנו אותו כחלקי."</a:t>
            </a:r>
          </a:p>
          <a:p>
            <a:pPr algn="r" rtl="1"/>
            <a:endParaRPr lang="he-IL" noProof="0" dirty="0"/>
          </a:p>
          <a:p>
            <a:pPr algn="r" rtl="1"/>
            <a:r>
              <a:rPr lang="he-IL" noProof="0" dirty="0"/>
              <a:t>מעבר: "בואו נראה איך המערכת בנויה."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noProof="0" dirty="0"/>
              <a:t>[</a:t>
            </a:r>
            <a:r>
              <a:rPr lang="he-IL" noProof="0" dirty="0" err="1"/>
              <a:t>נתאי</a:t>
            </a:r>
            <a:r>
              <a:rPr lang="he-IL" noProof="0" dirty="0"/>
              <a:t>]  — 90 שניות</a:t>
            </a:r>
          </a:p>
          <a:p>
            <a:pPr algn="r" rtl="1"/>
            <a:endParaRPr lang="he-IL" noProof="0" dirty="0"/>
          </a:p>
          <a:p>
            <a:pPr algn="r" rtl="1"/>
            <a:r>
              <a:rPr lang="he-IL" noProof="0" dirty="0"/>
              <a:t>"ארכיטקטורת המערכת בנויה כשרשרת חד‑כיוונית של שבעה שלבים, שרואים למעלה: </a:t>
            </a:r>
            <a:r>
              <a:rPr lang="he-IL" noProof="0" dirty="0" err="1"/>
              <a:t>Simulate</a:t>
            </a:r>
            <a:r>
              <a:rPr lang="he-IL" noProof="0" dirty="0"/>
              <a:t> — יצירת התרחיש והתנועה; </a:t>
            </a:r>
            <a:r>
              <a:rPr lang="he-IL" noProof="0" dirty="0" err="1"/>
              <a:t>Sense</a:t>
            </a:r>
            <a:r>
              <a:rPr lang="he-IL" noProof="0" dirty="0"/>
              <a:t> — מודלי החיישנים הפיזיקליים; </a:t>
            </a:r>
            <a:r>
              <a:rPr lang="he-IL" noProof="0" dirty="0" err="1"/>
              <a:t>Publish</a:t>
            </a:r>
            <a:r>
              <a:rPr lang="he-IL" noProof="0" dirty="0"/>
              <a:t> — פרסום המדידות על אפיק אירועים; </a:t>
            </a:r>
            <a:r>
              <a:rPr lang="he-IL" noProof="0" dirty="0" err="1"/>
              <a:t>Track</a:t>
            </a:r>
            <a:r>
              <a:rPr lang="he-IL" noProof="0" dirty="0"/>
              <a:t> — שיוך מדידות למסלולים; </a:t>
            </a:r>
            <a:r>
              <a:rPr lang="he-IL" noProof="0" dirty="0" err="1"/>
              <a:t>Fuse</a:t>
            </a:r>
            <a:r>
              <a:rPr lang="he-IL" noProof="0" dirty="0"/>
              <a:t> — קלמן; </a:t>
            </a:r>
            <a:r>
              <a:rPr lang="he-IL" noProof="0" dirty="0" err="1"/>
              <a:t>Export</a:t>
            </a:r>
            <a:r>
              <a:rPr lang="he-IL" noProof="0" dirty="0"/>
              <a:t> — ייצוא; ו‑</a:t>
            </a:r>
            <a:r>
              <a:rPr lang="he-IL" noProof="0" dirty="0" err="1"/>
              <a:t>Analyze</a:t>
            </a:r>
            <a:r>
              <a:rPr lang="he-IL" noProof="0" dirty="0"/>
              <a:t> — מודל החריגות.</a:t>
            </a:r>
          </a:p>
          <a:p>
            <a:pPr algn="r" rtl="1"/>
            <a:endParaRPr lang="he-IL" noProof="0" dirty="0"/>
          </a:p>
          <a:p>
            <a:pPr algn="r" rtl="1"/>
            <a:r>
              <a:rPr lang="he-IL" noProof="0" dirty="0"/>
              <a:t>שני עקרונות תכנון שחשוב להדגיש. הראשון: כל שלב צורך רק את הפלט של השלב שלפניו, והתלויות </a:t>
            </a:r>
            <a:r>
              <a:rPr lang="he-IL" noProof="0" dirty="0" err="1"/>
              <a:t>אציקליות</a:t>
            </a:r>
            <a:r>
              <a:rPr lang="he-IL" noProof="0" dirty="0"/>
              <a:t> — אין מעגלים. זה אומר שכל רכיב ניתן לבדיקה עצמאית, ויש לנו חבילת בדיקות </a:t>
            </a:r>
            <a:r>
              <a:rPr lang="he-IL" noProof="0" dirty="0" err="1"/>
              <a:t>pytest</a:t>
            </a:r>
            <a:r>
              <a:rPr lang="he-IL" noProof="0" dirty="0"/>
              <a:t> ששומרת על כל גבול כזה.</a:t>
            </a:r>
          </a:p>
          <a:p>
            <a:pPr algn="r" rtl="1"/>
            <a:endParaRPr lang="he-IL" noProof="0" dirty="0"/>
          </a:p>
          <a:p>
            <a:pPr algn="r" rtl="1"/>
            <a:r>
              <a:rPr lang="he-IL" noProof="0" dirty="0"/>
              <a:t>השני, וזה קריטי מבחינה מתודולוגית: מודל החריגות לא מייבא את הסימולטור. הוא לא רואה את ה‑</a:t>
            </a:r>
            <a:r>
              <a:rPr lang="he-IL" noProof="0" dirty="0" err="1"/>
              <a:t>ground</a:t>
            </a:r>
            <a:r>
              <a:rPr lang="he-IL" noProof="0" dirty="0"/>
              <a:t> </a:t>
            </a:r>
            <a:r>
              <a:rPr lang="he-IL" noProof="0" dirty="0" err="1"/>
              <a:t>truth</a:t>
            </a:r>
            <a:r>
              <a:rPr lang="he-IL" noProof="0" dirty="0"/>
              <a:t> ולא יודע מי הרכב האמיתי. הוא מקבל בדיוק את מה שפריסה אמיתית בשטח הייתה מקבלת — ולכן התוצאות שנראה בהמשך אינן 'מזוהמות' במידע פנימי.</a:t>
            </a:r>
          </a:p>
          <a:p>
            <a:pPr algn="r" rtl="1"/>
            <a:endParaRPr lang="he-IL" noProof="0" dirty="0"/>
          </a:p>
          <a:p>
            <a:pPr algn="r" rtl="1"/>
            <a:r>
              <a:rPr lang="he-IL" noProof="0" dirty="0"/>
              <a:t>המנוע רץ ב‑25 הרץ, ויש עורך גרפי ב‑</a:t>
            </a:r>
            <a:r>
              <a:rPr lang="he-IL" noProof="0" dirty="0" err="1"/>
              <a:t>Tkinter</a:t>
            </a:r>
            <a:r>
              <a:rPr lang="he-IL" noProof="0" dirty="0"/>
              <a:t> שמאפשר לבנות סצנות אינטראקטיבית — את זה תראו בהדגמה."</a:t>
            </a:r>
          </a:p>
          <a:p>
            <a:pPr algn="r" rtl="1"/>
            <a:endParaRPr lang="he-IL" noProof="0" dirty="0"/>
          </a:p>
          <a:p>
            <a:pPr algn="r" rtl="1"/>
            <a:r>
              <a:rPr lang="he-IL" noProof="0" dirty="0"/>
              <a:t>מעבר: "עכשיו נכנס לתוך שני הבלוקים הכבדים — מודלי החיישנים והיתוך."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noProof="0" dirty="0"/>
              <a:t>[</a:t>
            </a:r>
            <a:r>
              <a:rPr lang="he-IL" noProof="0" dirty="0" err="1"/>
              <a:t>נתאי</a:t>
            </a:r>
            <a:r>
              <a:rPr lang="he-IL" noProof="0" dirty="0"/>
              <a:t>]  — 140 שניות</a:t>
            </a:r>
          </a:p>
          <a:p>
            <a:pPr algn="r" rtl="1"/>
            <a:endParaRPr lang="he-IL" noProof="0" dirty="0"/>
          </a:p>
          <a:p>
            <a:pPr algn="r" rtl="1"/>
            <a:r>
              <a:rPr lang="he-IL" noProof="0" dirty="0"/>
              <a:t>"כאן שני הבלוקים המרכזיים: מודלי החיישנים והיתוך.</a:t>
            </a:r>
          </a:p>
          <a:p>
            <a:pPr algn="r" rtl="1"/>
            <a:endParaRPr lang="he-IL" noProof="0" dirty="0"/>
          </a:p>
          <a:p>
            <a:pPr algn="r" rtl="1"/>
            <a:r>
              <a:rPr lang="he-IL" noProof="0" dirty="0"/>
              <a:t>למעלה — שלושת החיישנים. DAS הוא החיישן הראשי: המשרעת נגזרת מחוק </a:t>
            </a:r>
            <a:r>
              <a:rPr lang="he-IL" noProof="0" dirty="0" err="1"/>
              <a:t>פלמן‑בוסינסק</a:t>
            </a:r>
            <a:r>
              <a:rPr lang="he-IL" noProof="0" dirty="0"/>
              <a:t>, כך שהיא פרופורציונית למשקל ודועכת עם המרחק מהסיב. ההסתברות לזיהוי היא </a:t>
            </a:r>
            <a:r>
              <a:rPr lang="he-IL" noProof="0" dirty="0" err="1"/>
              <a:t>סיגמואיד</a:t>
            </a:r>
            <a:r>
              <a:rPr lang="he-IL" noProof="0" dirty="0"/>
              <a:t> ב‑SNR בריבוע, כל מטר הוא ערוץ, והפלט הוא מיקום ומהירות לאורך הסיב ב‑25 הרץ. המצלמה נותנת מיקום דו‑ממדי מלא בקצב </a:t>
            </a:r>
            <a:r>
              <a:rPr lang="he-IL" noProof="0" dirty="0" err="1"/>
              <a:t>פריימים</a:t>
            </a:r>
            <a:r>
              <a:rPr lang="he-IL" noProof="0" dirty="0"/>
              <a:t>, עם מודל </a:t>
            </a:r>
            <a:r>
              <a:rPr lang="he-IL" noProof="0" dirty="0" err="1"/>
              <a:t>פינהול</a:t>
            </a:r>
            <a:r>
              <a:rPr lang="he-IL" noProof="0" dirty="0"/>
              <a:t> ושער ראייה </a:t>
            </a:r>
            <a:r>
              <a:rPr lang="he-IL" noProof="0" dirty="0" err="1"/>
              <a:t>סטוכסטי</a:t>
            </a:r>
            <a:r>
              <a:rPr lang="he-IL" noProof="0" dirty="0"/>
              <a:t>, ורעש שגדל עם המרחק והזווית. </a:t>
            </a:r>
            <a:r>
              <a:rPr lang="he-IL" noProof="0" dirty="0" err="1"/>
              <a:t>וה</a:t>
            </a:r>
            <a:r>
              <a:rPr lang="he-IL" noProof="0" dirty="0"/>
              <a:t>‑GPS — מיקום אבסולוטי בקצב נמוך, בערך הרץ אחד, עם סיגמא של כ‑2.5 מטר.</a:t>
            </a:r>
          </a:p>
          <a:p>
            <a:pPr algn="r" rtl="1"/>
            <a:endParaRPr lang="he-IL" noProof="0" dirty="0"/>
          </a:p>
          <a:p>
            <a:pPr algn="r" rtl="1"/>
            <a:r>
              <a:rPr lang="he-IL" noProof="0" dirty="0"/>
              <a:t>הנקודה החשובה מימין למטה: כל חיישן חושף אי‑ודאות פיזיקלית משלו, שנכנסת ישירות לפילטר קלמן. סיגמא של DAS היא מקסימום בין 0.8 מטר לבין קבוע חלקי ה‑SNR. המשמעות: הפילטר סומך הרבה יותר על רכב כבד וקרוב מאשר על רכב קל ורחוק — אוטומטית, בלי שום כוונון ידני. השונות של DAS יכולה להיות קטנה בסדר גודל מזו של GPS.</a:t>
            </a:r>
          </a:p>
          <a:p>
            <a:pPr algn="r" rtl="1"/>
            <a:endParaRPr lang="he-IL" noProof="0" dirty="0"/>
          </a:p>
          <a:p>
            <a:pPr algn="r" rtl="1"/>
            <a:r>
              <a:rPr lang="he-IL" noProof="0" dirty="0"/>
              <a:t>בצד ההיתוך: ה‑</a:t>
            </a:r>
            <a:r>
              <a:rPr lang="he-IL" noProof="0" dirty="0" err="1"/>
              <a:t>TrackManager</a:t>
            </a:r>
            <a:r>
              <a:rPr lang="he-IL" noProof="0" dirty="0"/>
              <a:t> שומר מזהה מסלול גלובלי יציב במעברים בין קטעי כביש ובין חיישנים — ומסתמך רק על </a:t>
            </a:r>
            <a:r>
              <a:rPr lang="he-IL" noProof="0" dirty="0" err="1"/>
              <a:t>קינמטיקה</a:t>
            </a:r>
            <a:r>
              <a:rPr lang="he-IL" noProof="0" dirty="0"/>
              <a:t>, אף פעם לא על ה‑ID האמיתי מהסימולטור. שיוך מדידות נעשה בתוך שערים מרחביים וזמניים, עם ניקוד לפי מרחק, מהירות, כיוון וסמיכות; מסלול נולד 'טנטטיבי' ומאושר רק אחרי שלוש מדידות מסכימות — ככה נפטרנו מרוחות רפאים של DAS.</a:t>
            </a:r>
          </a:p>
          <a:p>
            <a:pPr algn="r" rtl="1"/>
            <a:endParaRPr lang="he-IL" noProof="0" dirty="0"/>
          </a:p>
          <a:p>
            <a:pPr algn="r" rtl="1"/>
            <a:r>
              <a:rPr lang="he-IL" noProof="0" dirty="0"/>
              <a:t>הפילטר עצמו הוא קלמן בעל שישה מצבים עם תאוצה קבועה, ציר </a:t>
            </a:r>
            <a:r>
              <a:rPr lang="he-IL" noProof="0" dirty="0" err="1"/>
              <a:t>x</a:t>
            </a:r>
            <a:r>
              <a:rPr lang="he-IL" noProof="0" dirty="0"/>
              <a:t> ו‑</a:t>
            </a:r>
            <a:r>
              <a:rPr lang="he-IL" noProof="0" dirty="0" err="1"/>
              <a:t>y</a:t>
            </a:r>
            <a:r>
              <a:rPr lang="he-IL" noProof="0" dirty="0"/>
              <a:t> מופרדים, </a:t>
            </a:r>
            <a:r>
              <a:rPr lang="he-IL" noProof="0" dirty="0" err="1"/>
              <a:t>וקוברייאנס</a:t>
            </a:r>
            <a:r>
              <a:rPr lang="he-IL" noProof="0" dirty="0"/>
              <a:t> בצורת ג'וזף ליציבות נומרית. ולבסוף — אנחנו מתעדים NIS בכל עדכון; עלייה מתמשכת מעל 1 היא החתימה של חריגה, וזה יהיה הגשר למודל הבא."</a:t>
            </a:r>
          </a:p>
          <a:p>
            <a:pPr algn="r" rtl="1"/>
            <a:endParaRPr lang="he-IL" noProof="0" dirty="0"/>
          </a:p>
          <a:p>
            <a:pPr algn="r" rtl="1"/>
            <a:r>
              <a:rPr lang="he-IL" noProof="0" dirty="0"/>
              <a:t>מעבר: "נועה תציג את מודל החריגות."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noProof="0" dirty="0"/>
              <a:t>[נועה]  — 130 שניות</a:t>
            </a:r>
          </a:p>
          <a:p>
            <a:pPr algn="r" rtl="1"/>
            <a:endParaRPr lang="he-IL" noProof="0" dirty="0"/>
          </a:p>
          <a:p>
            <a:pPr algn="r" rtl="1"/>
            <a:r>
              <a:rPr lang="he-IL" noProof="0" dirty="0"/>
              <a:t>"מודל זיהוי החריגות בנוי משתי שכבות, ויש לו תכונה אחת מהותית: הוא לא‑מפוקח וקורא‑בלבד. הוא לא מקבל תוויות, הוא לא יודע מה זו 'חריגה'. הוא לומד את ההתפלגות של נהיגה נורמלית — מתוך אותם 144 אזורים שראינו — ומדרג כל רכב לפי כמה הוא חורג ממנה.</a:t>
            </a:r>
          </a:p>
          <a:p>
            <a:pPr algn="r" rtl="1"/>
            <a:endParaRPr lang="he-IL" noProof="0" dirty="0"/>
          </a:p>
          <a:p>
            <a:pPr algn="r" rtl="1"/>
            <a:r>
              <a:rPr lang="he-IL" noProof="0" dirty="0"/>
              <a:t>שכבה ראשונה: כל מסלול של רכב מתורגם ל'טביעת אצבע התנהגותית' של 166 מאפיינים, מחולקים לתשע קבוצות סמנטיות — רואים אותן מימין. הקבוצה הגדולה היא כיסוי ותועלת החיישנים, 54 מאפיינים; אחריה </a:t>
            </a:r>
            <a:r>
              <a:rPr lang="he-IL" noProof="0" dirty="0" err="1"/>
              <a:t>קינמטיקה</a:t>
            </a:r>
            <a:r>
              <a:rPr lang="he-IL" noProof="0" dirty="0"/>
              <a:t>, 35; אינטראקציה בין רכבים, 20; איכות הקלמן, 13; אי‑הסכמה בין חיישנים, 11; איכות אות ה‑DAS, 11; ועוד. בפועל 156 מאפיינים מנוקדים — השאר הם מזהים ומטא‑דאטה.</a:t>
            </a:r>
          </a:p>
          <a:p>
            <a:pPr algn="r" rtl="1"/>
            <a:endParaRPr lang="he-IL" noProof="0" dirty="0"/>
          </a:p>
          <a:p>
            <a:pPr algn="r" rtl="1"/>
            <a:r>
              <a:rPr lang="he-IL" noProof="0" dirty="0"/>
              <a:t>שכבה שנייה: לכל מאפיין מחושב ציון </a:t>
            </a:r>
            <a:r>
              <a:rPr lang="he-IL" noProof="0" dirty="0" err="1"/>
              <a:t>Z</a:t>
            </a:r>
            <a:r>
              <a:rPr lang="he-IL" noProof="0" dirty="0"/>
              <a:t> ביחס לבסיס הנורמלי. רכב מסומן כחריג אם ה‑</a:t>
            </a:r>
            <a:r>
              <a:rPr lang="he-IL" noProof="0" dirty="0" err="1"/>
              <a:t>Z</a:t>
            </a:r>
            <a:r>
              <a:rPr lang="he-IL" noProof="0" dirty="0"/>
              <a:t> המקסימלי שלו חוצה את הסף. וכאן היתרון הגדול — המודל גם אומר איזה מאפיינים גרמו לסימון. זה לא קופסה שחורה: אפשר להגיד 'הרכב הזה סומן בגלל מהירות יחסית בנקודת ההתקרבות ומהירות רוחבית'.</a:t>
            </a:r>
          </a:p>
          <a:p>
            <a:pPr algn="r" rtl="1"/>
            <a:endParaRPr lang="he-IL" noProof="0" dirty="0"/>
          </a:p>
          <a:p>
            <a:pPr algn="r" rtl="1"/>
            <a:r>
              <a:rPr lang="he-IL" noProof="0" dirty="0"/>
              <a:t>שני רכיבים משלימים: את המשקל אנחנו משחזרים לאחור מחוק </a:t>
            </a:r>
            <a:r>
              <a:rPr lang="he-IL" noProof="0" dirty="0" err="1"/>
              <a:t>פלמן‑בוסינסק</a:t>
            </a:r>
            <a:r>
              <a:rPr lang="he-IL" noProof="0" dirty="0"/>
              <a:t> — מה שמאפשר לתפוס רכב עמוס מדי או מסווג שגוי. ו‑CUSUM על ה‑NIS הוא הממד הזמני: ציון ה‑</a:t>
            </a:r>
            <a:r>
              <a:rPr lang="he-IL" noProof="0" dirty="0" err="1"/>
              <a:t>Z</a:t>
            </a:r>
            <a:r>
              <a:rPr lang="he-IL" noProof="0" dirty="0"/>
              <a:t> אומר אם הרכב חריג, ו‑CUSUM אומר מתי זה התחיל."</a:t>
            </a:r>
          </a:p>
          <a:p>
            <a:pPr algn="r" rtl="1"/>
            <a:endParaRPr lang="he-IL" noProof="0" dirty="0"/>
          </a:p>
          <a:p>
            <a:pPr algn="r" rtl="1"/>
            <a:r>
              <a:rPr lang="he-IL" noProof="0" dirty="0"/>
              <a:t>מעבר: "ועכשיו — ההדגמה."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noProof="0" dirty="0"/>
              <a:t>[נועה + </a:t>
            </a:r>
            <a:r>
              <a:rPr lang="he-IL" noProof="0" dirty="0" err="1"/>
              <a:t>נתאי</a:t>
            </a:r>
            <a:r>
              <a:rPr lang="he-IL" noProof="0" dirty="0"/>
              <a:t> יחד]  — כ‑6 דקות  (זה החלק הארוך — שמרו על הקצב!)</a:t>
            </a:r>
          </a:p>
          <a:p>
            <a:pPr algn="r" rtl="1"/>
            <a:endParaRPr lang="he-IL" noProof="0" dirty="0"/>
          </a:p>
          <a:p>
            <a:pPr algn="r" rtl="1"/>
            <a:r>
              <a:rPr lang="he-IL" noProof="0" dirty="0"/>
              <a:t>חלוקה: נועה מפעילה את האפליקציה, </a:t>
            </a:r>
            <a:r>
              <a:rPr lang="he-IL" noProof="0" dirty="0" err="1"/>
              <a:t>נתאי</a:t>
            </a:r>
            <a:r>
              <a:rPr lang="he-IL" noProof="0" dirty="0"/>
              <a:t> מסביר מה קורה מתחת למכסה המנוע. מחליפים תפקידים בשלב 3.</a:t>
            </a:r>
          </a:p>
          <a:p>
            <a:pPr algn="r" rtl="1"/>
            <a:endParaRPr lang="he-IL" noProof="0" dirty="0"/>
          </a:p>
          <a:p>
            <a:pPr algn="r" rtl="1"/>
            <a:r>
              <a:rPr lang="he-IL" noProof="0" dirty="0"/>
              <a:t>תסריט ההדגמה (לפי ארבעת השלבים בשקף):</a:t>
            </a:r>
          </a:p>
          <a:p>
            <a:pPr algn="r" rtl="1"/>
            <a:endParaRPr lang="he-IL" noProof="0" dirty="0"/>
          </a:p>
          <a:p>
            <a:pPr algn="r" rtl="1"/>
            <a:r>
              <a:rPr lang="he-IL" noProof="0" dirty="0"/>
              <a:t>1. ייבוא רחובות אמיתיים (נועה, ~1 דק') — "פותחים את </a:t>
            </a:r>
            <a:r>
              <a:rPr lang="he-IL" noProof="0" dirty="0" err="1"/>
              <a:t>SimStudio</a:t>
            </a:r>
            <a:r>
              <a:rPr lang="he-IL" noProof="0" dirty="0"/>
              <a:t>, מייבאים קטע מרשת הכבישים האמיתית של תל אביב ישירות מ‑</a:t>
            </a:r>
            <a:r>
              <a:rPr lang="he-IL" noProof="0" dirty="0" err="1"/>
              <a:t>OpenStreetMap</a:t>
            </a:r>
            <a:r>
              <a:rPr lang="he-IL" noProof="0" dirty="0"/>
              <a:t>. הגיאומטריה אמיתית — לא סינתטית."</a:t>
            </a:r>
          </a:p>
          <a:p>
            <a:pPr algn="r" rtl="1"/>
            <a:endParaRPr lang="he-IL" noProof="0" dirty="0"/>
          </a:p>
          <a:p>
            <a:pPr algn="r" rtl="1"/>
            <a:r>
              <a:rPr lang="he-IL" noProof="0" dirty="0"/>
              <a:t>2. בניית הסצנה ומיקום חיישנים (נועה, ~1 דק') — "מניחים את הסיב לאורך הכביש, מוסיפים מצלמה בצומת ומגדירים כיסוי GPS. כל חיישן מקבל את הפרמטרים הפיזיקליים שהצגנו." (</a:t>
            </a:r>
            <a:r>
              <a:rPr lang="he-IL" noProof="0" dirty="0" err="1"/>
              <a:t>נתאי</a:t>
            </a:r>
            <a:r>
              <a:rPr lang="he-IL" noProof="0" dirty="0"/>
              <a:t> מוסיף: כאן נקבעים ה‑</a:t>
            </a:r>
            <a:r>
              <a:rPr lang="he-IL" noProof="0" dirty="0" err="1"/>
              <a:t>gauge</a:t>
            </a:r>
            <a:r>
              <a:rPr lang="he-IL" noProof="0" dirty="0"/>
              <a:t> </a:t>
            </a:r>
            <a:r>
              <a:rPr lang="he-IL" noProof="0" dirty="0" err="1"/>
              <a:t>length</a:t>
            </a:r>
            <a:r>
              <a:rPr lang="he-IL" noProof="0" dirty="0"/>
              <a:t> ורמת הרעש.)</a:t>
            </a:r>
          </a:p>
          <a:p>
            <a:pPr algn="r" rtl="1"/>
            <a:endParaRPr lang="he-IL" noProof="0" dirty="0"/>
          </a:p>
          <a:p>
            <a:pPr algn="r" rtl="1"/>
            <a:r>
              <a:rPr lang="he-IL" noProof="0" dirty="0"/>
              <a:t>3. הרצת סימולציה (</a:t>
            </a:r>
            <a:r>
              <a:rPr lang="he-IL" noProof="0" dirty="0" err="1"/>
              <a:t>נתאי</a:t>
            </a:r>
            <a:r>
              <a:rPr lang="he-IL" noProof="0" dirty="0"/>
              <a:t> מפעיל, ~2 דק') — "מריצים תרחיש ב‑25 הרץ. רואים את הרכבים נעים, ובזמן אמת את מדידות ה‑DAS נדלקות בערוצים שמתחת לרכב. שימו לב לפס האלכסוני — בדיוק מה שראינו בשקף הפיזיקה." הראו גם תרחיש עם חריגה מוזרקת (בלימת חירום / רכב עומד).</a:t>
            </a:r>
          </a:p>
          <a:p>
            <a:pPr algn="r" rtl="1"/>
            <a:endParaRPr lang="he-IL" noProof="0" dirty="0"/>
          </a:p>
          <a:p>
            <a:pPr algn="r" rtl="1"/>
            <a:r>
              <a:rPr lang="he-IL" noProof="0" dirty="0"/>
              <a:t>4. בחינת הפלטים (</a:t>
            </a:r>
            <a:r>
              <a:rPr lang="he-IL" noProof="0" dirty="0" err="1"/>
              <a:t>נתאי</a:t>
            </a:r>
            <a:r>
              <a:rPr lang="he-IL" noProof="0" dirty="0"/>
              <a:t>, ~1.5 דק') — "כל ריצה מייצרת מסלולים מאוחדים, חוברת </a:t>
            </a:r>
            <a:r>
              <a:rPr lang="he-IL" noProof="0" dirty="0" err="1"/>
              <a:t>Excel</a:t>
            </a:r>
            <a:r>
              <a:rPr lang="he-IL" noProof="0" dirty="0"/>
              <a:t> מעוצבת, דוח ביקורת </a:t>
            </a:r>
            <a:r>
              <a:rPr lang="he-IL" noProof="0" dirty="0" err="1"/>
              <a:t>וויזואליזציות</a:t>
            </a:r>
            <a:r>
              <a:rPr lang="he-IL" noProof="0" dirty="0"/>
              <a:t> לכל מסלול. אותם קבצים בדיוק — בלי שום מידע פנימי מהסימולטור — נכנסים למודל החריגות." הראו את קובץ ה‑</a:t>
            </a:r>
            <a:r>
              <a:rPr lang="he-IL" noProof="0" dirty="0" err="1"/>
              <a:t>Excel</a:t>
            </a:r>
            <a:r>
              <a:rPr lang="he-IL" noProof="0" dirty="0"/>
              <a:t> ואת ציון החריגה.</a:t>
            </a:r>
          </a:p>
          <a:p>
            <a:pPr algn="r" rtl="1"/>
            <a:endParaRPr lang="he-IL" noProof="0" dirty="0"/>
          </a:p>
          <a:p>
            <a:pPr algn="r" rtl="1"/>
            <a:r>
              <a:rPr lang="he-IL" noProof="0" dirty="0"/>
              <a:t>סגירה (נועה, 30 שניות) — "זה הכלי שאיתו הפקנו את כל התוצאות שנציג עכשיו."</a:t>
            </a:r>
          </a:p>
          <a:p>
            <a:pPr algn="r" rtl="1"/>
            <a:endParaRPr lang="he-IL" noProof="0" dirty="0"/>
          </a:p>
          <a:p>
            <a:pPr algn="r" rtl="1"/>
            <a:r>
              <a:rPr lang="he-IL" noProof="0" dirty="0"/>
              <a:t>תוכנית גיבוי: אם האפליקציה לא נפתחת או קורסת — עוברים לצילומי המסך שבשקף ומספרים את אותו תסריט. אין להתעכב על תקלה יותר מ‑20 שניות.</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noProof="0" dirty="0"/>
              <a:t>[נועה]  — 110 שניות</a:t>
            </a:r>
          </a:p>
          <a:p>
            <a:pPr algn="r" rtl="1"/>
            <a:endParaRPr lang="he-IL" noProof="0" dirty="0"/>
          </a:p>
          <a:p>
            <a:pPr algn="r" rtl="1"/>
            <a:r>
              <a:rPr lang="he-IL" noProof="0" dirty="0"/>
              <a:t>"נעבור לתוצאות. שלושת המספרים למעלה הם הליבה.</a:t>
            </a:r>
          </a:p>
          <a:p>
            <a:pPr algn="r" rtl="1"/>
            <a:endParaRPr lang="he-IL" noProof="0" dirty="0"/>
          </a:p>
          <a:p>
            <a:pPr algn="r" rtl="1"/>
            <a:r>
              <a:rPr lang="he-IL" noProof="0" dirty="0"/>
              <a:t>השגיאה הממוצעת בעקיבה על פני תשעה תרחישי הערכה היא 0.35 מטר — הטוב ביותר 0.19, הגרוע 0.45. כלומר, דיוק תת‑מטרי באופן עקבי, מול יעד מקורי של 90 אחוזי דיוק.</a:t>
            </a:r>
          </a:p>
          <a:p>
            <a:pPr algn="r" rtl="1"/>
            <a:endParaRPr lang="he-IL" noProof="0" dirty="0"/>
          </a:p>
          <a:p>
            <a:pPr algn="r" rtl="1"/>
            <a:r>
              <a:rPr lang="he-IL" noProof="0" dirty="0"/>
              <a:t>המקרה המעניין באמת הוא מעבר בין קטעי כביש — הגרף מימין. רכב שעובר מקטע אחד לשני ומועבר בין חיישנים שונים הגיע ל‑RMSE של 0.49 מטר, עם שגיאה מקסימלית של 1.52 מטר — הרבה מתחת לסף של חמישה מטר. הקו הכתום הוא האמת, הכחול הוא המסלול המאוחד; הם כמעט חופפים, </a:t>
            </a:r>
            <a:r>
              <a:rPr lang="he-IL" noProof="0" dirty="0" err="1"/>
              <a:t>וה</a:t>
            </a:r>
            <a:r>
              <a:rPr lang="he-IL" noProof="0" dirty="0"/>
              <a:t>‑ID של המסלול נשמר לאורך כל המעבר.</a:t>
            </a:r>
          </a:p>
          <a:p>
            <a:pPr algn="r" rtl="1"/>
            <a:endParaRPr lang="he-IL" noProof="0" dirty="0"/>
          </a:p>
          <a:p>
            <a:pPr algn="r" rtl="1"/>
            <a:r>
              <a:rPr lang="he-IL" noProof="0" dirty="0"/>
              <a:t>למה זה עובד? כי החיישנים משלימים זה את זה: DAS נותן עדכונים בקצב גבוה ובאמון גבוה לאורך הסיב, המצלמה מוסיפה קיבועים מדויקים בצמתים, ו‑GPS מספק תיקון אבסולוטי בקצב נמוך באזורים שבהם אין סיב.</a:t>
            </a:r>
          </a:p>
          <a:p>
            <a:pPr algn="r" rtl="1"/>
            <a:endParaRPr lang="he-IL" noProof="0" dirty="0"/>
          </a:p>
          <a:p>
            <a:pPr algn="r" rtl="1"/>
            <a:r>
              <a:rPr lang="he-IL" noProof="0" dirty="0"/>
              <a:t>ואנקדוטה הנדסית שאני חושבת ששווה לספר: גילינו באג עדין שבו קיבועי GPS 'התפצלו' למסלולי רפאים במקום להתחבר למסלול המאושר. תיקנו אותו עם מנגנון שמודע לזהות המסלול — וזה שיפר את דיוק ההיתוך משמעותית. זה מסוג הדברים שמופיעים רק כשמריצים את </a:t>
            </a:r>
            <a:r>
              <a:rPr lang="he-IL" noProof="0" dirty="0" err="1"/>
              <a:t>הפייפליין</a:t>
            </a:r>
            <a:r>
              <a:rPr lang="he-IL" noProof="0" dirty="0"/>
              <a:t> מקצה לקצה."</a:t>
            </a:r>
          </a:p>
          <a:p>
            <a:pPr algn="r" rtl="1"/>
            <a:endParaRPr lang="he-IL" noProof="0" dirty="0"/>
          </a:p>
          <a:p>
            <a:pPr algn="r" rtl="1"/>
            <a:r>
              <a:rPr lang="he-IL" noProof="0" dirty="0"/>
              <a:t>מעבר: "</a:t>
            </a:r>
            <a:r>
              <a:rPr lang="he-IL" noProof="0" dirty="0" err="1"/>
              <a:t>נתאי</a:t>
            </a:r>
            <a:r>
              <a:rPr lang="he-IL" noProof="0" dirty="0"/>
              <a:t> — תוצאות זיהוי החריגות."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noProof="0" dirty="0"/>
              <a:t>[</a:t>
            </a:r>
            <a:r>
              <a:rPr lang="he-IL" noProof="0" dirty="0" err="1"/>
              <a:t>נתאי</a:t>
            </a:r>
            <a:r>
              <a:rPr lang="he-IL" noProof="0" dirty="0"/>
              <a:t>]  — 110 שניות</a:t>
            </a:r>
          </a:p>
          <a:p>
            <a:pPr algn="r" rtl="1"/>
            <a:endParaRPr lang="he-IL" noProof="0" dirty="0"/>
          </a:p>
          <a:p>
            <a:pPr algn="r" rtl="1"/>
            <a:r>
              <a:rPr lang="he-IL" noProof="0" dirty="0"/>
              <a:t>"תוצאות מודל החריגות. הזרקנו תשעה תרחישי חריגה — כל אחד עם רכב אחד שמתנהג לא נורמלי — והמודל, שכזכור לא ראה שום תווית, זיהה שישה מהם. היעד היה חמישה מתוך עשרה, אז עמדנו בו.</a:t>
            </a:r>
          </a:p>
          <a:p>
            <a:pPr algn="r" rtl="1"/>
            <a:endParaRPr lang="he-IL" noProof="0" dirty="0"/>
          </a:p>
          <a:p>
            <a:pPr algn="r" rtl="1"/>
            <a:r>
              <a:rPr lang="he-IL" noProof="0" dirty="0"/>
              <a:t>בגרף מימין: כל עמודה היא תרחיש, הגובה הוא ציון החריגה של הרכב שהוזרק, והקו המקווקו הוא סף ההחלטה השמרני שקבענו (סדר גודל של 15 סיגמא).</a:t>
            </a:r>
          </a:p>
          <a:p>
            <a:pPr algn="r" rtl="1"/>
            <a:endParaRPr lang="he-IL" noProof="0" dirty="0"/>
          </a:p>
          <a:p>
            <a:pPr algn="r" rtl="1"/>
            <a:r>
              <a:rPr lang="he-IL" noProof="0" dirty="0"/>
              <a:t>מה זוהה: בלימת חירום, רכב תקוע, תאונה, נהיגה פרועה, מהירות מופרזת ורכב עמוס מדי. כל החריגות ה'אורכיות' וברמת החיישן בולטות מעל הסף בבירור.</a:t>
            </a:r>
          </a:p>
          <a:p>
            <a:pPr algn="r" rtl="1"/>
            <a:endParaRPr lang="he-IL" noProof="0" dirty="0"/>
          </a:p>
          <a:p>
            <a:pPr algn="r" rtl="1"/>
            <a:r>
              <a:rPr lang="he-IL" noProof="0" dirty="0"/>
              <a:t>וחשוב — המודל מפרש את עצמו. בתרחיש המהירות המופרזת, הסימון הונע ממהירות יחסית בנקודת ההתקרבות הקרובה ביותר, ממהירות ממוצעת וממהירות רוחבית. זה מידע שאפשר להציג לרשות תחבורה.</a:t>
            </a:r>
          </a:p>
          <a:p>
            <a:pPr algn="r" rtl="1"/>
            <a:endParaRPr lang="he-IL" noProof="0" dirty="0"/>
          </a:p>
          <a:p>
            <a:pPr algn="r" rtl="1"/>
            <a:r>
              <a:rPr lang="he-IL" noProof="0" dirty="0"/>
              <a:t>מה פספסנו: נסיעה על קו הפרדה — 6.2 סיגמא; פיתולים בין נתיבים — 5 סיגמא; ונסיעה צמודה מדי — 2.1 סיגמא. שימו לב: כל השלושה כן חורגים מהנורמלי, אבל לא מספיק כדי לחצות את הסף השמרני שבחרנו — סף שנבחר בכוונה גבוה כדי לשמור על אפס כמעט התרעות שווא.</a:t>
            </a:r>
          </a:p>
          <a:p>
            <a:pPr algn="r" rtl="1"/>
            <a:endParaRPr lang="he-IL" noProof="0" dirty="0"/>
          </a:p>
          <a:p>
            <a:pPr algn="r" rtl="1"/>
            <a:r>
              <a:rPr lang="he-IL" noProof="0" dirty="0"/>
              <a:t>המסקנה: האות המאוחד לבדו נושא מספיק מידע כדי לסמן נהיגה חריגה. הפער שנשאר הוא בעיה של סף ושל מאפיינים — לא בעיה של חישה. וזה בדיוק מה שנציע להמשך."</a:t>
            </a:r>
          </a:p>
          <a:p>
            <a:pPr algn="r" rtl="1"/>
            <a:endParaRPr lang="he-IL" noProof="0" dirty="0"/>
          </a:p>
          <a:p>
            <a:pPr algn="r" rtl="1"/>
            <a:r>
              <a:rPr lang="he-IL" noProof="0" dirty="0"/>
              <a:t>מעבר: "נועה — האימות בעולם האמיתי."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noProof="0" dirty="0"/>
              <a:t>[נועה]  — 110 שניות</a:t>
            </a:r>
          </a:p>
          <a:p>
            <a:pPr algn="r" rtl="1"/>
            <a:endParaRPr lang="he-IL" noProof="0" dirty="0"/>
          </a:p>
          <a:p>
            <a:pPr algn="r" rtl="1"/>
            <a:r>
              <a:rPr lang="he-IL" noProof="0" dirty="0"/>
              <a:t>"השקף הזה הוא בעינינו התוצאה החזקה ביותר, כי הוא היחיד שיצא מהסימולציה אל העולם האמיתי.</a:t>
            </a:r>
          </a:p>
          <a:p>
            <a:pPr algn="r" rtl="1"/>
            <a:endParaRPr lang="he-IL" noProof="0" dirty="0"/>
          </a:p>
          <a:p>
            <a:pPr algn="r" rtl="1"/>
            <a:r>
              <a:rPr lang="he-IL" noProof="0" dirty="0"/>
              <a:t>ברחוב </a:t>
            </a:r>
            <a:r>
              <a:rPr lang="he-IL" noProof="0" dirty="0" err="1"/>
              <a:t>קלאוזנר</a:t>
            </a:r>
            <a:r>
              <a:rPr lang="he-IL" noProof="0" dirty="0"/>
              <a:t>, ליד קמפוס האוניברסיטה, פועלת מערכת DAS אמיתית על סיב תקשורת קיים, לצד מצלמה. לקחנו הקלטה אמיתית של אוטובוס עירוני שמאט ונעצר בתחנה, והרצנו אותה דרך </a:t>
            </a:r>
            <a:r>
              <a:rPr lang="he-IL" noProof="0" dirty="0" err="1"/>
              <a:t>הפייפליין</a:t>
            </a:r>
            <a:r>
              <a:rPr lang="he-IL" noProof="0" dirty="0"/>
              <a:t> שלנו — בלי לשנות שורת קוד אחת, על הגיאומטריה האמיתית של הרחוב.</a:t>
            </a:r>
          </a:p>
          <a:p>
            <a:pPr algn="r" rtl="1"/>
            <a:endParaRPr lang="he-IL" noProof="0" dirty="0"/>
          </a:p>
          <a:p>
            <a:pPr algn="r" rtl="1"/>
            <a:r>
              <a:rPr lang="he-IL" noProof="0" dirty="0"/>
              <a:t>התוצאה: היתוך של 84 מדידות DAS ו‑30 מדידות מצלמה על פני 41.8 שניות. שימו לב לנתון שאני הכי גאה בו — במשך 42 אחוז מהזמן לא הגיעה שום מדידה, והמערכת רצה על חיזוי בלבד, כשהפער הארוך ביותר היה כמעט 4 שניות. ולמרות זאת המסלול לא אבד, גם לא בעצירה בתחנה — שזה בדיוק המצב שבו DAS 'מאבד' רכב, כי רכב עומד לא מייצר עומס משתנה.</a:t>
            </a:r>
          </a:p>
          <a:p>
            <a:pPr algn="r" rtl="1"/>
            <a:endParaRPr lang="he-IL" noProof="0" dirty="0"/>
          </a:p>
          <a:p>
            <a:pPr algn="r" rtl="1"/>
            <a:r>
              <a:rPr lang="he-IL" noProof="0" dirty="0"/>
              <a:t>השגיאה של המסלול המאוחד: 1.17 מטר. אבל תסתכלו על הפירוק — DAS לבדו נתן 0.33 מטר, והמצלמה נתנה 2.49 מטר.</a:t>
            </a:r>
          </a:p>
          <a:p>
            <a:pPr algn="r" rtl="1"/>
            <a:endParaRPr lang="he-IL" noProof="0" dirty="0"/>
          </a:p>
          <a:p>
            <a:pPr algn="r" rtl="1"/>
            <a:r>
              <a:rPr lang="he-IL" noProof="0" dirty="0"/>
              <a:t>וזו התובנה ההנדסית: המצלמה הצהירה על סיגמא של 20 סנטימטר, ובפועל שגתה פי עשר. בדיוק מצב הכשל שהתכנון שלנו צופה — חיישן שמדווח על עצמו יותר מדי בביטחון מושך את ההיתוך לכיוון הלא נכון. המסקנה המעשית: לפני כל פריסה רחבה חייבים לכייל כל מצלמה בנקודה שלה."</a:t>
            </a:r>
          </a:p>
          <a:p>
            <a:pPr algn="r" rtl="1"/>
            <a:endParaRPr lang="he-IL" noProof="0" dirty="0"/>
          </a:p>
          <a:p>
            <a:pPr algn="r" rtl="1"/>
            <a:r>
              <a:rPr lang="he-IL" noProof="0" dirty="0"/>
              <a:t>מעבר: "</a:t>
            </a:r>
            <a:r>
              <a:rPr lang="he-IL" noProof="0" dirty="0" err="1"/>
              <a:t>נתאי</a:t>
            </a:r>
            <a:r>
              <a:rPr lang="he-IL" noProof="0" dirty="0"/>
              <a:t> יסכם."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noProof="0" dirty="0"/>
              <a:t>[</a:t>
            </a:r>
            <a:r>
              <a:rPr lang="he-IL" noProof="0" dirty="0" err="1"/>
              <a:t>נתאי</a:t>
            </a:r>
            <a:r>
              <a:rPr lang="he-IL" noProof="0" dirty="0"/>
              <a:t> — ובסיום נועה סוגרת]  — 90 שניות</a:t>
            </a:r>
          </a:p>
          <a:p>
            <a:pPr algn="r" rtl="1"/>
            <a:endParaRPr lang="he-IL" noProof="0" dirty="0"/>
          </a:p>
          <a:p>
            <a:pPr algn="r" rtl="1"/>
            <a:r>
              <a:rPr lang="he-IL" noProof="0" dirty="0"/>
              <a:t>"נסיים בשני דברים: לאן ממשיכים מכאן, ומה מסרנו.</a:t>
            </a:r>
          </a:p>
          <a:p>
            <a:pPr algn="r" rtl="1"/>
            <a:endParaRPr lang="he-IL" noProof="0" dirty="0"/>
          </a:p>
          <a:p>
            <a:pPr algn="r" rtl="1"/>
            <a:r>
              <a:rPr lang="he-IL" noProof="0" dirty="0"/>
              <a:t>שש הצעות להמשך. ראשית, לתפוס את החריגות הקשות — יש לנו עכשיו דוגמאות מתויגות, ואפשר לאמן עליהן מודל מפוקח שיזהה נסיעה על קו הפרדה, פיתולים ונסיעה צמודה. שנית, מאפיינים טובים יותר — תנועה רוחבית, מרחק מהרכב שלפנים, ושילוב של 'מה קרה' עם 'מתי זה קרה'. שלישית, כיול מצלמות — ראינו </a:t>
            </a:r>
            <a:r>
              <a:rPr lang="he-IL" noProof="0" dirty="0" err="1"/>
              <a:t>בקלאוזנר</a:t>
            </a:r>
            <a:r>
              <a:rPr lang="he-IL" noProof="0" dirty="0"/>
              <a:t> שהמצלמה שגתה פי עשר ממה שהצהירה, ולכן חייבים לכייל כל מצלמה באתר שלה. רביעית, ניסוי אמיתי ארוך יותר עם מכשיר DAS ברחוב מאובזר. חמישית, לעבוד ישירות על האות הגולמי של הסיב ולא רק על מספרים מזוקקים. ושישית — להריץ את זה חי, ברמת עיר: זמן אמת, מעקב על פני צמתים מרובים, ולוח בקרה עם התרעות.</a:t>
            </a:r>
          </a:p>
          <a:p>
            <a:pPr algn="r" rtl="1"/>
            <a:endParaRPr lang="he-IL" noProof="0" dirty="0"/>
          </a:p>
          <a:p>
            <a:pPr algn="r" rtl="1"/>
            <a:r>
              <a:rPr lang="he-IL" noProof="0" dirty="0"/>
              <a:t>מבחינת תיעוד — כל מה שבנינו מתועד ופתוח: המנוע ומודלי החיישנים, חבילת מודל החריגות והבדיקות, כ‑150 תרחישי נהיגה נורמלית ותשעה תרחישי חריגה, וכל הקוד, הדוקומנטציה והדוח נמצאים ב‑</a:t>
            </a:r>
            <a:r>
              <a:rPr lang="he-IL" noProof="0" dirty="0" err="1"/>
              <a:t>GitHub</a:t>
            </a:r>
            <a:r>
              <a:rPr lang="he-IL" noProof="0" dirty="0"/>
              <a:t> בקישור שמופיע כאן. למטה — המקורות המרכזיים, ובראשם המאמר של חן כהן, ליאב הן ואריאל ללוש שעליו התבססנו."</a:t>
            </a:r>
          </a:p>
          <a:p>
            <a:pPr algn="r" rtl="1"/>
            <a:endParaRPr lang="he-IL" noProof="0" dirty="0"/>
          </a:p>
          <a:p>
            <a:pPr algn="r" rtl="1"/>
            <a:r>
              <a:rPr lang="he-IL" noProof="0" dirty="0"/>
              <a:t>[נועה, סגירה] "תודה רבה — נשמח לשאלות."</a:t>
            </a:r>
          </a:p>
          <a:p>
            <a:pPr algn="r" rtl="1"/>
            <a:endParaRPr lang="he-IL" noProof="0" dirty="0"/>
          </a:p>
          <a:p>
            <a:pPr algn="r" rtl="1"/>
            <a:r>
              <a:rPr lang="he-IL" noProof="0" dirty="0"/>
              <a:t>תזכורת: השאירו זמן לשאלות. סה"כ מצגת ~20 דקות + הדגמה ~5 דקות = 25 דקות.</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b="1" dirty="0" err="1">
                <a:solidFill>
                  <a:srgbClr val="0B4F6C"/>
                </a:solidFill>
                <a:latin typeface="Calibri"/>
              </a:rPr>
              <a:t>מרכז</a:t>
            </a:r>
            <a:r>
              <a:rPr sz="1300" b="1" dirty="0">
                <a:solidFill>
                  <a:srgbClr val="0B4F6C"/>
                </a:solidFill>
                <a:latin typeface="Calibri"/>
              </a:rPr>
              <a:t> </a:t>
            </a:r>
            <a:r>
              <a:rPr sz="1300" b="1" dirty="0" err="1">
                <a:solidFill>
                  <a:srgbClr val="0B4F6C"/>
                </a:solidFill>
                <a:latin typeface="Calibri"/>
              </a:rPr>
              <a:t>הנספחים</a:t>
            </a:r>
            <a:endParaRPr sz="1300" b="1" dirty="0">
              <a:solidFill>
                <a:srgbClr val="0B4F6C"/>
              </a:solidFill>
              <a:latin typeface="Calibri"/>
            </a:endParaRPr>
          </a:p>
          <a:p>
            <a:r>
              <a:rPr sz="1100" b="0" dirty="0" err="1">
                <a:solidFill>
                  <a:srgbClr val="33424D"/>
                </a:solidFill>
                <a:latin typeface="Calibri"/>
              </a:rPr>
              <a:t>במצב</a:t>
            </a:r>
            <a:r>
              <a:rPr sz="1100" b="0" dirty="0">
                <a:solidFill>
                  <a:srgbClr val="33424D"/>
                </a:solidFill>
                <a:latin typeface="Calibri"/>
              </a:rPr>
              <a:t> </a:t>
            </a:r>
            <a:r>
              <a:rPr sz="1100" b="0" dirty="0" err="1">
                <a:solidFill>
                  <a:srgbClr val="33424D"/>
                </a:solidFill>
                <a:latin typeface="Calibri"/>
              </a:rPr>
              <a:t>מצגת</a:t>
            </a:r>
            <a:r>
              <a:rPr sz="1100" b="0" dirty="0">
                <a:solidFill>
                  <a:srgbClr val="33424D"/>
                </a:solidFill>
                <a:latin typeface="Calibri"/>
              </a:rPr>
              <a:t>: </a:t>
            </a:r>
            <a:r>
              <a:rPr sz="1100" b="0" dirty="0" err="1">
                <a:solidFill>
                  <a:srgbClr val="33424D"/>
                </a:solidFill>
                <a:latin typeface="Calibri"/>
              </a:rPr>
              <a:t>להקליד</a:t>
            </a:r>
            <a:r>
              <a:rPr sz="1100" b="0" dirty="0">
                <a:solidFill>
                  <a:srgbClr val="33424D"/>
                </a:solidFill>
                <a:latin typeface="Calibri"/>
              </a:rPr>
              <a:t> </a:t>
            </a:r>
            <a:r>
              <a:rPr sz="1100" b="0" dirty="0" err="1">
                <a:solidFill>
                  <a:srgbClr val="33424D"/>
                </a:solidFill>
                <a:latin typeface="Calibri"/>
              </a:rPr>
              <a:t>את</a:t>
            </a:r>
            <a:r>
              <a:rPr sz="1100" b="0" dirty="0">
                <a:solidFill>
                  <a:srgbClr val="33424D"/>
                </a:solidFill>
                <a:latin typeface="Calibri"/>
              </a:rPr>
              <a:t> מספר </a:t>
            </a:r>
            <a:r>
              <a:rPr sz="1100" b="0" dirty="0" err="1">
                <a:solidFill>
                  <a:srgbClr val="33424D"/>
                </a:solidFill>
                <a:latin typeface="Calibri"/>
              </a:rPr>
              <a:t>השקופית</a:t>
            </a:r>
            <a:r>
              <a:rPr sz="1100" b="0" dirty="0">
                <a:solidFill>
                  <a:srgbClr val="33424D"/>
                </a:solidFill>
                <a:latin typeface="Calibri"/>
              </a:rPr>
              <a:t> </a:t>
            </a:r>
            <a:r>
              <a:rPr sz="1100" b="0" dirty="0" err="1">
                <a:solidFill>
                  <a:srgbClr val="33424D"/>
                </a:solidFill>
                <a:latin typeface="Calibri"/>
              </a:rPr>
              <a:t>ואז</a:t>
            </a:r>
            <a:r>
              <a:rPr sz="1100" b="0" dirty="0">
                <a:solidFill>
                  <a:srgbClr val="33424D"/>
                </a:solidFill>
                <a:latin typeface="Calibri"/>
              </a:rPr>
              <a:t> Enter </a:t>
            </a:r>
            <a:r>
              <a:rPr sz="1100" b="0" dirty="0" err="1">
                <a:solidFill>
                  <a:srgbClr val="33424D"/>
                </a:solidFill>
                <a:latin typeface="Calibri"/>
              </a:rPr>
              <a:t>כדי</a:t>
            </a:r>
            <a:r>
              <a:rPr sz="1100" b="0" dirty="0">
                <a:solidFill>
                  <a:srgbClr val="33424D"/>
                </a:solidFill>
                <a:latin typeface="Calibri"/>
              </a:rPr>
              <a:t> </a:t>
            </a:r>
            <a:r>
              <a:rPr sz="1100" b="0" dirty="0" err="1">
                <a:solidFill>
                  <a:srgbClr val="33424D"/>
                </a:solidFill>
                <a:latin typeface="Calibri"/>
              </a:rPr>
              <a:t>לקפוץ</a:t>
            </a:r>
            <a:r>
              <a:rPr sz="1100" b="0" dirty="0">
                <a:solidFill>
                  <a:srgbClr val="33424D"/>
                </a:solidFill>
                <a:latin typeface="Calibri"/>
              </a:rPr>
              <a:t> </a:t>
            </a:r>
            <a:r>
              <a:rPr sz="1100" b="0" dirty="0" err="1">
                <a:solidFill>
                  <a:srgbClr val="33424D"/>
                </a:solidFill>
                <a:latin typeface="Calibri"/>
              </a:rPr>
              <a:t>לכאן</a:t>
            </a:r>
            <a:r>
              <a:rPr sz="1100" b="0" dirty="0">
                <a:solidFill>
                  <a:srgbClr val="33424D"/>
                </a:solidFill>
                <a:latin typeface="Calibri"/>
              </a:rPr>
              <a:t> </a:t>
            </a:r>
            <a:r>
              <a:rPr sz="1100" b="0" dirty="0" err="1">
                <a:solidFill>
                  <a:srgbClr val="33424D"/>
                </a:solidFill>
                <a:latin typeface="Calibri"/>
              </a:rPr>
              <a:t>מכל</a:t>
            </a:r>
            <a:r>
              <a:rPr sz="1100" b="0" dirty="0">
                <a:solidFill>
                  <a:srgbClr val="33424D"/>
                </a:solidFill>
                <a:latin typeface="Calibri"/>
              </a:rPr>
              <a:t> </a:t>
            </a:r>
            <a:r>
              <a:rPr sz="1100" b="0" dirty="0" err="1">
                <a:solidFill>
                  <a:srgbClr val="33424D"/>
                </a:solidFill>
                <a:latin typeface="Calibri"/>
              </a:rPr>
              <a:t>מקום</a:t>
            </a:r>
            <a:r>
              <a:rPr sz="1100" b="0" dirty="0">
                <a:solidFill>
                  <a:srgbClr val="33424D"/>
                </a:solidFill>
                <a:latin typeface="Calibri"/>
              </a:rPr>
              <a:t>.</a:t>
            </a:r>
          </a:p>
          <a:p>
            <a:r>
              <a:rPr sz="1100" b="0" dirty="0" err="1">
                <a:solidFill>
                  <a:srgbClr val="33424D"/>
                </a:solidFill>
                <a:latin typeface="Calibri"/>
              </a:rPr>
              <a:t>כל</a:t>
            </a:r>
            <a:r>
              <a:rPr sz="1100" b="0" dirty="0">
                <a:solidFill>
                  <a:srgbClr val="33424D"/>
                </a:solidFill>
                <a:latin typeface="Calibri"/>
              </a:rPr>
              <a:t> </a:t>
            </a:r>
            <a:r>
              <a:rPr sz="1100" b="0" dirty="0" err="1">
                <a:solidFill>
                  <a:srgbClr val="33424D"/>
                </a:solidFill>
                <a:latin typeface="Calibri"/>
              </a:rPr>
              <a:t>נספח</a:t>
            </a:r>
            <a:r>
              <a:rPr sz="1100" b="0" dirty="0">
                <a:solidFill>
                  <a:srgbClr val="33424D"/>
                </a:solidFill>
                <a:latin typeface="Calibri"/>
              </a:rPr>
              <a:t> </a:t>
            </a:r>
            <a:r>
              <a:rPr sz="1100" b="0" dirty="0" err="1">
                <a:solidFill>
                  <a:srgbClr val="33424D"/>
                </a:solidFill>
                <a:latin typeface="Calibri"/>
              </a:rPr>
              <a:t>חוזר</a:t>
            </a:r>
            <a:r>
              <a:rPr sz="1100" b="0" dirty="0">
                <a:solidFill>
                  <a:srgbClr val="33424D"/>
                </a:solidFill>
                <a:latin typeface="Calibri"/>
              </a:rPr>
              <a:t> </a:t>
            </a:r>
            <a:r>
              <a:rPr sz="1100" b="0" dirty="0" err="1">
                <a:solidFill>
                  <a:srgbClr val="33424D"/>
                </a:solidFill>
                <a:latin typeface="Calibri"/>
              </a:rPr>
              <a:t>לכאן</a:t>
            </a:r>
            <a:r>
              <a:rPr sz="1100" b="0" dirty="0">
                <a:solidFill>
                  <a:srgbClr val="33424D"/>
                </a:solidFill>
                <a:latin typeface="Calibri"/>
              </a:rPr>
              <a:t> </a:t>
            </a:r>
            <a:r>
              <a:rPr sz="1100" b="0" dirty="0" err="1">
                <a:solidFill>
                  <a:srgbClr val="33424D"/>
                </a:solidFill>
                <a:latin typeface="Calibri"/>
              </a:rPr>
              <a:t>בכפתור</a:t>
            </a:r>
            <a:r>
              <a:rPr sz="1100" b="0" dirty="0">
                <a:solidFill>
                  <a:srgbClr val="33424D"/>
                </a:solidFill>
                <a:latin typeface="Calibri"/>
              </a:rPr>
              <a:t> INDEX, </a:t>
            </a:r>
            <a:r>
              <a:rPr sz="1100" b="0" dirty="0" err="1">
                <a:solidFill>
                  <a:srgbClr val="33424D"/>
                </a:solidFill>
                <a:latin typeface="Calibri"/>
              </a:rPr>
              <a:t>ולשקופית</a:t>
            </a:r>
            <a:r>
              <a:rPr sz="1100" b="0" dirty="0">
                <a:solidFill>
                  <a:srgbClr val="33424D"/>
                </a:solidFill>
                <a:latin typeface="Calibri"/>
              </a:rPr>
              <a:t> </a:t>
            </a:r>
            <a:r>
              <a:rPr sz="1100" b="0" dirty="0" err="1">
                <a:solidFill>
                  <a:srgbClr val="33424D"/>
                </a:solidFill>
                <a:latin typeface="Calibri"/>
              </a:rPr>
              <a:t>המקור</a:t>
            </a:r>
            <a:r>
              <a:rPr sz="1100" b="0" dirty="0">
                <a:solidFill>
                  <a:srgbClr val="33424D"/>
                </a:solidFill>
                <a:latin typeface="Calibri"/>
              </a:rPr>
              <a:t> </a:t>
            </a:r>
            <a:r>
              <a:rPr sz="1100" b="0" dirty="0" err="1">
                <a:solidFill>
                  <a:srgbClr val="33424D"/>
                </a:solidFill>
                <a:latin typeface="Calibri"/>
              </a:rPr>
              <a:t>בכפתור</a:t>
            </a:r>
            <a:r>
              <a:rPr sz="1100" b="0" dirty="0">
                <a:solidFill>
                  <a:srgbClr val="33424D"/>
                </a:solidFill>
                <a:latin typeface="Calibri"/>
              </a:rPr>
              <a:t> SLIDE n.</a:t>
            </a:r>
          </a:p>
          <a:p>
            <a:endParaRPr sz="1100" b="0" dirty="0">
              <a:solidFill>
                <a:srgbClr val="33424D"/>
              </a:solidFill>
              <a:latin typeface="Calibri"/>
            </a:endParaRPr>
          </a:p>
          <a:p>
            <a:r>
              <a:rPr sz="1100" b="1" dirty="0" err="1">
                <a:solidFill>
                  <a:srgbClr val="1C7293"/>
                </a:solidFill>
                <a:latin typeface="Calibri"/>
              </a:rPr>
              <a:t>הכלל</a:t>
            </a:r>
            <a:r>
              <a:rPr sz="1100" b="1" dirty="0">
                <a:solidFill>
                  <a:srgbClr val="1C7293"/>
                </a:solidFill>
                <a:latin typeface="Calibri"/>
              </a:rPr>
              <a:t>: </a:t>
            </a:r>
            <a:r>
              <a:rPr sz="1100" b="1" dirty="0" err="1">
                <a:solidFill>
                  <a:srgbClr val="1C7293"/>
                </a:solidFill>
                <a:latin typeface="Calibri"/>
              </a:rPr>
              <a:t>מתחילים</a:t>
            </a:r>
            <a:r>
              <a:rPr sz="1100" b="1" dirty="0">
                <a:solidFill>
                  <a:srgbClr val="1C7293"/>
                </a:solidFill>
                <a:latin typeface="Calibri"/>
              </a:rPr>
              <a:t> </a:t>
            </a:r>
            <a:r>
              <a:rPr sz="1100" b="1" dirty="0" err="1">
                <a:solidFill>
                  <a:srgbClr val="1C7293"/>
                </a:solidFill>
                <a:latin typeface="Calibri"/>
              </a:rPr>
              <a:t>לענות</a:t>
            </a:r>
            <a:r>
              <a:rPr sz="1100" b="1" dirty="0">
                <a:solidFill>
                  <a:srgbClr val="1C7293"/>
                </a:solidFill>
                <a:latin typeface="Calibri"/>
              </a:rPr>
              <a:t> </a:t>
            </a:r>
            <a:r>
              <a:rPr sz="1100" b="1" dirty="0" err="1">
                <a:solidFill>
                  <a:srgbClr val="1C7293"/>
                </a:solidFill>
                <a:latin typeface="Calibri"/>
              </a:rPr>
              <a:t>בעל</a:t>
            </a:r>
            <a:r>
              <a:rPr sz="1100" b="1" dirty="0">
                <a:solidFill>
                  <a:srgbClr val="1C7293"/>
                </a:solidFill>
                <a:latin typeface="Calibri"/>
              </a:rPr>
              <a:t> </a:t>
            </a:r>
            <a:r>
              <a:rPr sz="1100" b="1" dirty="0" err="1">
                <a:solidFill>
                  <a:srgbClr val="1C7293"/>
                </a:solidFill>
                <a:latin typeface="Calibri"/>
              </a:rPr>
              <a:t>פה</a:t>
            </a:r>
            <a:r>
              <a:rPr sz="1100" b="1" dirty="0">
                <a:solidFill>
                  <a:srgbClr val="1C7293"/>
                </a:solidFill>
                <a:latin typeface="Calibri"/>
              </a:rPr>
              <a:t>. </a:t>
            </a:r>
            <a:r>
              <a:rPr sz="1100" b="1" dirty="0" err="1">
                <a:solidFill>
                  <a:srgbClr val="1C7293"/>
                </a:solidFill>
                <a:latin typeface="Calibri"/>
              </a:rPr>
              <a:t>רק</a:t>
            </a:r>
            <a:r>
              <a:rPr sz="1100" b="1" dirty="0">
                <a:solidFill>
                  <a:srgbClr val="1C7293"/>
                </a:solidFill>
                <a:latin typeface="Calibri"/>
              </a:rPr>
              <a:t> </a:t>
            </a:r>
            <a:r>
              <a:rPr sz="1100" b="1" dirty="0" err="1">
                <a:solidFill>
                  <a:srgbClr val="1C7293"/>
                </a:solidFill>
                <a:latin typeface="Calibri"/>
              </a:rPr>
              <a:t>כשמזהים</a:t>
            </a:r>
            <a:r>
              <a:rPr sz="1100" b="1" dirty="0">
                <a:solidFill>
                  <a:srgbClr val="1C7293"/>
                </a:solidFill>
                <a:latin typeface="Calibri"/>
              </a:rPr>
              <a:t> </a:t>
            </a:r>
            <a:r>
              <a:rPr sz="1100" b="1" dirty="0" err="1">
                <a:solidFill>
                  <a:srgbClr val="1C7293"/>
                </a:solidFill>
                <a:latin typeface="Calibri"/>
              </a:rPr>
              <a:t>שהשאלה</a:t>
            </a:r>
            <a:r>
              <a:rPr sz="1100" b="1" dirty="0">
                <a:solidFill>
                  <a:srgbClr val="1C7293"/>
                </a:solidFill>
                <a:latin typeface="Calibri"/>
              </a:rPr>
              <a:t> </a:t>
            </a:r>
            <a:r>
              <a:rPr sz="1100" b="1" dirty="0" err="1">
                <a:solidFill>
                  <a:srgbClr val="1C7293"/>
                </a:solidFill>
                <a:latin typeface="Calibri"/>
              </a:rPr>
              <a:t>מחפשת</a:t>
            </a:r>
            <a:r>
              <a:rPr sz="1100" b="1" dirty="0">
                <a:solidFill>
                  <a:srgbClr val="1C7293"/>
                </a:solidFill>
                <a:latin typeface="Calibri"/>
              </a:rPr>
              <a:t> </a:t>
            </a:r>
            <a:r>
              <a:rPr sz="1100" b="1" dirty="0" err="1">
                <a:solidFill>
                  <a:srgbClr val="1C7293"/>
                </a:solidFill>
                <a:latin typeface="Calibri"/>
              </a:rPr>
              <a:t>עומק</a:t>
            </a:r>
            <a:r>
              <a:rPr sz="1100" b="1" dirty="0">
                <a:solidFill>
                  <a:srgbClr val="1C7293"/>
                </a:solidFill>
                <a:latin typeface="Calibri"/>
              </a:rPr>
              <a:t> — </a:t>
            </a:r>
            <a:r>
              <a:rPr sz="1100" b="1" dirty="0" err="1">
                <a:solidFill>
                  <a:srgbClr val="1C7293"/>
                </a:solidFill>
                <a:latin typeface="Calibri"/>
              </a:rPr>
              <a:t>קופצים</a:t>
            </a:r>
            <a:r>
              <a:rPr sz="1100" b="1" dirty="0">
                <a:solidFill>
                  <a:srgbClr val="1C7293"/>
                </a:solidFill>
                <a:latin typeface="Calibri"/>
              </a:rPr>
              <a:t> </a:t>
            </a:r>
            <a:r>
              <a:rPr sz="1100" b="1" dirty="0" err="1">
                <a:solidFill>
                  <a:srgbClr val="1C7293"/>
                </a:solidFill>
                <a:latin typeface="Calibri"/>
              </a:rPr>
              <a:t>לנספח</a:t>
            </a:r>
            <a:r>
              <a:rPr sz="1100" b="1" dirty="0">
                <a:solidFill>
                  <a:srgbClr val="1C7293"/>
                </a:solidFill>
                <a:latin typeface="Calibri"/>
              </a:rPr>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A1  ·  φ-OTDR — From Laser Pulse to Strain</a:t>
            </a:r>
          </a:p>
          <a:p>
            <a:endParaRPr sz="1200" b="1">
              <a:solidFill>
                <a:srgbClr val="0B4F6C"/>
              </a:solidFill>
              <a:latin typeface="Calibri"/>
            </a:endParaRPr>
          </a:p>
          <a:p>
            <a:r>
              <a:rPr sz="1100" b="0">
                <a:solidFill>
                  <a:srgbClr val="33424D"/>
                </a:solidFill>
                <a:latin typeface="Calibri"/>
              </a:rPr>
              <a:t>נספח פיזיקה בסיסי. להשתמש בו כשהבוחן שואל 'איך בכלל סיב תקשורת הופך לחיישן' או שואל על gauge length.</a:t>
            </a:r>
          </a:p>
          <a:p>
            <a:endParaRPr sz="1100" b="0">
              <a:solidFill>
                <a:srgbClr val="33424D"/>
              </a:solidFill>
              <a:latin typeface="Calibri"/>
            </a:endParaRPr>
          </a:p>
          <a:p>
            <a:r>
              <a:rPr sz="1000" b="1">
                <a:solidFill>
                  <a:srgbClr val="6B7A85"/>
                </a:solidFill>
                <a:latin typeface="Calibri"/>
              </a:rPr>
              <a:t>שקופית מקור: 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A2  ·  Flamant–Boussinesq — Where 1/r² Comes From</a:t>
            </a:r>
          </a:p>
          <a:p>
            <a:endParaRPr sz="1200" b="1">
              <a:solidFill>
                <a:srgbClr val="0B4F6C"/>
              </a:solidFill>
              <a:latin typeface="Calibri"/>
            </a:endParaRPr>
          </a:p>
          <a:p>
            <a:r>
              <a:rPr sz="1100" b="0">
                <a:solidFill>
                  <a:srgbClr val="33424D"/>
                </a:solidFill>
                <a:latin typeface="Calibri"/>
              </a:rPr>
              <a:t>שאלה כמעט ודאית מבוחן חומרה: 'מאיפה החזקה 2?' — התשובה היא בוסינסק, מאמץ אנכי מתחת לעומס נקודתי דועך כ-1/z². ולציין מיד את ההנחות ומתי הן נשברות.</a:t>
            </a:r>
          </a:p>
          <a:p>
            <a:endParaRPr sz="1100" b="0">
              <a:solidFill>
                <a:srgbClr val="33424D"/>
              </a:solidFill>
              <a:latin typeface="Calibri"/>
            </a:endParaRPr>
          </a:p>
          <a:p>
            <a:r>
              <a:rPr sz="1000" b="1">
                <a:solidFill>
                  <a:srgbClr val="6B7A85"/>
                </a:solidFill>
                <a:latin typeface="Calibri"/>
              </a:rPr>
              <a:t>שקופית מקור: 3</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A3  ·  Detection and Association — What We Assume</a:t>
            </a:r>
          </a:p>
          <a:p>
            <a:endParaRPr/>
          </a:p>
          <a:p>
            <a:r>
              <a:t>אם שואלים 'איך אתם מזהים רכב בעקבה?' — התשובה הכנה: לא מזהים. הנחנו שהזיהוי פתור, וכל רכב פעיל מייצר מדידה אחת בדיוק בכל עדכון. זו החלטת היקף מודעת, לא השמטה: peak-finding על trace גולמי הוא פרויקט בפני עצמו, ואם הוא היה בפנים — כל שגיאת מעקב הייתה בלתי ניתנת לייחוס.</a:t>
            </a:r>
          </a:p>
          <a:p>
            <a:endParaRPr/>
          </a:p>
          <a:p>
            <a:r>
              <a:t>מה שכן מודלים: איכות המדידה. SNR = A/σ_th, ומשם σ_DAS.</a:t>
            </a:r>
          </a:p>
          <a:p>
            <a:endParaRPr/>
          </a:p>
          <a:p>
            <a:r>
              <a:t>אם שואלים 'אז לא בדקתם פערים?' — בדקנו. הפערים מגיעים מהבדלי הקצב והטווח בין החיישנים, ובקלאוזנר הם נתנו 42% שורות תחזית בלבד.</a:t>
            </a:r>
          </a:p>
          <a:p>
            <a:endParaRPr/>
          </a:p>
          <a:p>
            <a:r>
              <a:t>שקופית מקור: 6</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A4  ·  What We Invert From the Signal</a:t>
            </a:r>
          </a:p>
          <a:p>
            <a:endParaRPr sz="1200" b="1">
              <a:solidFill>
                <a:srgbClr val="0B4F6C"/>
              </a:solidFill>
              <a:latin typeface="Calibri"/>
            </a:endParaRPr>
          </a:p>
          <a:p>
            <a:r>
              <a:rPr sz="1100" b="0">
                <a:solidFill>
                  <a:srgbClr val="33424D"/>
                </a:solidFill>
                <a:latin typeface="Calibri"/>
              </a:rPr>
              <a:t>זה הנספח שמסביר את שקף 3 שוב, לאט. שימושי אם הבוחן מבקש 'תסבירו לי שוב איך מוציאים מהירות'.</a:t>
            </a:r>
          </a:p>
          <a:p>
            <a:endParaRPr sz="1100" b="0">
              <a:solidFill>
                <a:srgbClr val="33424D"/>
              </a:solidFill>
              <a:latin typeface="Calibri"/>
            </a:endParaRPr>
          </a:p>
          <a:p>
            <a:r>
              <a:rPr sz="1000" b="1">
                <a:solidFill>
                  <a:srgbClr val="6B7A85"/>
                </a:solidFill>
                <a:latin typeface="Calibri"/>
              </a:rPr>
              <a:t>שקופית מקור: 3</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A5  ·  What We Deliberately Did Not Model</a:t>
            </a:r>
          </a:p>
          <a:p>
            <a:endParaRPr sz="1200" b="1">
              <a:solidFill>
                <a:srgbClr val="0B4F6C"/>
              </a:solidFill>
              <a:latin typeface="Calibri"/>
            </a:endParaRPr>
          </a:p>
          <a:p>
            <a:r>
              <a:rPr sz="1100" b="0">
                <a:solidFill>
                  <a:srgbClr val="33424D"/>
                </a:solidFill>
                <a:latin typeface="Calibri"/>
              </a:rPr>
              <a:t>נספח הגנה. אם הבוחן אומר 'אבל זו רק סימולציה' — לפתוח את זה ולומר: אנחנו יודעים בדיוק מה לא מודלנו, וזו בחירה מנומקת.</a:t>
            </a:r>
          </a:p>
          <a:p>
            <a:endParaRPr sz="1100" b="0">
              <a:solidFill>
                <a:srgbClr val="33424D"/>
              </a:solidFill>
              <a:latin typeface="Calibri"/>
            </a:endParaRPr>
          </a:p>
          <a:p>
            <a:r>
              <a:rPr sz="1000" b="1">
                <a:solidFill>
                  <a:srgbClr val="6B7A85"/>
                </a:solidFill>
                <a:latin typeface="Calibri"/>
              </a:rPr>
              <a:t>שקופית מקור: 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B1  ·  Module Map and Interfaces</a:t>
            </a:r>
          </a:p>
          <a:p>
            <a:endParaRPr sz="1200" b="1">
              <a:solidFill>
                <a:srgbClr val="0B4F6C"/>
              </a:solidFill>
              <a:latin typeface="Calibri"/>
            </a:endParaRPr>
          </a:p>
          <a:p>
            <a:r>
              <a:rPr sz="1100" b="0">
                <a:solidFill>
                  <a:srgbClr val="33424D"/>
                </a:solidFill>
                <a:latin typeface="Calibri"/>
              </a:rPr>
              <a:t>הנספח לבוחן חומרה שאוהב דיאגרמות בלוקים. להראות את הטבלה — היא מראה מה בדיוק עובר בכל חץ.</a:t>
            </a:r>
          </a:p>
          <a:p>
            <a:endParaRPr sz="1100" b="0">
              <a:solidFill>
                <a:srgbClr val="33424D"/>
              </a:solidFill>
              <a:latin typeface="Calibri"/>
            </a:endParaRPr>
          </a:p>
          <a:p>
            <a:r>
              <a:rPr sz="1000" b="1">
                <a:solidFill>
                  <a:srgbClr val="6B7A85"/>
                </a:solidFill>
                <a:latin typeface="Calibri"/>
              </a:rPr>
              <a:t>שקופית מקור: 5</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B2  ·  Why an Event Bus</a:t>
            </a:r>
          </a:p>
          <a:p>
            <a:endParaRPr sz="1200" b="1">
              <a:solidFill>
                <a:srgbClr val="0B4F6C"/>
              </a:solidFill>
              <a:latin typeface="Calibri"/>
            </a:endParaRPr>
          </a:p>
          <a:p>
            <a:r>
              <a:rPr sz="1100" b="0">
                <a:solidFill>
                  <a:srgbClr val="33424D"/>
                </a:solidFill>
                <a:latin typeface="Calibri"/>
              </a:rPr>
              <a:t>תשובה ל'למה לא פשוט לקרוא לפונקציות'. הנקודה החזקה: הפרדת ה-ground truth הופכת ממשהו שמבטיחים למשהו שאפשר לבדוק.</a:t>
            </a:r>
          </a:p>
          <a:p>
            <a:endParaRPr sz="1100" b="0">
              <a:solidFill>
                <a:srgbClr val="33424D"/>
              </a:solidFill>
              <a:latin typeface="Calibri"/>
            </a:endParaRPr>
          </a:p>
          <a:p>
            <a:r>
              <a:rPr sz="1000" b="1">
                <a:solidFill>
                  <a:srgbClr val="6B7A85"/>
                </a:solidFill>
                <a:latin typeface="Calibri"/>
              </a:rPr>
              <a:t>שקופית מקור: 5</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B3  ·  Ground-Truth Separation</a:t>
            </a:r>
          </a:p>
          <a:p>
            <a:endParaRPr sz="1200" b="1">
              <a:solidFill>
                <a:srgbClr val="0B4F6C"/>
              </a:solidFill>
              <a:latin typeface="Calibri"/>
            </a:endParaRPr>
          </a:p>
          <a:p>
            <a:r>
              <a:rPr sz="1100" b="0">
                <a:solidFill>
                  <a:srgbClr val="33424D"/>
                </a:solidFill>
                <a:latin typeface="Calibri"/>
              </a:rPr>
              <a:t>קריטי. אם שואלים 'איך אתם יודעים שהמודל לא רואה את התשובה' — זה הנספח. הנקודה הכי חזקה: הוא לא מייבא את הסימולטור בכלל.</a:t>
            </a:r>
          </a:p>
          <a:p>
            <a:endParaRPr sz="1100" b="0">
              <a:solidFill>
                <a:srgbClr val="33424D"/>
              </a:solidFill>
              <a:latin typeface="Calibri"/>
            </a:endParaRPr>
          </a:p>
          <a:p>
            <a:r>
              <a:rPr sz="1000" b="1">
                <a:solidFill>
                  <a:srgbClr val="6B7A85"/>
                </a:solidFill>
                <a:latin typeface="Calibri"/>
              </a:rPr>
              <a:t>שקופית מקור: 5</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B4  ·  Repository and Deliverables</a:t>
            </a:r>
          </a:p>
          <a:p>
            <a:endParaRPr sz="1200" b="1">
              <a:solidFill>
                <a:srgbClr val="0B4F6C"/>
              </a:solidFill>
              <a:latin typeface="Calibri"/>
            </a:endParaRPr>
          </a:p>
          <a:p>
            <a:r>
              <a:rPr sz="1100" b="0">
                <a:solidFill>
                  <a:srgbClr val="33424D"/>
                </a:solidFill>
                <a:latin typeface="Calibri"/>
              </a:rPr>
              <a:t>להשתמש אם שואלים 'מה בדיוק מסרתם'. המספרים כאן הם מספרים לדעת בעל פה.</a:t>
            </a:r>
          </a:p>
          <a:p>
            <a:endParaRPr sz="1100" b="0">
              <a:solidFill>
                <a:srgbClr val="33424D"/>
              </a:solidFill>
              <a:latin typeface="Calibri"/>
            </a:endParaRPr>
          </a:p>
          <a:p>
            <a:r>
              <a:rPr sz="1000" b="1">
                <a:solidFill>
                  <a:srgbClr val="6B7A85"/>
                </a:solidFill>
                <a:latin typeface="Calibri"/>
              </a:rPr>
              <a:t>שקופית מקור: 12</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B5  ·  The Test Suite</a:t>
            </a:r>
          </a:p>
          <a:p>
            <a:endParaRPr sz="1200" b="1">
              <a:solidFill>
                <a:srgbClr val="0B4F6C"/>
              </a:solidFill>
              <a:latin typeface="Calibri"/>
            </a:endParaRPr>
          </a:p>
          <a:p>
            <a:r>
              <a:rPr sz="1100" b="0">
                <a:solidFill>
                  <a:srgbClr val="33424D"/>
                </a:solidFill>
                <a:latin typeface="Calibri"/>
              </a:rPr>
              <a:t>שקף 5 אומר 'a pytest suite guards every boundary' בלי מספר. זה המספר: 134. לדעת אותו בעל פה.</a:t>
            </a:r>
          </a:p>
          <a:p>
            <a:endParaRPr sz="1100" b="0">
              <a:solidFill>
                <a:srgbClr val="33424D"/>
              </a:solidFill>
              <a:latin typeface="Calibri"/>
            </a:endParaRPr>
          </a:p>
          <a:p>
            <a:r>
              <a:rPr sz="1000" b="1">
                <a:solidFill>
                  <a:srgbClr val="6B7A85"/>
                </a:solidFill>
                <a:latin typeface="Calibri"/>
              </a:rPr>
              <a:t>שקופית מקור: 5</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C1  ·  The Kalman Filter</a:t>
            </a:r>
          </a:p>
          <a:p>
            <a:endParaRPr sz="1200" b="1">
              <a:solidFill>
                <a:srgbClr val="0B4F6C"/>
              </a:solidFill>
              <a:latin typeface="Calibri"/>
            </a:endParaRPr>
          </a:p>
          <a:p>
            <a:r>
              <a:rPr sz="1100" b="0">
                <a:solidFill>
                  <a:srgbClr val="33424D"/>
                </a:solidFill>
                <a:latin typeface="Calibri"/>
              </a:rPr>
              <a:t>להיות מוכנים ל'למה תאוצה קבועה' ו'למה x ו-y מנותקים'. התשובה השנייה היא הודאה מנומקת — לא להתחמק ממנה.</a:t>
            </a:r>
          </a:p>
          <a:p>
            <a:endParaRPr sz="1100" b="0">
              <a:solidFill>
                <a:srgbClr val="33424D"/>
              </a:solidFill>
              <a:latin typeface="Calibri"/>
            </a:endParaRPr>
          </a:p>
          <a:p>
            <a:r>
              <a:rPr sz="1000" b="1">
                <a:solidFill>
                  <a:srgbClr val="6B7A85"/>
                </a:solidFill>
                <a:latin typeface="Calibri"/>
              </a:rPr>
              <a:t>שקופית מקור: 6</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C2  ·  SNR-Driven Measurement Noise</a:t>
            </a:r>
          </a:p>
          <a:p>
            <a:endParaRPr sz="1200" b="1">
              <a:solidFill>
                <a:srgbClr val="0B4F6C"/>
              </a:solidFill>
              <a:latin typeface="Calibri"/>
            </a:endParaRPr>
          </a:p>
          <a:p>
            <a:r>
              <a:rPr sz="1100" b="0">
                <a:solidFill>
                  <a:srgbClr val="33424D"/>
                </a:solidFill>
                <a:latin typeface="Calibri"/>
              </a:rPr>
              <a:t>שימו לב: הנוסחה כאן היא זו שבספר (√SNR). בשקף 6 של המצגת כתוב k/SNR בלי השורש — אם נשאלים, הגרסה הנכונה היא זו של הספר.</a:t>
            </a:r>
          </a:p>
          <a:p>
            <a:endParaRPr sz="1100" b="0">
              <a:solidFill>
                <a:srgbClr val="33424D"/>
              </a:solidFill>
              <a:latin typeface="Calibri"/>
            </a:endParaRPr>
          </a:p>
          <a:p>
            <a:r>
              <a:rPr sz="1000" b="1">
                <a:solidFill>
                  <a:srgbClr val="6B7A85"/>
                </a:solidFill>
                <a:latin typeface="Calibri"/>
              </a:rPr>
              <a:t>שקופית מקור: 6</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C3  ·  Data Association</a:t>
            </a:r>
          </a:p>
          <a:p>
            <a:endParaRPr sz="1200" b="1">
              <a:solidFill>
                <a:srgbClr val="0B4F6C"/>
              </a:solidFill>
              <a:latin typeface="Calibri"/>
            </a:endParaRPr>
          </a:p>
          <a:p>
            <a:r>
              <a:rPr sz="1100" b="0">
                <a:solidFill>
                  <a:srgbClr val="33424D"/>
                </a:solidFill>
                <a:latin typeface="Calibri"/>
              </a:rPr>
              <a:t>אם שואלים 'למה לא JPDA/MHT' — לא להתנצל. התשובה: בצפיפויות שלנו זה מספיק, וזה ניתן לאימות. ולציין שהספר עצמו מצביע על מהלנוביס כשיפור.</a:t>
            </a:r>
          </a:p>
          <a:p>
            <a:endParaRPr sz="1100" b="0">
              <a:solidFill>
                <a:srgbClr val="33424D"/>
              </a:solidFill>
              <a:latin typeface="Calibri"/>
            </a:endParaRPr>
          </a:p>
          <a:p>
            <a:r>
              <a:rPr sz="1000" b="1">
                <a:solidFill>
                  <a:srgbClr val="6B7A85"/>
                </a:solidFill>
                <a:latin typeface="Calibri"/>
              </a:rPr>
              <a:t>שקופית מקור: 6</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C4  ·  From True (x, y) to a Measurement</a:t>
            </a:r>
          </a:p>
          <a:p>
            <a:endParaRPr/>
          </a:p>
          <a:p>
            <a:r>
              <a:t>זה הנספח שעונה על 'מאיפה בדיוק מגיעה כל מדידה'. הרצף אחיד לשלושת החיישנים: מיקום אמיתי → מודל החיישן → רעש גאוסי נוסף → מפרסמים מיקום רועש יחד עם σ ועם confidence.</a:t>
            </a:r>
          </a:p>
          <a:p>
            <a:endParaRPr/>
          </a:p>
          <a:p>
            <a:r>
              <a:t>הנקודה שכדאי להדגיש: ה-truth לא נכנס לשום מקום בשרשרת האומדן. הוא משמש אך ורק למדידת שגיאה.</a:t>
            </a:r>
          </a:p>
          <a:p>
            <a:endParaRPr/>
          </a:p>
          <a:p>
            <a:r>
              <a:t>ב-DAS יש שתי שגיאות ולא אחת: σ_DAS של החיישן, ו-σ_lane של 0.2 מ' שהיא פיזור אמיתי של הרכב בתוך הנתיב — כלומר תכונה של הרכב, לא של החיישן.</a:t>
            </a:r>
          </a:p>
          <a:p>
            <a:endParaRPr/>
          </a:p>
          <a:p>
            <a:r>
              <a:t>במצלמה ה-confidence לא רק משקלל — הוא גם מגריל האם הפריים בכלל מדווח.</a:t>
            </a:r>
          </a:p>
          <a:p>
            <a:endParaRPr/>
          </a:p>
          <a:p>
            <a:r>
              <a:t>ההמשך הישיר הוא C5.</a:t>
            </a:r>
          </a:p>
          <a:p>
            <a:endParaRPr/>
          </a:p>
          <a:p>
            <a:r>
              <a:t>שקופית מקור: 6</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C5  ·  From a Measurement to the Kalman Update</a:t>
            </a:r>
          </a:p>
          <a:p>
            <a:endParaRPr/>
          </a:p>
          <a:p>
            <a:r>
              <a:t>ההמשך של C4. אם C4 עונה 'מאיפה המדידה', C5 עונה 'מה בדיוק הפילטר עושה איתה'.</a:t>
            </a:r>
          </a:p>
          <a:p>
            <a:endParaRPr/>
          </a:p>
          <a:p>
            <a:r>
              <a:t>שלושת הדברים שכדאי להגיד: (1) המדידה עוברת קודם דרך השיוך, ומדידה שלא שויכה נזרקת — לא נדחפת לעקבה. (2) ה-σ שהחיישן דיווח לא נכנס כמו שהוא: הוא מחולק בשורש ה-confidence, וזה מה שהופך את המיזוג למשלים. (3) סדר העדכון בתוך טיק קבוע — DAS מיקום, אחר כך מצלמה ו-GPS, ואז המהירויות.</a:t>
            </a:r>
          </a:p>
          <a:p>
            <a:endParaRPr/>
          </a:p>
          <a:p>
            <a:r>
              <a:t>אם שואלים 'איך כיילתם את R?' — לא כיילנו. R נגזר מ-σ ומ-confidence שהחיישן עצמו מדווח.</a:t>
            </a:r>
          </a:p>
          <a:p>
            <a:endParaRPr/>
          </a:p>
          <a:p>
            <a:r>
              <a:t>שקופית מקור: 6</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C6  ·  The Ghost-Track Bug</a:t>
            </a:r>
          </a:p>
          <a:p>
            <a:endParaRPr sz="1200" b="1">
              <a:solidFill>
                <a:srgbClr val="0B4F6C"/>
              </a:solidFill>
              <a:latin typeface="Calibri"/>
            </a:endParaRPr>
          </a:p>
          <a:p>
            <a:r>
              <a:rPr sz="1100" b="0">
                <a:solidFill>
                  <a:srgbClr val="33424D"/>
                </a:solidFill>
                <a:latin typeface="Calibri"/>
              </a:rPr>
              <a:t>סיפור הנדסה אמיתי — בוחנים אוהבים את זה. לספר אותו ביוזמתנו אם יש הזדמנות, לא רק אם שואלים.</a:t>
            </a:r>
          </a:p>
          <a:p>
            <a:endParaRPr sz="1100" b="0">
              <a:solidFill>
                <a:srgbClr val="33424D"/>
              </a:solidFill>
              <a:latin typeface="Calibri"/>
            </a:endParaRPr>
          </a:p>
          <a:p>
            <a:r>
              <a:rPr sz="1000" b="1">
                <a:solidFill>
                  <a:srgbClr val="6B7A85"/>
                </a:solidFill>
                <a:latin typeface="Calibri"/>
              </a:rPr>
              <a:t>שקופית מקור: 9</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C7  ·  Five Defences Against Track Proliferation</a:t>
            </a:r>
          </a:p>
          <a:p>
            <a:endParaRPr sz="1200" b="1">
              <a:solidFill>
                <a:srgbClr val="0B4F6C"/>
              </a:solidFill>
              <a:latin typeface="Calibri"/>
            </a:endParaRPr>
          </a:p>
          <a:p>
            <a:r>
              <a:rPr sz="1100" b="0">
                <a:solidFill>
                  <a:srgbClr val="33424D"/>
                </a:solidFill>
                <a:latin typeface="Calibri"/>
              </a:rPr>
              <a:t>חמש השכבות לפי סדר ההפעלה בקוד: שערים, עלות, שומר עמימות, אישור, ניפוח עלות. אם שואלים למה דווקא 2.5 — כי הוא חייב להיות גדול מיחס העמימות 2.0, אחרת הרוח עדיין חוסמת את הרכב האמיתי.</a:t>
            </a:r>
          </a:p>
          <a:p>
            <a:endParaRPr sz="1100" b="0">
              <a:solidFill>
                <a:srgbClr val="33424D"/>
              </a:solidFill>
              <a:latin typeface="Calibri"/>
            </a:endParaRPr>
          </a:p>
          <a:p>
            <a:r>
              <a:rPr sz="1000" b="1">
                <a:solidFill>
                  <a:srgbClr val="6B7A85"/>
                </a:solidFill>
                <a:latin typeface="Calibri"/>
              </a:rPr>
              <a:t>שקופית מקור: 9</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D1  ·  156 Features in 9 Groups</a:t>
            </a:r>
          </a:p>
          <a:p>
            <a:endParaRPr sz="1200" b="1">
              <a:solidFill>
                <a:srgbClr val="0B4F6C"/>
              </a:solidFill>
              <a:latin typeface="Calibri"/>
            </a:endParaRPr>
          </a:p>
          <a:p>
            <a:r>
              <a:rPr sz="1100" b="0">
                <a:solidFill>
                  <a:srgbClr val="33424D"/>
                </a:solidFill>
                <a:latin typeface="Calibri"/>
              </a:rPr>
              <a:t>אם שואלים '166 או 156?' — 166 נכתבים, 156 מנוקדים, וההפרש הוא מזהים ומטא-דאטה. משפט אחד חלק.</a:t>
            </a:r>
          </a:p>
          <a:p>
            <a:endParaRPr sz="1100" b="0">
              <a:solidFill>
                <a:srgbClr val="33424D"/>
              </a:solidFill>
              <a:latin typeface="Calibri"/>
            </a:endParaRPr>
          </a:p>
          <a:p>
            <a:r>
              <a:rPr sz="1000" b="1">
                <a:solidFill>
                  <a:srgbClr val="6B7A85"/>
                </a:solidFill>
                <a:latin typeface="Calibri"/>
              </a:rPr>
              <a:t>שקופית מקור: 7</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D2  ·  Scoring and the Threshold</a:t>
            </a:r>
          </a:p>
          <a:p>
            <a:endParaRPr sz="1200" b="1">
              <a:solidFill>
                <a:srgbClr val="0B4F6C"/>
              </a:solidFill>
              <a:latin typeface="Calibri"/>
            </a:endParaRPr>
          </a:p>
          <a:p>
            <a:r>
              <a:rPr sz="1100" b="0">
                <a:solidFill>
                  <a:srgbClr val="33424D"/>
                </a:solidFill>
                <a:latin typeface="Calibri"/>
              </a:rPr>
              <a:t>שאלה מסוכנת מבוחן סטטיסטי: '15 סיגמא זה בלתי אפשרי'. התשובה: נכון — ולכן סיגמא כאן היא מרחק ולא הסתברות, והסף נקבע אמפירית. להגיד את זה ראשונים.</a:t>
            </a:r>
          </a:p>
          <a:p>
            <a:endParaRPr sz="1100" b="0">
              <a:solidFill>
                <a:srgbClr val="33424D"/>
              </a:solidFill>
              <a:latin typeface="Calibri"/>
            </a:endParaRPr>
          </a:p>
          <a:p>
            <a:r>
              <a:rPr sz="1000" b="1">
                <a:solidFill>
                  <a:srgbClr val="6B7A85"/>
                </a:solidFill>
                <a:latin typeface="Calibri"/>
              </a:rPr>
              <a:t>שקופית מקור: 7</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D3  ·  False Positives, Measured</a:t>
            </a:r>
          </a:p>
          <a:p>
            <a:endParaRPr sz="1200" b="1">
              <a:solidFill>
                <a:srgbClr val="0B4F6C"/>
              </a:solidFill>
              <a:latin typeface="Calibri"/>
            </a:endParaRPr>
          </a:p>
          <a:p>
            <a:r>
              <a:rPr sz="1100" b="0">
                <a:solidFill>
                  <a:srgbClr val="33424D"/>
                </a:solidFill>
                <a:latin typeface="Calibri"/>
              </a:rPr>
              <a:t>חשוב: אל תגידו 'כמעט אפס התרעות שווא'. תגידו 1.5%, ותסבירו שזה תוכנן ככה. מספר אמיתי עם הסבר חזק בהרבה מטענה שאפשר להפריך.</a:t>
            </a:r>
          </a:p>
          <a:p>
            <a:endParaRPr sz="1100" b="0">
              <a:solidFill>
                <a:srgbClr val="33424D"/>
              </a:solidFill>
              <a:latin typeface="Calibri"/>
            </a:endParaRPr>
          </a:p>
          <a:p>
            <a:r>
              <a:rPr sz="1000" b="1">
                <a:solidFill>
                  <a:srgbClr val="6B7A85"/>
                </a:solidFill>
                <a:latin typeface="Calibri"/>
              </a:rPr>
              <a:t>שקופית מקור: 10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D4  ·  The Three We Missed</a:t>
            </a:r>
          </a:p>
          <a:p>
            <a:endParaRPr sz="1200" b="1">
              <a:solidFill>
                <a:srgbClr val="0B4F6C"/>
              </a:solidFill>
              <a:latin typeface="Calibri"/>
            </a:endParaRPr>
          </a:p>
          <a:p>
            <a:r>
              <a:rPr sz="1100" b="0">
                <a:solidFill>
                  <a:srgbClr val="33424D"/>
                </a:solidFill>
                <a:latin typeface="Calibri"/>
              </a:rPr>
              <a:t>הניסוח הכנה חזק יותר מהניסוח המרכך. 'המודל לא מבחין בהן' עדיף על 'הן נפלו מתחת לסף'. וזה מוביל ישירות לכיוון ההמשך.</a:t>
            </a:r>
          </a:p>
          <a:p>
            <a:endParaRPr sz="1100" b="0">
              <a:solidFill>
                <a:srgbClr val="33424D"/>
              </a:solidFill>
              <a:latin typeface="Calibri"/>
            </a:endParaRPr>
          </a:p>
          <a:p>
            <a:r>
              <a:rPr sz="1000" b="1">
                <a:solidFill>
                  <a:srgbClr val="6B7A85"/>
                </a:solidFill>
                <a:latin typeface="Calibri"/>
              </a:rPr>
              <a:t>שקופית מקור: 10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D5  ·  Interpretability — One Decision Traced</a:t>
            </a:r>
          </a:p>
          <a:p>
            <a:endParaRPr sz="1200" b="1">
              <a:solidFill>
                <a:srgbClr val="0B4F6C"/>
              </a:solidFill>
              <a:latin typeface="Calibri"/>
            </a:endParaRPr>
          </a:p>
          <a:p>
            <a:r>
              <a:rPr sz="1100" b="0">
                <a:solidFill>
                  <a:srgbClr val="33424D"/>
                </a:solidFill>
                <a:latin typeface="Calibri"/>
              </a:rPr>
              <a:t>שקף 10 מזכיר את זה בקצרה. כאן הפירוט. גם הנקודה על הרכבים שמאחורי התאונה — להסביר שזו תגובה נכונה ולא התרעת שווא.</a:t>
            </a:r>
          </a:p>
          <a:p>
            <a:endParaRPr sz="1100" b="0">
              <a:solidFill>
                <a:srgbClr val="33424D"/>
              </a:solidFill>
              <a:latin typeface="Calibri"/>
            </a:endParaRPr>
          </a:p>
          <a:p>
            <a:r>
              <a:rPr sz="1000" b="1">
                <a:solidFill>
                  <a:srgbClr val="6B7A85"/>
                </a:solidFill>
                <a:latin typeface="Calibri"/>
              </a:rPr>
              <a:t>שקופית מקור: 10</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dirty="0">
                <a:solidFill>
                  <a:srgbClr val="0B4F6C"/>
                </a:solidFill>
                <a:latin typeface="Calibri"/>
              </a:rPr>
              <a:t>D6  ·  The Six Features Behind the Klausner Flag</a:t>
            </a:r>
          </a:p>
          <a:p>
            <a:endParaRPr sz="1200" b="1" dirty="0">
              <a:solidFill>
                <a:srgbClr val="0B4F6C"/>
              </a:solidFill>
              <a:latin typeface="Calibri"/>
            </a:endParaRPr>
          </a:p>
          <a:p>
            <a:r>
              <a:rPr sz="1100" b="0" dirty="0" err="1">
                <a:solidFill>
                  <a:srgbClr val="33424D"/>
                </a:solidFill>
                <a:latin typeface="Calibri"/>
              </a:rPr>
              <a:t>שש</a:t>
            </a:r>
            <a:r>
              <a:rPr sz="1100" b="0" dirty="0">
                <a:solidFill>
                  <a:srgbClr val="33424D"/>
                </a:solidFill>
                <a:latin typeface="Calibri"/>
              </a:rPr>
              <a:t> </a:t>
            </a:r>
            <a:r>
              <a:rPr sz="1100" b="0" dirty="0" err="1">
                <a:solidFill>
                  <a:srgbClr val="33424D"/>
                </a:solidFill>
                <a:latin typeface="Calibri"/>
              </a:rPr>
              <a:t>התכונות</a:t>
            </a:r>
            <a:r>
              <a:rPr sz="1100" b="0" dirty="0">
                <a:solidFill>
                  <a:srgbClr val="33424D"/>
                </a:solidFill>
                <a:latin typeface="Calibri"/>
              </a:rPr>
              <a:t> </a:t>
            </a:r>
            <a:r>
              <a:rPr sz="1100" b="0" dirty="0" err="1">
                <a:solidFill>
                  <a:srgbClr val="33424D"/>
                </a:solidFill>
                <a:latin typeface="Calibri"/>
              </a:rPr>
              <a:t>מהגרף</a:t>
            </a:r>
            <a:r>
              <a:rPr sz="1100" b="0" dirty="0">
                <a:solidFill>
                  <a:srgbClr val="33424D"/>
                </a:solidFill>
                <a:latin typeface="Calibri"/>
              </a:rPr>
              <a:t> </a:t>
            </a:r>
            <a:r>
              <a:rPr sz="1100" b="0" dirty="0" err="1">
                <a:solidFill>
                  <a:srgbClr val="33424D"/>
                </a:solidFill>
                <a:latin typeface="Calibri"/>
              </a:rPr>
              <a:t>בשקף</a:t>
            </a:r>
            <a:r>
              <a:rPr sz="1100" b="0" dirty="0">
                <a:solidFill>
                  <a:srgbClr val="33424D"/>
                </a:solidFill>
                <a:latin typeface="Calibri"/>
              </a:rPr>
              <a:t> 11, </a:t>
            </a:r>
            <a:r>
              <a:rPr sz="1100" b="0" dirty="0" err="1">
                <a:solidFill>
                  <a:srgbClr val="33424D"/>
                </a:solidFill>
                <a:latin typeface="Calibri"/>
              </a:rPr>
              <a:t>כל</a:t>
            </a:r>
            <a:r>
              <a:rPr sz="1100" b="0" dirty="0">
                <a:solidFill>
                  <a:srgbClr val="33424D"/>
                </a:solidFill>
                <a:latin typeface="Calibri"/>
              </a:rPr>
              <a:t> </a:t>
            </a:r>
            <a:r>
              <a:rPr sz="1100" b="0" dirty="0" err="1">
                <a:solidFill>
                  <a:srgbClr val="33424D"/>
                </a:solidFill>
                <a:latin typeface="Calibri"/>
              </a:rPr>
              <a:t>אחת</a:t>
            </a:r>
            <a:r>
              <a:rPr sz="1100" b="0" dirty="0">
                <a:solidFill>
                  <a:srgbClr val="33424D"/>
                </a:solidFill>
                <a:latin typeface="Calibri"/>
              </a:rPr>
              <a:t> </a:t>
            </a:r>
            <a:r>
              <a:rPr sz="1100" b="0" dirty="0" err="1">
                <a:solidFill>
                  <a:srgbClr val="33424D"/>
                </a:solidFill>
                <a:latin typeface="Calibri"/>
              </a:rPr>
              <a:t>עם</a:t>
            </a:r>
            <a:r>
              <a:rPr sz="1100" b="0" dirty="0">
                <a:solidFill>
                  <a:srgbClr val="33424D"/>
                </a:solidFill>
                <a:latin typeface="Calibri"/>
              </a:rPr>
              <a:t> </a:t>
            </a:r>
            <a:r>
              <a:rPr sz="1100" b="0" dirty="0" err="1">
                <a:solidFill>
                  <a:srgbClr val="33424D"/>
                </a:solidFill>
                <a:latin typeface="Calibri"/>
              </a:rPr>
              <a:t>הנוסחה</a:t>
            </a:r>
            <a:r>
              <a:rPr sz="1100" b="0" dirty="0">
                <a:solidFill>
                  <a:srgbClr val="33424D"/>
                </a:solidFill>
                <a:latin typeface="Calibri"/>
              </a:rPr>
              <a:t> </a:t>
            </a:r>
            <a:r>
              <a:rPr sz="1100" b="0" dirty="0" err="1">
                <a:solidFill>
                  <a:srgbClr val="33424D"/>
                </a:solidFill>
                <a:latin typeface="Calibri"/>
              </a:rPr>
              <a:t>המדויקת</a:t>
            </a:r>
            <a:r>
              <a:rPr sz="1100" b="0" dirty="0">
                <a:solidFill>
                  <a:srgbClr val="33424D"/>
                </a:solidFill>
                <a:latin typeface="Calibri"/>
              </a:rPr>
              <a:t> </a:t>
            </a:r>
            <a:r>
              <a:rPr sz="1100" b="0" dirty="0" err="1">
                <a:solidFill>
                  <a:srgbClr val="33424D"/>
                </a:solidFill>
                <a:latin typeface="Calibri"/>
              </a:rPr>
              <a:t>מהקוד</a:t>
            </a:r>
            <a:r>
              <a:rPr sz="1100" b="0" dirty="0">
                <a:solidFill>
                  <a:srgbClr val="33424D"/>
                </a:solidFill>
                <a:latin typeface="Calibri"/>
              </a:rPr>
              <a:t>. </a:t>
            </a:r>
            <a:r>
              <a:rPr sz="1100" b="0" dirty="0" err="1">
                <a:solidFill>
                  <a:srgbClr val="33424D"/>
                </a:solidFill>
                <a:latin typeface="Calibri"/>
              </a:rPr>
              <a:t>שלוש</a:t>
            </a:r>
            <a:r>
              <a:rPr sz="1100" b="0" dirty="0">
                <a:solidFill>
                  <a:srgbClr val="33424D"/>
                </a:solidFill>
                <a:latin typeface="Calibri"/>
              </a:rPr>
              <a:t> </a:t>
            </a:r>
            <a:r>
              <a:rPr sz="1100" b="0" dirty="0" err="1">
                <a:solidFill>
                  <a:srgbClr val="33424D"/>
                </a:solidFill>
                <a:latin typeface="Calibri"/>
              </a:rPr>
              <a:t>בעמודה</a:t>
            </a:r>
            <a:r>
              <a:rPr sz="1100" b="0" dirty="0">
                <a:solidFill>
                  <a:srgbClr val="33424D"/>
                </a:solidFill>
                <a:latin typeface="Calibri"/>
              </a:rPr>
              <a:t> </a:t>
            </a:r>
            <a:r>
              <a:rPr sz="1100" b="0" dirty="0" err="1">
                <a:solidFill>
                  <a:srgbClr val="33424D"/>
                </a:solidFill>
                <a:latin typeface="Calibri"/>
              </a:rPr>
              <a:t>השמאלית</a:t>
            </a:r>
            <a:r>
              <a:rPr sz="1100" b="0" dirty="0">
                <a:solidFill>
                  <a:srgbClr val="33424D"/>
                </a:solidFill>
                <a:latin typeface="Calibri"/>
              </a:rPr>
              <a:t> </a:t>
            </a:r>
            <a:r>
              <a:rPr sz="1100" b="0" dirty="0" err="1">
                <a:solidFill>
                  <a:srgbClr val="33424D"/>
                </a:solidFill>
                <a:latin typeface="Calibri"/>
              </a:rPr>
              <a:t>מתארות</a:t>
            </a:r>
            <a:r>
              <a:rPr sz="1100" b="0" dirty="0">
                <a:solidFill>
                  <a:srgbClr val="33424D"/>
                </a:solidFill>
                <a:latin typeface="Calibri"/>
              </a:rPr>
              <a:t> </a:t>
            </a:r>
            <a:r>
              <a:rPr sz="1100" b="0" dirty="0" err="1">
                <a:solidFill>
                  <a:srgbClr val="33424D"/>
                </a:solidFill>
                <a:latin typeface="Calibri"/>
              </a:rPr>
              <a:t>דינמיקה</a:t>
            </a:r>
            <a:r>
              <a:rPr sz="1100" b="0" dirty="0">
                <a:solidFill>
                  <a:srgbClr val="33424D"/>
                </a:solidFill>
                <a:latin typeface="Calibri"/>
              </a:rPr>
              <a:t> — </a:t>
            </a:r>
            <a:r>
              <a:rPr sz="1100" b="0" dirty="0" err="1">
                <a:solidFill>
                  <a:srgbClr val="33424D"/>
                </a:solidFill>
                <a:latin typeface="Calibri"/>
              </a:rPr>
              <a:t>נגזרות</a:t>
            </a:r>
            <a:r>
              <a:rPr sz="1100" b="0" dirty="0">
                <a:solidFill>
                  <a:srgbClr val="33424D"/>
                </a:solidFill>
                <a:latin typeface="Calibri"/>
              </a:rPr>
              <a:t> </a:t>
            </a:r>
            <a:r>
              <a:rPr sz="1100" b="0" dirty="0" err="1">
                <a:solidFill>
                  <a:srgbClr val="33424D"/>
                </a:solidFill>
                <a:latin typeface="Calibri"/>
              </a:rPr>
              <a:t>של</a:t>
            </a:r>
            <a:r>
              <a:rPr sz="1100" b="0" dirty="0">
                <a:solidFill>
                  <a:srgbClr val="33424D"/>
                </a:solidFill>
                <a:latin typeface="Calibri"/>
              </a:rPr>
              <a:t> </a:t>
            </a:r>
            <a:r>
              <a:rPr sz="1100" b="0" dirty="0" err="1">
                <a:solidFill>
                  <a:srgbClr val="33424D"/>
                </a:solidFill>
                <a:latin typeface="Calibri"/>
              </a:rPr>
              <a:t>התאוצה</a:t>
            </a:r>
            <a:r>
              <a:rPr sz="1100" b="0" dirty="0">
                <a:solidFill>
                  <a:srgbClr val="33424D"/>
                </a:solidFill>
                <a:latin typeface="Calibri"/>
              </a:rPr>
              <a:t> </a:t>
            </a:r>
            <a:r>
              <a:rPr sz="1100" b="0" dirty="0" err="1">
                <a:solidFill>
                  <a:srgbClr val="33424D"/>
                </a:solidFill>
                <a:latin typeface="Calibri"/>
              </a:rPr>
              <a:t>האורכית</a:t>
            </a:r>
            <a:r>
              <a:rPr sz="1100" b="0" dirty="0">
                <a:solidFill>
                  <a:srgbClr val="33424D"/>
                </a:solidFill>
                <a:latin typeface="Calibri"/>
              </a:rPr>
              <a:t>; </a:t>
            </a:r>
            <a:r>
              <a:rPr sz="1100" b="0" dirty="0" err="1">
                <a:solidFill>
                  <a:srgbClr val="33424D"/>
                </a:solidFill>
                <a:latin typeface="Calibri"/>
              </a:rPr>
              <a:t>שלוש</a:t>
            </a:r>
            <a:r>
              <a:rPr sz="1100" b="0" dirty="0">
                <a:solidFill>
                  <a:srgbClr val="33424D"/>
                </a:solidFill>
                <a:latin typeface="Calibri"/>
              </a:rPr>
              <a:t> </a:t>
            </a:r>
            <a:r>
              <a:rPr sz="1100" b="0" dirty="0" err="1">
                <a:solidFill>
                  <a:srgbClr val="33424D"/>
                </a:solidFill>
                <a:latin typeface="Calibri"/>
              </a:rPr>
              <a:t>בימנית</a:t>
            </a:r>
            <a:r>
              <a:rPr sz="1100" b="0" dirty="0">
                <a:solidFill>
                  <a:srgbClr val="33424D"/>
                </a:solidFill>
                <a:latin typeface="Calibri"/>
              </a:rPr>
              <a:t> </a:t>
            </a:r>
            <a:r>
              <a:rPr sz="1100" b="0" dirty="0" err="1">
                <a:solidFill>
                  <a:srgbClr val="33424D"/>
                </a:solidFill>
                <a:latin typeface="Calibri"/>
              </a:rPr>
              <a:t>מתארות</a:t>
            </a:r>
            <a:r>
              <a:rPr sz="1100" b="0" dirty="0">
                <a:solidFill>
                  <a:srgbClr val="33424D"/>
                </a:solidFill>
                <a:latin typeface="Calibri"/>
              </a:rPr>
              <a:t> </a:t>
            </a:r>
            <a:r>
              <a:rPr sz="1100" b="0" dirty="0" err="1">
                <a:solidFill>
                  <a:srgbClr val="33424D"/>
                </a:solidFill>
                <a:latin typeface="Calibri"/>
              </a:rPr>
              <a:t>עצירות</a:t>
            </a:r>
            <a:r>
              <a:rPr sz="1100" b="0" dirty="0">
                <a:solidFill>
                  <a:srgbClr val="33424D"/>
                </a:solidFill>
                <a:latin typeface="Calibri"/>
              </a:rPr>
              <a:t>, </a:t>
            </a:r>
            <a:r>
              <a:rPr sz="1100" b="0" dirty="0" err="1">
                <a:solidFill>
                  <a:srgbClr val="33424D"/>
                </a:solidFill>
                <a:latin typeface="Calibri"/>
              </a:rPr>
              <a:t>והן</a:t>
            </a:r>
            <a:r>
              <a:rPr sz="1100" b="0" dirty="0">
                <a:solidFill>
                  <a:srgbClr val="33424D"/>
                </a:solidFill>
                <a:latin typeface="Calibri"/>
              </a:rPr>
              <a:t> </a:t>
            </a:r>
            <a:r>
              <a:rPr sz="1100" b="0" dirty="0" err="1">
                <a:solidFill>
                  <a:srgbClr val="33424D"/>
                </a:solidFill>
                <a:latin typeface="Calibri"/>
              </a:rPr>
              <a:t>אלה</a:t>
            </a:r>
            <a:r>
              <a:rPr sz="1100" b="0" dirty="0">
                <a:solidFill>
                  <a:srgbClr val="33424D"/>
                </a:solidFill>
                <a:latin typeface="Calibri"/>
              </a:rPr>
              <a:t> </a:t>
            </a:r>
            <a:r>
              <a:rPr sz="1100" b="0" dirty="0" err="1">
                <a:solidFill>
                  <a:srgbClr val="33424D"/>
                </a:solidFill>
                <a:latin typeface="Calibri"/>
              </a:rPr>
              <a:t>שלא</a:t>
            </a:r>
            <a:r>
              <a:rPr sz="1100" b="0" dirty="0">
                <a:solidFill>
                  <a:srgbClr val="33424D"/>
                </a:solidFill>
                <a:latin typeface="Calibri"/>
              </a:rPr>
              <a:t> </a:t>
            </a:r>
            <a:r>
              <a:rPr sz="1100" b="0" dirty="0" err="1">
                <a:solidFill>
                  <a:srgbClr val="33424D"/>
                </a:solidFill>
                <a:latin typeface="Calibri"/>
              </a:rPr>
              <a:t>תלויות</a:t>
            </a:r>
            <a:r>
              <a:rPr sz="1100" b="0" dirty="0">
                <a:solidFill>
                  <a:srgbClr val="33424D"/>
                </a:solidFill>
                <a:latin typeface="Calibri"/>
              </a:rPr>
              <a:t> </a:t>
            </a:r>
            <a:r>
              <a:rPr sz="1100" b="0" dirty="0" err="1">
                <a:solidFill>
                  <a:srgbClr val="33424D"/>
                </a:solidFill>
                <a:latin typeface="Calibri"/>
              </a:rPr>
              <a:t>בקצב</a:t>
            </a:r>
            <a:r>
              <a:rPr sz="1100" b="0" dirty="0">
                <a:solidFill>
                  <a:srgbClr val="33424D"/>
                </a:solidFill>
                <a:latin typeface="Calibri"/>
              </a:rPr>
              <a:t> </a:t>
            </a:r>
            <a:r>
              <a:rPr sz="1100" b="0" dirty="0" err="1">
                <a:solidFill>
                  <a:srgbClr val="33424D"/>
                </a:solidFill>
                <a:latin typeface="Calibri"/>
              </a:rPr>
              <a:t>הדגימה</a:t>
            </a:r>
            <a:r>
              <a:rPr sz="1100" b="0" dirty="0">
                <a:solidFill>
                  <a:srgbClr val="33424D"/>
                </a:solidFill>
                <a:latin typeface="Calibri"/>
              </a:rPr>
              <a:t>. </a:t>
            </a:r>
            <a:r>
              <a:rPr sz="1100" b="0" dirty="0" err="1">
                <a:solidFill>
                  <a:srgbClr val="33424D"/>
                </a:solidFill>
                <a:latin typeface="Calibri"/>
              </a:rPr>
              <a:t>אם</a:t>
            </a:r>
            <a:r>
              <a:rPr sz="1100" b="0" dirty="0">
                <a:solidFill>
                  <a:srgbClr val="33424D"/>
                </a:solidFill>
                <a:latin typeface="Calibri"/>
              </a:rPr>
              <a:t> </a:t>
            </a:r>
            <a:r>
              <a:rPr sz="1100" b="0" dirty="0" err="1">
                <a:solidFill>
                  <a:srgbClr val="33424D"/>
                </a:solidFill>
                <a:latin typeface="Calibri"/>
              </a:rPr>
              <a:t>שואלים</a:t>
            </a:r>
            <a:r>
              <a:rPr sz="1100" b="0" dirty="0">
                <a:solidFill>
                  <a:srgbClr val="33424D"/>
                </a:solidFill>
                <a:latin typeface="Calibri"/>
              </a:rPr>
              <a:t> </a:t>
            </a:r>
            <a:r>
              <a:rPr sz="1100" b="0" dirty="0" err="1">
                <a:solidFill>
                  <a:srgbClr val="33424D"/>
                </a:solidFill>
                <a:latin typeface="Calibri"/>
              </a:rPr>
              <a:t>על</a:t>
            </a:r>
            <a:r>
              <a:rPr sz="1100" b="0" dirty="0">
                <a:solidFill>
                  <a:srgbClr val="33424D"/>
                </a:solidFill>
                <a:latin typeface="Calibri"/>
              </a:rPr>
              <a:t> </a:t>
            </a:r>
            <a:r>
              <a:rPr sz="1100" b="0" dirty="0" err="1">
                <a:solidFill>
                  <a:srgbClr val="33424D"/>
                </a:solidFill>
                <a:latin typeface="Calibri"/>
              </a:rPr>
              <a:t>ה</a:t>
            </a:r>
            <a:r>
              <a:rPr sz="1100" b="0" dirty="0">
                <a:solidFill>
                  <a:srgbClr val="33424D"/>
                </a:solidFill>
                <a:latin typeface="Calibri"/>
              </a:rPr>
              <a:t>-jerk: </a:t>
            </a:r>
            <a:r>
              <a:rPr sz="1100" b="0" dirty="0" err="1">
                <a:solidFill>
                  <a:srgbClr val="33424D"/>
                </a:solidFill>
                <a:latin typeface="Calibri"/>
              </a:rPr>
              <a:t>זה</a:t>
            </a:r>
            <a:r>
              <a:rPr sz="1100" b="0" dirty="0">
                <a:solidFill>
                  <a:srgbClr val="33424D"/>
                </a:solidFill>
                <a:latin typeface="Calibri"/>
              </a:rPr>
              <a:t> </a:t>
            </a:r>
            <a:r>
              <a:rPr sz="1100" b="0" dirty="0" err="1">
                <a:solidFill>
                  <a:srgbClr val="33424D"/>
                </a:solidFill>
                <a:latin typeface="Calibri"/>
              </a:rPr>
              <a:t>הפרש</a:t>
            </a:r>
            <a:r>
              <a:rPr sz="1100" b="0" dirty="0">
                <a:solidFill>
                  <a:srgbClr val="33424D"/>
                </a:solidFill>
                <a:latin typeface="Calibri"/>
              </a:rPr>
              <a:t> </a:t>
            </a:r>
            <a:r>
              <a:rPr sz="1100" b="0" dirty="0" err="1">
                <a:solidFill>
                  <a:srgbClr val="33424D"/>
                </a:solidFill>
                <a:latin typeface="Calibri"/>
              </a:rPr>
              <a:t>לכל</a:t>
            </a:r>
            <a:r>
              <a:rPr sz="1100" b="0" dirty="0">
                <a:solidFill>
                  <a:srgbClr val="33424D"/>
                </a:solidFill>
                <a:latin typeface="Calibri"/>
              </a:rPr>
              <a:t> </a:t>
            </a:r>
            <a:r>
              <a:rPr sz="1100" b="0" dirty="0" err="1">
                <a:solidFill>
                  <a:srgbClr val="33424D"/>
                </a:solidFill>
                <a:latin typeface="Calibri"/>
              </a:rPr>
              <a:t>צעד</a:t>
            </a:r>
            <a:r>
              <a:rPr sz="1100" b="0" dirty="0">
                <a:solidFill>
                  <a:srgbClr val="33424D"/>
                </a:solidFill>
                <a:latin typeface="Calibri"/>
              </a:rPr>
              <a:t> </a:t>
            </a:r>
            <a:r>
              <a:rPr sz="1100" b="0" dirty="0" err="1">
                <a:solidFill>
                  <a:srgbClr val="33424D"/>
                </a:solidFill>
                <a:latin typeface="Calibri"/>
              </a:rPr>
              <a:t>סינון</a:t>
            </a:r>
            <a:r>
              <a:rPr sz="1100" b="0" dirty="0">
                <a:solidFill>
                  <a:srgbClr val="33424D"/>
                </a:solidFill>
                <a:latin typeface="Calibri"/>
              </a:rPr>
              <a:t>, </a:t>
            </a:r>
            <a:r>
              <a:rPr sz="1100" b="0" dirty="0" err="1">
                <a:solidFill>
                  <a:srgbClr val="33424D"/>
                </a:solidFill>
                <a:latin typeface="Calibri"/>
              </a:rPr>
              <a:t>בלי</a:t>
            </a:r>
            <a:r>
              <a:rPr sz="1100" b="0" dirty="0">
                <a:solidFill>
                  <a:srgbClr val="33424D"/>
                </a:solidFill>
                <a:latin typeface="Calibri"/>
              </a:rPr>
              <a:t> </a:t>
            </a:r>
            <a:r>
              <a:rPr sz="1100" b="0" dirty="0" err="1">
                <a:solidFill>
                  <a:srgbClr val="33424D"/>
                </a:solidFill>
                <a:latin typeface="Calibri"/>
              </a:rPr>
              <a:t>חלוקה</a:t>
            </a:r>
            <a:r>
              <a:rPr sz="1100" b="0" dirty="0">
                <a:solidFill>
                  <a:srgbClr val="33424D"/>
                </a:solidFill>
                <a:latin typeface="Calibri"/>
              </a:rPr>
              <a:t> </a:t>
            </a:r>
            <a:r>
              <a:rPr sz="1100" b="0" dirty="0" err="1">
                <a:solidFill>
                  <a:srgbClr val="33424D"/>
                </a:solidFill>
                <a:latin typeface="Calibri"/>
              </a:rPr>
              <a:t>ב-Δt</a:t>
            </a:r>
            <a:r>
              <a:rPr sz="1100" b="0" dirty="0">
                <a:solidFill>
                  <a:srgbClr val="33424D"/>
                </a:solidFill>
                <a:latin typeface="Calibri"/>
              </a:rPr>
              <a:t>.</a:t>
            </a:r>
          </a:p>
          <a:p>
            <a:endParaRPr sz="1100" b="0" dirty="0">
              <a:solidFill>
                <a:srgbClr val="33424D"/>
              </a:solidFill>
              <a:latin typeface="Calibri"/>
            </a:endParaRPr>
          </a:p>
          <a:p>
            <a:r>
              <a:rPr sz="1000" b="1" dirty="0" err="1">
                <a:solidFill>
                  <a:srgbClr val="6B7A85"/>
                </a:solidFill>
                <a:latin typeface="Calibri"/>
              </a:rPr>
              <a:t>שקופית</a:t>
            </a:r>
            <a:r>
              <a:rPr sz="1000" b="1" dirty="0">
                <a:solidFill>
                  <a:srgbClr val="6B7A85"/>
                </a:solidFill>
                <a:latin typeface="Calibri"/>
              </a:rPr>
              <a:t> </a:t>
            </a:r>
            <a:r>
              <a:rPr sz="1000" b="1" dirty="0" err="1">
                <a:solidFill>
                  <a:srgbClr val="6B7A85"/>
                </a:solidFill>
                <a:latin typeface="Calibri"/>
              </a:rPr>
              <a:t>מקור</a:t>
            </a:r>
            <a:r>
              <a:rPr sz="1000" b="1" dirty="0">
                <a:solidFill>
                  <a:srgbClr val="6B7A85"/>
                </a:solidFill>
                <a:latin typeface="Calibri"/>
              </a:rPr>
              <a:t>: 11</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E1  ·  How We Validated the Simulator Itself</a:t>
            </a:r>
          </a:p>
          <a:p>
            <a:endParaRPr sz="1200" b="1">
              <a:solidFill>
                <a:srgbClr val="0B4F6C"/>
              </a:solidFill>
              <a:latin typeface="Calibri"/>
            </a:endParaRPr>
          </a:p>
          <a:p>
            <a:r>
              <a:rPr sz="1100" b="0">
                <a:solidFill>
                  <a:srgbClr val="33424D"/>
                </a:solidFill>
                <a:latin typeface="Calibri"/>
              </a:rPr>
              <a:t>הנספח שעונה על 'איך אימתתם את הסימולטור'. חשוב: הוא גם מסביר מראש למה בקלאוזנר אנחנו מדווחים along-track ולא דו-ממדי.</a:t>
            </a:r>
          </a:p>
          <a:p>
            <a:endParaRPr sz="1100" b="0">
              <a:solidFill>
                <a:srgbClr val="33424D"/>
              </a:solidFill>
              <a:latin typeface="Calibri"/>
            </a:endParaRPr>
          </a:p>
          <a:p>
            <a:r>
              <a:rPr sz="1000" b="1">
                <a:solidFill>
                  <a:srgbClr val="6B7A85"/>
                </a:solidFill>
                <a:latin typeface="Calibri"/>
              </a:rPr>
              <a:t>שקופית מקור: 9</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E2  ·  Tracking Accuracy in Detail</a:t>
            </a:r>
          </a:p>
          <a:p>
            <a:endParaRPr sz="1200" b="1">
              <a:solidFill>
                <a:srgbClr val="0B4F6C"/>
              </a:solidFill>
              <a:latin typeface="Calibri"/>
            </a:endParaRPr>
          </a:p>
          <a:p>
            <a:r>
              <a:rPr sz="1100" b="0">
                <a:solidFill>
                  <a:srgbClr val="33424D"/>
                </a:solidFill>
                <a:latin typeface="Calibri"/>
              </a:rPr>
              <a:t>'אתם בודקים את הסימולציה מול עצמה?' — התשובה מוכנה בכרטיס. ולהודות מיוזמתנו ש-n=9 הוא מדגם קטן.</a:t>
            </a:r>
          </a:p>
          <a:p>
            <a:endParaRPr sz="1100" b="0">
              <a:solidFill>
                <a:srgbClr val="33424D"/>
              </a:solidFill>
              <a:latin typeface="Calibri"/>
            </a:endParaRPr>
          </a:p>
          <a:p>
            <a:r>
              <a:rPr sz="1000" b="1">
                <a:solidFill>
                  <a:srgbClr val="6B7A85"/>
                </a:solidFill>
                <a:latin typeface="Calibri"/>
              </a:rPr>
              <a:t>שקופית מקור: 9</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E3  ·  Klausner Street — The Real Recording</a:t>
            </a:r>
          </a:p>
          <a:p>
            <a:endParaRPr sz="1200" b="1">
              <a:solidFill>
                <a:srgbClr val="0B4F6C"/>
              </a:solidFill>
              <a:latin typeface="Calibri"/>
            </a:endParaRPr>
          </a:p>
          <a:p>
            <a:r>
              <a:rPr sz="1100" b="0">
                <a:solidFill>
                  <a:srgbClr val="33424D"/>
                </a:solidFill>
                <a:latin typeface="Calibri"/>
              </a:rPr>
              <a:t>שאלת הסיכון הגבוהה ביותר: 'מאיפה ה-ground truth?'. התשובה בכרטיס. להגיד 'along-track' מיוזמתנו — זה נשמע שולט, ולא כמו תירוץ אחרי שנתפסנו.</a:t>
            </a:r>
          </a:p>
          <a:p>
            <a:endParaRPr sz="1100" b="0">
              <a:solidFill>
                <a:srgbClr val="33424D"/>
              </a:solidFill>
              <a:latin typeface="Calibri"/>
            </a:endParaRPr>
          </a:p>
          <a:p>
            <a:r>
              <a:rPr sz="1000" b="1">
                <a:solidFill>
                  <a:srgbClr val="6B7A85"/>
                </a:solidFill>
                <a:latin typeface="Calibri"/>
              </a:rPr>
              <a:t>שקופית מקור: 11</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E4  ·  Klausner — The Synthetic Twin</a:t>
            </a:r>
          </a:p>
          <a:p>
            <a:endParaRPr sz="1200" b="1">
              <a:solidFill>
                <a:srgbClr val="0B4F6C"/>
              </a:solidFill>
              <a:latin typeface="Calibri"/>
            </a:endParaRPr>
          </a:p>
          <a:p>
            <a:r>
              <a:rPr sz="1100" b="0">
                <a:solidFill>
                  <a:srgbClr val="33424D"/>
                </a:solidFill>
                <a:latin typeface="Calibri"/>
              </a:rPr>
              <a:t>הנכס הכי חזק שלא היה במצגת. אם יש הזדמנות אחת להרשים — זו. ולדעת את הפינה הפתוחה: המשקל יוצא 347 ק״ג לאוטובוס של 12 טון, כי קבוע הצימוד k תלוי-אתר ולא כויל. בסימולציה הוא מתבטל.</a:t>
            </a:r>
          </a:p>
          <a:p>
            <a:endParaRPr sz="1100" b="0">
              <a:solidFill>
                <a:srgbClr val="33424D"/>
              </a:solidFill>
              <a:latin typeface="Calibri"/>
            </a:endParaRPr>
          </a:p>
          <a:p>
            <a:r>
              <a:rPr sz="1000" b="1">
                <a:solidFill>
                  <a:srgbClr val="6B7A85"/>
                </a:solidFill>
                <a:latin typeface="Calibri"/>
              </a:rPr>
              <a:t>שקופית מקור: 11</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E5  ·  Targets vs Achieved — Exact Definitions</a:t>
            </a:r>
          </a:p>
          <a:p>
            <a:endParaRPr sz="1200" b="1">
              <a:solidFill>
                <a:srgbClr val="0B4F6C"/>
              </a:solidFill>
              <a:latin typeface="Calibri"/>
            </a:endParaRPr>
          </a:p>
          <a:p>
            <a:r>
              <a:rPr sz="1100" b="0">
                <a:solidFill>
                  <a:srgbClr val="33424D"/>
                </a:solidFill>
                <a:latin typeface="Calibri"/>
              </a:rPr>
              <a:t>שקף 4 משווה אחוזים למטרים. אם נשאלים — כאן ההגדרה המדויקת של כל יעד. וחשוב: להגיד את ה-latency ביוזמתנו.</a:t>
            </a:r>
          </a:p>
          <a:p>
            <a:endParaRPr sz="1100" b="0">
              <a:solidFill>
                <a:srgbClr val="33424D"/>
              </a:solidFill>
              <a:latin typeface="Calibri"/>
            </a:endParaRPr>
          </a:p>
          <a:p>
            <a:r>
              <a:rPr sz="1000" b="1">
                <a:solidFill>
                  <a:srgbClr val="6B7A85"/>
                </a:solidFill>
                <a:latin typeface="Calibri"/>
              </a:rPr>
              <a:t>שקופית מקור: 4</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F1  ·  What the AI Did — and What We Did</a:t>
            </a:r>
          </a:p>
          <a:p>
            <a:endParaRPr sz="1200" b="1">
              <a:solidFill>
                <a:srgbClr val="0B4F6C"/>
              </a:solidFill>
              <a:latin typeface="Calibri"/>
            </a:endParaRPr>
          </a:p>
          <a:p>
            <a:r>
              <a:rPr sz="1100" b="0">
                <a:solidFill>
                  <a:srgbClr val="33424D"/>
                </a:solidFill>
                <a:latin typeface="Calibri"/>
              </a:rPr>
              <a:t>השאלה הכי מסוכנת בפרוייקט תוכנה. לענות בביטחון ובפירוט — לא 'הוא עזר'. הנקודה החזקה: הבאגים המעניינים נמצאו על ידינו, לא על ידי המודל.</a:t>
            </a:r>
          </a:p>
          <a:p>
            <a:endParaRPr sz="1100" b="0">
              <a:solidFill>
                <a:srgbClr val="33424D"/>
              </a:solidFill>
              <a:latin typeface="Calibri"/>
            </a:endParaRPr>
          </a:p>
          <a:p>
            <a:r>
              <a:rPr sz="1000" b="1">
                <a:solidFill>
                  <a:srgbClr val="6B7A85"/>
                </a:solidFill>
                <a:latin typeface="Calibri"/>
              </a:rPr>
              <a:t>שקופית מקור: 12</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F2  ·  Division of Work</a:t>
            </a:r>
          </a:p>
          <a:p>
            <a:endParaRPr sz="1200" b="1">
              <a:solidFill>
                <a:srgbClr val="0B4F6C"/>
              </a:solidFill>
              <a:latin typeface="Calibri"/>
            </a:endParaRPr>
          </a:p>
          <a:p>
            <a:r>
              <a:rPr sz="1100" b="0">
                <a:solidFill>
                  <a:srgbClr val="33424D"/>
                </a:solidFill>
                <a:latin typeface="Calibri"/>
              </a:rPr>
              <a:t>⚠ לוודא שהחלוקה כאן מדויקת ולתקן אם לא. שואלים על עבודת צוות כדי לבדוק שאף אחד לא 'נסע' על השני — לכן חשוב ששניכם תספרו אותה חלוקה.</a:t>
            </a:r>
          </a:p>
          <a:p>
            <a:endParaRPr sz="1100" b="0">
              <a:solidFill>
                <a:srgbClr val="33424D"/>
              </a:solidFill>
              <a:latin typeface="Calibri"/>
            </a:endParaRPr>
          </a:p>
          <a:p>
            <a:r>
              <a:rPr sz="1000" b="1">
                <a:solidFill>
                  <a:srgbClr val="6B7A85"/>
                </a:solidFill>
                <a:latin typeface="Calibri"/>
              </a:rPr>
              <a:t>שקופית מקור: 12</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1">
                <a:solidFill>
                  <a:srgbClr val="0B4F6C"/>
                </a:solidFill>
                <a:latin typeface="Calibri"/>
              </a:rPr>
              <a:t>F3  ·  Alternatives Considered and Rejected</a:t>
            </a:r>
          </a:p>
          <a:p>
            <a:endParaRPr sz="1200" b="1">
              <a:solidFill>
                <a:srgbClr val="0B4F6C"/>
              </a:solidFill>
              <a:latin typeface="Calibri"/>
            </a:endParaRPr>
          </a:p>
          <a:p>
            <a:r>
              <a:rPr sz="1100" b="0">
                <a:solidFill>
                  <a:srgbClr val="33424D"/>
                </a:solidFill>
                <a:latin typeface="Calibri"/>
              </a:rPr>
              <a:t>חשוב: בתיקייה יש model.pkl (IsolationForest) ו-model_supervised.pkl (RandomForest). אם בוחן רואה אותם — התשובה כאן: אלה ניסויים שנפסלו, והמודל המדווח הוא zscore_max.</a:t>
            </a:r>
          </a:p>
          <a:p>
            <a:endParaRPr sz="1100" b="0">
              <a:solidFill>
                <a:srgbClr val="33424D"/>
              </a:solidFill>
              <a:latin typeface="Calibri"/>
            </a:endParaRPr>
          </a:p>
          <a:p>
            <a:r>
              <a:rPr sz="1000" b="1">
                <a:solidFill>
                  <a:srgbClr val="6B7A85"/>
                </a:solidFill>
                <a:latin typeface="Calibri"/>
              </a:rPr>
              <a:t>שקופית מקור: 7</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jp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jp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3" Type="http://schemas.openxmlformats.org/officeDocument/2006/relationships/slide" Target="slide22.xml"/><Relationship Id="rId18" Type="http://schemas.openxmlformats.org/officeDocument/2006/relationships/slide" Target="slide27.xml"/><Relationship Id="rId26" Type="http://schemas.openxmlformats.org/officeDocument/2006/relationships/slide" Target="slide37.xml"/><Relationship Id="rId3" Type="http://schemas.openxmlformats.org/officeDocument/2006/relationships/image" Target="../media/image1.jpg"/><Relationship Id="rId21" Type="http://schemas.openxmlformats.org/officeDocument/2006/relationships/slide" Target="slide32.xml"/><Relationship Id="rId34" Type="http://schemas.openxmlformats.org/officeDocument/2006/relationships/slide" Target="slide29.xml"/><Relationship Id="rId7" Type="http://schemas.openxmlformats.org/officeDocument/2006/relationships/slide" Target="slide16.xml"/><Relationship Id="rId12" Type="http://schemas.openxmlformats.org/officeDocument/2006/relationships/slide" Target="slide21.xml"/><Relationship Id="rId17" Type="http://schemas.openxmlformats.org/officeDocument/2006/relationships/slide" Target="slide26.xml"/><Relationship Id="rId25" Type="http://schemas.openxmlformats.org/officeDocument/2006/relationships/slide" Target="slide36.xml"/><Relationship Id="rId33" Type="http://schemas.openxmlformats.org/officeDocument/2006/relationships/slide" Target="slide44.xml"/><Relationship Id="rId2" Type="http://schemas.openxmlformats.org/officeDocument/2006/relationships/notesSlide" Target="../notesSlides/notesSlide12.xml"/><Relationship Id="rId16" Type="http://schemas.openxmlformats.org/officeDocument/2006/relationships/slide" Target="slide25.xml"/><Relationship Id="rId20" Type="http://schemas.openxmlformats.org/officeDocument/2006/relationships/slide" Target="slide31.xml"/><Relationship Id="rId29" Type="http://schemas.openxmlformats.org/officeDocument/2006/relationships/slide" Target="slide40.xml"/><Relationship Id="rId1" Type="http://schemas.openxmlformats.org/officeDocument/2006/relationships/slideLayout" Target="../slideLayouts/slideLayout7.xml"/><Relationship Id="rId6" Type="http://schemas.openxmlformats.org/officeDocument/2006/relationships/slide" Target="slide15.xml"/><Relationship Id="rId11" Type="http://schemas.openxmlformats.org/officeDocument/2006/relationships/slide" Target="slide20.xml"/><Relationship Id="rId24" Type="http://schemas.openxmlformats.org/officeDocument/2006/relationships/slide" Target="slide35.xml"/><Relationship Id="rId32" Type="http://schemas.openxmlformats.org/officeDocument/2006/relationships/slide" Target="slide43.xml"/><Relationship Id="rId5" Type="http://schemas.openxmlformats.org/officeDocument/2006/relationships/slide" Target="slide14.xml"/><Relationship Id="rId15" Type="http://schemas.openxmlformats.org/officeDocument/2006/relationships/slide" Target="slide24.xml"/><Relationship Id="rId23" Type="http://schemas.openxmlformats.org/officeDocument/2006/relationships/slide" Target="slide34.xml"/><Relationship Id="rId28" Type="http://schemas.openxmlformats.org/officeDocument/2006/relationships/slide" Target="slide39.xml"/><Relationship Id="rId10" Type="http://schemas.openxmlformats.org/officeDocument/2006/relationships/slide" Target="slide19.xml"/><Relationship Id="rId19" Type="http://schemas.openxmlformats.org/officeDocument/2006/relationships/slide" Target="slide28.xml"/><Relationship Id="rId31" Type="http://schemas.openxmlformats.org/officeDocument/2006/relationships/slide" Target="slide42.xml"/><Relationship Id="rId4" Type="http://schemas.openxmlformats.org/officeDocument/2006/relationships/image" Target="../media/image2.png"/><Relationship Id="rId9" Type="http://schemas.openxmlformats.org/officeDocument/2006/relationships/slide" Target="slide18.xml"/><Relationship Id="rId14" Type="http://schemas.openxmlformats.org/officeDocument/2006/relationships/slide" Target="slide23.xml"/><Relationship Id="rId22" Type="http://schemas.openxmlformats.org/officeDocument/2006/relationships/slide" Target="slide33.xml"/><Relationship Id="rId27" Type="http://schemas.openxmlformats.org/officeDocument/2006/relationships/slide" Target="slide38.xml"/><Relationship Id="rId30" Type="http://schemas.openxmlformats.org/officeDocument/2006/relationships/slide" Target="slide41.xml"/><Relationship Id="rId35" Type="http://schemas.openxmlformats.org/officeDocument/2006/relationships/slide" Target="slide30.xml"/><Relationship Id="rId8" Type="http://schemas.openxmlformats.org/officeDocument/2006/relationships/slide" Target="slide1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3.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2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3.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29.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6.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3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3.xm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3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2.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32.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5.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3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5.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3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5.xm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35.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12.xm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36.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8" Type="http://schemas.openxmlformats.org/officeDocument/2006/relationships/hyperlink" Target="https://github.com/noasapir3/simstudio-das-fusion/blob/main/tests/test_tracking.py#L100-L142" TargetMode="External"/><Relationship Id="rId3" Type="http://schemas.openxmlformats.org/officeDocument/2006/relationships/image" Target="../media/image1.jpg"/><Relationship Id="rId7" Type="http://schemas.openxmlformats.org/officeDocument/2006/relationships/slide" Target="slide5.xm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37.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6.xm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38.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8" Type="http://schemas.openxmlformats.org/officeDocument/2006/relationships/hyperlink" Target="https://github.com/noasapir3/simstudio-das-fusion/blob/main/src/simstudio/sim_core.py#L1863-L1871" TargetMode="External"/><Relationship Id="rId3" Type="http://schemas.openxmlformats.org/officeDocument/2006/relationships/image" Target="../media/image1.jpg"/><Relationship Id="rId7" Type="http://schemas.openxmlformats.org/officeDocument/2006/relationships/slide" Target="slide6.xm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39.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6.xm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40.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1.jpg"/><Relationship Id="rId7" Type="http://schemas.openxmlformats.org/officeDocument/2006/relationships/slide" Target="slide13.xml"/><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png"/><Relationship Id="rId9" Type="http://schemas.openxmlformats.org/officeDocument/2006/relationships/hyperlink" Target="https://github.com/noasapir3/simstudio-das-fusion/blob/main/src/simstudio/sim_core.py#L1733-L1744" TargetMode="External"/></Relationships>
</file>

<file path=ppt/slides/_rels/slide28.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1.jpg"/><Relationship Id="rId7" Type="http://schemas.openxmlformats.org/officeDocument/2006/relationships/slide" Target="slide13.xm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2.png"/><Relationship Id="rId9" Type="http://schemas.openxmlformats.org/officeDocument/2006/relationships/hyperlink" Target="https://github.com/noasapir3/simstudio-das-fusion/blob/main/src/simstudio/kalman.py#L159-L173"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9.xm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45.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13.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7.xml"/><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46.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8" Type="http://schemas.openxmlformats.org/officeDocument/2006/relationships/hyperlink" Target="https://github.com/noasapir3/simstudio-das-fusion/blob/main/anomaly_model/scripts/scenario_scorer.py#L61-L89" TargetMode="External"/><Relationship Id="rId3" Type="http://schemas.openxmlformats.org/officeDocument/2006/relationships/image" Target="../media/image1.jpg"/><Relationship Id="rId7" Type="http://schemas.openxmlformats.org/officeDocument/2006/relationships/slide" Target="slide7.xml"/><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47.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10.xml"/><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48.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10.xm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49.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10.xml"/><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50.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hyperlink" Target="https://github.com/noasapir3/simstudio-das-fusion/blob/main/anomaly_model/scripts/feature_extractor.py#L554-L573" TargetMode="External"/><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slide" Target="slide11.xml"/><Relationship Id="rId5" Type="http://schemas.openxmlformats.org/officeDocument/2006/relationships/slide" Target="slide13.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9.xml"/><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51.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9.xml"/><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52.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11.xml"/><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53.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11.xml"/><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54.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4.xml"/><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55.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12.xml"/><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56.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12.xml"/><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57.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7.xml"/><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image" Target="../media/image58.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eg"/>
          <p:cNvPicPr>
            <a:picLocks noChangeAspect="1"/>
          </p:cNvPicPr>
          <p:nvPr/>
        </p:nvPicPr>
        <p:blipFill>
          <a:blip r:embed="rId2"/>
          <a:stretch>
            <a:fillRect/>
          </a:stretch>
        </p:blipFill>
        <p:spPr>
          <a:xfrm>
            <a:off x="292608" y="274320"/>
            <a:ext cx="2490940" cy="566928"/>
          </a:xfrm>
          <a:prstGeom prst="rect">
            <a:avLst/>
          </a:prstGeom>
        </p:spPr>
      </p:pic>
      <p:pic>
        <p:nvPicPr>
          <p:cNvPr id="3" name="Picture 2" descr="fiber_logo.png"/>
          <p:cNvPicPr>
            <a:picLocks noChangeAspect="1"/>
          </p:cNvPicPr>
          <p:nvPr/>
        </p:nvPicPr>
        <p:blipFill>
          <a:blip r:embed="rId3"/>
          <a:stretch>
            <a:fillRect/>
          </a:stretch>
        </p:blipFill>
        <p:spPr>
          <a:xfrm>
            <a:off x="11292840" y="219456"/>
            <a:ext cx="635887" cy="658368"/>
          </a:xfrm>
          <a:prstGeom prst="rect">
            <a:avLst/>
          </a:prstGeom>
        </p:spPr>
      </p:pic>
      <p:sp>
        <p:nvSpPr>
          <p:cNvPr id="4" name="TextBox 3"/>
          <p:cNvSpPr txBox="1"/>
          <p:nvPr/>
        </p:nvSpPr>
        <p:spPr>
          <a:xfrm>
            <a:off x="822960" y="1965960"/>
            <a:ext cx="10515600" cy="200055"/>
          </a:xfrm>
          <a:prstGeom prst="rect">
            <a:avLst/>
          </a:prstGeom>
          <a:noFill/>
        </p:spPr>
        <p:txBody>
          <a:bodyPr wrap="square" lIns="0" tIns="0" rIns="0" bIns="0" anchor="t">
            <a:spAutoFit/>
          </a:bodyPr>
          <a:lstStyle/>
          <a:p>
            <a:pPr algn="ctr">
              <a:lnSpc>
                <a:spcPct val="100000"/>
              </a:lnSpc>
              <a:spcBef>
                <a:spcPts val="0"/>
              </a:spcBef>
              <a:spcAft>
                <a:spcPts val="400"/>
              </a:spcAft>
            </a:pPr>
            <a:r>
              <a:rPr sz="1300" b="1" i="0" dirty="0">
                <a:solidFill>
                  <a:srgbClr val="E08A1E"/>
                </a:solidFill>
                <a:latin typeface="Cambria"/>
              </a:rPr>
              <a:t>FINAL PROJECT · No. 3221</a:t>
            </a:r>
          </a:p>
        </p:txBody>
      </p:sp>
      <p:sp>
        <p:nvSpPr>
          <p:cNvPr id="5" name="TextBox 4"/>
          <p:cNvSpPr txBox="1"/>
          <p:nvPr/>
        </p:nvSpPr>
        <p:spPr>
          <a:xfrm>
            <a:off x="640080" y="2395728"/>
            <a:ext cx="10881360" cy="1097280"/>
          </a:xfrm>
          <a:prstGeom prst="rect">
            <a:avLst/>
          </a:prstGeom>
          <a:noFill/>
        </p:spPr>
        <p:txBody>
          <a:bodyPr wrap="square" lIns="0" tIns="0" rIns="0" bIns="0" anchor="t">
            <a:spAutoFit/>
          </a:bodyPr>
          <a:lstStyle/>
          <a:p>
            <a:pPr algn="ctr">
              <a:lnSpc>
                <a:spcPct val="100000"/>
              </a:lnSpc>
              <a:spcBef>
                <a:spcPts val="0"/>
              </a:spcBef>
              <a:spcAft>
                <a:spcPts val="400"/>
              </a:spcAft>
            </a:pPr>
            <a:r>
              <a:rPr sz="4000" b="1" i="0" dirty="0">
                <a:solidFill>
                  <a:srgbClr val="0B2A45"/>
                </a:solidFill>
                <a:latin typeface="Cambria"/>
              </a:rPr>
              <a:t>Optical Fibers for Smart Cities</a:t>
            </a:r>
          </a:p>
        </p:txBody>
      </p:sp>
      <p:sp>
        <p:nvSpPr>
          <p:cNvPr id="6" name="TextBox 5"/>
          <p:cNvSpPr txBox="1"/>
          <p:nvPr/>
        </p:nvSpPr>
        <p:spPr>
          <a:xfrm>
            <a:off x="1097280" y="3456432"/>
            <a:ext cx="9966960" cy="261610"/>
          </a:xfrm>
          <a:prstGeom prst="rect">
            <a:avLst/>
          </a:prstGeom>
          <a:noFill/>
        </p:spPr>
        <p:txBody>
          <a:bodyPr wrap="square" lIns="0" tIns="0" rIns="0" bIns="0" anchor="t">
            <a:spAutoFit/>
          </a:bodyPr>
          <a:lstStyle/>
          <a:p>
            <a:pPr algn="ctr">
              <a:lnSpc>
                <a:spcPct val="100000"/>
              </a:lnSpc>
              <a:spcBef>
                <a:spcPts val="0"/>
              </a:spcBef>
              <a:spcAft>
                <a:spcPts val="400"/>
              </a:spcAft>
            </a:pPr>
            <a:r>
              <a:rPr sz="1700" b="0" i="1" dirty="0">
                <a:solidFill>
                  <a:srgbClr val="1C7293"/>
                </a:solidFill>
                <a:latin typeface="Calibri"/>
              </a:rPr>
              <a:t>Fiber</a:t>
            </a:r>
            <a:r>
              <a:rPr lang="en-US" sz="1700" b="0" i="1" dirty="0">
                <a:solidFill>
                  <a:srgbClr val="1C7293"/>
                </a:solidFill>
                <a:latin typeface="Calibri"/>
              </a:rPr>
              <a:t> </a:t>
            </a:r>
            <a:r>
              <a:rPr sz="1700" b="0" i="1" dirty="0">
                <a:solidFill>
                  <a:srgbClr val="1C7293"/>
                </a:solidFill>
                <a:latin typeface="Calibri"/>
              </a:rPr>
              <a:t>Optic (DAS) Sensing for Real</a:t>
            </a:r>
            <a:r>
              <a:rPr lang="en-US" sz="1700" b="0" i="1" dirty="0">
                <a:solidFill>
                  <a:srgbClr val="1C7293"/>
                </a:solidFill>
                <a:latin typeface="Calibri"/>
              </a:rPr>
              <a:t> </a:t>
            </a:r>
            <a:r>
              <a:rPr sz="1700" b="0" i="1" dirty="0">
                <a:solidFill>
                  <a:srgbClr val="1C7293"/>
                </a:solidFill>
                <a:latin typeface="Calibri"/>
              </a:rPr>
              <a:t>Time Vehicle Tracking and Road</a:t>
            </a:r>
            <a:r>
              <a:rPr lang="en-US" sz="1700" b="0" i="1" dirty="0">
                <a:solidFill>
                  <a:srgbClr val="1C7293"/>
                </a:solidFill>
                <a:latin typeface="Calibri"/>
              </a:rPr>
              <a:t> </a:t>
            </a:r>
            <a:r>
              <a:rPr sz="1700" b="0" i="1" dirty="0">
                <a:solidFill>
                  <a:srgbClr val="1C7293"/>
                </a:solidFill>
                <a:latin typeface="Calibri"/>
              </a:rPr>
              <a:t>Anomaly Detection</a:t>
            </a:r>
          </a:p>
        </p:txBody>
      </p:sp>
      <p:cxnSp>
        <p:nvCxnSpPr>
          <p:cNvPr id="7" name="Connector 6"/>
          <p:cNvCxnSpPr/>
          <p:nvPr/>
        </p:nvCxnSpPr>
        <p:spPr>
          <a:xfrm>
            <a:off x="4480560" y="4370832"/>
            <a:ext cx="3227832" cy="0"/>
          </a:xfrm>
          <a:prstGeom prst="bentConnector3">
            <a:avLst/>
          </a:prstGeom>
          <a:ln w="15240">
            <a:solidFill>
              <a:srgbClr val="D5DDE3"/>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572000"/>
            <a:ext cx="10332720" cy="822960"/>
          </a:xfrm>
          <a:prstGeom prst="rect">
            <a:avLst/>
          </a:prstGeom>
          <a:noFill/>
        </p:spPr>
        <p:txBody>
          <a:bodyPr wrap="square" lIns="0" tIns="0" rIns="0" bIns="0" anchor="t">
            <a:spAutoFit/>
          </a:bodyPr>
          <a:lstStyle/>
          <a:p>
            <a:pPr algn="ctr">
              <a:lnSpc>
                <a:spcPct val="100000"/>
              </a:lnSpc>
              <a:spcBef>
                <a:spcPts val="0"/>
              </a:spcBef>
              <a:spcAft>
                <a:spcPts val="500"/>
              </a:spcAft>
            </a:pPr>
            <a:r>
              <a:rPr sz="1500" b="1" i="0" dirty="0">
                <a:solidFill>
                  <a:srgbClr val="33373B"/>
                </a:solidFill>
                <a:latin typeface="Calibri"/>
              </a:rPr>
              <a:t>Students:  </a:t>
            </a:r>
            <a:r>
              <a:rPr sz="1500" b="0" i="0" dirty="0">
                <a:solidFill>
                  <a:srgbClr val="33373B"/>
                </a:solidFill>
                <a:latin typeface="Calibri"/>
              </a:rPr>
              <a:t>Noa Sapir  ·  Nitai Dobrecki</a:t>
            </a:r>
          </a:p>
          <a:p>
            <a:pPr algn="ctr">
              <a:lnSpc>
                <a:spcPct val="100000"/>
              </a:lnSpc>
              <a:spcBef>
                <a:spcPts val="0"/>
              </a:spcBef>
              <a:spcAft>
                <a:spcPts val="500"/>
              </a:spcAft>
            </a:pPr>
            <a:r>
              <a:rPr sz="1500" b="1" i="0" dirty="0">
                <a:solidFill>
                  <a:srgbClr val="33373B"/>
                </a:solidFill>
                <a:latin typeface="Calibri"/>
              </a:rPr>
              <a:t>Supervisor:  </a:t>
            </a:r>
            <a:r>
              <a:rPr sz="1500" b="0" i="0" dirty="0">
                <a:solidFill>
                  <a:srgbClr val="33373B"/>
                </a:solidFill>
                <a:latin typeface="Calibri"/>
              </a:rPr>
              <a:t>Khen Cohen</a:t>
            </a:r>
          </a:p>
        </p:txBody>
      </p:sp>
      <p:sp>
        <p:nvSpPr>
          <p:cNvPr id="9" name="TextBox 8"/>
          <p:cNvSpPr txBox="1"/>
          <p:nvPr/>
        </p:nvSpPr>
        <p:spPr>
          <a:xfrm>
            <a:off x="914400" y="5468112"/>
            <a:ext cx="10332720" cy="548640"/>
          </a:xfrm>
          <a:prstGeom prst="rect">
            <a:avLst/>
          </a:prstGeom>
          <a:noFill/>
        </p:spPr>
        <p:txBody>
          <a:bodyPr wrap="square" lIns="0" tIns="0" rIns="0" bIns="0" anchor="t">
            <a:spAutoFit/>
          </a:bodyPr>
          <a:lstStyle/>
          <a:p>
            <a:pPr algn="ctr">
              <a:lnSpc>
                <a:spcPct val="100000"/>
              </a:lnSpc>
              <a:spcBef>
                <a:spcPts val="0"/>
              </a:spcBef>
              <a:spcAft>
                <a:spcPts val="400"/>
              </a:spcAft>
            </a:pPr>
            <a:r>
              <a:rPr sz="1300" b="0" i="0" dirty="0">
                <a:solidFill>
                  <a:srgbClr val="6B7277"/>
                </a:solidFill>
                <a:latin typeface="Calibri"/>
              </a:rPr>
              <a:t>School of Electrical Engineering, Tel Aviv University  ·  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52600" y="370156"/>
            <a:ext cx="8686800" cy="566928"/>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Project Topic</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dirty="0">
                <a:solidFill>
                  <a:srgbClr val="6B7A85"/>
                </a:solidFill>
                <a:latin typeface="Calibri"/>
              </a:rPr>
              <a:t>Optical Fibers for Smart Cities · </a:t>
            </a:r>
            <a:r>
              <a:rPr sz="900" b="0" i="1" dirty="0" err="1">
                <a:solidFill>
                  <a:srgbClr val="6B7A85"/>
                </a:solidFill>
                <a:latin typeface="Calibri"/>
              </a:rPr>
              <a:t>SimStudio</a:t>
            </a:r>
            <a:endParaRPr sz="900" b="0" i="1">
              <a:solidFill>
                <a:srgbClr val="6B7A85"/>
              </a:solidFill>
              <a:latin typeface="Calibri"/>
            </a:endParaRP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2</a:t>
            </a:r>
          </a:p>
        </p:txBody>
      </p:sp>
      <p:sp>
        <p:nvSpPr>
          <p:cNvPr id="7" name="TextBox 6"/>
          <p:cNvSpPr txBox="1"/>
          <p:nvPr/>
        </p:nvSpPr>
        <p:spPr>
          <a:xfrm>
            <a:off x="594360" y="1234440"/>
            <a:ext cx="5532120" cy="4686476"/>
          </a:xfrm>
          <a:prstGeom prst="rect">
            <a:avLst/>
          </a:prstGeom>
          <a:noFill/>
        </p:spPr>
        <p:txBody>
          <a:bodyPr wrap="square" lIns="0" tIns="0" rIns="0" bIns="0" anchor="t">
            <a:spAutoFit/>
          </a:bodyPr>
          <a:lstStyle/>
          <a:p>
            <a:pPr marL="171450" indent="-171450">
              <a:lnSpc>
                <a:spcPct val="106000"/>
              </a:lnSpc>
              <a:spcAft>
                <a:spcPts val="900"/>
              </a:spcAft>
              <a:buFont typeface="Courier New" panose="02070309020205020404" pitchFamily="49" charset="0"/>
              <a:buChar char="o"/>
            </a:pPr>
            <a:r>
              <a:rPr lang="en-US" sz="1450">
                <a:solidFill>
                  <a:srgbClr val="33373B"/>
                </a:solidFill>
              </a:rPr>
              <a:t>Modern cities are laced with thousands of kilometers of telecommunication optical fiber, already deployed beneath most streets.</a:t>
            </a:r>
          </a:p>
          <a:p>
            <a:pPr marL="171450" indent="-171450">
              <a:lnSpc>
                <a:spcPct val="106000"/>
              </a:lnSpc>
              <a:spcAft>
                <a:spcPts val="900"/>
              </a:spcAft>
              <a:buFont typeface="Courier New" panose="02070309020205020404" pitchFamily="49" charset="0"/>
              <a:buChar char="o"/>
            </a:pPr>
            <a:r>
              <a:rPr lang="en-US" sz="1450">
                <a:solidFill>
                  <a:srgbClr val="33373B"/>
                </a:solidFill>
              </a:rPr>
              <a:t>Distributed Acoustic Sensing (DAS) transforms a standard fiber into a dense array of vibration sensors. each meter of fiber becomes an independent channel.</a:t>
            </a:r>
          </a:p>
          <a:p>
            <a:pPr marL="171450" indent="-171450">
              <a:lnSpc>
                <a:spcPct val="106000"/>
              </a:lnSpc>
              <a:spcAft>
                <a:spcPts val="900"/>
              </a:spcAft>
              <a:buFont typeface="Courier New" panose="02070309020205020404" pitchFamily="49" charset="0"/>
              <a:buChar char="o"/>
            </a:pPr>
            <a:r>
              <a:rPr lang="en-US" sz="1450">
                <a:solidFill>
                  <a:srgbClr val="33373B"/>
                </a:solidFill>
              </a:rPr>
              <a:t>A passing vehicle vibrates the ground and shifts the optical phase of the back-scattered light, giving a strain-rate signal whose amplitude encodes weight and slope encodes speed.</a:t>
            </a:r>
          </a:p>
          <a:p>
            <a:pPr marL="171450" indent="-171450">
              <a:lnSpc>
                <a:spcPct val="106000"/>
              </a:lnSpc>
              <a:spcAft>
                <a:spcPts val="900"/>
              </a:spcAft>
              <a:buFont typeface="Courier New" panose="02070309020205020404" pitchFamily="49" charset="0"/>
              <a:buChar char="o"/>
            </a:pPr>
            <a:r>
              <a:rPr lang="en-US" sz="1450" b="1" err="1">
                <a:solidFill>
                  <a:srgbClr val="33373B"/>
                </a:solidFill>
              </a:rPr>
              <a:t>SimStudio</a:t>
            </a:r>
            <a:r>
              <a:rPr lang="en-US" sz="1450" b="1">
                <a:solidFill>
                  <a:srgbClr val="33373B"/>
                </a:solidFill>
              </a:rPr>
              <a:t> is a complete desktop simulation, sensor-fusion and anomaly detection environment.</a:t>
            </a:r>
          </a:p>
          <a:p>
            <a:pPr lvl="1">
              <a:lnSpc>
                <a:spcPct val="106000"/>
              </a:lnSpc>
              <a:spcAft>
                <a:spcPts val="900"/>
              </a:spcAft>
            </a:pPr>
            <a:r>
              <a:rPr lang="en-US" sz="1250">
                <a:solidFill>
                  <a:srgbClr val="6B7277"/>
                </a:solidFill>
              </a:rPr>
              <a:t>– </a:t>
            </a:r>
            <a:r>
              <a:rPr lang="he-IL" sz="1250">
                <a:solidFill>
                  <a:srgbClr val="6B7277"/>
                </a:solidFill>
              </a:rPr>
              <a:t> </a:t>
            </a:r>
            <a:r>
              <a:rPr lang="en-US" sz="1450">
                <a:solidFill>
                  <a:srgbClr val="33373B"/>
                </a:solidFill>
              </a:rPr>
              <a:t>Imports real OpenStreetMap networks, drives physically grounded vehicles, and synthesizes three modalities: DAS, camera, GPS.</a:t>
            </a:r>
          </a:p>
          <a:p>
            <a:pPr lvl="1">
              <a:lnSpc>
                <a:spcPct val="106000"/>
              </a:lnSpc>
              <a:spcAft>
                <a:spcPts val="900"/>
              </a:spcAft>
            </a:pPr>
            <a:r>
              <a:rPr lang="en-US" sz="1250">
                <a:solidFill>
                  <a:srgbClr val="6B7277"/>
                </a:solidFill>
              </a:rPr>
              <a:t>–  </a:t>
            </a:r>
            <a:r>
              <a:rPr lang="en-US" sz="1450">
                <a:solidFill>
                  <a:srgbClr val="33373B"/>
                </a:solidFill>
              </a:rPr>
              <a:t>Fuses them into stable vehicle tracks and detects anomalies from a read-only analytics layer.</a:t>
            </a:r>
          </a:p>
          <a:p>
            <a:pPr>
              <a:lnSpc>
                <a:spcPct val="105000"/>
              </a:lnSpc>
              <a:spcAft>
                <a:spcPts val="1300"/>
              </a:spcAft>
            </a:pPr>
            <a:endParaRPr sz="1350" b="0">
              <a:solidFill>
                <a:srgbClr val="33424D"/>
              </a:solidFill>
              <a:latin typeface="Calibri"/>
            </a:endParaRPr>
          </a:p>
        </p:txBody>
      </p:sp>
      <p:sp>
        <p:nvSpPr>
          <p:cNvPr id="8" name="Rounded Rectangle 7"/>
          <p:cNvSpPr/>
          <p:nvPr/>
        </p:nvSpPr>
        <p:spPr>
          <a:xfrm>
            <a:off x="6446520" y="1170432"/>
            <a:ext cx="5074920" cy="4617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9" name="Picture 8" descr="image3.png"/>
          <p:cNvPicPr>
            <a:picLocks noChangeAspect="1"/>
          </p:cNvPicPr>
          <p:nvPr/>
        </p:nvPicPr>
        <p:blipFill>
          <a:blip r:embed="rId5"/>
          <a:stretch>
            <a:fillRect/>
          </a:stretch>
        </p:blipFill>
        <p:spPr>
          <a:xfrm>
            <a:off x="6629400" y="1600200"/>
            <a:ext cx="4709160" cy="3164017"/>
          </a:xfrm>
          <a:prstGeom prst="rect">
            <a:avLst/>
          </a:prstGeom>
        </p:spPr>
      </p:pic>
      <p:sp>
        <p:nvSpPr>
          <p:cNvPr id="10" name="TextBox 9"/>
          <p:cNvSpPr txBox="1"/>
          <p:nvPr/>
        </p:nvSpPr>
        <p:spPr>
          <a:xfrm>
            <a:off x="6629400" y="5257800"/>
            <a:ext cx="4709160" cy="457200"/>
          </a:xfrm>
          <a:prstGeom prst="rect">
            <a:avLst/>
          </a:prstGeom>
          <a:noFill/>
        </p:spPr>
        <p:txBody>
          <a:bodyPr wrap="square" lIns="0" tIns="0" rIns="0" bIns="0" anchor="t">
            <a:spAutoFit/>
          </a:bodyPr>
          <a:lstStyle/>
          <a:p>
            <a:pPr algn="ctr">
              <a:lnSpc>
                <a:spcPct val="110000"/>
              </a:lnSpc>
              <a:spcAft>
                <a:spcPts val="0"/>
              </a:spcAft>
            </a:pPr>
            <a:r>
              <a:rPr sz="1050" b="0" i="0">
                <a:solidFill>
                  <a:srgbClr val="6B7A85"/>
                </a:solidFill>
                <a:latin typeface="Calibri"/>
              </a:rPr>
              <a:t>Real North Tel-Aviv road network — 144 simulation regions seed the normal-driving baseline.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400" b="1" i="0">
                <a:solidFill>
                  <a:srgbClr val="0B4F6C"/>
                </a:solidFill>
                <a:latin typeface="Cambria"/>
              </a:rPr>
              <a:t>How One Fiber Becomes Thousands of Sensors</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3</a:t>
            </a:r>
          </a:p>
        </p:txBody>
      </p:sp>
      <p:pic>
        <p:nvPicPr>
          <p:cNvPr id="7" name="Picture 6" descr="das_combined.png"/>
          <p:cNvPicPr>
            <a:picLocks noChangeAspect="1"/>
          </p:cNvPicPr>
          <p:nvPr/>
        </p:nvPicPr>
        <p:blipFill>
          <a:blip r:embed="rId5"/>
          <a:stretch>
            <a:fillRect/>
          </a:stretch>
        </p:blipFill>
        <p:spPr>
          <a:xfrm>
            <a:off x="256032" y="950976"/>
            <a:ext cx="8275320" cy="4846320"/>
          </a:xfrm>
          <a:prstGeom prst="rect">
            <a:avLst/>
          </a:prstGeom>
        </p:spPr>
      </p:pic>
      <p:sp>
        <p:nvSpPr>
          <p:cNvPr id="8" name="TextBox 7"/>
          <p:cNvSpPr txBox="1"/>
          <p:nvPr/>
        </p:nvSpPr>
        <p:spPr>
          <a:xfrm>
            <a:off x="3758969" y="1152007"/>
            <a:ext cx="1110721" cy="237744"/>
          </a:xfrm>
          <a:prstGeom prst="rect">
            <a:avLst/>
          </a:prstGeom>
          <a:noFill/>
        </p:spPr>
        <p:txBody>
          <a:bodyPr wrap="none" lIns="0" tIns="0" rIns="0" bIns="0" anchor="ctr">
            <a:spAutoFit/>
          </a:bodyPr>
          <a:lstStyle/>
          <a:p>
            <a:pPr algn="ctr"/>
            <a:r>
              <a:rPr sz="1050" b="1" i="0">
                <a:solidFill>
                  <a:srgbClr val="0B4F6C"/>
                </a:solidFill>
                <a:latin typeface="Calibri"/>
              </a:rPr>
              <a:t>light vehicle</a:t>
            </a:r>
          </a:p>
        </p:txBody>
      </p:sp>
      <p:sp>
        <p:nvSpPr>
          <p:cNvPr id="9" name="TextBox 8"/>
          <p:cNvSpPr txBox="1"/>
          <p:nvPr/>
        </p:nvSpPr>
        <p:spPr>
          <a:xfrm>
            <a:off x="4430964" y="1782495"/>
            <a:ext cx="822960" cy="237744"/>
          </a:xfrm>
          <a:prstGeom prst="rect">
            <a:avLst/>
          </a:prstGeom>
          <a:noFill/>
        </p:spPr>
        <p:txBody>
          <a:bodyPr wrap="none" lIns="0" tIns="0" rIns="0" bIns="0" anchor="ctr">
            <a:spAutoFit/>
          </a:bodyPr>
          <a:lstStyle/>
          <a:p>
            <a:pPr algn="l"/>
            <a:r>
              <a:rPr sz="1050" b="1" i="1">
                <a:solidFill>
                  <a:srgbClr val="0B4F6C"/>
                </a:solidFill>
                <a:latin typeface="Calibri"/>
              </a:rPr>
              <a:t>F</a:t>
            </a:r>
          </a:p>
        </p:txBody>
      </p:sp>
      <p:sp>
        <p:nvSpPr>
          <p:cNvPr id="10" name="TextBox 9"/>
          <p:cNvSpPr txBox="1"/>
          <p:nvPr/>
        </p:nvSpPr>
        <p:spPr>
          <a:xfrm>
            <a:off x="5968886" y="1152007"/>
            <a:ext cx="1110721" cy="237744"/>
          </a:xfrm>
          <a:prstGeom prst="rect">
            <a:avLst/>
          </a:prstGeom>
          <a:noFill/>
        </p:spPr>
        <p:txBody>
          <a:bodyPr wrap="none" lIns="0" tIns="0" rIns="0" bIns="0" anchor="ctr">
            <a:spAutoFit/>
          </a:bodyPr>
          <a:lstStyle/>
          <a:p>
            <a:pPr algn="ctr"/>
            <a:r>
              <a:rPr sz="1050" b="1" i="0">
                <a:solidFill>
                  <a:srgbClr val="C97B2C"/>
                </a:solidFill>
                <a:latin typeface="Calibri"/>
              </a:rPr>
              <a:t>heavy vehicle</a:t>
            </a:r>
          </a:p>
        </p:txBody>
      </p:sp>
      <p:sp>
        <p:nvSpPr>
          <p:cNvPr id="11" name="TextBox 10"/>
          <p:cNvSpPr txBox="1"/>
          <p:nvPr/>
        </p:nvSpPr>
        <p:spPr>
          <a:xfrm>
            <a:off x="6640882" y="1782495"/>
            <a:ext cx="822960" cy="237744"/>
          </a:xfrm>
          <a:prstGeom prst="rect">
            <a:avLst/>
          </a:prstGeom>
          <a:noFill/>
        </p:spPr>
        <p:txBody>
          <a:bodyPr wrap="none" lIns="0" tIns="0" rIns="0" bIns="0" anchor="ctr">
            <a:spAutoFit/>
          </a:bodyPr>
          <a:lstStyle/>
          <a:p>
            <a:pPr algn="l"/>
            <a:r>
              <a:rPr sz="1050" b="1" i="1">
                <a:solidFill>
                  <a:srgbClr val="C97B2C"/>
                </a:solidFill>
                <a:latin typeface="Calibri"/>
              </a:rPr>
              <a:t>F</a:t>
            </a:r>
          </a:p>
        </p:txBody>
      </p:sp>
      <p:sp>
        <p:nvSpPr>
          <p:cNvPr id="12" name="TextBox 11"/>
          <p:cNvSpPr txBox="1"/>
          <p:nvPr/>
        </p:nvSpPr>
        <p:spPr>
          <a:xfrm>
            <a:off x="4193219" y="2266789"/>
            <a:ext cx="2360422" cy="146194"/>
          </a:xfrm>
          <a:prstGeom prst="rect">
            <a:avLst/>
          </a:prstGeom>
          <a:noFill/>
        </p:spPr>
        <p:txBody>
          <a:bodyPr wrap="square" lIns="0" tIns="0" rIns="0" bIns="0" anchor="ctr">
            <a:spAutoFit/>
          </a:bodyPr>
          <a:lstStyle/>
          <a:p>
            <a:pPr algn="r"/>
            <a:r>
              <a:rPr sz="950" b="0" i="1">
                <a:solidFill>
                  <a:srgbClr val="1C7293"/>
                </a:solidFill>
                <a:latin typeface="Calibri"/>
              </a:rPr>
              <a:t>buried telecom fiber every meter is one channel</a:t>
            </a:r>
          </a:p>
        </p:txBody>
      </p:sp>
      <p:sp>
        <p:nvSpPr>
          <p:cNvPr id="13" name="TextBox 12"/>
          <p:cNvSpPr txBox="1"/>
          <p:nvPr/>
        </p:nvSpPr>
        <p:spPr>
          <a:xfrm>
            <a:off x="1015248" y="1928583"/>
            <a:ext cx="864656" cy="237744"/>
          </a:xfrm>
          <a:prstGeom prst="rect">
            <a:avLst/>
          </a:prstGeom>
          <a:noFill/>
        </p:spPr>
        <p:txBody>
          <a:bodyPr wrap="none" lIns="0" tIns="0" rIns="0" bIns="0" anchor="ctr">
            <a:spAutoFit/>
          </a:bodyPr>
          <a:lstStyle/>
          <a:p>
            <a:pPr algn="ctr"/>
            <a:r>
              <a:rPr sz="850" b="1" i="0">
                <a:solidFill>
                  <a:srgbClr val="FFFFFF"/>
                </a:solidFill>
                <a:latin typeface="Calibri"/>
              </a:rPr>
              <a:t>INTERROGATOR</a:t>
            </a:r>
          </a:p>
        </p:txBody>
      </p:sp>
      <p:sp>
        <p:nvSpPr>
          <p:cNvPr id="14" name="TextBox 13"/>
          <p:cNvSpPr txBox="1"/>
          <p:nvPr/>
        </p:nvSpPr>
        <p:spPr>
          <a:xfrm>
            <a:off x="1036096" y="2097739"/>
            <a:ext cx="822960" cy="237744"/>
          </a:xfrm>
          <a:prstGeom prst="rect">
            <a:avLst/>
          </a:prstGeom>
          <a:noFill/>
        </p:spPr>
        <p:txBody>
          <a:bodyPr wrap="none" lIns="0" tIns="0" rIns="0" bIns="0" anchor="ctr">
            <a:spAutoFit/>
          </a:bodyPr>
          <a:lstStyle/>
          <a:p>
            <a:pPr algn="ctr"/>
            <a:r>
              <a:rPr sz="1300" b="1" i="0">
                <a:solidFill>
                  <a:srgbClr val="FFFFFF"/>
                </a:solidFill>
                <a:latin typeface="Calibri"/>
              </a:rPr>
              <a:t>φ-OTDR</a:t>
            </a:r>
          </a:p>
        </p:txBody>
      </p:sp>
      <p:sp>
        <p:nvSpPr>
          <p:cNvPr id="15" name="TextBox 14"/>
          <p:cNvSpPr txBox="1"/>
          <p:nvPr/>
        </p:nvSpPr>
        <p:spPr>
          <a:xfrm>
            <a:off x="2461194" y="1705606"/>
            <a:ext cx="882487" cy="237744"/>
          </a:xfrm>
          <a:prstGeom prst="rect">
            <a:avLst/>
          </a:prstGeom>
          <a:noFill/>
        </p:spPr>
        <p:txBody>
          <a:bodyPr wrap="none" lIns="0" tIns="0" rIns="0" bIns="0" anchor="ctr">
            <a:spAutoFit/>
          </a:bodyPr>
          <a:lstStyle/>
          <a:p>
            <a:pPr algn="ctr"/>
            <a:r>
              <a:rPr sz="950" b="1" i="0">
                <a:solidFill>
                  <a:srgbClr val="C0392B"/>
                </a:solidFill>
                <a:latin typeface="Calibri"/>
              </a:rPr>
              <a:t>laser pulse</a:t>
            </a:r>
          </a:p>
        </p:txBody>
      </p:sp>
      <mc:AlternateContent xmlns:mc="http://schemas.openxmlformats.org/markup-compatibility/2006" xmlns:a14="http://schemas.microsoft.com/office/drawing/2010/main">
        <mc:Choice Requires="a14">
          <p:sp>
            <p:nvSpPr>
              <p:cNvPr id="16" name="TextBox 15"/>
              <p:cNvSpPr txBox="1"/>
              <p:nvPr/>
            </p:nvSpPr>
            <p:spPr>
              <a:xfrm>
                <a:off x="2276170" y="2444393"/>
                <a:ext cx="1737655" cy="146194"/>
              </a:xfrm>
              <a:prstGeom prst="rect">
                <a:avLst/>
              </a:prstGeom>
              <a:noFill/>
            </p:spPr>
            <p:txBody>
              <a:bodyPr wrap="none" lIns="0" tIns="0" rIns="0" bIns="0" anchor="ctr">
                <a:spAutoFit/>
              </a:bodyPr>
              <a:lstStyle/>
              <a:p>
                <a:pPr algn="ctr"/>
                <a:r>
                  <a:rPr sz="950" b="1" i="0">
                    <a:solidFill>
                      <a:srgbClr val="1C7293"/>
                    </a:solidFill>
                    <a:latin typeface="Calibri"/>
                  </a:rPr>
                  <a:t>back-scattered light</a:t>
                </a:r>
                <a:r>
                  <a:rPr lang="en-US" sz="950" b="1" i="0">
                    <a:solidFill>
                      <a:srgbClr val="1C7293"/>
                    </a:solidFill>
                    <a:latin typeface="Calibri"/>
                  </a:rPr>
                  <a:t>, </a:t>
                </a:r>
                <a:r>
                  <a:rPr sz="950" b="1" i="0">
                    <a:solidFill>
                      <a:srgbClr val="1C7293"/>
                    </a:solidFill>
                    <a:latin typeface="Calibri"/>
                  </a:rPr>
                  <a:t>phase </a:t>
                </a:r>
                <a14:m>
                  <m:oMath xmlns:m="http://schemas.openxmlformats.org/officeDocument/2006/math">
                    <m:r>
                      <a:rPr lang="en-IL" sz="950" b="1" i="1" smtClean="0">
                        <a:solidFill>
                          <a:srgbClr val="1C7293"/>
                        </a:solidFill>
                        <a:latin typeface="Cambria Math" panose="02040503050406030204" pitchFamily="18" charset="0"/>
                      </a:rPr>
                      <m:t>𝝋</m:t>
                    </m:r>
                    <m:r>
                      <a:rPr lang="en-IL" sz="950" b="1" i="1">
                        <a:solidFill>
                          <a:srgbClr val="1C7293"/>
                        </a:solidFill>
                        <a:latin typeface="Cambria Math" panose="02040503050406030204" pitchFamily="18" charset="0"/>
                      </a:rPr>
                      <m:t>(</m:t>
                    </m:r>
                    <m:r>
                      <a:rPr lang="en-IL" sz="950" b="1" i="1">
                        <a:solidFill>
                          <a:srgbClr val="1C7293"/>
                        </a:solidFill>
                        <a:latin typeface="Cambria Math" panose="02040503050406030204" pitchFamily="18" charset="0"/>
                      </a:rPr>
                      <m:t>𝒕</m:t>
                    </m:r>
                    <m:r>
                      <a:rPr lang="en-IL" sz="950" b="1" i="1">
                        <a:solidFill>
                          <a:srgbClr val="1C7293"/>
                        </a:solidFill>
                        <a:latin typeface="Cambria Math" panose="02040503050406030204" pitchFamily="18" charset="0"/>
                      </a:rPr>
                      <m:t>, </m:t>
                    </m:r>
                    <m:r>
                      <m:rPr>
                        <m:sty m:val="p"/>
                      </m:rPr>
                      <a:rPr lang="en-IL" sz="950" b="1" i="1">
                        <a:solidFill>
                          <a:srgbClr val="1C7293"/>
                        </a:solidFill>
                        <a:latin typeface="Cambria Math" panose="02040503050406030204" pitchFamily="18" charset="0"/>
                      </a:rPr>
                      <m:t>ℓ</m:t>
                    </m:r>
                    <m:r>
                      <a:rPr lang="en-IL" sz="950" b="1" i="1">
                        <a:solidFill>
                          <a:srgbClr val="1C7293"/>
                        </a:solidFill>
                        <a:latin typeface="Cambria Math" panose="02040503050406030204" pitchFamily="18" charset="0"/>
                      </a:rPr>
                      <m:t>)</m:t>
                    </m:r>
                  </m:oMath>
                </a14:m>
                <a:endParaRPr sz="950" b="1" i="0">
                  <a:solidFill>
                    <a:srgbClr val="1C7293"/>
                  </a:solidFill>
                  <a:latin typeface="Calibri"/>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2276170" y="2444393"/>
                <a:ext cx="1737655" cy="146194"/>
              </a:xfrm>
              <a:prstGeom prst="rect">
                <a:avLst/>
              </a:prstGeom>
              <a:blipFill>
                <a:blip r:embed="rId6"/>
                <a:stretch>
                  <a:fillRect l="-4380" t="-23077" r="-3650" b="-46154"/>
                </a:stretch>
              </a:blipFill>
            </p:spPr>
            <p:txBody>
              <a:bodyPr/>
              <a:lstStyle/>
              <a:p>
                <a:r>
                  <a:rPr lang="en-IL">
                    <a:noFill/>
                  </a:rPr>
                  <a:t> </a:t>
                </a:r>
              </a:p>
            </p:txBody>
          </p:sp>
        </mc:Fallback>
      </mc:AlternateContent>
      <p:sp>
        <p:nvSpPr>
          <p:cNvPr id="17" name="TextBox 16"/>
          <p:cNvSpPr txBox="1"/>
          <p:nvPr/>
        </p:nvSpPr>
        <p:spPr>
          <a:xfrm>
            <a:off x="876680" y="1032469"/>
            <a:ext cx="2434962" cy="153888"/>
          </a:xfrm>
          <a:prstGeom prst="rect">
            <a:avLst/>
          </a:prstGeom>
          <a:noFill/>
        </p:spPr>
        <p:txBody>
          <a:bodyPr wrap="none" lIns="0" tIns="0" rIns="0" bIns="0" anchor="ctr">
            <a:spAutoFit/>
          </a:bodyPr>
          <a:lstStyle/>
          <a:p>
            <a:pPr algn="l"/>
            <a:r>
              <a:rPr sz="1000" b="1" i="0">
                <a:solidFill>
                  <a:srgbClr val="0B4F6C"/>
                </a:solidFill>
                <a:latin typeface="Calibri"/>
              </a:rPr>
              <a:t>A   One laser pulse in, back-scattered light out</a:t>
            </a:r>
          </a:p>
        </p:txBody>
      </p:sp>
      <p:sp>
        <p:nvSpPr>
          <p:cNvPr id="18" name="TextBox 17"/>
          <p:cNvSpPr txBox="1"/>
          <p:nvPr/>
        </p:nvSpPr>
        <p:spPr>
          <a:xfrm>
            <a:off x="876680" y="2715077"/>
            <a:ext cx="1910779" cy="153888"/>
          </a:xfrm>
          <a:prstGeom prst="rect">
            <a:avLst/>
          </a:prstGeom>
          <a:noFill/>
        </p:spPr>
        <p:txBody>
          <a:bodyPr wrap="none" lIns="0" tIns="0" rIns="0" bIns="0" anchor="ctr">
            <a:spAutoFit/>
          </a:bodyPr>
          <a:lstStyle/>
          <a:p>
            <a:pPr algn="l"/>
            <a:r>
              <a:rPr sz="1000" b="1" i="0">
                <a:solidFill>
                  <a:srgbClr val="0B4F6C"/>
                </a:solidFill>
                <a:latin typeface="Calibri"/>
              </a:rPr>
              <a:t>B   What every channel reads at one</a:t>
            </a:r>
          </a:p>
        </p:txBody>
      </p:sp>
      <p:sp>
        <p:nvSpPr>
          <p:cNvPr id="19" name="TextBox 18"/>
          <p:cNvSpPr txBox="1"/>
          <p:nvPr/>
        </p:nvSpPr>
        <p:spPr>
          <a:xfrm>
            <a:off x="5968886" y="2722771"/>
            <a:ext cx="1078573" cy="146194"/>
          </a:xfrm>
          <a:prstGeom prst="rect">
            <a:avLst/>
          </a:prstGeom>
          <a:noFill/>
        </p:spPr>
        <p:txBody>
          <a:bodyPr wrap="square" lIns="0" tIns="0" rIns="0" bIns="0" anchor="ctr">
            <a:spAutoFit/>
          </a:bodyPr>
          <a:lstStyle/>
          <a:p>
            <a:pPr algn="l"/>
            <a:r>
              <a:rPr sz="950" b="1" i="0">
                <a:solidFill>
                  <a:srgbClr val="C97B2C"/>
                </a:solidFill>
                <a:latin typeface="Calibri"/>
              </a:rPr>
              <a:t>amplitude  ∝  weight</a:t>
            </a:r>
          </a:p>
        </p:txBody>
      </p:sp>
      <p:sp>
        <p:nvSpPr>
          <p:cNvPr id="20" name="TextBox 19"/>
          <p:cNvSpPr txBox="1"/>
          <p:nvPr/>
        </p:nvSpPr>
        <p:spPr>
          <a:xfrm>
            <a:off x="3793561" y="2644696"/>
            <a:ext cx="985906" cy="237744"/>
          </a:xfrm>
          <a:prstGeom prst="rect">
            <a:avLst/>
          </a:prstGeom>
          <a:noFill/>
        </p:spPr>
        <p:txBody>
          <a:bodyPr wrap="none" lIns="0" tIns="0" rIns="0" bIns="0" anchor="ctr">
            <a:spAutoFit/>
          </a:bodyPr>
          <a:lstStyle/>
          <a:p>
            <a:pPr algn="ctr"/>
            <a:r>
              <a:rPr sz="850" b="0" i="0">
                <a:solidFill>
                  <a:srgbClr val="0B4F6C"/>
                </a:solidFill>
                <a:latin typeface="Calibri"/>
              </a:rPr>
              <a:t>weak signature</a:t>
            </a:r>
          </a:p>
        </p:txBody>
      </p:sp>
      <p:sp>
        <p:nvSpPr>
          <p:cNvPr id="21" name="TextBox 20"/>
          <p:cNvSpPr txBox="1"/>
          <p:nvPr/>
        </p:nvSpPr>
        <p:spPr>
          <a:xfrm>
            <a:off x="1061200" y="3033669"/>
            <a:ext cx="843259" cy="237744"/>
          </a:xfrm>
          <a:prstGeom prst="rect">
            <a:avLst/>
          </a:prstGeom>
          <a:noFill/>
        </p:spPr>
        <p:txBody>
          <a:bodyPr wrap="none" lIns="0" tIns="0" rIns="0" bIns="0" anchor="ctr">
            <a:spAutoFit/>
          </a:bodyPr>
          <a:lstStyle/>
          <a:p>
            <a:pPr algn="ctr"/>
            <a:r>
              <a:rPr sz="900" b="0" i="0">
                <a:solidFill>
                  <a:srgbClr val="5A6B78"/>
                </a:solidFill>
                <a:latin typeface="Calibri"/>
              </a:rPr>
              <a:t>strain rate</a:t>
            </a:r>
          </a:p>
        </p:txBody>
      </p:sp>
      <p:sp>
        <p:nvSpPr>
          <p:cNvPr id="22" name="TextBox 21"/>
          <p:cNvSpPr txBox="1"/>
          <p:nvPr/>
        </p:nvSpPr>
        <p:spPr>
          <a:xfrm>
            <a:off x="473847" y="3510921"/>
            <a:ext cx="1556453" cy="138499"/>
          </a:xfrm>
          <a:prstGeom prst="rect">
            <a:avLst/>
          </a:prstGeom>
          <a:noFill/>
        </p:spPr>
        <p:txBody>
          <a:bodyPr wrap="square" lIns="0" tIns="0" rIns="0" bIns="0" anchor="ctr">
            <a:spAutoFit/>
          </a:bodyPr>
          <a:lstStyle/>
          <a:p>
            <a:pPr algn="r"/>
            <a:r>
              <a:rPr sz="900" b="0" i="0">
                <a:solidFill>
                  <a:srgbClr val="5A6B78"/>
                </a:solidFill>
                <a:latin typeface="Calibri"/>
              </a:rPr>
              <a:t>distance along the fiber,  ℓ   [m]</a:t>
            </a:r>
          </a:p>
        </p:txBody>
      </p:sp>
      <p:sp>
        <p:nvSpPr>
          <p:cNvPr id="23" name="TextBox 22"/>
          <p:cNvSpPr txBox="1"/>
          <p:nvPr/>
        </p:nvSpPr>
        <p:spPr>
          <a:xfrm>
            <a:off x="959434" y="4089323"/>
            <a:ext cx="1732847" cy="153888"/>
          </a:xfrm>
          <a:prstGeom prst="rect">
            <a:avLst/>
          </a:prstGeom>
          <a:noFill/>
        </p:spPr>
        <p:txBody>
          <a:bodyPr wrap="none" lIns="0" tIns="0" rIns="0" bIns="0" anchor="ctr">
            <a:spAutoFit/>
          </a:bodyPr>
          <a:lstStyle/>
          <a:p>
            <a:pPr algn="l"/>
            <a:r>
              <a:rPr sz="1000" b="1" i="0">
                <a:solidFill>
                  <a:srgbClr val="0B4F6C"/>
                </a:solidFill>
                <a:latin typeface="Calibri"/>
              </a:rPr>
              <a:t>C   Speed</a:t>
            </a:r>
            <a:r>
              <a:rPr lang="en-US" sz="1000" b="1" i="0">
                <a:solidFill>
                  <a:srgbClr val="0B4F6C"/>
                </a:solidFill>
                <a:latin typeface="Calibri"/>
              </a:rPr>
              <a:t>,</a:t>
            </a:r>
            <a:r>
              <a:rPr sz="1000" b="1" i="0">
                <a:solidFill>
                  <a:srgbClr val="0B4F6C"/>
                </a:solidFill>
                <a:latin typeface="Calibri"/>
              </a:rPr>
              <a:t> the slope of the streak</a:t>
            </a:r>
          </a:p>
        </p:txBody>
      </p:sp>
      <p:sp>
        <p:nvSpPr>
          <p:cNvPr id="24" name="TextBox 23"/>
          <p:cNvSpPr txBox="1"/>
          <p:nvPr/>
        </p:nvSpPr>
        <p:spPr>
          <a:xfrm>
            <a:off x="2172813" y="5063304"/>
            <a:ext cx="822960" cy="237744"/>
          </a:xfrm>
          <a:prstGeom prst="rect">
            <a:avLst/>
          </a:prstGeom>
          <a:noFill/>
        </p:spPr>
        <p:txBody>
          <a:bodyPr wrap="none" lIns="0" tIns="0" rIns="0" bIns="0" anchor="ctr">
            <a:spAutoFit/>
          </a:bodyPr>
          <a:lstStyle/>
          <a:p>
            <a:pPr algn="ctr"/>
            <a:r>
              <a:rPr sz="1000" b="1" i="0">
                <a:solidFill>
                  <a:srgbClr val="2E7D5B"/>
                </a:solidFill>
                <a:latin typeface="Calibri"/>
              </a:rPr>
              <a:t>Δℓ</a:t>
            </a:r>
          </a:p>
        </p:txBody>
      </p:sp>
      <p:sp>
        <p:nvSpPr>
          <p:cNvPr id="25" name="TextBox 24"/>
          <p:cNvSpPr txBox="1"/>
          <p:nvPr/>
        </p:nvSpPr>
        <p:spPr>
          <a:xfrm>
            <a:off x="3221492" y="4771556"/>
            <a:ext cx="822960" cy="237744"/>
          </a:xfrm>
          <a:prstGeom prst="rect">
            <a:avLst/>
          </a:prstGeom>
          <a:noFill/>
        </p:spPr>
        <p:txBody>
          <a:bodyPr wrap="none" lIns="0" tIns="0" rIns="0" bIns="0" anchor="ctr">
            <a:spAutoFit/>
          </a:bodyPr>
          <a:lstStyle/>
          <a:p>
            <a:pPr algn="l"/>
            <a:r>
              <a:rPr sz="1000" b="1" i="0">
                <a:solidFill>
                  <a:srgbClr val="2E7D5B"/>
                </a:solidFill>
                <a:latin typeface="Calibri"/>
              </a:rPr>
              <a:t>Δt</a:t>
            </a:r>
          </a:p>
        </p:txBody>
      </p:sp>
      <p:sp>
        <p:nvSpPr>
          <p:cNvPr id="26" name="TextBox 25"/>
          <p:cNvSpPr txBox="1"/>
          <p:nvPr/>
        </p:nvSpPr>
        <p:spPr>
          <a:xfrm>
            <a:off x="1863141" y="5597437"/>
            <a:ext cx="1378583" cy="138499"/>
          </a:xfrm>
          <a:prstGeom prst="rect">
            <a:avLst/>
          </a:prstGeom>
          <a:noFill/>
        </p:spPr>
        <p:txBody>
          <a:bodyPr wrap="none" lIns="0" tIns="0" rIns="0" bIns="0" anchor="ctr">
            <a:spAutoFit/>
          </a:bodyPr>
          <a:lstStyle/>
          <a:p>
            <a:pPr algn="ctr"/>
            <a:r>
              <a:rPr sz="900" b="0" i="0">
                <a:solidFill>
                  <a:srgbClr val="5A6B78"/>
                </a:solidFill>
                <a:latin typeface="Calibri"/>
              </a:rPr>
              <a:t>distance along the fiber  ℓ[m]</a:t>
            </a:r>
          </a:p>
        </p:txBody>
      </p:sp>
      <p:sp>
        <p:nvSpPr>
          <p:cNvPr id="27" name="TextBox 26"/>
          <p:cNvSpPr txBox="1"/>
          <p:nvPr/>
        </p:nvSpPr>
        <p:spPr>
          <a:xfrm>
            <a:off x="-4285" y="4745507"/>
            <a:ext cx="822960" cy="237744"/>
          </a:xfrm>
          <a:prstGeom prst="rect">
            <a:avLst/>
          </a:prstGeom>
          <a:noFill/>
        </p:spPr>
        <p:txBody>
          <a:bodyPr wrap="none" lIns="0" tIns="0" rIns="0" bIns="0" anchor="ctr">
            <a:spAutoFit/>
          </a:bodyPr>
          <a:lstStyle/>
          <a:p>
            <a:pPr algn="ctr"/>
            <a:r>
              <a:rPr sz="900" b="0" i="0">
                <a:solidFill>
                  <a:srgbClr val="5A6B78"/>
                </a:solidFill>
                <a:latin typeface="Calibri"/>
              </a:rPr>
              <a:t>time  [s]</a:t>
            </a:r>
          </a:p>
        </p:txBody>
      </p:sp>
      <p:sp>
        <p:nvSpPr>
          <p:cNvPr id="28" name="TextBox 27"/>
          <p:cNvSpPr txBox="1"/>
          <p:nvPr/>
        </p:nvSpPr>
        <p:spPr>
          <a:xfrm>
            <a:off x="568247" y="4922640"/>
            <a:ext cx="985906" cy="237744"/>
          </a:xfrm>
          <a:prstGeom prst="rect">
            <a:avLst/>
          </a:prstGeom>
          <a:noFill/>
        </p:spPr>
        <p:txBody>
          <a:bodyPr wrap="none" lIns="0" tIns="0" rIns="0" bIns="0" anchor="ctr">
            <a:spAutoFit/>
          </a:bodyPr>
          <a:lstStyle/>
          <a:p>
            <a:pPr algn="r"/>
            <a:r>
              <a:rPr sz="850" b="1" i="0">
                <a:solidFill>
                  <a:srgbClr val="111111"/>
                </a:solidFill>
                <a:latin typeface="Calibri"/>
              </a:rPr>
              <a:t>DAS detections</a:t>
            </a:r>
          </a:p>
        </p:txBody>
      </p:sp>
      <p:sp>
        <p:nvSpPr>
          <p:cNvPr id="29" name="TextBox 28"/>
          <p:cNvSpPr txBox="1"/>
          <p:nvPr/>
        </p:nvSpPr>
        <p:spPr>
          <a:xfrm>
            <a:off x="1044394" y="4313094"/>
            <a:ext cx="985906" cy="237744"/>
          </a:xfrm>
          <a:prstGeom prst="rect">
            <a:avLst/>
          </a:prstGeom>
          <a:noFill/>
        </p:spPr>
        <p:txBody>
          <a:bodyPr wrap="none" lIns="0" tIns="0" rIns="0" bIns="0" anchor="ctr">
            <a:spAutoFit/>
          </a:bodyPr>
          <a:lstStyle/>
          <a:p>
            <a:pPr algn="l"/>
            <a:r>
              <a:rPr sz="850" b="0" i="0">
                <a:solidFill>
                  <a:srgbClr val="5A6B78"/>
                </a:solidFill>
                <a:latin typeface="Calibri"/>
              </a:rPr>
              <a:t>second vehicle</a:t>
            </a:r>
          </a:p>
        </p:txBody>
      </p:sp>
      <p:sp>
        <p:nvSpPr>
          <p:cNvPr id="30" name="TextBox 29"/>
          <p:cNvSpPr txBox="1"/>
          <p:nvPr/>
        </p:nvSpPr>
        <p:spPr>
          <a:xfrm>
            <a:off x="5262600" y="4058064"/>
            <a:ext cx="2048638" cy="153888"/>
          </a:xfrm>
          <a:prstGeom prst="rect">
            <a:avLst/>
          </a:prstGeom>
          <a:noFill/>
        </p:spPr>
        <p:txBody>
          <a:bodyPr wrap="none" lIns="0" tIns="0" rIns="0" bIns="0" anchor="ctr">
            <a:spAutoFit/>
          </a:bodyPr>
          <a:lstStyle/>
          <a:p>
            <a:pPr algn="l"/>
            <a:r>
              <a:rPr sz="1000" b="1" i="0">
                <a:solidFill>
                  <a:srgbClr val="0B4F6C"/>
                </a:solidFill>
                <a:latin typeface="Calibri"/>
              </a:rPr>
              <a:t>D   Weight</a:t>
            </a:r>
            <a:r>
              <a:rPr lang="en-US" sz="1000" b="1" i="0">
                <a:solidFill>
                  <a:srgbClr val="0B4F6C"/>
                </a:solidFill>
                <a:latin typeface="Calibri"/>
              </a:rPr>
              <a:t>,</a:t>
            </a:r>
            <a:r>
              <a:rPr sz="1000" b="1" i="0">
                <a:solidFill>
                  <a:srgbClr val="0B4F6C"/>
                </a:solidFill>
                <a:latin typeface="Calibri"/>
              </a:rPr>
              <a:t> invert the amplitude decay</a:t>
            </a:r>
          </a:p>
        </p:txBody>
      </p:sp>
      <p:sp>
        <p:nvSpPr>
          <p:cNvPr id="31" name="TextBox 30"/>
          <p:cNvSpPr txBox="1"/>
          <p:nvPr/>
        </p:nvSpPr>
        <p:spPr>
          <a:xfrm>
            <a:off x="6343740" y="5597437"/>
            <a:ext cx="940962" cy="138499"/>
          </a:xfrm>
          <a:prstGeom prst="rect">
            <a:avLst/>
          </a:prstGeom>
          <a:noFill/>
        </p:spPr>
        <p:txBody>
          <a:bodyPr wrap="none" lIns="0" tIns="0" rIns="0" bIns="0" anchor="ctr">
            <a:spAutoFit/>
          </a:bodyPr>
          <a:lstStyle/>
          <a:p>
            <a:pPr algn="ctr"/>
            <a:r>
              <a:rPr sz="900" b="0" i="0">
                <a:solidFill>
                  <a:srgbClr val="5A6B78"/>
                </a:solidFill>
                <a:latin typeface="Calibri"/>
              </a:rPr>
              <a:t>vehicle weight  W[t]</a:t>
            </a:r>
          </a:p>
        </p:txBody>
      </p:sp>
      <p:sp>
        <p:nvSpPr>
          <p:cNvPr id="32" name="TextBox 31"/>
          <p:cNvSpPr txBox="1"/>
          <p:nvPr/>
        </p:nvSpPr>
        <p:spPr>
          <a:xfrm>
            <a:off x="4404571" y="4745507"/>
            <a:ext cx="1228404" cy="237744"/>
          </a:xfrm>
          <a:prstGeom prst="rect">
            <a:avLst/>
          </a:prstGeom>
          <a:noFill/>
        </p:spPr>
        <p:txBody>
          <a:bodyPr wrap="none" lIns="0" tIns="0" rIns="0" bIns="0" anchor="ctr">
            <a:spAutoFit/>
          </a:bodyPr>
          <a:lstStyle/>
          <a:p>
            <a:pPr algn="ctr"/>
            <a:r>
              <a:rPr sz="900" b="0" i="0">
                <a:solidFill>
                  <a:srgbClr val="5A6B78"/>
                </a:solidFill>
                <a:latin typeface="Calibri"/>
              </a:rPr>
              <a:t>peak amplitude  A</a:t>
            </a:r>
          </a:p>
        </p:txBody>
      </p:sp>
      <p:sp>
        <p:nvSpPr>
          <p:cNvPr id="33" name="TextBox 32"/>
          <p:cNvSpPr txBox="1"/>
          <p:nvPr/>
        </p:nvSpPr>
        <p:spPr>
          <a:xfrm>
            <a:off x="5816751" y="5265654"/>
            <a:ext cx="925281" cy="237744"/>
          </a:xfrm>
          <a:prstGeom prst="rect">
            <a:avLst/>
          </a:prstGeom>
          <a:noFill/>
        </p:spPr>
        <p:txBody>
          <a:bodyPr wrap="none" lIns="0" tIns="0" rIns="0" bIns="0" anchor="ctr">
            <a:spAutoFit/>
          </a:bodyPr>
          <a:lstStyle/>
          <a:p>
            <a:pPr algn="l"/>
            <a:r>
              <a:rPr sz="850" b="0" i="0">
                <a:solidFill>
                  <a:srgbClr val="0B4F6C"/>
                </a:solidFill>
                <a:latin typeface="Calibri"/>
              </a:rPr>
              <a:t>light vehicle</a:t>
            </a:r>
          </a:p>
        </p:txBody>
      </p:sp>
      <p:sp>
        <p:nvSpPr>
          <p:cNvPr id="34" name="TextBox 33"/>
          <p:cNvSpPr txBox="1"/>
          <p:nvPr/>
        </p:nvSpPr>
        <p:spPr>
          <a:xfrm>
            <a:off x="6420926" y="4510726"/>
            <a:ext cx="925281" cy="237744"/>
          </a:xfrm>
          <a:prstGeom prst="rect">
            <a:avLst/>
          </a:prstGeom>
          <a:noFill/>
        </p:spPr>
        <p:txBody>
          <a:bodyPr wrap="none" lIns="0" tIns="0" rIns="0" bIns="0" anchor="ctr">
            <a:spAutoFit/>
          </a:bodyPr>
          <a:lstStyle/>
          <a:p>
            <a:pPr algn="r"/>
            <a:r>
              <a:rPr sz="850" b="0" i="0">
                <a:solidFill>
                  <a:srgbClr val="C97B2C"/>
                </a:solidFill>
                <a:latin typeface="Calibri"/>
              </a:rPr>
              <a:t>heavy vehicle</a:t>
            </a:r>
          </a:p>
        </p:txBody>
      </p:sp>
      <mc:AlternateContent xmlns:mc="http://schemas.openxmlformats.org/markup-compatibility/2006" xmlns:a14="http://schemas.microsoft.com/office/drawing/2010/main">
        <mc:Choice Requires="a14">
          <p:sp>
            <p:nvSpPr>
              <p:cNvPr id="35" name="TextBox 34"/>
              <p:cNvSpPr txBox="1"/>
              <p:nvPr/>
            </p:nvSpPr>
            <p:spPr>
              <a:xfrm>
                <a:off x="5373430" y="4378345"/>
                <a:ext cx="1267452" cy="138499"/>
              </a:xfrm>
              <a:prstGeom prst="rect">
                <a:avLst/>
              </a:prstGeom>
              <a:noFill/>
            </p:spPr>
            <p:txBody>
              <a:bodyPr wrap="square" lIns="0" tIns="0" rIns="0" bIns="0" anchor="ctr">
                <a:spAutoFit/>
              </a:bodyPr>
              <a:lstStyle/>
              <a:p>
                <a:pPr algn="l"/>
                <a14:m>
                  <m:oMathPara xmlns:m="http://schemas.openxmlformats.org/officeDocument/2006/math">
                    <m:oMath>
                      <m:r>
                        <a:rPr lang="en-IL" sz="900" b="1" i="1" smtClean="0">
                          <a:solidFill>
                            <a:srgbClr val="1C7293"/>
                          </a:solidFill>
                          <a:latin typeface="Cambria Math" panose="02040503050406030204" pitchFamily="18" charset="0"/>
                        </a:rPr>
                        <m:t>𝑨</m:t>
                      </m:r>
                      <m:r>
                        <a:rPr lang="en-IL" sz="900" b="1" i="1" smtClean="0">
                          <a:solidFill>
                            <a:srgbClr val="1C7293"/>
                          </a:solidFill>
                          <a:latin typeface="Cambria Math" panose="02040503050406030204" pitchFamily="18" charset="0"/>
                        </a:rPr>
                        <m:t>  =  </m:t>
                      </m:r>
                      <m:r>
                        <a:rPr lang="en-IL" sz="900" b="1" i="1" err="1">
                          <a:solidFill>
                            <a:srgbClr val="1C7293"/>
                          </a:solidFill>
                          <a:latin typeface="Cambria Math" panose="02040503050406030204" pitchFamily="18" charset="0"/>
                        </a:rPr>
                        <m:t>𝒌</m:t>
                      </m:r>
                      <m:r>
                        <a:rPr lang="en-IL" sz="900" b="1" i="1" err="1">
                          <a:solidFill>
                            <a:srgbClr val="1C7293"/>
                          </a:solidFill>
                          <a:latin typeface="Cambria Math" panose="02040503050406030204" pitchFamily="18" charset="0"/>
                        </a:rPr>
                        <m:t>·</m:t>
                      </m:r>
                      <m:r>
                        <a:rPr lang="en-IL" sz="900" b="1" i="1" err="1">
                          <a:solidFill>
                            <a:srgbClr val="1C7293"/>
                          </a:solidFill>
                          <a:latin typeface="Cambria Math" panose="02040503050406030204" pitchFamily="18" charset="0"/>
                        </a:rPr>
                        <m:t>𝑾</m:t>
                      </m:r>
                      <m:r>
                        <a:rPr lang="en-IL" sz="900" b="1" i="1">
                          <a:solidFill>
                            <a:srgbClr val="1C7293"/>
                          </a:solidFill>
                          <a:latin typeface="Cambria Math" panose="02040503050406030204" pitchFamily="18" charset="0"/>
                        </a:rPr>
                        <m:t> / (</m:t>
                      </m:r>
                      <m:r>
                        <a:rPr lang="en-IL" sz="900" b="1" i="1">
                          <a:solidFill>
                            <a:srgbClr val="1C7293"/>
                          </a:solidFill>
                          <a:latin typeface="Cambria Math" panose="02040503050406030204" pitchFamily="18" charset="0"/>
                        </a:rPr>
                        <m:t>𝒓</m:t>
                      </m:r>
                      <m:r>
                        <a:rPr lang="en-IL" sz="900" b="1" i="1">
                          <a:solidFill>
                            <a:srgbClr val="1C7293"/>
                          </a:solidFill>
                          <a:latin typeface="Cambria Math" panose="02040503050406030204" pitchFamily="18" charset="0"/>
                        </a:rPr>
                        <m:t> + </m:t>
                      </m:r>
                      <m:r>
                        <a:rPr lang="en-IL" sz="900" b="1" i="1">
                          <a:solidFill>
                            <a:srgbClr val="1C7293"/>
                          </a:solidFill>
                          <a:latin typeface="Cambria Math" panose="02040503050406030204" pitchFamily="18" charset="0"/>
                        </a:rPr>
                        <m:t>𝒅</m:t>
                      </m:r>
                      <m:r>
                        <a:rPr lang="en-IL" sz="900" b="1" i="1">
                          <a:solidFill>
                            <a:srgbClr val="1C7293"/>
                          </a:solidFill>
                          <a:latin typeface="Cambria Math" panose="02040503050406030204" pitchFamily="18" charset="0"/>
                        </a:rPr>
                        <m:t>₀)²</m:t>
                      </m:r>
                    </m:oMath>
                  </m:oMathPara>
                </a14:m>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5373430" y="4378345"/>
                <a:ext cx="1267452" cy="138499"/>
              </a:xfrm>
              <a:prstGeom prst="rect">
                <a:avLst/>
              </a:prstGeom>
              <a:blipFill>
                <a:blip r:embed="rId7"/>
                <a:stretch>
                  <a:fillRect t="-25000" r="-5941" b="-41667"/>
                </a:stretch>
              </a:blipFill>
            </p:spPr>
            <p:txBody>
              <a:bodyPr/>
              <a:lstStyle/>
              <a:p>
                <a:r>
                  <a:rPr lang="en-IL">
                    <a:noFill/>
                  </a:rPr>
                  <a:t> </a:t>
                </a:r>
              </a:p>
            </p:txBody>
          </p:sp>
        </mc:Fallback>
      </mc:AlternateContent>
      <p:sp>
        <p:nvSpPr>
          <p:cNvPr id="37" name="Rounded Rectangle 36"/>
          <p:cNvSpPr/>
          <p:nvPr/>
        </p:nvSpPr>
        <p:spPr>
          <a:xfrm>
            <a:off x="8732520" y="987552"/>
            <a:ext cx="3154680" cy="53492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8915400" y="1106424"/>
            <a:ext cx="2788920" cy="237744"/>
          </a:xfrm>
          <a:prstGeom prst="rect">
            <a:avLst/>
          </a:prstGeom>
          <a:noFill/>
        </p:spPr>
        <p:txBody>
          <a:bodyPr wrap="square" lIns="0" tIns="0" rIns="0" bIns="0" anchor="t">
            <a:spAutoFit/>
          </a:bodyPr>
          <a:lstStyle/>
          <a:p>
            <a:pPr algn="l">
              <a:lnSpc>
                <a:spcPct val="100000"/>
              </a:lnSpc>
              <a:spcAft>
                <a:spcPts val="0"/>
              </a:spcAft>
            </a:pPr>
            <a:r>
              <a:rPr sz="1100" b="1" i="0">
                <a:solidFill>
                  <a:srgbClr val="0B4F6C"/>
                </a:solidFill>
                <a:latin typeface="Cambria"/>
              </a:rPr>
              <a:t>THE FORMAL MODEL</a:t>
            </a:r>
          </a:p>
        </p:txBody>
      </p:sp>
      <p:sp>
        <p:nvSpPr>
          <p:cNvPr id="39" name="Rectangle 38"/>
          <p:cNvSpPr/>
          <p:nvPr/>
        </p:nvSpPr>
        <p:spPr>
          <a:xfrm>
            <a:off x="8915400" y="1371600"/>
            <a:ext cx="2788920" cy="9525"/>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15400" y="1499616"/>
            <a:ext cx="2788920" cy="365760"/>
          </a:xfrm>
          <a:prstGeom prst="rect">
            <a:avLst/>
          </a:prstGeom>
          <a:noFill/>
        </p:spPr>
        <p:txBody>
          <a:bodyPr wrap="square" lIns="0" tIns="0" rIns="0" bIns="0" anchor="t">
            <a:spAutoFit/>
          </a:bodyPr>
          <a:lstStyle/>
          <a:p>
            <a:pPr algn="l">
              <a:lnSpc>
                <a:spcPct val="115000"/>
              </a:lnSpc>
              <a:spcAft>
                <a:spcPts val="0"/>
              </a:spcAft>
            </a:pPr>
            <a:r>
              <a:rPr sz="900" b="0" i="0">
                <a:solidFill>
                  <a:srgbClr val="6B7A85"/>
                </a:solidFill>
                <a:latin typeface="Calibri"/>
              </a:rPr>
              <a:t>①  Quasi-static ground displacement under a point load F  (Flamant–Boussinesq):</a:t>
            </a:r>
          </a:p>
        </p:txBody>
      </p:sp>
      <mc:AlternateContent xmlns:mc="http://schemas.openxmlformats.org/markup-compatibility/2006" xmlns:a14="http://schemas.microsoft.com/office/drawing/2010/main">
        <mc:Choice Requires="a14">
          <p:sp>
            <p:nvSpPr>
              <p:cNvPr id="41" name="TextBox 40"/>
              <p:cNvSpPr txBox="1"/>
              <p:nvPr/>
            </p:nvSpPr>
            <p:spPr>
              <a:xfrm>
                <a:off x="9257840" y="1819656"/>
                <a:ext cx="2104038" cy="424155"/>
              </a:xfrm>
              <a:prstGeom prst="rect">
                <a:avLst/>
              </a:prstGeom>
              <a:noFill/>
            </p:spPr>
            <p:txBody>
              <a:bodyPr wrap="none" lIns="0" tIns="0" rIns="0" bIns="0">
                <a:spAutoFit/>
              </a:bodyPr>
              <a:lstStyle/>
              <a:p>
                <a:pPr algn="ctr"/>
                <a14:m>
                  <m:oMathPara xmlns:m="http://schemas.openxmlformats.org/officeDocument/2006/math">
                    <m:oMathParaPr>
                      <m:jc m:val="center"/>
                    </m:oMathParaPr>
                    <m:oMath>
                      <m:sSub>
                        <m:sSubPr>
                          <m:ctrlPr>
                            <a:rPr lang="en-US" sz="1100" b="0" i="1">
                              <a:solidFill>
                                <a:srgbClr val="0B4F6C"/>
                              </a:solidFill>
                              <a:latin typeface="Cambria Math"/>
                            </a:rPr>
                          </m:ctrlPr>
                        </m:sSubPr>
                        <m:e>
                          <m:r>
                            <a:rPr lang="en-US" sz="1100" b="0" i="1">
                              <a:solidFill>
                                <a:srgbClr val="0B4F6C"/>
                              </a:solidFill>
                              <a:latin typeface="Cambria Math"/>
                            </a:rPr>
                            <m:t>𝑢</m:t>
                          </m:r>
                        </m:e>
                        <m:sub>
                          <m:r>
                            <m:rPr>
                              <m:sty m:val="p"/>
                            </m:rPr>
                            <a:rPr lang="en-US" sz="1100" b="0" i="0">
                              <a:solidFill>
                                <a:srgbClr val="0B4F6C"/>
                              </a:solidFill>
                              <a:latin typeface="Cambria Math"/>
                            </a:rPr>
                            <m:t>x</m:t>
                          </m:r>
                        </m:sub>
                      </m:sSub>
                      <m:d>
                        <m:dPr>
                          <m:ctrlPr>
                            <a:rPr lang="en-US" sz="1100" b="0" i="1">
                              <a:solidFill>
                                <a:srgbClr val="0B4F6C"/>
                              </a:solidFill>
                              <a:latin typeface="Cambria Math"/>
                            </a:rPr>
                          </m:ctrlPr>
                        </m:dPr>
                        <m:e>
                          <m:r>
                            <a:rPr lang="en-US" sz="1100" b="0" i="1">
                              <a:solidFill>
                                <a:srgbClr val="0B4F6C"/>
                              </a:solidFill>
                              <a:latin typeface="Cambria Math"/>
                            </a:rPr>
                            <m:t>𝑥</m:t>
                          </m:r>
                          <m:r>
                            <a:rPr lang="en-US" sz="1100" b="0" i="0">
                              <a:solidFill>
                                <a:srgbClr val="0B4F6C"/>
                              </a:solidFill>
                              <a:latin typeface="Cambria Math"/>
                            </a:rPr>
                            <m:t>, </m:t>
                          </m:r>
                          <m:r>
                            <a:rPr lang="en-US" sz="1100" b="0" i="1">
                              <a:solidFill>
                                <a:srgbClr val="0B4F6C"/>
                              </a:solidFill>
                              <a:latin typeface="Cambria Math"/>
                            </a:rPr>
                            <m:t>𝑦</m:t>
                          </m:r>
                          <m:r>
                            <a:rPr lang="en-US" sz="1100" b="0" i="0">
                              <a:solidFill>
                                <a:srgbClr val="0B4F6C"/>
                              </a:solidFill>
                              <a:latin typeface="Cambria Math"/>
                            </a:rPr>
                            <m:t>, </m:t>
                          </m:r>
                          <m:r>
                            <a:rPr lang="en-US" sz="1100" b="0" i="1">
                              <a:solidFill>
                                <a:srgbClr val="0B4F6C"/>
                              </a:solidFill>
                              <a:latin typeface="Cambria Math"/>
                            </a:rPr>
                            <m:t>𝑧</m:t>
                          </m:r>
                        </m:e>
                      </m:d>
                      <m:r>
                        <a:rPr lang="en-US" sz="1100" b="0" i="0">
                          <a:solidFill>
                            <a:srgbClr val="0B4F6C"/>
                          </a:solidFill>
                          <a:latin typeface="Cambria Math"/>
                        </a:rPr>
                        <m:t>=</m:t>
                      </m:r>
                      <m:f>
                        <m:fPr>
                          <m:ctrlPr>
                            <a:rPr lang="en-US" sz="1100" b="0" i="1">
                              <a:solidFill>
                                <a:srgbClr val="0B4F6C"/>
                              </a:solidFill>
                              <a:latin typeface="Cambria Math"/>
                            </a:rPr>
                          </m:ctrlPr>
                        </m:fPr>
                        <m:num>
                          <m:r>
                            <a:rPr lang="en-US" sz="1100" b="0" i="1">
                              <a:solidFill>
                                <a:srgbClr val="0B4F6C"/>
                              </a:solidFill>
                              <a:latin typeface="Cambria Math"/>
                            </a:rPr>
                            <m:t>𝐹</m:t>
                          </m:r>
                        </m:num>
                        <m:den>
                          <m:r>
                            <a:rPr lang="en-US" sz="1100" b="0" i="0">
                              <a:solidFill>
                                <a:srgbClr val="0B4F6C"/>
                              </a:solidFill>
                              <a:latin typeface="Cambria Math"/>
                            </a:rPr>
                            <m:t>4</m:t>
                          </m:r>
                          <m:r>
                            <a:rPr lang="en-US" sz="1100" b="0" i="1">
                              <a:solidFill>
                                <a:srgbClr val="0B4F6C"/>
                              </a:solidFill>
                              <a:latin typeface="Cambria Math"/>
                            </a:rPr>
                            <m:t>𝜋</m:t>
                          </m:r>
                          <m:r>
                            <a:rPr lang="en-US" sz="1100" b="0" i="1">
                              <a:solidFill>
                                <a:srgbClr val="0B4F6C"/>
                              </a:solidFill>
                              <a:latin typeface="Cambria Math"/>
                            </a:rPr>
                            <m:t>𝐺</m:t>
                          </m:r>
                          <m:sSup>
                            <m:sSupPr>
                              <m:ctrlPr>
                                <a:rPr lang="en-US" sz="1100" b="0" i="1">
                                  <a:solidFill>
                                    <a:srgbClr val="0B4F6C"/>
                                  </a:solidFill>
                                  <a:latin typeface="Cambria Math"/>
                                </a:rPr>
                              </m:ctrlPr>
                            </m:sSupPr>
                            <m:e>
                              <m:r>
                                <a:rPr lang="en-US" sz="1100" b="0" i="1">
                                  <a:solidFill>
                                    <a:srgbClr val="0B4F6C"/>
                                  </a:solidFill>
                                  <a:latin typeface="Cambria Math"/>
                                </a:rPr>
                                <m:t>𝑟</m:t>
                              </m:r>
                            </m:e>
                            <m:sup>
                              <m:r>
                                <a:rPr lang="en-US" sz="1100" b="0" i="0">
                                  <a:solidFill>
                                    <a:srgbClr val="0B4F6C"/>
                                  </a:solidFill>
                                  <a:latin typeface="Cambria Math"/>
                                </a:rPr>
                                <m:t>2</m:t>
                              </m:r>
                            </m:sup>
                          </m:sSup>
                        </m:den>
                      </m:f>
                      <m:d>
                        <m:dPr>
                          <m:ctrlPr>
                            <a:rPr lang="en-US" sz="1100" b="0" i="1">
                              <a:solidFill>
                                <a:srgbClr val="0B4F6C"/>
                              </a:solidFill>
                              <a:latin typeface="Cambria Math" panose="02040503050406030204" pitchFamily="18" charset="0"/>
                            </a:rPr>
                          </m:ctrlPr>
                        </m:dPr>
                        <m:e>
                          <m:f>
                            <m:fPr>
                              <m:ctrlPr>
                                <a:rPr lang="en-US" sz="1100" b="0" i="1">
                                  <a:solidFill>
                                    <a:srgbClr val="0B4F6C"/>
                                  </a:solidFill>
                                  <a:latin typeface="Cambria Math"/>
                                </a:rPr>
                              </m:ctrlPr>
                            </m:fPr>
                            <m:num>
                              <m:r>
                                <a:rPr lang="en-US" sz="1100" b="0" i="1">
                                  <a:solidFill>
                                    <a:srgbClr val="0B4F6C"/>
                                  </a:solidFill>
                                  <a:latin typeface="Cambria Math"/>
                                </a:rPr>
                                <m:t>𝑥</m:t>
                              </m:r>
                            </m:num>
                            <m:den>
                              <m:r>
                                <a:rPr lang="en-US" sz="1100" b="0" i="1">
                                  <a:solidFill>
                                    <a:srgbClr val="0B4F6C"/>
                                  </a:solidFill>
                                  <a:latin typeface="Cambria Math"/>
                                </a:rPr>
                                <m:t>𝑟</m:t>
                              </m:r>
                            </m:den>
                          </m:f>
                          <m:r>
                            <a:rPr lang="en-US" sz="1100" b="0" i="0">
                              <a:solidFill>
                                <a:srgbClr val="0B4F6C"/>
                              </a:solidFill>
                              <a:latin typeface="Cambria Math"/>
                            </a:rPr>
                            <m:t>+</m:t>
                          </m:r>
                          <m:f>
                            <m:fPr>
                              <m:ctrlPr>
                                <a:rPr lang="en-US" sz="1100" b="0" i="0">
                                  <a:solidFill>
                                    <a:srgbClr val="0B4F6C"/>
                                  </a:solidFill>
                                  <a:latin typeface="Cambria Math"/>
                                </a:rPr>
                              </m:ctrlPr>
                            </m:fPr>
                            <m:num>
                              <m:r>
                                <a:rPr lang="en-US" sz="1100" b="0" i="0">
                                  <a:solidFill>
                                    <a:srgbClr val="0B4F6C"/>
                                  </a:solidFill>
                                  <a:latin typeface="Cambria Math"/>
                                </a:rPr>
                                <m:t>2</m:t>
                              </m:r>
                              <m:r>
                                <a:rPr lang="en-US" sz="1100" b="0" i="1">
                                  <a:solidFill>
                                    <a:srgbClr val="0B4F6C"/>
                                  </a:solidFill>
                                  <a:latin typeface="Cambria Math"/>
                                </a:rPr>
                                <m:t>𝜈</m:t>
                              </m:r>
                              <m:r>
                                <a:rPr lang="en-US" sz="1100" b="0" i="0">
                                  <a:solidFill>
                                    <a:srgbClr val="0B4F6C"/>
                                  </a:solidFill>
                                  <a:latin typeface="Cambria Math"/>
                                </a:rPr>
                                <m:t>−1</m:t>
                              </m:r>
                            </m:num>
                            <m:den>
                              <m:r>
                                <a:rPr lang="en-US" sz="1100" b="0" i="0">
                                  <a:solidFill>
                                    <a:srgbClr val="0B4F6C"/>
                                  </a:solidFill>
                                  <a:latin typeface="Cambria Math"/>
                                </a:rPr>
                                <m:t>1+</m:t>
                              </m:r>
                              <m:f>
                                <m:fPr>
                                  <m:ctrlPr>
                                    <a:rPr lang="en-US" sz="1100" b="0" i="1">
                                      <a:solidFill>
                                        <a:srgbClr val="0B4F6C"/>
                                      </a:solidFill>
                                      <a:latin typeface="Cambria Math"/>
                                    </a:rPr>
                                  </m:ctrlPr>
                                </m:fPr>
                                <m:num>
                                  <m:r>
                                    <a:rPr lang="en-US" sz="1100" b="0" i="1">
                                      <a:solidFill>
                                        <a:srgbClr val="0B4F6C"/>
                                      </a:solidFill>
                                      <a:latin typeface="Cambria Math"/>
                                    </a:rPr>
                                    <m:t>𝑧</m:t>
                                  </m:r>
                                </m:num>
                                <m:den>
                                  <m:r>
                                    <a:rPr lang="en-US" sz="1100" b="0" i="1">
                                      <a:solidFill>
                                        <a:srgbClr val="0B4F6C"/>
                                      </a:solidFill>
                                      <a:latin typeface="Cambria Math"/>
                                    </a:rPr>
                                    <m:t>𝑟</m:t>
                                  </m:r>
                                </m:den>
                              </m:f>
                            </m:den>
                          </m:f>
                        </m:e>
                      </m:d>
                    </m:oMath>
                  </m:oMathPara>
                </a14:m>
                <a:endParaRPr/>
              </a:p>
            </p:txBody>
          </p:sp>
        </mc:Choice>
        <mc:Fallback xmlns="">
          <p:sp>
            <p:nvSpPr>
              <p:cNvPr id="41" name="TextBox 40"/>
              <p:cNvSpPr txBox="1">
                <a:spLocks noRot="1" noChangeAspect="1" noMove="1" noResize="1" noEditPoints="1" noAdjustHandles="1" noChangeArrowheads="1" noChangeShapeType="1" noTextEdit="1"/>
              </p:cNvSpPr>
              <p:nvPr/>
            </p:nvSpPr>
            <p:spPr>
              <a:xfrm>
                <a:off x="9257840" y="1819656"/>
                <a:ext cx="2104038" cy="424155"/>
              </a:xfrm>
              <a:prstGeom prst="rect">
                <a:avLst/>
              </a:prstGeom>
              <a:blipFill>
                <a:blip r:embed="rId8"/>
                <a:stretch>
                  <a:fillRect b="-5882"/>
                </a:stretch>
              </a:blipFill>
            </p:spPr>
            <p:txBody>
              <a:bodyPr/>
              <a:lstStyle/>
              <a:p>
                <a:r>
                  <a:rPr lang="en-IL">
                    <a:noFill/>
                  </a:rPr>
                  <a:t> </a:t>
                </a:r>
              </a:p>
            </p:txBody>
          </p:sp>
        </mc:Fallback>
      </mc:AlternateContent>
      <p:sp>
        <p:nvSpPr>
          <p:cNvPr id="42" name="TextBox 41"/>
          <p:cNvSpPr txBox="1"/>
          <p:nvPr/>
        </p:nvSpPr>
        <p:spPr>
          <a:xfrm>
            <a:off x="8915400" y="2386584"/>
            <a:ext cx="2788920" cy="309187"/>
          </a:xfrm>
          <a:prstGeom prst="rect">
            <a:avLst/>
          </a:prstGeom>
          <a:noFill/>
        </p:spPr>
        <p:txBody>
          <a:bodyPr wrap="square" lIns="0" tIns="0" rIns="0" bIns="0" anchor="t">
            <a:spAutoFit/>
          </a:bodyPr>
          <a:lstStyle/>
          <a:p>
            <a:pPr algn="l">
              <a:lnSpc>
                <a:spcPct val="115000"/>
              </a:lnSpc>
              <a:spcAft>
                <a:spcPts val="0"/>
              </a:spcAft>
            </a:pPr>
            <a:r>
              <a:rPr sz="900" b="0" i="0">
                <a:solidFill>
                  <a:srgbClr val="6B7A85"/>
                </a:solidFill>
                <a:latin typeface="Calibri"/>
              </a:rPr>
              <a:t>②  The fiber differences it over the gauge length L and reads the rate</a:t>
            </a:r>
            <a:r>
              <a:rPr lang="en-US" sz="900">
                <a:solidFill>
                  <a:srgbClr val="6B7A85"/>
                </a:solidFill>
                <a:latin typeface="Calibri"/>
              </a:rPr>
              <a:t>,</a:t>
            </a:r>
            <a:r>
              <a:rPr sz="900" b="0" i="0">
                <a:solidFill>
                  <a:srgbClr val="6B7A85"/>
                </a:solidFill>
                <a:latin typeface="Calibri"/>
              </a:rPr>
              <a:t> what a channel records:</a:t>
            </a:r>
          </a:p>
        </p:txBody>
      </p:sp>
      <mc:AlternateContent xmlns:mc="http://schemas.openxmlformats.org/markup-compatibility/2006" xmlns:a14="http://schemas.microsoft.com/office/drawing/2010/main">
        <mc:Choice Requires="a14">
          <p:sp>
            <p:nvSpPr>
              <p:cNvPr id="43" name="TextBox 42"/>
              <p:cNvSpPr txBox="1"/>
              <p:nvPr/>
            </p:nvSpPr>
            <p:spPr>
              <a:xfrm>
                <a:off x="9184038" y="2843784"/>
                <a:ext cx="2251642" cy="322524"/>
              </a:xfrm>
              <a:prstGeom prst="rect">
                <a:avLst/>
              </a:prstGeom>
              <a:noFill/>
            </p:spPr>
            <p:txBody>
              <a:bodyPr wrap="none" lIns="0" tIns="0" rIns="0" bIns="0">
                <a:spAutoFit/>
              </a:bodyPr>
              <a:lstStyle/>
              <a:p>
                <a:pPr algn="ctr"/>
                <a14:m>
                  <m:oMathPara xmlns:m="http://schemas.openxmlformats.org/officeDocument/2006/math">
                    <m:oMathParaPr>
                      <m:jc m:val="center"/>
                    </m:oMathParaPr>
                    <m:oMath>
                      <m:sSub>
                        <m:sSubPr>
                          <m:ctrlPr>
                            <a:rPr lang="en-US" sz="1100" b="0" i="1">
                              <a:solidFill>
                                <a:srgbClr val="0B4F6C"/>
                              </a:solidFill>
                              <a:latin typeface="Cambria Math" panose="02040503050406030204" pitchFamily="18" charset="0"/>
                            </a:rPr>
                          </m:ctrlPr>
                        </m:sSubPr>
                        <m:e>
                          <m:acc>
                            <m:accPr>
                              <m:chr m:val="̇"/>
                              <m:ctrlPr>
                                <a:rPr lang="en-US" sz="1100" b="0" i="1">
                                  <a:solidFill>
                                    <a:srgbClr val="0B4F6C"/>
                                  </a:solidFill>
                                  <a:latin typeface="Cambria Math"/>
                                </a:rPr>
                              </m:ctrlPr>
                            </m:accPr>
                            <m:e>
                              <m:r>
                                <a:rPr lang="en-US" sz="1100" b="0" i="1">
                                  <a:solidFill>
                                    <a:srgbClr val="0B4F6C"/>
                                  </a:solidFill>
                                  <a:latin typeface="Cambria Math"/>
                                </a:rPr>
                                <m:t>𝜀</m:t>
                              </m:r>
                            </m:e>
                          </m:acc>
                        </m:e>
                        <m:sub>
                          <m:r>
                            <m:rPr>
                              <m:sty m:val="p"/>
                            </m:rPr>
                            <a:rPr lang="en-US" sz="1100" b="0" i="0">
                              <a:solidFill>
                                <a:srgbClr val="0B4F6C"/>
                              </a:solidFill>
                              <a:latin typeface="Cambria Math"/>
                            </a:rPr>
                            <m:t>DAS</m:t>
                          </m:r>
                        </m:sub>
                      </m:sSub>
                      <m:r>
                        <a:rPr lang="en-US" sz="1100" b="0" i="0">
                          <a:solidFill>
                            <a:srgbClr val="0B4F6C"/>
                          </a:solidFill>
                          <a:latin typeface="Cambria Math"/>
                        </a:rPr>
                        <m:t>=</m:t>
                      </m:r>
                      <m:f>
                        <m:fPr>
                          <m:ctrlPr>
                            <a:rPr lang="en-US" sz="1100" b="0" i="0">
                              <a:solidFill>
                                <a:srgbClr val="0B4F6C"/>
                              </a:solidFill>
                              <a:latin typeface="Cambria Math"/>
                            </a:rPr>
                          </m:ctrlPr>
                        </m:fPr>
                        <m:num>
                          <m:r>
                            <a:rPr lang="en-US" sz="1100" b="0" i="0">
                              <a:solidFill>
                                <a:srgbClr val="0B4F6C"/>
                              </a:solidFill>
                              <a:latin typeface="Cambria Math"/>
                            </a:rPr>
                            <m:t>1</m:t>
                          </m:r>
                        </m:num>
                        <m:den>
                          <m:r>
                            <a:rPr lang="en-US" sz="1100" b="0" i="1">
                              <a:solidFill>
                                <a:srgbClr val="0B4F6C"/>
                              </a:solidFill>
                              <a:latin typeface="Cambria Math"/>
                            </a:rPr>
                            <m:t>𝐿</m:t>
                          </m:r>
                        </m:den>
                      </m:f>
                      <m:d>
                        <m:dPr>
                          <m:begChr m:val="["/>
                          <m:endChr m:val="]"/>
                          <m:ctrlPr>
                            <a:rPr lang="en-US" sz="1100" b="0" i="1">
                              <a:solidFill>
                                <a:srgbClr val="0B4F6C"/>
                              </a:solidFill>
                              <a:latin typeface="Cambria Math" panose="02040503050406030204" pitchFamily="18" charset="0"/>
                            </a:rPr>
                          </m:ctrlPr>
                        </m:dPr>
                        <m:e>
                          <m:sSub>
                            <m:sSubPr>
                              <m:ctrlPr>
                                <a:rPr lang="en-US" sz="1100" b="0" i="1">
                                  <a:solidFill>
                                    <a:srgbClr val="0B4F6C"/>
                                  </a:solidFill>
                                  <a:latin typeface="Cambria Math" panose="02040503050406030204" pitchFamily="18" charset="0"/>
                                </a:rPr>
                              </m:ctrlPr>
                            </m:sSubPr>
                            <m:e>
                              <m:acc>
                                <m:accPr>
                                  <m:chr m:val="̇"/>
                                  <m:ctrlPr>
                                    <a:rPr lang="en-US" sz="1100" b="0" i="1">
                                      <a:solidFill>
                                        <a:srgbClr val="0B4F6C"/>
                                      </a:solidFill>
                                      <a:latin typeface="Cambria Math"/>
                                    </a:rPr>
                                  </m:ctrlPr>
                                </m:accPr>
                                <m:e>
                                  <m:r>
                                    <a:rPr lang="en-US" sz="1100" b="0" i="1">
                                      <a:solidFill>
                                        <a:srgbClr val="0B4F6C"/>
                                      </a:solidFill>
                                      <a:latin typeface="Cambria Math"/>
                                    </a:rPr>
                                    <m:t>𝑢</m:t>
                                  </m:r>
                                </m:e>
                              </m:acc>
                            </m:e>
                            <m:sub>
                              <m:r>
                                <m:rPr>
                                  <m:sty m:val="p"/>
                                </m:rPr>
                                <a:rPr lang="en-US" sz="1100" b="0" i="0">
                                  <a:solidFill>
                                    <a:srgbClr val="0B4F6C"/>
                                  </a:solidFill>
                                  <a:latin typeface="Cambria Math"/>
                                </a:rPr>
                                <m:t>x</m:t>
                              </m:r>
                            </m:sub>
                          </m:sSub>
                          <m:d>
                            <m:dPr>
                              <m:ctrlPr>
                                <a:rPr lang="en-US" sz="1100" b="0" i="1">
                                  <a:solidFill>
                                    <a:srgbClr val="0B4F6C"/>
                                  </a:solidFill>
                                  <a:latin typeface="Cambria Math"/>
                                </a:rPr>
                              </m:ctrlPr>
                            </m:dPr>
                            <m:e>
                              <m:r>
                                <a:rPr lang="en-US" sz="1100" b="0" i="1">
                                  <a:solidFill>
                                    <a:srgbClr val="0B4F6C"/>
                                  </a:solidFill>
                                  <a:latin typeface="Cambria Math"/>
                                </a:rPr>
                                <m:t>𝑥</m:t>
                              </m:r>
                              <m:r>
                                <a:rPr lang="en-US" sz="1100" b="0" i="0">
                                  <a:solidFill>
                                    <a:srgbClr val="0B4F6C"/>
                                  </a:solidFill>
                                  <a:latin typeface="Cambria Math"/>
                                </a:rPr>
                                <m:t> + </m:t>
                              </m:r>
                              <m:f>
                                <m:fPr>
                                  <m:ctrlPr>
                                    <a:rPr lang="en-US" sz="1100" b="0" i="1">
                                      <a:solidFill>
                                        <a:srgbClr val="0B4F6C"/>
                                      </a:solidFill>
                                      <a:latin typeface="Cambria Math"/>
                                    </a:rPr>
                                  </m:ctrlPr>
                                </m:fPr>
                                <m:num>
                                  <m:r>
                                    <a:rPr lang="en-US" sz="1100" b="0" i="1">
                                      <a:solidFill>
                                        <a:srgbClr val="0B4F6C"/>
                                      </a:solidFill>
                                      <a:latin typeface="Cambria Math"/>
                                    </a:rPr>
                                    <m:t>𝐿</m:t>
                                  </m:r>
                                </m:num>
                                <m:den>
                                  <m:r>
                                    <a:rPr lang="en-US" sz="1100" b="0" i="0">
                                      <a:solidFill>
                                        <a:srgbClr val="0B4F6C"/>
                                      </a:solidFill>
                                      <a:latin typeface="Cambria Math"/>
                                    </a:rPr>
                                    <m:t>2</m:t>
                                  </m:r>
                                </m:den>
                              </m:f>
                            </m:e>
                          </m:d>
                          <m:r>
                            <a:rPr lang="en-US" sz="1100" b="0" i="0">
                              <a:solidFill>
                                <a:srgbClr val="0B4F6C"/>
                              </a:solidFill>
                              <a:latin typeface="Cambria Math"/>
                            </a:rPr>
                            <m:t>−</m:t>
                          </m:r>
                          <m:sSub>
                            <m:sSubPr>
                              <m:ctrlPr>
                                <a:rPr lang="en-US" sz="1100" b="0" i="1">
                                  <a:solidFill>
                                    <a:srgbClr val="0B4F6C"/>
                                  </a:solidFill>
                                  <a:latin typeface="Cambria Math" panose="02040503050406030204" pitchFamily="18" charset="0"/>
                                </a:rPr>
                              </m:ctrlPr>
                            </m:sSubPr>
                            <m:e>
                              <m:acc>
                                <m:accPr>
                                  <m:chr m:val="̇"/>
                                  <m:ctrlPr>
                                    <a:rPr lang="en-US" sz="1100" b="0" i="1">
                                      <a:solidFill>
                                        <a:srgbClr val="0B4F6C"/>
                                      </a:solidFill>
                                      <a:latin typeface="Cambria Math"/>
                                    </a:rPr>
                                  </m:ctrlPr>
                                </m:accPr>
                                <m:e>
                                  <m:r>
                                    <a:rPr lang="en-US" sz="1100" b="0" i="1">
                                      <a:solidFill>
                                        <a:srgbClr val="0B4F6C"/>
                                      </a:solidFill>
                                      <a:latin typeface="Cambria Math"/>
                                    </a:rPr>
                                    <m:t>𝑢</m:t>
                                  </m:r>
                                </m:e>
                              </m:acc>
                            </m:e>
                            <m:sub>
                              <m:r>
                                <m:rPr>
                                  <m:sty m:val="p"/>
                                </m:rPr>
                                <a:rPr lang="en-US" sz="1100" b="0" i="0">
                                  <a:solidFill>
                                    <a:srgbClr val="0B4F6C"/>
                                  </a:solidFill>
                                  <a:latin typeface="Cambria Math"/>
                                </a:rPr>
                                <m:t>x</m:t>
                              </m:r>
                            </m:sub>
                          </m:sSub>
                          <m:d>
                            <m:dPr>
                              <m:ctrlPr>
                                <a:rPr lang="en-US" sz="1100" b="0" i="1">
                                  <a:solidFill>
                                    <a:srgbClr val="0B4F6C"/>
                                  </a:solidFill>
                                  <a:latin typeface="Cambria Math"/>
                                </a:rPr>
                              </m:ctrlPr>
                            </m:dPr>
                            <m:e>
                              <m:r>
                                <a:rPr lang="en-US" sz="1100" b="0" i="1">
                                  <a:solidFill>
                                    <a:srgbClr val="0B4F6C"/>
                                  </a:solidFill>
                                  <a:latin typeface="Cambria Math"/>
                                </a:rPr>
                                <m:t>𝑥</m:t>
                              </m:r>
                              <m:r>
                                <a:rPr lang="en-US" sz="1100" b="0" i="0">
                                  <a:solidFill>
                                    <a:srgbClr val="0B4F6C"/>
                                  </a:solidFill>
                                  <a:latin typeface="Cambria Math"/>
                                </a:rPr>
                                <m:t>−</m:t>
                              </m:r>
                              <m:f>
                                <m:fPr>
                                  <m:ctrlPr>
                                    <a:rPr lang="en-US" sz="1100" b="0" i="1">
                                      <a:solidFill>
                                        <a:srgbClr val="0B4F6C"/>
                                      </a:solidFill>
                                      <a:latin typeface="Cambria Math"/>
                                    </a:rPr>
                                  </m:ctrlPr>
                                </m:fPr>
                                <m:num>
                                  <m:r>
                                    <a:rPr lang="en-US" sz="1100" b="0" i="1">
                                      <a:solidFill>
                                        <a:srgbClr val="0B4F6C"/>
                                      </a:solidFill>
                                      <a:latin typeface="Cambria Math"/>
                                    </a:rPr>
                                    <m:t>𝐿</m:t>
                                  </m:r>
                                </m:num>
                                <m:den>
                                  <m:r>
                                    <a:rPr lang="en-US" sz="1100" b="0" i="0">
                                      <a:solidFill>
                                        <a:srgbClr val="0B4F6C"/>
                                      </a:solidFill>
                                      <a:latin typeface="Cambria Math"/>
                                    </a:rPr>
                                    <m:t>2</m:t>
                                  </m:r>
                                </m:den>
                              </m:f>
                            </m:e>
                          </m:d>
                        </m:e>
                      </m:d>
                    </m:oMath>
                  </m:oMathPara>
                </a14:m>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9184038" y="2843784"/>
                <a:ext cx="2251642" cy="322524"/>
              </a:xfrm>
              <a:prstGeom prst="rect">
                <a:avLst/>
              </a:prstGeom>
              <a:blipFill>
                <a:blip r:embed="rId9"/>
                <a:stretch>
                  <a:fillRect t="-3846" b="-11538"/>
                </a:stretch>
              </a:blipFill>
            </p:spPr>
            <p:txBody>
              <a:bodyPr/>
              <a:lstStyle/>
              <a:p>
                <a:r>
                  <a:rPr lang="en-IL">
                    <a:noFill/>
                  </a:rPr>
                  <a:t> </a:t>
                </a:r>
              </a:p>
            </p:txBody>
          </p:sp>
        </mc:Fallback>
      </mc:AlternateContent>
      <p:sp>
        <p:nvSpPr>
          <p:cNvPr id="44" name="Rectangle 43"/>
          <p:cNvSpPr/>
          <p:nvPr/>
        </p:nvSpPr>
        <p:spPr>
          <a:xfrm>
            <a:off x="8915400" y="3355848"/>
            <a:ext cx="2788920" cy="9525"/>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915400" y="3465576"/>
            <a:ext cx="2788920" cy="219456"/>
          </a:xfrm>
          <a:prstGeom prst="rect">
            <a:avLst/>
          </a:prstGeom>
          <a:noFill/>
        </p:spPr>
        <p:txBody>
          <a:bodyPr wrap="square" lIns="0" tIns="0" rIns="0" bIns="0" anchor="t">
            <a:spAutoFit/>
          </a:bodyPr>
          <a:lstStyle/>
          <a:p>
            <a:pPr algn="l">
              <a:lnSpc>
                <a:spcPct val="100000"/>
              </a:lnSpc>
              <a:spcAft>
                <a:spcPts val="0"/>
              </a:spcAft>
            </a:pPr>
            <a:r>
              <a:rPr sz="1000" b="1" i="0">
                <a:solidFill>
                  <a:srgbClr val="1C7293"/>
                </a:solidFill>
                <a:latin typeface="Cambria"/>
              </a:rPr>
              <a:t>IN SIMSTUDIO WE INVERT THIS</a:t>
            </a:r>
          </a:p>
        </p:txBody>
      </p:sp>
      <p:sp>
        <p:nvSpPr>
          <p:cNvPr id="46" name="TextBox 45"/>
          <p:cNvSpPr txBox="1"/>
          <p:nvPr/>
        </p:nvSpPr>
        <p:spPr>
          <a:xfrm>
            <a:off x="8915400" y="3739896"/>
            <a:ext cx="2788920" cy="309187"/>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SPEED</a:t>
            </a:r>
            <a:r>
              <a:rPr lang="en-US" sz="900" b="0" i="0">
                <a:solidFill>
                  <a:srgbClr val="33424D"/>
                </a:solidFill>
                <a:latin typeface="Calibri"/>
              </a:rPr>
              <a:t>,</a:t>
            </a:r>
            <a:r>
              <a:rPr sz="900" b="0" i="0">
                <a:solidFill>
                  <a:srgbClr val="33424D"/>
                </a:solidFill>
                <a:latin typeface="Calibri"/>
              </a:rPr>
              <a:t> a vehicle lights up successive channels; the slope of the streak (panel C):</a:t>
            </a:r>
          </a:p>
        </p:txBody>
      </p:sp>
      <mc:AlternateContent xmlns:mc="http://schemas.openxmlformats.org/markup-compatibility/2006" xmlns:a14="http://schemas.microsoft.com/office/drawing/2010/main">
        <mc:Choice Requires="a14">
          <p:sp>
            <p:nvSpPr>
              <p:cNvPr id="47" name="TextBox 46"/>
              <p:cNvSpPr txBox="1"/>
              <p:nvPr/>
            </p:nvSpPr>
            <p:spPr>
              <a:xfrm>
                <a:off x="9829800" y="4050792"/>
                <a:ext cx="960120" cy="438912"/>
              </a:xfrm>
              <a:prstGeom prst="rect">
                <a:avLst/>
              </a:prstGeom>
              <a:noFill/>
            </p:spPr>
            <p:txBody>
              <a:bodyPr wrap="none" lIns="0" tIns="0" rIns="0" bIns="0">
                <a:spAutoFit/>
              </a:bodyPr>
              <a:lstStyle/>
              <a:p>
                <a:pPr algn="ctr"/>
                <a14:m>
                  <m:oMathPara xmlns:m="http://schemas.openxmlformats.org/officeDocument/2006/math">
                    <m:oMathParaPr>
                      <m:jc m:val="center"/>
                    </m:oMathParaPr>
                    <m:oMath>
                      <m:r>
                        <a:rPr lang="en-US" sz="1100" b="0" i="1">
                          <a:solidFill>
                            <a:srgbClr val="0B4F6C"/>
                          </a:solidFill>
                          <a:latin typeface="Cambria Math"/>
                        </a:rPr>
                        <m:t>𝑣</m:t>
                      </m:r>
                      <m:r>
                        <a:rPr lang="en-US" sz="1100" b="0" i="0">
                          <a:solidFill>
                            <a:srgbClr val="0B4F6C"/>
                          </a:solidFill>
                          <a:latin typeface="Cambria Math"/>
                        </a:rPr>
                        <m:t> = </m:t>
                      </m:r>
                      <m:f>
                        <m:fPr>
                          <m:ctrlPr>
                            <a:rPr lang="en-US" sz="1100" b="0" i="0">
                              <a:solidFill>
                                <a:srgbClr val="0B4F6C"/>
                              </a:solidFill>
                              <a:latin typeface="Cambria Math"/>
                            </a:rPr>
                          </m:ctrlPr>
                        </m:fPr>
                        <m:num>
                          <m:r>
                            <m:rPr>
                              <m:sty m:val="p"/>
                            </m:rPr>
                            <a:rPr lang="en-US" sz="1100" b="0" i="0">
                              <a:solidFill>
                                <a:srgbClr val="0B4F6C"/>
                              </a:solidFill>
                              <a:latin typeface="Cambria Math"/>
                            </a:rPr>
                            <m:t>Δ</m:t>
                          </m:r>
                          <m:r>
                            <m:rPr>
                              <m:sty m:val="p"/>
                            </m:rPr>
                            <a:rPr lang="en-US" sz="1100" b="0" i="1">
                              <a:solidFill>
                                <a:srgbClr val="0B4F6C"/>
                              </a:solidFill>
                              <a:latin typeface="Cambria Math"/>
                            </a:rPr>
                            <m:t>ℓ</m:t>
                          </m:r>
                        </m:num>
                        <m:den>
                          <m:r>
                            <m:rPr>
                              <m:sty m:val="p"/>
                            </m:rPr>
                            <a:rPr lang="en-US" sz="1100" b="0" i="0">
                              <a:solidFill>
                                <a:srgbClr val="0B4F6C"/>
                              </a:solidFill>
                              <a:latin typeface="Cambria Math"/>
                            </a:rPr>
                            <m:t>Δ</m:t>
                          </m:r>
                          <m:r>
                            <a:rPr lang="en-US" sz="1100" b="0" i="1">
                              <a:solidFill>
                                <a:srgbClr val="0B4F6C"/>
                              </a:solidFill>
                              <a:latin typeface="Cambria Math"/>
                            </a:rPr>
                            <m:t>𝑡</m:t>
                          </m:r>
                        </m:den>
                      </m:f>
                    </m:oMath>
                  </m:oMathPara>
                </a14:m>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9829800" y="4050792"/>
                <a:ext cx="960120" cy="438912"/>
              </a:xfrm>
              <a:prstGeom prst="rect">
                <a:avLst/>
              </a:prstGeom>
              <a:blipFill>
                <a:blip r:embed="rId10"/>
                <a:stretch>
                  <a:fillRect/>
                </a:stretch>
              </a:blipFill>
            </p:spPr>
            <p:txBody>
              <a:bodyPr/>
              <a:lstStyle/>
              <a:p>
                <a:r>
                  <a:rPr lang="en-IL">
                    <a:noFill/>
                  </a:rPr>
                  <a:t> </a:t>
                </a:r>
              </a:p>
            </p:txBody>
          </p:sp>
        </mc:Fallback>
      </mc:AlternateContent>
      <p:sp>
        <p:nvSpPr>
          <p:cNvPr id="48" name="TextBox 47"/>
          <p:cNvSpPr txBox="1"/>
          <p:nvPr/>
        </p:nvSpPr>
        <p:spPr>
          <a:xfrm>
            <a:off x="8915400" y="4581144"/>
            <a:ext cx="2788920" cy="309187"/>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WEIGHT</a:t>
            </a:r>
            <a:r>
              <a:rPr lang="en-US" sz="900" b="0" i="0">
                <a:solidFill>
                  <a:srgbClr val="33424D"/>
                </a:solidFill>
                <a:latin typeface="Calibri"/>
              </a:rPr>
              <a:t>,</a:t>
            </a:r>
            <a:r>
              <a:rPr sz="900" b="0" i="0">
                <a:solidFill>
                  <a:srgbClr val="33424D"/>
                </a:solidFill>
                <a:latin typeface="Calibri"/>
              </a:rPr>
              <a:t> invert the amplitude decay, corrected for the distance r to the fiber (panel D):</a:t>
            </a:r>
          </a:p>
        </p:txBody>
      </p:sp>
      <mc:AlternateContent xmlns:mc="http://schemas.openxmlformats.org/markup-compatibility/2006" xmlns:a14="http://schemas.microsoft.com/office/drawing/2010/main">
        <mc:Choice Requires="a14">
          <p:sp>
            <p:nvSpPr>
              <p:cNvPr id="49" name="TextBox 48"/>
              <p:cNvSpPr txBox="1"/>
              <p:nvPr/>
            </p:nvSpPr>
            <p:spPr>
              <a:xfrm>
                <a:off x="9237749" y="4981771"/>
                <a:ext cx="2297937" cy="645433"/>
              </a:xfrm>
              <a:prstGeom prst="rect">
                <a:avLst/>
              </a:prstGeom>
              <a:noFill/>
            </p:spPr>
            <p:txBody>
              <a:bodyPr wrap="none" lIns="0" tIns="0" rIns="0" bIns="0">
                <a:spAutoFit/>
              </a:bodyPr>
              <a:lstStyle/>
              <a:p>
                <a:pPr algn="ctr"/>
                <a14:m>
                  <m:oMathPara xmlns:m="http://schemas.openxmlformats.org/officeDocument/2006/math">
                    <m:oMathParaPr>
                      <m:jc m:val="center"/>
                    </m:oMathParaPr>
                    <m:oMath>
                      <m:r>
                        <a:rPr lang="en-US" sz="1100" i="1" smtClean="0">
                          <a:solidFill>
                            <a:srgbClr val="0B4F6C"/>
                          </a:solidFill>
                          <a:latin typeface="Cambria Math"/>
                        </a:rPr>
                        <m:t>𝑊</m:t>
                      </m:r>
                      <m:r>
                        <a:rPr lang="en-US" sz="1100" i="1" smtClean="0">
                          <a:solidFill>
                            <a:srgbClr val="0B4F6C"/>
                          </a:solidFill>
                          <a:latin typeface="Cambria Math"/>
                        </a:rPr>
                        <m:t>=</m:t>
                      </m:r>
                      <m:f>
                        <m:fPr>
                          <m:ctrlPr>
                            <a:rPr lang="en-US" sz="1100" i="1">
                              <a:solidFill>
                                <a:srgbClr val="0B4F6C"/>
                              </a:solidFill>
                              <a:latin typeface="Cambria Math"/>
                            </a:rPr>
                          </m:ctrlPr>
                        </m:fPr>
                        <m:num>
                          <m:r>
                            <a:rPr lang="en-US" sz="1100" i="1">
                              <a:solidFill>
                                <a:srgbClr val="0B4F6C"/>
                              </a:solidFill>
                              <a:latin typeface="Cambria Math"/>
                            </a:rPr>
                            <m:t>𝐴</m:t>
                          </m:r>
                          <m:sSup>
                            <m:sSupPr>
                              <m:ctrlPr>
                                <a:rPr lang="en-US" sz="1100" i="1">
                                  <a:solidFill>
                                    <a:srgbClr val="0B4F6C"/>
                                  </a:solidFill>
                                  <a:latin typeface="Cambria Math" panose="02040503050406030204" pitchFamily="18" charset="0"/>
                                </a:rPr>
                              </m:ctrlPr>
                            </m:sSupPr>
                            <m:e>
                              <m:d>
                                <m:dPr>
                                  <m:ctrlPr>
                                    <a:rPr lang="en-US" sz="1100" i="1">
                                      <a:solidFill>
                                        <a:srgbClr val="0B4F6C"/>
                                      </a:solidFill>
                                      <a:latin typeface="Cambria Math"/>
                                    </a:rPr>
                                  </m:ctrlPr>
                                </m:dPr>
                                <m:e>
                                  <m:r>
                                    <a:rPr lang="en-US" sz="1100" i="1">
                                      <a:solidFill>
                                        <a:srgbClr val="0B4F6C"/>
                                      </a:solidFill>
                                      <a:latin typeface="Cambria Math"/>
                                    </a:rPr>
                                    <m:t>𝑟</m:t>
                                  </m:r>
                                  <m:r>
                                    <a:rPr lang="en-US" sz="1100" i="1">
                                      <a:solidFill>
                                        <a:srgbClr val="0B4F6C"/>
                                      </a:solidFill>
                                      <a:latin typeface="Cambria Math"/>
                                    </a:rPr>
                                    <m:t>+</m:t>
                                  </m:r>
                                  <m:sSub>
                                    <m:sSubPr>
                                      <m:ctrlPr>
                                        <a:rPr lang="en-US" sz="1100" i="1">
                                          <a:solidFill>
                                            <a:srgbClr val="0B4F6C"/>
                                          </a:solidFill>
                                          <a:latin typeface="Cambria Math"/>
                                        </a:rPr>
                                      </m:ctrlPr>
                                    </m:sSubPr>
                                    <m:e>
                                      <m:r>
                                        <a:rPr lang="en-US" sz="1100" i="1">
                                          <a:solidFill>
                                            <a:srgbClr val="0B4F6C"/>
                                          </a:solidFill>
                                          <a:latin typeface="Cambria Math"/>
                                        </a:rPr>
                                        <m:t>𝑑</m:t>
                                      </m:r>
                                    </m:e>
                                    <m:sub>
                                      <m:r>
                                        <a:rPr lang="en-US" sz="1100" i="1">
                                          <a:solidFill>
                                            <a:srgbClr val="0B4F6C"/>
                                          </a:solidFill>
                                          <a:latin typeface="Cambria Math"/>
                                        </a:rPr>
                                        <m:t>0</m:t>
                                      </m:r>
                                    </m:sub>
                                  </m:sSub>
                                </m:e>
                              </m:d>
                            </m:e>
                            <m:sup>
                              <m:r>
                                <a:rPr lang="en-US" sz="1100" i="1">
                                  <a:solidFill>
                                    <a:srgbClr val="0B4F6C"/>
                                  </a:solidFill>
                                  <a:latin typeface="Cambria Math"/>
                                </a:rPr>
                                <m:t>2</m:t>
                              </m:r>
                            </m:sup>
                          </m:sSup>
                        </m:num>
                        <m:den>
                          <m:r>
                            <a:rPr lang="en-US" sz="1100" i="1">
                              <a:solidFill>
                                <a:srgbClr val="0B4F6C"/>
                              </a:solidFill>
                              <a:latin typeface="Cambria Math"/>
                            </a:rPr>
                            <m:t>𝑘</m:t>
                          </m:r>
                        </m:den>
                      </m:f>
                      <m:r>
                        <a:rPr lang="en-US" sz="1100" i="1">
                          <a:solidFill>
                            <a:srgbClr val="0B4F6C"/>
                          </a:solidFill>
                          <a:latin typeface="Cambria Math"/>
                        </a:rPr>
                        <m:t>,</m:t>
                      </m:r>
                      <m:r>
                        <a:rPr lang="en-US" sz="1100" b="0" i="1" smtClean="0">
                          <a:solidFill>
                            <a:srgbClr val="0B4F6C"/>
                          </a:solidFill>
                          <a:latin typeface="Cambria Math" panose="02040503050406030204" pitchFamily="18" charset="0"/>
                        </a:rPr>
                        <m:t>  </m:t>
                      </m:r>
                      <m:r>
                        <a:rPr lang="en-IL" sz="1100" b="0" i="1">
                          <a:solidFill>
                            <a:srgbClr val="0B4F6C"/>
                          </a:solidFill>
                          <a:latin typeface="Cambria Math"/>
                        </a:rPr>
                        <m:t>𝐴</m:t>
                      </m:r>
                      <m:r>
                        <a:rPr lang="en-US" sz="1100" b="0" i="1" smtClean="0">
                          <a:solidFill>
                            <a:srgbClr val="0B4F6C"/>
                          </a:solidFill>
                          <a:latin typeface="Cambria Math" panose="02040503050406030204" pitchFamily="18" charset="0"/>
                        </a:rPr>
                        <m:t>=</m:t>
                      </m:r>
                      <m:r>
                        <a:rPr lang="en-US" sz="1100" b="0" i="1" smtClean="0">
                          <a:solidFill>
                            <a:srgbClr val="0B4F6C"/>
                          </a:solidFill>
                          <a:latin typeface="Cambria Math" panose="02040503050406030204" pitchFamily="18" charset="0"/>
                        </a:rPr>
                        <m:t>𝑘</m:t>
                      </m:r>
                      <m:f>
                        <m:fPr>
                          <m:ctrlPr>
                            <a:rPr lang="en-US" sz="1100" b="0" i="1" smtClean="0">
                              <a:solidFill>
                                <a:srgbClr val="0B4F6C"/>
                              </a:solidFill>
                              <a:latin typeface="Cambria Math" panose="02040503050406030204" pitchFamily="18" charset="0"/>
                            </a:rPr>
                          </m:ctrlPr>
                        </m:fPr>
                        <m:num>
                          <m:r>
                            <a:rPr lang="en-US" sz="1100" b="0" i="1" smtClean="0">
                              <a:solidFill>
                                <a:srgbClr val="0B4F6C"/>
                              </a:solidFill>
                              <a:latin typeface="Cambria Math" panose="02040503050406030204" pitchFamily="18" charset="0"/>
                            </a:rPr>
                            <m:t>𝑊</m:t>
                          </m:r>
                        </m:num>
                        <m:den>
                          <m:sSup>
                            <m:sSupPr>
                              <m:ctrlPr>
                                <a:rPr lang="en-IL" sz="1100" i="1">
                                  <a:solidFill>
                                    <a:srgbClr val="0B4F6C"/>
                                  </a:solidFill>
                                  <a:latin typeface="Cambria Math" panose="02040503050406030204" pitchFamily="18" charset="0"/>
                                </a:rPr>
                              </m:ctrlPr>
                            </m:sSupPr>
                            <m:e>
                              <m:d>
                                <m:dPr>
                                  <m:ctrlPr>
                                    <a:rPr lang="en-IL" sz="1100" i="1">
                                      <a:solidFill>
                                        <a:srgbClr val="0B4F6C"/>
                                      </a:solidFill>
                                      <a:latin typeface="Cambria Math"/>
                                    </a:rPr>
                                  </m:ctrlPr>
                                </m:dPr>
                                <m:e>
                                  <m:r>
                                    <a:rPr lang="en-IL" sz="1100" i="1">
                                      <a:solidFill>
                                        <a:srgbClr val="0B4F6C"/>
                                      </a:solidFill>
                                      <a:latin typeface="Cambria Math"/>
                                    </a:rPr>
                                    <m:t>𝑟</m:t>
                                  </m:r>
                                  <m:r>
                                    <a:rPr lang="en-IL" sz="1100" i="1">
                                      <a:solidFill>
                                        <a:srgbClr val="0B4F6C"/>
                                      </a:solidFill>
                                      <a:latin typeface="Cambria Math"/>
                                    </a:rPr>
                                    <m:t>+</m:t>
                                  </m:r>
                                  <m:sSub>
                                    <m:sSubPr>
                                      <m:ctrlPr>
                                        <a:rPr lang="en-IL" sz="1100" i="1">
                                          <a:solidFill>
                                            <a:srgbClr val="0B4F6C"/>
                                          </a:solidFill>
                                          <a:latin typeface="Cambria Math"/>
                                        </a:rPr>
                                      </m:ctrlPr>
                                    </m:sSubPr>
                                    <m:e>
                                      <m:r>
                                        <a:rPr lang="en-IL" sz="1100" i="1">
                                          <a:solidFill>
                                            <a:srgbClr val="0B4F6C"/>
                                          </a:solidFill>
                                          <a:latin typeface="Cambria Math"/>
                                        </a:rPr>
                                        <m:t>𝑑</m:t>
                                      </m:r>
                                    </m:e>
                                    <m:sub>
                                      <m:r>
                                        <a:rPr lang="en-IL" sz="1100" i="1">
                                          <a:solidFill>
                                            <a:srgbClr val="0B4F6C"/>
                                          </a:solidFill>
                                          <a:latin typeface="Cambria Math"/>
                                        </a:rPr>
                                        <m:t>0</m:t>
                                      </m:r>
                                    </m:sub>
                                  </m:sSub>
                                </m:e>
                              </m:d>
                            </m:e>
                            <m:sup>
                              <m:r>
                                <a:rPr lang="en-US" sz="1100" b="0" i="1" smtClean="0">
                                  <a:solidFill>
                                    <a:srgbClr val="0B4F6C"/>
                                  </a:solidFill>
                                  <a:latin typeface="Cambria Math" panose="02040503050406030204" pitchFamily="18" charset="0"/>
                                </a:rPr>
                                <m:t>2</m:t>
                              </m:r>
                            </m:sup>
                          </m:sSup>
                        </m:den>
                      </m:f>
                    </m:oMath>
                  </m:oMathPara>
                </a14:m>
                <a:endParaRPr lang="en-IL" sz="1100" i="1">
                  <a:solidFill>
                    <a:srgbClr val="0B4F6C"/>
                  </a:solidFill>
                  <a:latin typeface="Cambria Math"/>
                </a:endParaRPr>
              </a:p>
              <a:p>
                <a:pPr algn="ctr"/>
                <a:endParaRPr/>
              </a:p>
            </p:txBody>
          </p:sp>
        </mc:Choice>
        <mc:Fallback xmlns="">
          <p:sp>
            <p:nvSpPr>
              <p:cNvPr id="49" name="TextBox 48"/>
              <p:cNvSpPr txBox="1">
                <a:spLocks noRot="1" noChangeAspect="1" noMove="1" noResize="1" noEditPoints="1" noAdjustHandles="1" noChangeArrowheads="1" noChangeShapeType="1" noTextEdit="1"/>
              </p:cNvSpPr>
              <p:nvPr/>
            </p:nvSpPr>
            <p:spPr>
              <a:xfrm>
                <a:off x="9237749" y="4981771"/>
                <a:ext cx="2297937" cy="645433"/>
              </a:xfrm>
              <a:prstGeom prst="rect">
                <a:avLst/>
              </a:prstGeom>
              <a:blipFill>
                <a:blip r:embed="rId11"/>
                <a:stretch>
                  <a:fillRect l="-1648"/>
                </a:stretch>
              </a:blipFill>
            </p:spPr>
            <p:txBody>
              <a:bodyPr/>
              <a:lstStyle/>
              <a:p>
                <a:r>
                  <a:rPr lang="en-IL">
                    <a:noFill/>
                  </a:rPr>
                  <a:t> </a:t>
                </a:r>
              </a:p>
            </p:txBody>
          </p:sp>
        </mc:Fallback>
      </mc:AlternateContent>
      <p:sp>
        <p:nvSpPr>
          <p:cNvPr id="50" name="TextBox 49"/>
          <p:cNvSpPr txBox="1"/>
          <p:nvPr/>
        </p:nvSpPr>
        <p:spPr>
          <a:xfrm>
            <a:off x="8915400" y="5440680"/>
            <a:ext cx="2788920" cy="526363"/>
          </a:xfrm>
          <a:prstGeom prst="rect">
            <a:avLst/>
          </a:prstGeom>
          <a:noFill/>
        </p:spPr>
        <p:txBody>
          <a:bodyPr wrap="square" lIns="0" tIns="0" rIns="0" bIns="0" anchor="t">
            <a:spAutoFit/>
          </a:bodyPr>
          <a:lstStyle/>
          <a:p>
            <a:pPr>
              <a:lnSpc>
                <a:spcPct val="110000"/>
              </a:lnSpc>
              <a:spcAft>
                <a:spcPts val="300"/>
              </a:spcAft>
            </a:pPr>
            <a:r>
              <a:rPr sz="900" b="1">
                <a:solidFill>
                  <a:srgbClr val="1C7293"/>
                </a:solidFill>
                <a:latin typeface="Calibri"/>
              </a:rPr>
              <a:t>•   </a:t>
            </a:r>
            <a:r>
              <a:rPr sz="900" b="1">
                <a:solidFill>
                  <a:srgbClr val="33424D"/>
                </a:solidFill>
                <a:latin typeface="Calibri"/>
              </a:rPr>
              <a:t>position</a:t>
            </a:r>
            <a:r>
              <a:rPr lang="en-US" sz="900">
                <a:solidFill>
                  <a:srgbClr val="33424D"/>
                </a:solidFill>
                <a:latin typeface="Calibri"/>
              </a:rPr>
              <a:t>,</a:t>
            </a:r>
            <a:r>
              <a:rPr sz="900" b="0">
                <a:solidFill>
                  <a:srgbClr val="33424D"/>
                </a:solidFill>
                <a:latin typeface="Calibri"/>
              </a:rPr>
              <a:t> the channel index that fires</a:t>
            </a:r>
          </a:p>
          <a:p>
            <a:pPr>
              <a:lnSpc>
                <a:spcPct val="110000"/>
              </a:lnSpc>
              <a:spcAft>
                <a:spcPts val="300"/>
              </a:spcAft>
            </a:pPr>
            <a:r>
              <a:rPr sz="900" b="1">
                <a:solidFill>
                  <a:srgbClr val="1C7293"/>
                </a:solidFill>
                <a:latin typeface="Calibri"/>
              </a:rPr>
              <a:t>•   </a:t>
            </a:r>
            <a:r>
              <a:rPr sz="900" b="1">
                <a:solidFill>
                  <a:srgbClr val="33424D"/>
                </a:solidFill>
                <a:latin typeface="Calibri"/>
              </a:rPr>
              <a:t>acceleration</a:t>
            </a:r>
            <a:r>
              <a:rPr lang="en-US" sz="900">
                <a:solidFill>
                  <a:srgbClr val="33424D"/>
                </a:solidFill>
                <a:latin typeface="Calibri"/>
              </a:rPr>
              <a:t>,</a:t>
            </a:r>
            <a:r>
              <a:rPr sz="900" b="0">
                <a:solidFill>
                  <a:srgbClr val="33424D"/>
                </a:solidFill>
                <a:latin typeface="Calibri"/>
              </a:rPr>
              <a:t> dv/dt along the track</a:t>
            </a:r>
          </a:p>
          <a:p>
            <a:pPr>
              <a:lnSpc>
                <a:spcPct val="110000"/>
              </a:lnSpc>
              <a:spcAft>
                <a:spcPts val="300"/>
              </a:spcAft>
            </a:pPr>
            <a:r>
              <a:rPr sz="900" b="1">
                <a:solidFill>
                  <a:srgbClr val="1C7293"/>
                </a:solidFill>
                <a:latin typeface="Calibri"/>
              </a:rPr>
              <a:t>•   </a:t>
            </a:r>
            <a:r>
              <a:rPr sz="900" b="0">
                <a:solidFill>
                  <a:srgbClr val="33424D"/>
                </a:solidFill>
                <a:latin typeface="Calibri"/>
              </a:rPr>
              <a:t>band &lt; 1 Hz: the vehicle's load, not street noise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Engineering Motivation &amp; Goals</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4</a:t>
            </a:r>
          </a:p>
        </p:txBody>
      </p:sp>
      <p:sp>
        <p:nvSpPr>
          <p:cNvPr id="7" name="TextBox 6"/>
          <p:cNvSpPr txBox="1"/>
          <p:nvPr/>
        </p:nvSpPr>
        <p:spPr>
          <a:xfrm>
            <a:off x="594360" y="1325880"/>
            <a:ext cx="5029200" cy="2066912"/>
          </a:xfrm>
          <a:prstGeom prst="rect">
            <a:avLst/>
          </a:prstGeom>
          <a:noFill/>
        </p:spPr>
        <p:txBody>
          <a:bodyPr wrap="square" lIns="0" tIns="0" rIns="0" bIns="0" anchor="t">
            <a:spAutoFit/>
          </a:bodyPr>
          <a:lstStyle/>
          <a:p>
            <a:pPr marL="171450" indent="-171450">
              <a:lnSpc>
                <a:spcPct val="108000"/>
              </a:lnSpc>
              <a:spcAft>
                <a:spcPts val="1200"/>
              </a:spcAft>
              <a:buFont typeface="Courier New" panose="02070309020205020404" pitchFamily="49" charset="0"/>
              <a:buChar char="o"/>
            </a:pPr>
            <a:r>
              <a:rPr lang="en-US" sz="1200">
                <a:solidFill>
                  <a:srgbClr val="33373B"/>
                </a:solidFill>
              </a:rPr>
              <a:t>Re-use existing infrastructure. the fiber already exists, so no extra hardware is needed and incremental cost is low.</a:t>
            </a:r>
          </a:p>
          <a:p>
            <a:pPr marL="171450" indent="-171450">
              <a:lnSpc>
                <a:spcPct val="108000"/>
              </a:lnSpc>
              <a:spcAft>
                <a:spcPts val="1200"/>
              </a:spcAft>
              <a:buFont typeface="Courier New" panose="02070309020205020404" pitchFamily="49" charset="0"/>
              <a:buChar char="o"/>
            </a:pPr>
            <a:r>
              <a:rPr lang="en-US" sz="1200">
                <a:solidFill>
                  <a:srgbClr val="33373B"/>
                </a:solidFill>
              </a:rPr>
              <a:t>Every meter of fiber is an independent channel. a passing vehicle leaves a moving signature whose amplitude encodes its weight and whose slope across channels encodes its speed.</a:t>
            </a:r>
          </a:p>
          <a:p>
            <a:pPr marL="171450" indent="-171450">
              <a:lnSpc>
                <a:spcPct val="108000"/>
              </a:lnSpc>
              <a:spcAft>
                <a:spcPts val="1200"/>
              </a:spcAft>
              <a:buFont typeface="Courier New" panose="02070309020205020404" pitchFamily="49" charset="0"/>
              <a:buChar char="o"/>
            </a:pPr>
            <a:r>
              <a:rPr lang="en-US" sz="1200">
                <a:solidFill>
                  <a:srgbClr val="33373B"/>
                </a:solidFill>
              </a:rPr>
              <a:t>Continuous spatial coverage over tens of kilometers from a single cable, robust to lighting and weather.</a:t>
            </a:r>
          </a:p>
          <a:p>
            <a:pPr>
              <a:lnSpc>
                <a:spcPct val="105000"/>
              </a:lnSpc>
              <a:spcAft>
                <a:spcPts val="1100"/>
              </a:spcAft>
            </a:pPr>
            <a:endParaRPr sz="1350" b="0">
              <a:solidFill>
                <a:srgbClr val="33424D"/>
              </a:solidFill>
              <a:latin typeface="Calibri"/>
            </a:endParaRPr>
          </a:p>
        </p:txBody>
      </p:sp>
      <p:sp>
        <p:nvSpPr>
          <p:cNvPr id="8" name="TextBox 7"/>
          <p:cNvSpPr txBox="1"/>
          <p:nvPr/>
        </p:nvSpPr>
        <p:spPr>
          <a:xfrm>
            <a:off x="594360" y="4206240"/>
            <a:ext cx="5029200" cy="891847"/>
          </a:xfrm>
          <a:prstGeom prst="rect">
            <a:avLst/>
          </a:prstGeom>
          <a:noFill/>
        </p:spPr>
        <p:txBody>
          <a:bodyPr wrap="square" lIns="0" tIns="0" rIns="0" bIns="0" anchor="t">
            <a:spAutoFit/>
          </a:bodyPr>
          <a:lstStyle/>
          <a:p>
            <a:pPr algn="l">
              <a:lnSpc>
                <a:spcPct val="100000"/>
              </a:lnSpc>
              <a:spcAft>
                <a:spcPts val="300"/>
              </a:spcAft>
            </a:pPr>
            <a:r>
              <a:rPr sz="1350" b="1" i="0">
                <a:solidFill>
                  <a:srgbClr val="0B4F6C"/>
                </a:solidFill>
                <a:latin typeface="Calibri"/>
              </a:rPr>
              <a:t>Research question:</a:t>
            </a:r>
          </a:p>
          <a:p>
            <a:pPr algn="l">
              <a:lnSpc>
                <a:spcPct val="105000"/>
              </a:lnSpc>
              <a:spcAft>
                <a:spcPts val="0"/>
              </a:spcAft>
            </a:pPr>
            <a:r>
              <a:rPr sz="1350" b="0" i="0">
                <a:solidFill>
                  <a:srgbClr val="33424D"/>
                </a:solidFill>
                <a:latin typeface="Calibri"/>
              </a:rPr>
              <a:t>Can fusing DAS with camera and GPS reliably track individual vehicles across a road network, and detect anomalous behavior from the fused signal alone?</a:t>
            </a:r>
          </a:p>
        </p:txBody>
      </p:sp>
      <p:sp>
        <p:nvSpPr>
          <p:cNvPr id="9" name="TextBox 8"/>
          <p:cNvSpPr txBox="1"/>
          <p:nvPr/>
        </p:nvSpPr>
        <p:spPr>
          <a:xfrm>
            <a:off x="6400800" y="1170432"/>
            <a:ext cx="4754880" cy="274320"/>
          </a:xfrm>
          <a:prstGeom prst="rect">
            <a:avLst/>
          </a:prstGeom>
          <a:noFill/>
        </p:spPr>
        <p:txBody>
          <a:bodyPr wrap="square" lIns="0" tIns="0" rIns="0" bIns="0" anchor="t">
            <a:spAutoFit/>
          </a:bodyPr>
          <a:lstStyle/>
          <a:p>
            <a:pPr algn="l">
              <a:lnSpc>
                <a:spcPct val="100000"/>
              </a:lnSpc>
              <a:spcAft>
                <a:spcPts val="0"/>
              </a:spcAft>
            </a:pPr>
            <a:r>
              <a:rPr sz="1200" b="1" i="0">
                <a:solidFill>
                  <a:srgbClr val="1C7293"/>
                </a:solidFill>
                <a:latin typeface="Cambria"/>
              </a:rPr>
              <a:t>PROJECT TARGETS  →  ACHIEVED</a:t>
            </a:r>
          </a:p>
        </p:txBody>
      </p:sp>
      <p:sp>
        <p:nvSpPr>
          <p:cNvPr id="10" name="Rounded Rectangle 9"/>
          <p:cNvSpPr/>
          <p:nvPr/>
        </p:nvSpPr>
        <p:spPr>
          <a:xfrm>
            <a:off x="6400800" y="1572768"/>
            <a:ext cx="4754880" cy="621792"/>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83680" y="1655064"/>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Cross-street tracking</a:t>
            </a:r>
          </a:p>
          <a:p>
            <a:pPr algn="l">
              <a:lnSpc>
                <a:spcPct val="100000"/>
              </a:lnSpc>
              <a:spcAft>
                <a:spcPts val="0"/>
              </a:spcAft>
            </a:pPr>
            <a:r>
              <a:rPr sz="950" b="0" i="1">
                <a:solidFill>
                  <a:srgbClr val="6B7A85"/>
                </a:solidFill>
                <a:latin typeface="Calibri"/>
              </a:rPr>
              <a:t>target ≥ 90% accuracy</a:t>
            </a:r>
          </a:p>
        </p:txBody>
      </p:sp>
      <p:sp>
        <p:nvSpPr>
          <p:cNvPr id="12" name="TextBox 11"/>
          <p:cNvSpPr txBox="1"/>
          <p:nvPr/>
        </p:nvSpPr>
        <p:spPr>
          <a:xfrm>
            <a:off x="9372600" y="1755648"/>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Sub-metre RMSE</a:t>
            </a:r>
          </a:p>
        </p:txBody>
      </p:sp>
      <p:sp>
        <p:nvSpPr>
          <p:cNvPr id="13" name="Rounded Rectangle 12"/>
          <p:cNvSpPr/>
          <p:nvPr/>
        </p:nvSpPr>
        <p:spPr>
          <a:xfrm>
            <a:off x="6400800" y="2244852"/>
            <a:ext cx="4754880" cy="621792"/>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583680" y="2327148"/>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Position / speed tolerance</a:t>
            </a:r>
          </a:p>
          <a:p>
            <a:pPr algn="l">
              <a:lnSpc>
                <a:spcPct val="100000"/>
              </a:lnSpc>
              <a:spcAft>
                <a:spcPts val="0"/>
              </a:spcAft>
            </a:pPr>
            <a:r>
              <a:rPr sz="950" b="0" i="1">
                <a:solidFill>
                  <a:srgbClr val="6B7A85"/>
                </a:solidFill>
                <a:latin typeface="Calibri"/>
              </a:rPr>
              <a:t>target ≤ ±5 m</a:t>
            </a:r>
          </a:p>
        </p:txBody>
      </p:sp>
      <p:sp>
        <p:nvSpPr>
          <p:cNvPr id="15" name="TextBox 14"/>
          <p:cNvSpPr txBox="1"/>
          <p:nvPr/>
        </p:nvSpPr>
        <p:spPr>
          <a:xfrm>
            <a:off x="9372600" y="2427732"/>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Max error 1.52 m</a:t>
            </a:r>
          </a:p>
        </p:txBody>
      </p:sp>
      <p:sp>
        <p:nvSpPr>
          <p:cNvPr id="16" name="Rounded Rectangle 15"/>
          <p:cNvSpPr/>
          <p:nvPr/>
        </p:nvSpPr>
        <p:spPr>
          <a:xfrm>
            <a:off x="6400800" y="2916936"/>
            <a:ext cx="4754880" cy="621792"/>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583680" y="2999232"/>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Anomaly detection</a:t>
            </a:r>
          </a:p>
          <a:p>
            <a:pPr algn="l">
              <a:lnSpc>
                <a:spcPct val="100000"/>
              </a:lnSpc>
              <a:spcAft>
                <a:spcPts val="0"/>
              </a:spcAft>
            </a:pPr>
            <a:r>
              <a:rPr sz="950" b="0" i="1">
                <a:solidFill>
                  <a:srgbClr val="6B7A85"/>
                </a:solidFill>
                <a:latin typeface="Calibri"/>
              </a:rPr>
              <a:t>target ≥ 5 / 10 scenarios</a:t>
            </a:r>
          </a:p>
        </p:txBody>
      </p:sp>
      <p:sp>
        <p:nvSpPr>
          <p:cNvPr id="18" name="TextBox 17"/>
          <p:cNvSpPr txBox="1"/>
          <p:nvPr/>
        </p:nvSpPr>
        <p:spPr>
          <a:xfrm>
            <a:off x="9372600" y="3099816"/>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6 of 9 detected</a:t>
            </a:r>
          </a:p>
        </p:txBody>
      </p:sp>
      <p:sp>
        <p:nvSpPr>
          <p:cNvPr id="19" name="Rounded Rectangle 18"/>
          <p:cNvSpPr/>
          <p:nvPr/>
        </p:nvSpPr>
        <p:spPr>
          <a:xfrm>
            <a:off x="6400800" y="3589020"/>
            <a:ext cx="4754880" cy="621792"/>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583680" y="3671315"/>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Kalman fusion success</a:t>
            </a:r>
          </a:p>
          <a:p>
            <a:pPr algn="l">
              <a:lnSpc>
                <a:spcPct val="100000"/>
              </a:lnSpc>
              <a:spcAft>
                <a:spcPts val="0"/>
              </a:spcAft>
            </a:pPr>
            <a:r>
              <a:rPr sz="950" b="0" i="1">
                <a:solidFill>
                  <a:srgbClr val="6B7A85"/>
                </a:solidFill>
                <a:latin typeface="Calibri"/>
              </a:rPr>
              <a:t>target ≥ 90%</a:t>
            </a:r>
          </a:p>
        </p:txBody>
      </p:sp>
      <p:sp>
        <p:nvSpPr>
          <p:cNvPr id="21" name="TextBox 20"/>
          <p:cNvSpPr txBox="1"/>
          <p:nvPr/>
        </p:nvSpPr>
        <p:spPr>
          <a:xfrm>
            <a:off x="9372600" y="3771900"/>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All 3 sensors fused</a:t>
            </a:r>
          </a:p>
        </p:txBody>
      </p:sp>
      <p:sp>
        <p:nvSpPr>
          <p:cNvPr id="22" name="Rounded Rectangle 21"/>
          <p:cNvSpPr/>
          <p:nvPr/>
        </p:nvSpPr>
        <p:spPr>
          <a:xfrm>
            <a:off x="6400800" y="4261104"/>
            <a:ext cx="4754880" cy="621792"/>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583680" y="4343400"/>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Simultaneous vehicles / segments</a:t>
            </a:r>
          </a:p>
          <a:p>
            <a:pPr algn="l">
              <a:lnSpc>
                <a:spcPct val="100000"/>
              </a:lnSpc>
              <a:spcAft>
                <a:spcPts val="0"/>
              </a:spcAft>
            </a:pPr>
            <a:r>
              <a:rPr sz="950" b="0" i="1">
                <a:solidFill>
                  <a:srgbClr val="6B7A85"/>
                </a:solidFill>
                <a:latin typeface="Calibri"/>
              </a:rPr>
              <a:t>target ≤ 10 / ≤ 5</a:t>
            </a:r>
          </a:p>
        </p:txBody>
      </p:sp>
      <p:sp>
        <p:nvSpPr>
          <p:cNvPr id="24" name="TextBox 23"/>
          <p:cNvSpPr txBox="1"/>
          <p:nvPr/>
        </p:nvSpPr>
        <p:spPr>
          <a:xfrm>
            <a:off x="9372600" y="4443984"/>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Run routinely</a:t>
            </a:r>
          </a:p>
        </p:txBody>
      </p:sp>
      <p:sp>
        <p:nvSpPr>
          <p:cNvPr id="25" name="Rounded Rectangle 24"/>
          <p:cNvSpPr/>
          <p:nvPr/>
        </p:nvSpPr>
        <p:spPr>
          <a:xfrm>
            <a:off x="6400800" y="4933188"/>
            <a:ext cx="4754880" cy="621792"/>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6583680" y="5015484"/>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End-to-end latency</a:t>
            </a:r>
          </a:p>
          <a:p>
            <a:pPr algn="l">
              <a:lnSpc>
                <a:spcPct val="100000"/>
              </a:lnSpc>
              <a:spcAft>
                <a:spcPts val="0"/>
              </a:spcAft>
            </a:pPr>
            <a:r>
              <a:rPr sz="950" b="0" i="1">
                <a:solidFill>
                  <a:srgbClr val="6B7A85"/>
                </a:solidFill>
                <a:latin typeface="Calibri"/>
              </a:rPr>
              <a:t>target ≤ 60 s</a:t>
            </a:r>
          </a:p>
        </p:txBody>
      </p:sp>
      <p:sp>
        <p:nvSpPr>
          <p:cNvPr id="27" name="TextBox 26"/>
          <p:cNvSpPr txBox="1"/>
          <p:nvPr/>
        </p:nvSpPr>
        <p:spPr>
          <a:xfrm>
            <a:off x="9372600" y="5116068"/>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C97B2C"/>
                </a:solidFill>
                <a:latin typeface="Calibri"/>
              </a:rPr>
              <a:t>Profiling pending</a:t>
            </a:r>
          </a:p>
        </p:txBody>
      </p:sp>
      <p:sp>
        <p:nvSpPr>
          <p:cNvPr id="28" name="TextBox 27"/>
          <p:cNvSpPr txBox="1"/>
          <p:nvPr/>
        </p:nvSpPr>
        <p:spPr>
          <a:xfrm>
            <a:off x="6400800" y="5632704"/>
            <a:ext cx="4754880" cy="138499"/>
          </a:xfrm>
          <a:prstGeom prst="rect">
            <a:avLst/>
          </a:prstGeom>
          <a:noFill/>
        </p:spPr>
        <p:txBody>
          <a:bodyPr wrap="square" lIns="0" tIns="0" rIns="0" bIns="0" anchor="t">
            <a:spAutoFit/>
          </a:bodyPr>
          <a:lstStyle/>
          <a:p>
            <a:pPr>
              <a:spcAft>
                <a:spcPts val="400"/>
              </a:spcAft>
            </a:pPr>
            <a:r>
              <a:rPr lang="en-US" sz="900" i="1">
                <a:solidFill>
                  <a:srgbClr val="6B7277"/>
                </a:solidFill>
              </a:rPr>
              <a:t>Five targets met; only real-time latency (Partial) remains to be profiled.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System Architecture</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5</a:t>
            </a:r>
          </a:p>
        </p:txBody>
      </p:sp>
      <p:sp>
        <p:nvSpPr>
          <p:cNvPr id="7" name="Rounded Rectangle 6"/>
          <p:cNvSpPr/>
          <p:nvPr/>
        </p:nvSpPr>
        <p:spPr>
          <a:xfrm>
            <a:off x="640080"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Simulate</a:t>
            </a:r>
          </a:p>
        </p:txBody>
      </p:sp>
      <p:sp>
        <p:nvSpPr>
          <p:cNvPr id="8" name="TextBox 7"/>
          <p:cNvSpPr txBox="1"/>
          <p:nvPr/>
        </p:nvSpPr>
        <p:spPr>
          <a:xfrm>
            <a:off x="2057400"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9" name="Rounded Rectangle 8"/>
          <p:cNvSpPr/>
          <p:nvPr/>
        </p:nvSpPr>
        <p:spPr>
          <a:xfrm>
            <a:off x="2212848" y="1207008"/>
            <a:ext cx="1399032" cy="4572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Sense</a:t>
            </a:r>
          </a:p>
        </p:txBody>
      </p:sp>
      <p:sp>
        <p:nvSpPr>
          <p:cNvPr id="10" name="TextBox 9"/>
          <p:cNvSpPr txBox="1"/>
          <p:nvPr/>
        </p:nvSpPr>
        <p:spPr>
          <a:xfrm>
            <a:off x="3630168"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1" name="Rounded Rectangle 10"/>
          <p:cNvSpPr/>
          <p:nvPr/>
        </p:nvSpPr>
        <p:spPr>
          <a:xfrm>
            <a:off x="3785615"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Publish</a:t>
            </a:r>
          </a:p>
        </p:txBody>
      </p:sp>
      <p:sp>
        <p:nvSpPr>
          <p:cNvPr id="12" name="TextBox 11"/>
          <p:cNvSpPr txBox="1"/>
          <p:nvPr/>
        </p:nvSpPr>
        <p:spPr>
          <a:xfrm>
            <a:off x="5202936"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3" name="Rounded Rectangle 12"/>
          <p:cNvSpPr/>
          <p:nvPr/>
        </p:nvSpPr>
        <p:spPr>
          <a:xfrm>
            <a:off x="5358383" y="1207008"/>
            <a:ext cx="1399032" cy="4572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Track</a:t>
            </a:r>
          </a:p>
        </p:txBody>
      </p:sp>
      <p:sp>
        <p:nvSpPr>
          <p:cNvPr id="14" name="TextBox 13"/>
          <p:cNvSpPr txBox="1"/>
          <p:nvPr/>
        </p:nvSpPr>
        <p:spPr>
          <a:xfrm>
            <a:off x="6775703"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5" name="Rounded Rectangle 14"/>
          <p:cNvSpPr/>
          <p:nvPr/>
        </p:nvSpPr>
        <p:spPr>
          <a:xfrm>
            <a:off x="6931151"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Fuse</a:t>
            </a:r>
          </a:p>
        </p:txBody>
      </p:sp>
      <p:sp>
        <p:nvSpPr>
          <p:cNvPr id="16" name="TextBox 15"/>
          <p:cNvSpPr txBox="1"/>
          <p:nvPr/>
        </p:nvSpPr>
        <p:spPr>
          <a:xfrm>
            <a:off x="8348471"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7" name="Rounded Rectangle 16"/>
          <p:cNvSpPr/>
          <p:nvPr/>
        </p:nvSpPr>
        <p:spPr>
          <a:xfrm>
            <a:off x="8503919" y="1207008"/>
            <a:ext cx="1399032" cy="4572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Export</a:t>
            </a:r>
          </a:p>
        </p:txBody>
      </p:sp>
      <p:sp>
        <p:nvSpPr>
          <p:cNvPr id="18" name="TextBox 17"/>
          <p:cNvSpPr txBox="1"/>
          <p:nvPr/>
        </p:nvSpPr>
        <p:spPr>
          <a:xfrm>
            <a:off x="9921240"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9" name="Rounded Rectangle 18"/>
          <p:cNvSpPr/>
          <p:nvPr/>
        </p:nvSpPr>
        <p:spPr>
          <a:xfrm>
            <a:off x="10076688"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Analyze</a:t>
            </a:r>
          </a:p>
        </p:txBody>
      </p:sp>
      <p:sp>
        <p:nvSpPr>
          <p:cNvPr id="20" name="TextBox 19"/>
          <p:cNvSpPr txBox="1"/>
          <p:nvPr/>
        </p:nvSpPr>
        <p:spPr>
          <a:xfrm>
            <a:off x="640080" y="2148840"/>
            <a:ext cx="4160520" cy="2229265"/>
          </a:xfrm>
          <a:prstGeom prst="rect">
            <a:avLst/>
          </a:prstGeom>
          <a:noFill/>
        </p:spPr>
        <p:txBody>
          <a:bodyPr wrap="square" lIns="0" tIns="0" rIns="0" bIns="0" anchor="t">
            <a:spAutoFit/>
          </a:bodyPr>
          <a:lstStyle/>
          <a:p>
            <a:pPr marL="285750" indent="-285750">
              <a:lnSpc>
                <a:spcPct val="106000"/>
              </a:lnSpc>
              <a:spcAft>
                <a:spcPts val="900"/>
              </a:spcAft>
              <a:buFont typeface="Courier New" panose="02070309020205020404" pitchFamily="49" charset="0"/>
              <a:buChar char="o"/>
            </a:pPr>
            <a:r>
              <a:rPr lang="en-US" sz="1200">
                <a:solidFill>
                  <a:srgbClr val="33373B"/>
                </a:solidFill>
              </a:rPr>
              <a:t>Implemented entirely in Python. every stage consumes only upstream outputs.</a:t>
            </a:r>
          </a:p>
          <a:p>
            <a:pPr marL="285750" indent="-285750">
              <a:lnSpc>
                <a:spcPct val="106000"/>
              </a:lnSpc>
              <a:spcAft>
                <a:spcPts val="900"/>
              </a:spcAft>
              <a:buFont typeface="Courier New" panose="02070309020205020404" pitchFamily="49" charset="0"/>
              <a:buChar char="o"/>
            </a:pPr>
            <a:r>
              <a:rPr lang="en-US" sz="1200">
                <a:solidFill>
                  <a:srgbClr val="33373B"/>
                </a:solidFill>
              </a:rPr>
              <a:t>The anomaly model never imports the simulator so it cannot benefit from information a real deployment would not have.</a:t>
            </a:r>
          </a:p>
          <a:p>
            <a:pPr marL="285750" indent="-285750">
              <a:lnSpc>
                <a:spcPct val="106000"/>
              </a:lnSpc>
              <a:spcAft>
                <a:spcPts val="900"/>
              </a:spcAft>
              <a:buFont typeface="Courier New" panose="02070309020205020404" pitchFamily="49" charset="0"/>
              <a:buChar char="o"/>
            </a:pPr>
            <a:r>
              <a:rPr lang="en-US" sz="1200">
                <a:solidFill>
                  <a:srgbClr val="33373B"/>
                </a:solidFill>
              </a:rPr>
              <a:t>Acyclic dependencies: every component is independently testable (</a:t>
            </a:r>
            <a:r>
              <a:rPr lang="en-US" sz="1200" err="1">
                <a:solidFill>
                  <a:srgbClr val="33373B"/>
                </a:solidFill>
              </a:rPr>
              <a:t>pytest</a:t>
            </a:r>
            <a:r>
              <a:rPr lang="en-US" sz="1200">
                <a:solidFill>
                  <a:srgbClr val="33373B"/>
                </a:solidFill>
              </a:rPr>
              <a:t> suite guards each boundary).</a:t>
            </a:r>
          </a:p>
          <a:p>
            <a:pPr marL="285750" indent="-285750">
              <a:lnSpc>
                <a:spcPct val="106000"/>
              </a:lnSpc>
              <a:spcAft>
                <a:spcPts val="900"/>
              </a:spcAft>
              <a:buFont typeface="Courier New" panose="02070309020205020404" pitchFamily="49" charset="0"/>
              <a:buChar char="o"/>
            </a:pPr>
            <a:r>
              <a:rPr lang="en-US" sz="1200">
                <a:solidFill>
                  <a:srgbClr val="33373B"/>
                </a:solidFill>
              </a:rPr>
              <a:t>50 Hz simulation engine with a </a:t>
            </a:r>
            <a:r>
              <a:rPr lang="en-US" sz="1200" err="1">
                <a:solidFill>
                  <a:srgbClr val="33373B"/>
                </a:solidFill>
              </a:rPr>
              <a:t>Tkinter</a:t>
            </a:r>
            <a:r>
              <a:rPr lang="en-US" sz="1200">
                <a:solidFill>
                  <a:srgbClr val="33373B"/>
                </a:solidFill>
              </a:rPr>
              <a:t> desktop editor for interactive scene authoring.</a:t>
            </a:r>
          </a:p>
          <a:p>
            <a:pPr>
              <a:lnSpc>
                <a:spcPct val="105000"/>
              </a:lnSpc>
              <a:spcAft>
                <a:spcPts val="1300"/>
              </a:spcAft>
            </a:pPr>
            <a:endParaRPr sz="1300" b="0">
              <a:solidFill>
                <a:srgbClr val="33424D"/>
              </a:solidFill>
              <a:latin typeface="Calibri"/>
            </a:endParaRPr>
          </a:p>
        </p:txBody>
      </p:sp>
      <p:sp>
        <p:nvSpPr>
          <p:cNvPr id="21" name="Rounded Rectangle 20"/>
          <p:cNvSpPr/>
          <p:nvPr/>
        </p:nvSpPr>
        <p:spPr>
          <a:xfrm>
            <a:off x="5257800" y="2084831"/>
            <a:ext cx="5943600" cy="356616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2" name="Picture 21" descr="image4.png"/>
          <p:cNvPicPr>
            <a:picLocks noChangeAspect="1"/>
          </p:cNvPicPr>
          <p:nvPr/>
        </p:nvPicPr>
        <p:blipFill>
          <a:blip r:embed="rId5"/>
          <a:stretch>
            <a:fillRect/>
          </a:stretch>
        </p:blipFill>
        <p:spPr>
          <a:xfrm>
            <a:off x="5440680" y="2300386"/>
            <a:ext cx="5577840" cy="2755937"/>
          </a:xfrm>
          <a:prstGeom prst="rect">
            <a:avLst/>
          </a:prstGeom>
        </p:spPr>
      </p:pic>
      <p:sp>
        <p:nvSpPr>
          <p:cNvPr id="23" name="TextBox 22"/>
          <p:cNvSpPr txBox="1"/>
          <p:nvPr/>
        </p:nvSpPr>
        <p:spPr>
          <a:xfrm>
            <a:off x="5440680" y="5138928"/>
            <a:ext cx="5577840" cy="411480"/>
          </a:xfrm>
          <a:prstGeom prst="rect">
            <a:avLst/>
          </a:prstGeom>
          <a:noFill/>
        </p:spPr>
        <p:txBody>
          <a:bodyPr wrap="square" lIns="0" tIns="0" rIns="0" bIns="0" anchor="t">
            <a:spAutoFit/>
          </a:bodyPr>
          <a:lstStyle/>
          <a:p>
            <a:pPr algn="ctr">
              <a:lnSpc>
                <a:spcPct val="115000"/>
              </a:lnSpc>
              <a:spcAft>
                <a:spcPts val="0"/>
              </a:spcAft>
            </a:pPr>
            <a:r>
              <a:rPr sz="1000" b="0" i="0">
                <a:solidFill>
                  <a:srgbClr val="6B7A85"/>
                </a:solidFill>
                <a:latin typeface="Calibri"/>
              </a:rPr>
              <a:t>End-to-end information flow: generation → sensing → publication → tracking → fusion → export → detection.  [Report Fig.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Methods</a:t>
            </a:r>
            <a:r>
              <a:rPr lang="en-US" sz="2500" b="1">
                <a:solidFill>
                  <a:srgbClr val="0B4F6C"/>
                </a:solidFill>
                <a:latin typeface="Cambria"/>
              </a:rPr>
              <a:t>:</a:t>
            </a:r>
            <a:r>
              <a:rPr sz="2500" b="1" i="0">
                <a:solidFill>
                  <a:srgbClr val="0B4F6C"/>
                </a:solidFill>
                <a:latin typeface="Cambria"/>
              </a:rPr>
              <a:t> Sensor Models &amp; Kalman Fusion</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6</a:t>
            </a:r>
          </a:p>
        </p:txBody>
      </p:sp>
      <p:sp>
        <p:nvSpPr>
          <p:cNvPr id="7" name="Rounded Rectangle 6"/>
          <p:cNvSpPr/>
          <p:nvPr/>
        </p:nvSpPr>
        <p:spPr>
          <a:xfrm>
            <a:off x="640080" y="1207008"/>
            <a:ext cx="3429000" cy="2441448"/>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ounded Rectangle 7"/>
          <p:cNvSpPr/>
          <p:nvPr/>
        </p:nvSpPr>
        <p:spPr>
          <a:xfrm>
            <a:off x="640080" y="1207008"/>
            <a:ext cx="3429000" cy="384048"/>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400" b="1">
                <a:solidFill>
                  <a:srgbClr val="FFFFFF"/>
                </a:solidFill>
                <a:latin typeface="Cambria"/>
              </a:rPr>
              <a:t>DAS  ·  primary</a:t>
            </a:r>
          </a:p>
        </p:txBody>
      </p:sp>
      <mc:AlternateContent xmlns:mc="http://schemas.openxmlformats.org/markup-compatibility/2006" xmlns:a14="http://schemas.microsoft.com/office/drawing/2010/main">
        <mc:Choice Requires="a14">
          <p:sp>
            <p:nvSpPr>
              <p:cNvPr id="9" name="TextBox 8"/>
              <p:cNvSpPr txBox="1"/>
              <p:nvPr/>
            </p:nvSpPr>
            <p:spPr>
              <a:xfrm>
                <a:off x="804672" y="1737360"/>
                <a:ext cx="3201844" cy="1828800"/>
              </a:xfrm>
              <a:prstGeom prst="rect">
                <a:avLst/>
              </a:prstGeom>
              <a:noFill/>
            </p:spPr>
            <p:txBody>
              <a:bodyPr wrap="square" lIns="0" tIns="0" rIns="0" bIns="0" anchor="t"/>
              <a:lstStyle/>
              <a:p>
                <a:pPr marL="171450" indent="-171450">
                  <a:lnSpc>
                    <a:spcPct val="105000"/>
                  </a:lnSpc>
                  <a:spcAft>
                    <a:spcPts val="300"/>
                  </a:spcAft>
                  <a:buFont typeface="Courier New" panose="02070309020205020404" pitchFamily="49" charset="0"/>
                  <a:buChar char="o"/>
                </a:pPr>
                <a:r>
                  <a:rPr lang="en-US" sz="1000">
                    <a:solidFill>
                      <a:srgbClr val="33373B"/>
                    </a:solidFill>
                  </a:rPr>
                  <a:t>Flamant–Boussinesq strain:  </a:t>
                </a:r>
                <a14:m>
                  <m:oMath xmlns:m="http://schemas.openxmlformats.org/officeDocument/2006/math">
                    <m:r>
                      <a:rPr lang="en-US" sz="1000" i="1" smtClean="0">
                        <a:solidFill>
                          <a:srgbClr val="33373B"/>
                        </a:solidFill>
                        <a:latin typeface="Cambria Math" panose="02040503050406030204" pitchFamily="18" charset="0"/>
                      </a:rPr>
                      <m:t>𝐴</m:t>
                    </m:r>
                    <m:r>
                      <a:rPr lang="en-US" sz="1000" i="1" smtClean="0">
                        <a:solidFill>
                          <a:srgbClr val="33373B"/>
                        </a:solidFill>
                        <a:latin typeface="Cambria Math" panose="02040503050406030204" pitchFamily="18" charset="0"/>
                      </a:rPr>
                      <m:t> = </m:t>
                    </m:r>
                    <m:f>
                      <m:fPr>
                        <m:ctrlPr>
                          <a:rPr lang="en-US" sz="1000" i="1">
                            <a:solidFill>
                              <a:srgbClr val="33373B"/>
                            </a:solidFill>
                            <a:latin typeface="Cambria Math" panose="02040503050406030204" pitchFamily="18" charset="0"/>
                          </a:rPr>
                        </m:ctrlPr>
                      </m:fPr>
                      <m:num>
                        <m:r>
                          <a:rPr lang="en-US" sz="1000" i="1">
                            <a:solidFill>
                              <a:srgbClr val="33373B"/>
                            </a:solidFill>
                            <a:latin typeface="Cambria Math" panose="02040503050406030204" pitchFamily="18" charset="0"/>
                          </a:rPr>
                          <m:t>𝑊</m:t>
                        </m:r>
                      </m:num>
                      <m:den>
                        <m:sSup>
                          <m:sSupPr>
                            <m:ctrlPr>
                              <a:rPr lang="en-US" sz="1000" i="1">
                                <a:solidFill>
                                  <a:srgbClr val="33373B"/>
                                </a:solidFill>
                                <a:latin typeface="Cambria Math" panose="02040503050406030204" pitchFamily="18" charset="0"/>
                              </a:rPr>
                            </m:ctrlPr>
                          </m:sSupPr>
                          <m:e>
                            <m:d>
                              <m:dPr>
                                <m:ctrlPr>
                                  <a:rPr lang="en-US" sz="1000" i="1">
                                    <a:solidFill>
                                      <a:srgbClr val="33373B"/>
                                    </a:solidFill>
                                    <a:latin typeface="Cambria Math" panose="02040503050406030204" pitchFamily="18" charset="0"/>
                                  </a:rPr>
                                </m:ctrlPr>
                              </m:dPr>
                              <m:e>
                                <m:r>
                                  <a:rPr lang="en-US" sz="1000" i="1">
                                    <a:solidFill>
                                      <a:srgbClr val="33373B"/>
                                    </a:solidFill>
                                    <a:latin typeface="Cambria Math" panose="02040503050406030204" pitchFamily="18" charset="0"/>
                                  </a:rPr>
                                  <m:t>𝑟</m:t>
                                </m:r>
                                <m:r>
                                  <a:rPr lang="en-US" sz="1000" i="1">
                                    <a:solidFill>
                                      <a:srgbClr val="33373B"/>
                                    </a:solidFill>
                                    <a:latin typeface="Cambria Math" panose="02040503050406030204" pitchFamily="18" charset="0"/>
                                  </a:rPr>
                                  <m:t> + </m:t>
                                </m:r>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𝑑</m:t>
                                    </m:r>
                                  </m:e>
                                  <m:sub>
                                    <m:r>
                                      <a:rPr lang="en-US" sz="1000" i="1">
                                        <a:solidFill>
                                          <a:srgbClr val="33373B"/>
                                        </a:solidFill>
                                        <a:latin typeface="Cambria Math" panose="02040503050406030204" pitchFamily="18" charset="0"/>
                                      </a:rPr>
                                      <m:t>0</m:t>
                                    </m:r>
                                  </m:sub>
                                </m:sSub>
                              </m:e>
                            </m:d>
                          </m:e>
                          <m:sup>
                            <m:r>
                              <a:rPr lang="en-US" sz="1000" i="1">
                                <a:solidFill>
                                  <a:srgbClr val="33373B"/>
                                </a:solidFill>
                                <a:latin typeface="Cambria Math" panose="02040503050406030204" pitchFamily="18" charset="0"/>
                              </a:rPr>
                              <m:t>2</m:t>
                            </m:r>
                          </m:sup>
                        </m:sSup>
                      </m:den>
                    </m:f>
                    <m:r>
                      <a:rPr lang="en-US" sz="1000" i="1" smtClean="0">
                        <a:solidFill>
                          <a:srgbClr val="33373B"/>
                        </a:solidFill>
                        <a:latin typeface="Cambria Math" panose="02040503050406030204" pitchFamily="18" charset="0"/>
                      </a:rPr>
                      <m:t>,   </m:t>
                    </m:r>
                    <m:r>
                      <a:rPr lang="en-US" sz="1000" i="1" smtClean="0">
                        <a:solidFill>
                          <a:srgbClr val="33373B"/>
                        </a:solidFill>
                        <a:latin typeface="Cambria Math" panose="02040503050406030204" pitchFamily="18" charset="0"/>
                      </a:rPr>
                      <m:t>𝑑</m:t>
                    </m:r>
                    <m:r>
                      <a:rPr lang="en-US" sz="1000" i="1" smtClean="0">
                        <a:solidFill>
                          <a:srgbClr val="33373B"/>
                        </a:solidFill>
                        <a:latin typeface="Cambria Math" panose="02040503050406030204" pitchFamily="18" charset="0"/>
                      </a:rPr>
                      <m:t>₀ =1 </m:t>
                    </m:r>
                    <m:r>
                      <a:rPr lang="en-US" sz="1000" i="1" smtClean="0">
                        <a:solidFill>
                          <a:srgbClr val="33373B"/>
                        </a:solidFill>
                        <a:latin typeface="Cambria Math" panose="02040503050406030204" pitchFamily="18" charset="0"/>
                      </a:rPr>
                      <m:t>𝑚</m:t>
                    </m:r>
                  </m:oMath>
                </a14:m>
                <a:endParaRPr lang="en-US" sz="1000">
                  <a:solidFill>
                    <a:srgbClr val="33373B"/>
                  </a:solidFill>
                </a:endParaRPr>
              </a:p>
              <a:p>
                <a:pPr marL="171450" indent="-171450">
                  <a:lnSpc>
                    <a:spcPct val="105000"/>
                  </a:lnSpc>
                  <a:spcAft>
                    <a:spcPts val="300"/>
                  </a:spcAft>
                  <a:buFont typeface="Courier New" panose="02070309020205020404" pitchFamily="49" charset="0"/>
                  <a:buChar char="o"/>
                </a:pPr>
                <a:r>
                  <a:rPr lang="en-US" sz="1000">
                    <a:solidFill>
                      <a:srgbClr val="33373B"/>
                    </a:solidFill>
                  </a:rPr>
                  <a:t>SNR = </a:t>
                </a:r>
                <a14:m>
                  <m:oMath xmlns:m="http://schemas.openxmlformats.org/officeDocument/2006/math">
                    <m:f>
                      <m:fPr>
                        <m:ctrlPr>
                          <a:rPr lang="en-US" sz="1000" i="1">
                            <a:solidFill>
                              <a:srgbClr val="33373B"/>
                            </a:solidFill>
                            <a:latin typeface="Cambria Math" panose="02040503050406030204" pitchFamily="18" charset="0"/>
                          </a:rPr>
                        </m:ctrlPr>
                      </m:fPr>
                      <m:num>
                        <m:r>
                          <a:rPr lang="en-US" sz="1000" i="1">
                            <a:solidFill>
                              <a:srgbClr val="33373B"/>
                            </a:solidFill>
                            <a:latin typeface="Cambria Math" panose="02040503050406030204" pitchFamily="18" charset="0"/>
                          </a:rPr>
                          <m:t>𝐴</m:t>
                        </m:r>
                      </m:num>
                      <m:den>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𝜎</m:t>
                            </m:r>
                          </m:e>
                          <m:sub>
                            <m:r>
                              <a:rPr lang="he-IL" sz="1000" b="0" i="1" smtClean="0">
                                <a:solidFill>
                                  <a:srgbClr val="33373B"/>
                                </a:solidFill>
                                <a:latin typeface="Cambria Math" panose="02040503050406030204" pitchFamily="18" charset="0"/>
                              </a:rPr>
                              <m:t>𝑡ℎ</m:t>
                            </m:r>
                          </m:sub>
                        </m:sSub>
                      </m:den>
                    </m:f>
                    <m:r>
                      <a:rPr lang="en-US" sz="1000" i="1" smtClean="0">
                        <a:solidFill>
                          <a:srgbClr val="33373B"/>
                        </a:solidFill>
                        <a:latin typeface="Cambria Math" panose="02040503050406030204" pitchFamily="18" charset="0"/>
                      </a:rPr>
                      <m:t> </m:t>
                    </m:r>
                  </m:oMath>
                </a14:m>
                <a:r>
                  <a:rPr lang="en-US" sz="1000">
                    <a:solidFill>
                      <a:srgbClr val="33373B"/>
                    </a:solidFill>
                  </a:rPr>
                  <a:t>—  amplitude over the sensor's noise level  </a:t>
                </a:r>
                <a:endParaRPr lang="he-IL" sz="900" i="1">
                  <a:solidFill>
                    <a:srgbClr val="33373B"/>
                  </a:solidFill>
                  <a:latin typeface="Cambria Math" panose="02040503050406030204" pitchFamily="18" charset="0"/>
                </a:endParaRPr>
              </a:p>
              <a:p>
                <a:pPr marL="171450" indent="-171450">
                  <a:lnSpc>
                    <a:spcPct val="105000"/>
                  </a:lnSpc>
                  <a:spcAft>
                    <a:spcPts val="300"/>
                  </a:spcAft>
                  <a:buFont typeface="Courier New" panose="02070309020205020404" pitchFamily="49" charset="0"/>
                  <a:buChar char="o"/>
                </a:pPr>
                <a14:m>
                  <m:oMath xmlns:m="http://schemas.openxmlformats.org/officeDocument/2006/math">
                    <m:sSub>
                      <m:sSubPr>
                        <m:ctrlPr>
                          <a:rPr lang="en-US" sz="1000" i="1" smtClean="0">
                            <a:solidFill>
                              <a:srgbClr val="33373B"/>
                            </a:solidFill>
                            <a:latin typeface="Cambria Math" panose="02040503050406030204" pitchFamily="18" charset="0"/>
                          </a:rPr>
                        </m:ctrlPr>
                      </m:sSubPr>
                      <m:e>
                        <m:r>
                          <a:rPr lang="en-US" sz="1000" i="1" smtClean="0">
                            <a:solidFill>
                              <a:srgbClr val="33373B"/>
                            </a:solidFill>
                            <a:latin typeface="Cambria Math" panose="02040503050406030204" pitchFamily="18" charset="0"/>
                          </a:rPr>
                          <m:t>𝜎</m:t>
                        </m:r>
                      </m:e>
                      <m:sub>
                        <m:r>
                          <a:rPr lang="en-US" sz="1000" i="1" smtClean="0">
                            <a:solidFill>
                              <a:srgbClr val="33373B"/>
                            </a:solidFill>
                            <a:latin typeface="Cambria Math" panose="02040503050406030204" pitchFamily="18" charset="0"/>
                          </a:rPr>
                          <m:t>𝐷𝐴𝑆</m:t>
                        </m:r>
                      </m:sub>
                    </m:sSub>
                    <m:r>
                      <a:rPr lang="en-US" sz="1000" i="1" smtClean="0">
                        <a:solidFill>
                          <a:srgbClr val="33373B"/>
                        </a:solidFill>
                        <a:latin typeface="Cambria Math" panose="02040503050406030204" pitchFamily="18" charset="0"/>
                      </a:rPr>
                      <m:t>=</m:t>
                    </m:r>
                    <m:func>
                      <m:funcPr>
                        <m:ctrlPr>
                          <a:rPr lang="en-US" sz="1000" i="0" smtClean="0">
                            <a:solidFill>
                              <a:srgbClr val="33373B"/>
                            </a:solidFill>
                            <a:latin typeface="Cambria Math" panose="02040503050406030204" pitchFamily="18" charset="0"/>
                          </a:rPr>
                        </m:ctrlPr>
                      </m:funcPr>
                      <m:fName>
                        <m:r>
                          <m:rPr>
                            <m:sty m:val="p"/>
                          </m:rPr>
                          <a:rPr lang="en-US" sz="1000" i="0" smtClean="0">
                            <a:solidFill>
                              <a:srgbClr val="33373B"/>
                            </a:solidFill>
                            <a:latin typeface="Cambria Math" panose="02040503050406030204" pitchFamily="18" charset="0"/>
                          </a:rPr>
                          <m:t>max</m:t>
                        </m:r>
                      </m:fName>
                      <m:e>
                        <m:d>
                          <m:dPr>
                            <m:ctrlPr>
                              <a:rPr lang="en-US" sz="1000" i="1" smtClean="0">
                                <a:solidFill>
                                  <a:srgbClr val="33373B"/>
                                </a:solidFill>
                                <a:latin typeface="Cambria Math" panose="02040503050406030204" pitchFamily="18" charset="0"/>
                              </a:rPr>
                            </m:ctrlPr>
                          </m:dPr>
                          <m:e>
                            <m:r>
                              <a:rPr lang="en-US" sz="1000" i="1" smtClean="0">
                                <a:solidFill>
                                  <a:srgbClr val="33373B"/>
                                </a:solidFill>
                                <a:latin typeface="Cambria Math" panose="02040503050406030204" pitchFamily="18" charset="0"/>
                              </a:rPr>
                              <m:t> 0.3 , </m:t>
                            </m:r>
                            <m:f>
                              <m:fPr>
                                <m:ctrlPr>
                                  <a:rPr lang="en-US" sz="1000" i="1" smtClean="0">
                                    <a:solidFill>
                                      <a:srgbClr val="33373B"/>
                                    </a:solidFill>
                                    <a:latin typeface="Cambria Math" panose="02040503050406030204" pitchFamily="18" charset="0"/>
                                  </a:rPr>
                                </m:ctrlPr>
                              </m:fPr>
                              <m:num>
                                <m:sSub>
                                  <m:sSubPr>
                                    <m:ctrlPr>
                                      <a:rPr lang="en-US" sz="1000" i="1" smtClean="0">
                                        <a:solidFill>
                                          <a:srgbClr val="33373B"/>
                                        </a:solidFill>
                                        <a:latin typeface="Cambria Math" panose="02040503050406030204" pitchFamily="18" charset="0"/>
                                      </a:rPr>
                                    </m:ctrlPr>
                                  </m:sSubPr>
                                  <m:e>
                                    <m:r>
                                      <a:rPr lang="en-US" sz="1000" i="1" smtClean="0">
                                        <a:solidFill>
                                          <a:srgbClr val="33373B"/>
                                        </a:solidFill>
                                        <a:latin typeface="Cambria Math" panose="02040503050406030204" pitchFamily="18" charset="0"/>
                                      </a:rPr>
                                      <m:t>𝑘</m:t>
                                    </m:r>
                                  </m:e>
                                  <m:sub>
                                    <m:r>
                                      <a:rPr lang="en-US" sz="1000" i="1" smtClean="0">
                                        <a:solidFill>
                                          <a:srgbClr val="33373B"/>
                                        </a:solidFill>
                                        <a:latin typeface="Cambria Math" panose="02040503050406030204" pitchFamily="18" charset="0"/>
                                      </a:rPr>
                                      <m:t>𝑑𝑎𝑠</m:t>
                                    </m:r>
                                  </m:sub>
                                </m:sSub>
                              </m:num>
                              <m:den>
                                <m:rad>
                                  <m:radPr>
                                    <m:degHide m:val="on"/>
                                    <m:ctrlPr>
                                      <a:rPr lang="en-US" sz="1000" i="1">
                                        <a:solidFill>
                                          <a:srgbClr val="33373B"/>
                                        </a:solidFill>
                                        <a:latin typeface="Cambria Math" panose="02040503050406030204" pitchFamily="18" charset="0"/>
                                      </a:rPr>
                                    </m:ctrlPr>
                                  </m:radPr>
                                  <m:deg/>
                                  <m:e>
                                    <m:r>
                                      <a:rPr lang="en-US" sz="1000" i="1">
                                        <a:solidFill>
                                          <a:srgbClr val="33373B"/>
                                        </a:solidFill>
                                        <a:latin typeface="Cambria Math" panose="02040503050406030204" pitchFamily="18" charset="0"/>
                                      </a:rPr>
                                      <m:t>𝑆𝑁𝑅</m:t>
                                    </m:r>
                                  </m:e>
                                </m:rad>
                              </m:den>
                            </m:f>
                          </m:e>
                        </m:d>
                      </m:e>
                    </m:func>
                  </m:oMath>
                </a14:m>
                <a:endParaRPr lang="he-IL" sz="1000">
                  <a:solidFill>
                    <a:srgbClr val="33373B"/>
                  </a:solidFill>
                </a:endParaRPr>
              </a:p>
              <a:p>
                <a:pPr marL="171450" indent="-171450">
                  <a:lnSpc>
                    <a:spcPct val="105000"/>
                  </a:lnSpc>
                  <a:spcAft>
                    <a:spcPts val="300"/>
                  </a:spcAft>
                  <a:buFont typeface="Courier New" panose="02070309020205020404" pitchFamily="49" charset="0"/>
                  <a:buChar char="o"/>
                </a:pPr>
                <a:r>
                  <a:rPr lang="en-US" sz="1000">
                    <a:solidFill>
                      <a:srgbClr val="33373B"/>
                    </a:solidFill>
                  </a:rPr>
                  <a:t>  </a:t>
                </a:r>
                <a14:m>
                  <m:oMath xmlns:m="http://schemas.openxmlformats.org/officeDocument/2006/math">
                    <m:r>
                      <a:rPr lang="en-US" sz="1000" i="1" smtClean="0">
                        <a:solidFill>
                          <a:srgbClr val="33373B"/>
                        </a:solidFill>
                        <a:latin typeface="Cambria Math" panose="02040503050406030204" pitchFamily="18" charset="0"/>
                      </a:rPr>
                      <m:t>𝑘</m:t>
                    </m:r>
                    <m:r>
                      <a:rPr lang="en-US" sz="1000" i="1" smtClean="0">
                        <a:solidFill>
                          <a:srgbClr val="33373B"/>
                        </a:solidFill>
                        <a:latin typeface="Cambria Math" panose="02040503050406030204" pitchFamily="18" charset="0"/>
                      </a:rPr>
                      <m:t>_</m:t>
                    </m:r>
                    <m:r>
                      <a:rPr lang="en-US" sz="1000" i="1" smtClean="0">
                        <a:solidFill>
                          <a:srgbClr val="33373B"/>
                        </a:solidFill>
                        <a:latin typeface="Cambria Math" panose="02040503050406030204" pitchFamily="18" charset="0"/>
                      </a:rPr>
                      <m:t>𝑑𝑎𝑠</m:t>
                    </m:r>
                    <m:r>
                      <a:rPr lang="en-US" sz="1000" i="1" smtClean="0">
                        <a:solidFill>
                          <a:srgbClr val="33373B"/>
                        </a:solidFill>
                        <a:latin typeface="Cambria Math" panose="02040503050406030204" pitchFamily="18" charset="0"/>
                      </a:rPr>
                      <m:t> = 2.0 </m:t>
                    </m:r>
                    <m:r>
                      <a:rPr lang="en-US" sz="1000" i="1" smtClean="0">
                        <a:solidFill>
                          <a:srgbClr val="33373B"/>
                        </a:solidFill>
                        <a:latin typeface="Cambria Math" panose="02040503050406030204" pitchFamily="18" charset="0"/>
                      </a:rPr>
                      <m:t>𝑚</m:t>
                    </m:r>
                  </m:oMath>
                </a14:m>
                <a:endParaRPr lang="en-US" sz="1000">
                  <a:solidFill>
                    <a:srgbClr val="33373B"/>
                  </a:solidFill>
                </a:endParaRPr>
              </a:p>
              <a:p>
                <a:pPr marL="171450" indent="-171450">
                  <a:lnSpc>
                    <a:spcPct val="105000"/>
                  </a:lnSpc>
                  <a:spcAft>
                    <a:spcPts val="300"/>
                  </a:spcAft>
                  <a:buFont typeface="Courier New" panose="02070309020205020404" pitchFamily="49" charset="0"/>
                  <a:buChar char="o"/>
                </a:pPr>
                <a:r>
                  <a:rPr lang="en-US" sz="1000">
                    <a:solidFill>
                      <a:srgbClr val="33373B"/>
                    </a:solidFill>
                  </a:rPr>
                  <a:t>each meter = 1 channel</a:t>
                </a:r>
              </a:p>
              <a:p>
                <a:pPr marL="171450" indent="-171450">
                  <a:lnSpc>
                    <a:spcPct val="105000"/>
                  </a:lnSpc>
                  <a:spcAft>
                    <a:spcPts val="300"/>
                  </a:spcAft>
                  <a:buFont typeface="Courier New" panose="02070309020205020404" pitchFamily="49" charset="0"/>
                  <a:buChar char="o"/>
                </a:pPr>
                <a:r>
                  <a:rPr lang="en-US" sz="1000">
                    <a:solidFill>
                      <a:srgbClr val="33373B"/>
                    </a:solidFill>
                  </a:rPr>
                  <a:t>Along-fiber position &amp; speed   (~25 Hz)</a:t>
                </a:r>
              </a:p>
            </p:txBody>
          </p:sp>
        </mc:Choice>
        <mc:Fallback xmlns="">
          <p:sp>
            <p:nvSpPr>
              <p:cNvPr id="9" name="TextBox 8"/>
              <p:cNvSpPr txBox="1">
                <a:spLocks noRot="1" noChangeAspect="1" noMove="1" noResize="1" noEditPoints="1" noAdjustHandles="1" noChangeArrowheads="1" noChangeShapeType="1" noTextEdit="1"/>
              </p:cNvSpPr>
              <p:nvPr/>
            </p:nvSpPr>
            <p:spPr>
              <a:xfrm>
                <a:off x="804672" y="1737360"/>
                <a:ext cx="3201844" cy="1828800"/>
              </a:xfrm>
              <a:prstGeom prst="rect">
                <a:avLst/>
              </a:prstGeom>
              <a:blipFill>
                <a:blip r:embed="rId5"/>
                <a:stretch>
                  <a:fillRect l="-2372"/>
                </a:stretch>
              </a:blipFill>
            </p:spPr>
            <p:txBody>
              <a:bodyPr/>
              <a:lstStyle/>
              <a:p>
                <a:r>
                  <a:rPr lang="en-IL">
                    <a:noFill/>
                  </a:rPr>
                  <a:t> </a:t>
                </a:r>
              </a:p>
            </p:txBody>
          </p:sp>
        </mc:Fallback>
      </mc:AlternateContent>
      <p:sp>
        <p:nvSpPr>
          <p:cNvPr id="10" name="Rounded Rectangle 9"/>
          <p:cNvSpPr/>
          <p:nvPr/>
        </p:nvSpPr>
        <p:spPr>
          <a:xfrm>
            <a:off x="4233672" y="1207008"/>
            <a:ext cx="3429000" cy="2441448"/>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4233672" y="1207008"/>
            <a:ext cx="3429000" cy="384048"/>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400" b="1">
                <a:solidFill>
                  <a:srgbClr val="FFFFFF"/>
                </a:solidFill>
                <a:latin typeface="Cambria"/>
              </a:rPr>
              <a:t>Camera</a:t>
            </a:r>
          </a:p>
        </p:txBody>
      </p:sp>
      <mc:AlternateContent xmlns:mc="http://schemas.openxmlformats.org/markup-compatibility/2006" xmlns:a14="http://schemas.microsoft.com/office/drawing/2010/main">
        <mc:Choice Requires="a14">
          <p:sp>
            <p:nvSpPr>
              <p:cNvPr id="12" name="TextBox 11"/>
              <p:cNvSpPr txBox="1"/>
              <p:nvPr/>
            </p:nvSpPr>
            <p:spPr>
              <a:xfrm>
                <a:off x="4398264" y="1737360"/>
                <a:ext cx="3264408" cy="1828800"/>
              </a:xfrm>
              <a:prstGeom prst="rect">
                <a:avLst/>
              </a:prstGeom>
              <a:noFill/>
            </p:spPr>
            <p:txBody>
              <a:bodyPr wrap="square" lIns="0" tIns="0" rIns="0" bIns="0" anchor="t"/>
              <a:lstStyle/>
              <a:p>
                <a:pPr marL="171450" indent="-171450">
                  <a:lnSpc>
                    <a:spcPct val="105000"/>
                  </a:lnSpc>
                  <a:spcAft>
                    <a:spcPts val="300"/>
                  </a:spcAft>
                  <a:buFont typeface="Courier New" panose="02070309020205020404" pitchFamily="49" charset="0"/>
                  <a:buChar char="o"/>
                </a:pPr>
                <a:r>
                  <a:rPr lang="en-US" sz="1000">
                    <a:solidFill>
                      <a:srgbClr val="33373B"/>
                    </a:solidFill>
                  </a:rPr>
                  <a:t>Full 2-D (x, y) position   (~frame rate)</a:t>
                </a:r>
              </a:p>
              <a:p>
                <a:pPr marL="171450" indent="-171450">
                  <a:lnSpc>
                    <a:spcPct val="105000"/>
                  </a:lnSpc>
                  <a:spcAft>
                    <a:spcPts val="300"/>
                  </a:spcAft>
                  <a:buFont typeface="Courier New" panose="02070309020205020404" pitchFamily="49" charset="0"/>
                  <a:buChar char="o"/>
                </a:pPr>
                <a:r>
                  <a:rPr lang="en-US" sz="1000">
                    <a:solidFill>
                      <a:srgbClr val="33373B"/>
                    </a:solidFill>
                  </a:rPr>
                  <a:t>Pinhole projection with stochastic FOV gating</a:t>
                </a:r>
              </a:p>
              <a:p>
                <a:pPr marL="171450" indent="-171450">
                  <a:lnSpc>
                    <a:spcPct val="105000"/>
                  </a:lnSpc>
                  <a:spcAft>
                    <a:spcPts val="300"/>
                  </a:spcAft>
                  <a:buFont typeface="Courier New" panose="02070309020205020404" pitchFamily="49" charset="0"/>
                  <a:buChar char="o"/>
                </a:pPr>
                <a14:m>
                  <m:oMath xmlns:m="http://schemas.openxmlformats.org/officeDocument/2006/math">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𝜎</m:t>
                        </m:r>
                      </m:e>
                      <m:sub>
                        <m:r>
                          <m:rPr>
                            <m:nor/>
                          </m:rPr>
                          <a:rPr lang="en-US" sz="1000" i="1">
                            <a:solidFill>
                              <a:srgbClr val="33373B"/>
                            </a:solidFill>
                            <a:latin typeface="Cambria Math" panose="02040503050406030204" pitchFamily="18" charset="0"/>
                          </a:rPr>
                          <m:t>cam</m:t>
                        </m:r>
                      </m:sub>
                    </m:sSub>
                    <m:r>
                      <a:rPr lang="en-US" sz="1000" i="1">
                        <a:solidFill>
                          <a:srgbClr val="33373B"/>
                        </a:solidFill>
                        <a:latin typeface="Cambria Math" panose="02040503050406030204" pitchFamily="18" charset="0"/>
                      </a:rPr>
                      <m:t> = </m:t>
                    </m:r>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𝜎</m:t>
                        </m:r>
                      </m:e>
                      <m:sub>
                        <m:r>
                          <a:rPr lang="en-US" sz="1000" i="1">
                            <a:solidFill>
                              <a:srgbClr val="33373B"/>
                            </a:solidFill>
                            <a:latin typeface="Cambria Math" panose="02040503050406030204" pitchFamily="18" charset="0"/>
                          </a:rPr>
                          <m:t>0</m:t>
                        </m:r>
                      </m:sub>
                    </m:sSub>
                    <m:r>
                      <a:rPr lang="en-US" sz="1000" i="1">
                        <a:solidFill>
                          <a:srgbClr val="33373B"/>
                        </a:solidFill>
                        <a:latin typeface="Cambria Math" panose="02040503050406030204" pitchFamily="18" charset="0"/>
                      </a:rPr>
                      <m:t> + </m:t>
                    </m:r>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𝑘</m:t>
                        </m:r>
                      </m:e>
                      <m:sub>
                        <m:r>
                          <a:rPr lang="en-US" sz="1000" i="1">
                            <a:solidFill>
                              <a:srgbClr val="33373B"/>
                            </a:solidFill>
                            <a:latin typeface="Cambria Math" panose="02040503050406030204" pitchFamily="18" charset="0"/>
                          </a:rPr>
                          <m:t>𝑟</m:t>
                        </m:r>
                      </m:sub>
                    </m:sSub>
                    <m:r>
                      <a:rPr lang="en-US" sz="1000" i="1">
                        <a:solidFill>
                          <a:srgbClr val="33373B"/>
                        </a:solidFill>
                        <a:latin typeface="Cambria Math" panose="02040503050406030204" pitchFamily="18" charset="0"/>
                      </a:rPr>
                      <m:t>·</m:t>
                    </m:r>
                    <m:r>
                      <a:rPr lang="en-US" sz="1000" i="1">
                        <a:solidFill>
                          <a:srgbClr val="33373B"/>
                        </a:solidFill>
                        <a:latin typeface="Cambria Math" panose="02040503050406030204" pitchFamily="18" charset="0"/>
                      </a:rPr>
                      <m:t>𝑟</m:t>
                    </m:r>
                    <m:r>
                      <a:rPr lang="en-US" sz="1000" i="1">
                        <a:solidFill>
                          <a:srgbClr val="33373B"/>
                        </a:solidFill>
                        <a:latin typeface="Cambria Math" panose="02040503050406030204" pitchFamily="18" charset="0"/>
                      </a:rPr>
                      <m:t> + </m:t>
                    </m:r>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𝑘</m:t>
                        </m:r>
                      </m:e>
                      <m:sub>
                        <m:r>
                          <a:rPr lang="en-US" sz="1000" i="1">
                            <a:solidFill>
                              <a:srgbClr val="33373B"/>
                            </a:solidFill>
                            <a:latin typeface="Cambria Math" panose="02040503050406030204" pitchFamily="18" charset="0"/>
                          </a:rPr>
                          <m:t>𝜃</m:t>
                        </m:r>
                      </m:sub>
                    </m:sSub>
                    <m:d>
                      <m:dPr>
                        <m:begChr m:val="|"/>
                        <m:endChr m:val="|"/>
                        <m:ctrlPr>
                          <a:rPr lang="en-US" sz="1000" i="1">
                            <a:solidFill>
                              <a:srgbClr val="33373B"/>
                            </a:solidFill>
                            <a:latin typeface="Cambria Math" panose="02040503050406030204" pitchFamily="18" charset="0"/>
                          </a:rPr>
                        </m:ctrlPr>
                      </m:dPr>
                      <m:e>
                        <m:r>
                          <a:rPr lang="en-US" sz="1000" i="1">
                            <a:solidFill>
                              <a:srgbClr val="33373B"/>
                            </a:solidFill>
                            <a:latin typeface="Cambria Math" panose="02040503050406030204" pitchFamily="18" charset="0"/>
                          </a:rPr>
                          <m:t>𝛥𝜃</m:t>
                        </m:r>
                      </m:e>
                    </m:d>
                    <m:r>
                      <a:rPr lang="en-US" sz="1000" i="1">
                        <a:solidFill>
                          <a:srgbClr val="33373B"/>
                        </a:solidFill>
                        <a:latin typeface="Cambria Math" panose="02040503050406030204" pitchFamily="18" charset="0"/>
                      </a:rPr>
                      <m:t>   </m:t>
                    </m:r>
                  </m:oMath>
                </a14:m>
                <a:endParaRPr lang="he-IL" sz="1000" i="1">
                  <a:solidFill>
                    <a:srgbClr val="33373B"/>
                  </a:solidFill>
                  <a:latin typeface="Cambria Math" panose="02040503050406030204" pitchFamily="18" charset="0"/>
                </a:endParaRPr>
              </a:p>
              <a:p>
                <a:pPr marL="171450" indent="-171450">
                  <a:lnSpc>
                    <a:spcPct val="105000"/>
                  </a:lnSpc>
                  <a:spcAft>
                    <a:spcPts val="300"/>
                  </a:spcAft>
                  <a:buFont typeface="Courier New" panose="02070309020205020404" pitchFamily="49" charset="0"/>
                  <a:buChar char="o"/>
                </a:pPr>
                <a14:m>
                  <m:oMath xmlns:m="http://schemas.openxmlformats.org/officeDocument/2006/math">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𝑘</m:t>
                        </m:r>
                      </m:e>
                      <m:sub>
                        <m:r>
                          <a:rPr lang="en-US" sz="1000" i="1">
                            <a:solidFill>
                              <a:srgbClr val="33373B"/>
                            </a:solidFill>
                            <a:latin typeface="Cambria Math" panose="02040503050406030204" pitchFamily="18" charset="0"/>
                          </a:rPr>
                          <m:t>𝑟</m:t>
                        </m:r>
                      </m:sub>
                    </m:sSub>
                    <m:r>
                      <a:rPr lang="en-US" sz="1000" i="1">
                        <a:solidFill>
                          <a:srgbClr val="33373B"/>
                        </a:solidFill>
                        <a:latin typeface="Cambria Math" panose="02040503050406030204" pitchFamily="18" charset="0"/>
                      </a:rPr>
                      <m:t> = </m:t>
                    </m:r>
                    <m:f>
                      <m:fPr>
                        <m:ctrlPr>
                          <a:rPr lang="en-US" sz="1000" i="1">
                            <a:solidFill>
                              <a:srgbClr val="33373B"/>
                            </a:solidFill>
                            <a:latin typeface="Cambria Math" panose="02040503050406030204" pitchFamily="18" charset="0"/>
                          </a:rPr>
                        </m:ctrlPr>
                      </m:fPr>
                      <m:num>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𝜎</m:t>
                            </m:r>
                          </m:e>
                          <m:sub>
                            <m:r>
                              <m:rPr>
                                <m:nor/>
                              </m:rPr>
                              <a:rPr lang="en-US" sz="1000" i="1">
                                <a:solidFill>
                                  <a:srgbClr val="33373B"/>
                                </a:solidFill>
                                <a:latin typeface="Cambria Math" panose="02040503050406030204" pitchFamily="18" charset="0"/>
                              </a:rPr>
                              <m:t>px</m:t>
                            </m:r>
                          </m:sub>
                        </m:sSub>
                      </m:num>
                      <m:den>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𝑓</m:t>
                            </m:r>
                          </m:e>
                          <m:sub>
                            <m:r>
                              <m:rPr>
                                <m:nor/>
                              </m:rPr>
                              <a:rPr lang="en-US" sz="1000" i="1">
                                <a:solidFill>
                                  <a:srgbClr val="33373B"/>
                                </a:solidFill>
                                <a:latin typeface="Cambria Math" panose="02040503050406030204" pitchFamily="18" charset="0"/>
                              </a:rPr>
                              <m:t>px</m:t>
                            </m:r>
                          </m:sub>
                        </m:sSub>
                      </m:den>
                    </m:f>
                    <m:r>
                      <a:rPr lang="en-US" sz="1000" i="1">
                        <a:solidFill>
                          <a:srgbClr val="33373B"/>
                        </a:solidFill>
                        <a:latin typeface="Cambria Math" panose="02040503050406030204" pitchFamily="18" charset="0"/>
                      </a:rPr>
                      <m:t> = </m:t>
                    </m:r>
                    <m:f>
                      <m:fPr>
                        <m:ctrlPr>
                          <a:rPr lang="en-US" sz="1000" i="1">
                            <a:solidFill>
                              <a:srgbClr val="33373B"/>
                            </a:solidFill>
                            <a:latin typeface="Cambria Math" panose="02040503050406030204" pitchFamily="18" charset="0"/>
                          </a:rPr>
                        </m:ctrlPr>
                      </m:fPr>
                      <m:num>
                        <m:r>
                          <a:rPr lang="en-US" sz="1000" i="1">
                            <a:solidFill>
                              <a:srgbClr val="33373B"/>
                            </a:solidFill>
                            <a:latin typeface="Cambria Math" panose="02040503050406030204" pitchFamily="18" charset="0"/>
                          </a:rPr>
                          <m:t>1.5 </m:t>
                        </m:r>
                        <m:r>
                          <m:rPr>
                            <m:nor/>
                          </m:rPr>
                          <a:rPr lang="en-US" sz="1000" i="1">
                            <a:solidFill>
                              <a:srgbClr val="33373B"/>
                            </a:solidFill>
                            <a:latin typeface="Cambria Math" panose="02040503050406030204" pitchFamily="18" charset="0"/>
                          </a:rPr>
                          <m:t>px</m:t>
                        </m:r>
                      </m:num>
                      <m:den>
                        <m:r>
                          <a:rPr lang="en-US" sz="1000" i="1">
                            <a:solidFill>
                              <a:srgbClr val="33373B"/>
                            </a:solidFill>
                            <a:latin typeface="Cambria Math" panose="02040503050406030204" pitchFamily="18" charset="0"/>
                          </a:rPr>
                          <m:t>914 </m:t>
                        </m:r>
                        <m:r>
                          <m:rPr>
                            <m:nor/>
                          </m:rPr>
                          <a:rPr lang="en-US" sz="1000" i="1">
                            <a:solidFill>
                              <a:srgbClr val="33373B"/>
                            </a:solidFill>
                            <a:latin typeface="Cambria Math" panose="02040503050406030204" pitchFamily="18" charset="0"/>
                          </a:rPr>
                          <m:t>px</m:t>
                        </m:r>
                      </m:den>
                    </m:f>
                    <m:r>
                      <a:rPr lang="en-US" sz="1000" i="1">
                        <a:solidFill>
                          <a:srgbClr val="33373B"/>
                        </a:solidFill>
                        <a:latin typeface="Cambria Math" panose="02040503050406030204" pitchFamily="18" charset="0"/>
                      </a:rPr>
                      <m:t> ≈ 0.0016</m:t>
                    </m:r>
                  </m:oMath>
                </a14:m>
                <a:endParaRPr lang="en-US" sz="1000">
                  <a:solidFill>
                    <a:srgbClr val="33373B"/>
                  </a:solidFill>
                </a:endParaRPr>
              </a:p>
              <a:p>
                <a:pPr marL="171450" indent="-171450">
                  <a:lnSpc>
                    <a:spcPct val="105000"/>
                  </a:lnSpc>
                  <a:spcAft>
                    <a:spcPts val="300"/>
                  </a:spcAft>
                  <a:buFont typeface="Courier New" panose="02070309020205020404" pitchFamily="49" charset="0"/>
                  <a:buChar char="o"/>
                </a:pPr>
                <a14:m>
                  <m:oMath xmlns:m="http://schemas.openxmlformats.org/officeDocument/2006/math">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𝑓</m:t>
                        </m:r>
                      </m:e>
                      <m:sub>
                        <m:r>
                          <m:rPr>
                            <m:nor/>
                          </m:rPr>
                          <a:rPr lang="en-US" sz="1000" i="1">
                            <a:solidFill>
                              <a:srgbClr val="33373B"/>
                            </a:solidFill>
                            <a:latin typeface="Cambria Math" panose="02040503050406030204" pitchFamily="18" charset="0"/>
                          </a:rPr>
                          <m:t>px</m:t>
                        </m:r>
                      </m:sub>
                    </m:sSub>
                    <m:r>
                      <a:rPr lang="en-US" sz="1000" i="1">
                        <a:solidFill>
                          <a:srgbClr val="33373B"/>
                        </a:solidFill>
                        <a:latin typeface="Cambria Math" panose="02040503050406030204" pitchFamily="18" charset="0"/>
                      </a:rPr>
                      <m:t> = </m:t>
                    </m:r>
                    <m:f>
                      <m:fPr>
                        <m:ctrlPr>
                          <a:rPr lang="en-US" sz="1000" i="1">
                            <a:solidFill>
                              <a:srgbClr val="33373B"/>
                            </a:solidFill>
                            <a:latin typeface="Cambria Math" panose="02040503050406030204" pitchFamily="18" charset="0"/>
                          </a:rPr>
                        </m:ctrlPr>
                      </m:fPr>
                      <m:num>
                        <m:r>
                          <a:rPr lang="en-US" sz="1000" i="1">
                            <a:solidFill>
                              <a:srgbClr val="33373B"/>
                            </a:solidFill>
                            <a:latin typeface="Cambria Math" panose="02040503050406030204" pitchFamily="18" charset="0"/>
                          </a:rPr>
                          <m:t>640</m:t>
                        </m:r>
                      </m:num>
                      <m:den>
                        <m:r>
                          <m:rPr>
                            <m:nor/>
                          </m:rPr>
                          <a:rPr lang="en-US" sz="1000" i="1">
                            <a:solidFill>
                              <a:srgbClr val="33373B"/>
                            </a:solidFill>
                            <a:latin typeface="Cambria Math" panose="02040503050406030204" pitchFamily="18" charset="0"/>
                          </a:rPr>
                          <m:t>tan</m:t>
                        </m:r>
                        <m:d>
                          <m:dPr>
                            <m:ctrlPr>
                              <a:rPr lang="en-US" sz="1000" i="1">
                                <a:solidFill>
                                  <a:srgbClr val="33373B"/>
                                </a:solidFill>
                                <a:latin typeface="Cambria Math" panose="02040503050406030204" pitchFamily="18" charset="0"/>
                              </a:rPr>
                            </m:ctrlPr>
                          </m:dPr>
                          <m:e>
                            <m:r>
                              <m:rPr>
                                <m:nor/>
                              </m:rPr>
                              <a:rPr lang="en-US" sz="1000" i="1">
                                <a:solidFill>
                                  <a:srgbClr val="33373B"/>
                                </a:solidFill>
                                <a:latin typeface="Cambria Math" panose="02040503050406030204" pitchFamily="18" charset="0"/>
                              </a:rPr>
                              <m:t>FOV</m:t>
                            </m:r>
                            <m:r>
                              <a:rPr lang="en-US" sz="1000" i="1">
                                <a:solidFill>
                                  <a:srgbClr val="33373B"/>
                                </a:solidFill>
                                <a:latin typeface="Cambria Math" panose="02040503050406030204" pitchFamily="18" charset="0"/>
                              </a:rPr>
                              <m:t>/2</m:t>
                            </m:r>
                          </m:e>
                        </m:d>
                      </m:den>
                    </m:f>
                    <m:r>
                      <a:rPr lang="en-US" sz="1000" i="1">
                        <a:solidFill>
                          <a:srgbClr val="33373B"/>
                        </a:solidFill>
                        <a:latin typeface="Cambria Math" panose="02040503050406030204" pitchFamily="18" charset="0"/>
                      </a:rPr>
                      <m:t> = 914 </m:t>
                    </m:r>
                    <m:r>
                      <m:rPr>
                        <m:nor/>
                      </m:rPr>
                      <a:rPr lang="en-US" sz="1000" i="1">
                        <a:solidFill>
                          <a:srgbClr val="33373B"/>
                        </a:solidFill>
                        <a:latin typeface="Cambria Math" panose="02040503050406030204" pitchFamily="18" charset="0"/>
                      </a:rPr>
                      <m:t>px</m:t>
                    </m:r>
                  </m:oMath>
                </a14:m>
                <a:endParaRPr lang="en-US" sz="1000">
                  <a:solidFill>
                    <a:srgbClr val="33373B"/>
                  </a:solidFill>
                </a:endParaRPr>
              </a:p>
              <a:p>
                <a:pPr marL="171450" indent="-171450">
                  <a:lnSpc>
                    <a:spcPct val="105000"/>
                  </a:lnSpc>
                  <a:spcAft>
                    <a:spcPts val="300"/>
                  </a:spcAft>
                  <a:buFont typeface="Courier New" panose="02070309020205020404" pitchFamily="49" charset="0"/>
                  <a:buChar char="o"/>
                </a:pPr>
                <a:r>
                  <a:rPr lang="en-US" sz="1000">
                    <a:solidFill>
                      <a:srgbClr val="33373B"/>
                    </a:solidFill>
                  </a:rPr>
                  <a:t>σ₀ = 0.10 m ,  k_θ = 0.15 m/rad ,  FOV = 70° ,  σ_px = 1.5 px</a:t>
                </a:r>
              </a:p>
              <a:p>
                <a:pPr marL="171450" indent="-171450">
                  <a:lnSpc>
                    <a:spcPct val="105000"/>
                  </a:lnSpc>
                  <a:spcAft>
                    <a:spcPts val="300"/>
                  </a:spcAft>
                  <a:buFont typeface="Courier New" panose="02070309020205020404" pitchFamily="49" charset="0"/>
                  <a:buChar char="o"/>
                </a:pPr>
                <a:r>
                  <a:rPr lang="en-US" sz="1000">
                    <a:solidFill>
                      <a:srgbClr val="33373B"/>
                    </a:solidFill>
                  </a:rPr>
                  <a:t>r = range to vehicle ,  Δθ = off-axis angle</a:t>
                </a:r>
              </a:p>
            </p:txBody>
          </p:sp>
        </mc:Choice>
        <mc:Fallback xmlns="">
          <p:sp>
            <p:nvSpPr>
              <p:cNvPr id="12" name="TextBox 11"/>
              <p:cNvSpPr txBox="1">
                <a:spLocks noRot="1" noChangeAspect="1" noMove="1" noResize="1" noEditPoints="1" noAdjustHandles="1" noChangeArrowheads="1" noChangeShapeType="1" noTextEdit="1"/>
              </p:cNvSpPr>
              <p:nvPr/>
            </p:nvSpPr>
            <p:spPr>
              <a:xfrm>
                <a:off x="4398264" y="1737360"/>
                <a:ext cx="3264408" cy="1828800"/>
              </a:xfrm>
              <a:prstGeom prst="rect">
                <a:avLst/>
              </a:prstGeom>
              <a:blipFill>
                <a:blip r:embed="rId6"/>
                <a:stretch>
                  <a:fillRect l="-2326" t="-2069" r="-388"/>
                </a:stretch>
              </a:blipFill>
            </p:spPr>
            <p:txBody>
              <a:bodyPr/>
              <a:lstStyle/>
              <a:p>
                <a:r>
                  <a:rPr lang="en-IL">
                    <a:noFill/>
                  </a:rPr>
                  <a:t> </a:t>
                </a:r>
              </a:p>
            </p:txBody>
          </p:sp>
        </mc:Fallback>
      </mc:AlternateContent>
      <p:sp>
        <p:nvSpPr>
          <p:cNvPr id="13" name="Rounded Rectangle 12"/>
          <p:cNvSpPr/>
          <p:nvPr/>
        </p:nvSpPr>
        <p:spPr>
          <a:xfrm>
            <a:off x="7827264" y="1207008"/>
            <a:ext cx="3429000" cy="2441448"/>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7827264" y="1207008"/>
            <a:ext cx="3429000" cy="384048"/>
          </a:xfrm>
          <a:prstGeom prst="roundRect">
            <a:avLst>
              <a:gd name="adj" fmla="val 6000"/>
            </a:avLst>
          </a:prstGeom>
          <a:solidFill>
            <a:srgbClr val="3A6E8F"/>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400" b="1">
                <a:solidFill>
                  <a:srgbClr val="FFFFFF"/>
                </a:solidFill>
                <a:latin typeface="Cambria"/>
              </a:rPr>
              <a:t>GPS</a:t>
            </a:r>
          </a:p>
        </p:txBody>
      </p:sp>
      <mc:AlternateContent xmlns:mc="http://schemas.openxmlformats.org/markup-compatibility/2006" xmlns:a14="http://schemas.microsoft.com/office/drawing/2010/main">
        <mc:Choice Requires="a14">
          <p:sp>
            <p:nvSpPr>
              <p:cNvPr id="15" name="TextBox 14"/>
              <p:cNvSpPr txBox="1"/>
              <p:nvPr/>
            </p:nvSpPr>
            <p:spPr>
              <a:xfrm>
                <a:off x="7991856" y="1737360"/>
                <a:ext cx="3108960" cy="1828800"/>
              </a:xfrm>
              <a:prstGeom prst="rect">
                <a:avLst/>
              </a:prstGeom>
              <a:noFill/>
            </p:spPr>
            <p:txBody>
              <a:bodyPr wrap="square" lIns="0" tIns="0" rIns="0" bIns="0" anchor="t"/>
              <a:lstStyle/>
              <a:p>
                <a:pPr marL="171450" indent="-171450">
                  <a:lnSpc>
                    <a:spcPct val="105000"/>
                  </a:lnSpc>
                  <a:spcAft>
                    <a:spcPts val="300"/>
                  </a:spcAft>
                  <a:buFont typeface="Courier New" panose="02070309020205020404" pitchFamily="49" charset="0"/>
                  <a:buChar char="o"/>
                </a:pPr>
                <a:r>
                  <a:rPr lang="en-US" sz="1000">
                    <a:solidFill>
                      <a:srgbClr val="33373B"/>
                    </a:solidFill>
                  </a:rPr>
                  <a:t>Absolute position (x, y)   (~1 Hz),   σ₀ ≈ 2.5 m</a:t>
                </a:r>
              </a:p>
              <a:p>
                <a:pPr marL="171450" indent="-171450">
                  <a:lnSpc>
                    <a:spcPct val="105000"/>
                  </a:lnSpc>
                  <a:spcAft>
                    <a:spcPts val="300"/>
                  </a:spcAft>
                  <a:buFont typeface="Courier New" panose="02070309020205020404" pitchFamily="49" charset="0"/>
                  <a:buChar char="o"/>
                </a:pPr>
                <a14:m>
                  <m:oMath xmlns:m="http://schemas.openxmlformats.org/officeDocument/2006/math">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𝜎</m:t>
                        </m:r>
                      </m:e>
                      <m:sub>
                        <m:r>
                          <a:rPr lang="en-US" sz="1000" i="1">
                            <a:solidFill>
                              <a:srgbClr val="33373B"/>
                            </a:solidFill>
                            <a:latin typeface="Cambria Math" panose="02040503050406030204" pitchFamily="18" charset="0"/>
                          </a:rPr>
                          <m:t>𝐺𝑃𝑆</m:t>
                        </m:r>
                      </m:sub>
                    </m:sSub>
                    <m:r>
                      <a:rPr lang="en-US" sz="1000" i="1">
                        <a:solidFill>
                          <a:srgbClr val="33373B"/>
                        </a:solidFill>
                        <a:latin typeface="Cambria Math" panose="02040503050406030204" pitchFamily="18" charset="0"/>
                      </a:rPr>
                      <m:t> = </m:t>
                    </m:r>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𝜎</m:t>
                        </m:r>
                      </m:e>
                      <m:sub>
                        <m:r>
                          <a:rPr lang="en-US" sz="1000" i="1">
                            <a:solidFill>
                              <a:srgbClr val="33373B"/>
                            </a:solidFill>
                            <a:latin typeface="Cambria Math" panose="02040503050406030204" pitchFamily="18" charset="0"/>
                          </a:rPr>
                          <m:t>0</m:t>
                        </m:r>
                      </m:sub>
                    </m:sSub>
                    <m:d>
                      <m:dPr>
                        <m:begChr m:val="["/>
                        <m:endChr m:val="]"/>
                        <m:ctrlPr>
                          <a:rPr lang="en-US" sz="1000" i="1">
                            <a:solidFill>
                              <a:srgbClr val="33373B"/>
                            </a:solidFill>
                            <a:latin typeface="Cambria Math" panose="02040503050406030204" pitchFamily="18" charset="0"/>
                          </a:rPr>
                        </m:ctrlPr>
                      </m:dPr>
                      <m:e>
                        <m:r>
                          <a:rPr lang="en-US" sz="1000" i="1">
                            <a:solidFill>
                              <a:srgbClr val="33373B"/>
                            </a:solidFill>
                            <a:latin typeface="Cambria Math" panose="02040503050406030204" pitchFamily="18" charset="0"/>
                          </a:rPr>
                          <m:t>1 + 0.35 </m:t>
                        </m:r>
                        <m:sSup>
                          <m:sSupPr>
                            <m:ctrlPr>
                              <a:rPr lang="en-US" sz="1000" i="1">
                                <a:solidFill>
                                  <a:srgbClr val="33373B"/>
                                </a:solidFill>
                                <a:latin typeface="Cambria Math" panose="02040503050406030204" pitchFamily="18" charset="0"/>
                              </a:rPr>
                            </m:ctrlPr>
                          </m:sSupPr>
                          <m:e>
                            <m:d>
                              <m:dPr>
                                <m:ctrlPr>
                                  <a:rPr lang="en-US" sz="1000" i="1">
                                    <a:solidFill>
                                      <a:srgbClr val="33373B"/>
                                    </a:solidFill>
                                    <a:latin typeface="Cambria Math" panose="02040503050406030204" pitchFamily="18" charset="0"/>
                                  </a:rPr>
                                </m:ctrlPr>
                              </m:dPr>
                              <m:e>
                                <m:f>
                                  <m:fPr>
                                    <m:ctrlPr>
                                      <a:rPr lang="en-US" sz="1000" i="1">
                                        <a:solidFill>
                                          <a:srgbClr val="33373B"/>
                                        </a:solidFill>
                                        <a:latin typeface="Cambria Math" panose="02040503050406030204" pitchFamily="18" charset="0"/>
                                      </a:rPr>
                                    </m:ctrlPr>
                                  </m:fPr>
                                  <m:num>
                                    <m:r>
                                      <a:rPr lang="en-US" sz="1000" i="1">
                                        <a:solidFill>
                                          <a:srgbClr val="33373B"/>
                                        </a:solidFill>
                                        <a:latin typeface="Cambria Math" panose="02040503050406030204" pitchFamily="18" charset="0"/>
                                      </a:rPr>
                                      <m:t>𝑟</m:t>
                                    </m:r>
                                  </m:num>
                                  <m:den>
                                    <m:sSub>
                                      <m:sSubPr>
                                        <m:ctrlPr>
                                          <a:rPr lang="en-US" sz="1000" i="1">
                                            <a:solidFill>
                                              <a:srgbClr val="33373B"/>
                                            </a:solidFill>
                                            <a:latin typeface="Cambria Math" panose="02040503050406030204" pitchFamily="18" charset="0"/>
                                          </a:rPr>
                                        </m:ctrlPr>
                                      </m:sSubPr>
                                      <m:e>
                                        <m:r>
                                          <a:rPr lang="en-US" sz="1000" i="1">
                                            <a:solidFill>
                                              <a:srgbClr val="33373B"/>
                                            </a:solidFill>
                                            <a:latin typeface="Cambria Math" panose="02040503050406030204" pitchFamily="18" charset="0"/>
                                          </a:rPr>
                                          <m:t>𝑅</m:t>
                                        </m:r>
                                      </m:e>
                                      <m:sub>
                                        <m:r>
                                          <a:rPr lang="en-US" sz="1000" i="1">
                                            <a:solidFill>
                                              <a:srgbClr val="33373B"/>
                                            </a:solidFill>
                                            <a:latin typeface="Cambria Math" panose="02040503050406030204" pitchFamily="18" charset="0"/>
                                          </a:rPr>
                                          <m:t>𝑔</m:t>
                                        </m:r>
                                      </m:sub>
                                    </m:sSub>
                                  </m:den>
                                </m:f>
                              </m:e>
                            </m:d>
                          </m:e>
                          <m:sup>
                            <m:r>
                              <a:rPr lang="en-US" sz="1000" i="1">
                                <a:solidFill>
                                  <a:srgbClr val="33373B"/>
                                </a:solidFill>
                                <a:latin typeface="Cambria Math" panose="02040503050406030204" pitchFamily="18" charset="0"/>
                              </a:rPr>
                              <m:t>2</m:t>
                            </m:r>
                          </m:sup>
                        </m:sSup>
                      </m:e>
                    </m:d>
                    <m:r>
                      <a:rPr lang="en-US" sz="1000" i="1">
                        <a:solidFill>
                          <a:srgbClr val="33373B"/>
                        </a:solidFill>
                        <a:latin typeface="Cambria Math" panose="02040503050406030204" pitchFamily="18" charset="0"/>
                      </a:rPr>
                      <m:t>   </m:t>
                    </m:r>
                  </m:oMath>
                </a14:m>
                <a:endParaRPr lang="en-US" sz="1000">
                  <a:solidFill>
                    <a:srgbClr val="33373B"/>
                  </a:solidFill>
                </a:endParaRPr>
              </a:p>
              <a:p>
                <a:pPr marL="171450" indent="-171450">
                  <a:lnSpc>
                    <a:spcPct val="105000"/>
                  </a:lnSpc>
                  <a:spcAft>
                    <a:spcPts val="300"/>
                  </a:spcAft>
                  <a:buFont typeface="Courier New" panose="02070309020205020404" pitchFamily="49" charset="0"/>
                  <a:buChar char="o"/>
                </a:pPr>
                <a:r>
                  <a:rPr lang="en-US" sz="1000">
                    <a:solidFill>
                      <a:srgbClr val="33373B"/>
                    </a:solidFill>
                  </a:rPr>
                  <a:t>R_g = sensor radius  — beyond it no fix is produced</a:t>
                </a:r>
                <a:endParaRPr lang="he-IL" sz="1000">
                  <a:solidFill>
                    <a:srgbClr val="33373B"/>
                  </a:solidFill>
                </a:endParaRPr>
              </a:p>
              <a:p>
                <a:pPr marL="171450" indent="-171450">
                  <a:lnSpc>
                    <a:spcPct val="105000"/>
                  </a:lnSpc>
                  <a:spcAft>
                    <a:spcPts val="300"/>
                  </a:spcAft>
                  <a:buFont typeface="Courier New" panose="02070309020205020404" pitchFamily="49" charset="0"/>
                  <a:buChar char="o"/>
                </a:pPr>
                <a:r>
                  <a:rPr lang="en-US" sz="1000">
                    <a:solidFill>
                      <a:srgbClr val="33373B"/>
                    </a:solidFill>
                  </a:rPr>
                  <a:t>r = range to vehicle</a:t>
                </a:r>
              </a:p>
              <a:p>
                <a:pPr marL="171450" indent="-171450">
                  <a:lnSpc>
                    <a:spcPct val="105000"/>
                  </a:lnSpc>
                  <a:spcAft>
                    <a:spcPts val="300"/>
                  </a:spcAft>
                  <a:buFont typeface="Courier New" panose="02070309020205020404" pitchFamily="49" charset="0"/>
                  <a:buChar char="o"/>
                </a:pPr>
                <a:r>
                  <a:rPr lang="en-US" sz="1000">
                    <a:solidFill>
                      <a:srgbClr val="33373B"/>
                    </a:solidFill>
                  </a:rPr>
                  <a:t>Low rate and accuracy</a:t>
                </a:r>
              </a:p>
            </p:txBody>
          </p:sp>
        </mc:Choice>
        <mc:Fallback xmlns="">
          <p:sp>
            <p:nvSpPr>
              <p:cNvPr id="15" name="TextBox 14"/>
              <p:cNvSpPr txBox="1">
                <a:spLocks noRot="1" noChangeAspect="1" noMove="1" noResize="1" noEditPoints="1" noAdjustHandles="1" noChangeArrowheads="1" noChangeShapeType="1" noTextEdit="1"/>
              </p:cNvSpPr>
              <p:nvPr/>
            </p:nvSpPr>
            <p:spPr>
              <a:xfrm>
                <a:off x="7991856" y="1737360"/>
                <a:ext cx="3108960" cy="1828800"/>
              </a:xfrm>
              <a:prstGeom prst="rect">
                <a:avLst/>
              </a:prstGeom>
              <a:blipFill>
                <a:blip r:embed="rId7"/>
                <a:stretch>
                  <a:fillRect l="-2439" t="-2069"/>
                </a:stretch>
              </a:blipFill>
            </p:spPr>
            <p:txBody>
              <a:bodyPr/>
              <a:lstStyle/>
              <a:p>
                <a:r>
                  <a:rPr lang="en-IL">
                    <a:noFill/>
                  </a:rPr>
                  <a:t> </a:t>
                </a:r>
              </a:p>
            </p:txBody>
          </p:sp>
        </mc:Fallback>
      </mc:AlternateContent>
      <p:sp>
        <p:nvSpPr>
          <p:cNvPr id="16" name="Rounded Rectangle 15"/>
          <p:cNvSpPr/>
          <p:nvPr/>
        </p:nvSpPr>
        <p:spPr>
          <a:xfrm>
            <a:off x="322027" y="3813048"/>
            <a:ext cx="3273551" cy="25146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19333" y="3919648"/>
            <a:ext cx="2434387" cy="176972"/>
          </a:xfrm>
          <a:prstGeom prst="rect">
            <a:avLst/>
          </a:prstGeom>
          <a:noFill/>
        </p:spPr>
        <p:txBody>
          <a:bodyPr wrap="square" lIns="0" tIns="0" rIns="0" bIns="0" anchor="t">
            <a:spAutoFit/>
          </a:bodyPr>
          <a:lstStyle/>
          <a:p>
            <a:pPr algn="l">
              <a:lnSpc>
                <a:spcPct val="100000"/>
              </a:lnSpc>
              <a:spcAft>
                <a:spcPts val="0"/>
              </a:spcAft>
            </a:pPr>
            <a:r>
              <a:rPr sz="1150" b="1" i="0">
                <a:solidFill>
                  <a:srgbClr val="1C7293"/>
                </a:solidFill>
                <a:latin typeface="Cambria"/>
              </a:rPr>
              <a:t>SNR-DRIVEN MEASUREMENT NOISE</a:t>
            </a:r>
          </a:p>
        </p:txBody>
      </p:sp>
      <mc:AlternateContent xmlns:mc="http://schemas.openxmlformats.org/markup-compatibility/2006" xmlns:a14="http://schemas.microsoft.com/office/drawing/2010/main">
        <mc:Choice Requires="a14">
          <p:sp>
            <p:nvSpPr>
              <p:cNvPr id="18" name="TextBox 17"/>
              <p:cNvSpPr txBox="1"/>
              <p:nvPr/>
            </p:nvSpPr>
            <p:spPr>
              <a:xfrm>
                <a:off x="521207" y="4334256"/>
                <a:ext cx="2907792" cy="1874519"/>
              </a:xfrm>
              <a:prstGeom prst="rect">
                <a:avLst/>
              </a:prstGeom>
              <a:noFill/>
            </p:spPr>
            <p:txBody>
              <a:bodyPr wrap="square" lIns="0" tIns="0" rIns="0" bIns="0" anchor="t"/>
              <a:lstStyle/>
              <a:p>
                <a:pPr marL="171450" indent="-171450">
                  <a:lnSpc>
                    <a:spcPct val="105000"/>
                  </a:lnSpc>
                  <a:spcAft>
                    <a:spcPts val="400"/>
                  </a:spcAft>
                  <a:buFont typeface="Courier New" panose="02070309020205020404" pitchFamily="49" charset="0"/>
                  <a:buChar char="o"/>
                </a:pPr>
                <a:r>
                  <a:rPr lang="en-US" sz="1000">
                    <a:solidFill>
                      <a:srgbClr val="33373B"/>
                    </a:solidFill>
                  </a:rPr>
                  <a:t>Each sensor exposes a physically-derived uncertainty the Kalman filter consumes directly.</a:t>
                </a:r>
              </a:p>
              <a:p>
                <a:pPr marL="171450" indent="-171450">
                  <a:lnSpc>
                    <a:spcPct val="105000"/>
                  </a:lnSpc>
                  <a:spcAft>
                    <a:spcPts val="400"/>
                  </a:spcAft>
                  <a:buFont typeface="Courier New" panose="02070309020205020404" pitchFamily="49" charset="0"/>
                  <a:buChar char="o"/>
                </a:pPr>
                <a:r>
                  <a:rPr lang="en-US" sz="1000">
                    <a:solidFill>
                      <a:srgbClr val="33373B"/>
                    </a:solidFill>
                  </a:rPr>
                  <a:t>So the filter trusts a heavy, nearby vehicle far more than a light, distant one automatically, with no manual tuning.</a:t>
                </a:r>
              </a:p>
              <a:p>
                <a:pPr marL="171450" indent="-171450">
                  <a:lnSpc>
                    <a:spcPct val="105000"/>
                  </a:lnSpc>
                  <a:spcAft>
                    <a:spcPts val="400"/>
                  </a:spcAft>
                  <a:buFont typeface="Courier New" panose="02070309020205020404" pitchFamily="49" charset="0"/>
                  <a:buChar char="o"/>
                </a:pPr>
                <a:r>
                  <a:rPr lang="en-US" sz="1000">
                    <a:solidFill>
                      <a:srgbClr val="33373B"/>
                    </a:solidFill>
                  </a:rPr>
                  <a:t>DAS variance can be an order of magnitude smaller than GPS.</a:t>
                </a:r>
              </a:p>
            </p:txBody>
          </p:sp>
        </mc:Choice>
        <mc:Fallback xmlns="">
          <p:sp>
            <p:nvSpPr>
              <p:cNvPr id="18" name="TextBox 17"/>
              <p:cNvSpPr txBox="1">
                <a:spLocks noRot="1" noChangeAspect="1" noMove="1" noResize="1" noEditPoints="1" noAdjustHandles="1" noChangeArrowheads="1" noChangeShapeType="1" noTextEdit="1"/>
              </p:cNvSpPr>
              <p:nvPr/>
            </p:nvSpPr>
            <p:spPr>
              <a:xfrm>
                <a:off x="521207" y="4334256"/>
                <a:ext cx="2907792" cy="1874519"/>
              </a:xfrm>
              <a:prstGeom prst="rect">
                <a:avLst/>
              </a:prstGeom>
              <a:blipFill>
                <a:blip r:embed="rId8"/>
                <a:stretch>
                  <a:fillRect l="-2174" t="-2703" r="-3043"/>
                </a:stretch>
              </a:blipFill>
            </p:spPr>
            <p:txBody>
              <a:bodyPr/>
              <a:lstStyle/>
              <a:p>
                <a:r>
                  <a:rPr lang="en-IL">
                    <a:noFill/>
                  </a:rPr>
                  <a:t> </a:t>
                </a:r>
              </a:p>
            </p:txBody>
          </p:sp>
        </mc:Fallback>
      </mc:AlternateContent>
      <p:sp>
        <p:nvSpPr>
          <p:cNvPr id="19" name="Rounded Rectangle 18"/>
          <p:cNvSpPr/>
          <p:nvPr/>
        </p:nvSpPr>
        <p:spPr>
          <a:xfrm>
            <a:off x="8406119" y="3813048"/>
            <a:ext cx="3172968" cy="25146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912974" y="3928684"/>
            <a:ext cx="2090272" cy="176972"/>
          </a:xfrm>
          <a:prstGeom prst="rect">
            <a:avLst/>
          </a:prstGeom>
          <a:noFill/>
        </p:spPr>
        <p:txBody>
          <a:bodyPr wrap="square" lIns="0" tIns="0" rIns="0" bIns="0" anchor="t">
            <a:spAutoFit/>
          </a:bodyPr>
          <a:lstStyle/>
          <a:p>
            <a:pPr algn="l">
              <a:lnSpc>
                <a:spcPct val="100000"/>
              </a:lnSpc>
              <a:spcAft>
                <a:spcPts val="0"/>
              </a:spcAft>
            </a:pPr>
            <a:r>
              <a:rPr sz="1150" b="1" i="0">
                <a:solidFill>
                  <a:srgbClr val="1C7293"/>
                </a:solidFill>
                <a:latin typeface="Cambria"/>
              </a:rPr>
              <a:t>TRACKING &amp; KALMAN FUSION</a:t>
            </a:r>
          </a:p>
        </p:txBody>
      </p:sp>
      <p:sp>
        <p:nvSpPr>
          <p:cNvPr id="21" name="TextBox 20"/>
          <p:cNvSpPr txBox="1"/>
          <p:nvPr/>
        </p:nvSpPr>
        <p:spPr>
          <a:xfrm>
            <a:off x="8549413" y="4334255"/>
            <a:ext cx="2929090" cy="1828800"/>
          </a:xfrm>
          <a:prstGeom prst="rect">
            <a:avLst/>
          </a:prstGeom>
          <a:noFill/>
        </p:spPr>
        <p:txBody>
          <a:bodyPr wrap="square" lIns="0" tIns="0" rIns="0" bIns="0" anchor="t">
            <a:spAutoFit/>
          </a:bodyPr>
          <a:lstStyle/>
          <a:p>
            <a:pPr marL="171450" indent="-171450">
              <a:lnSpc>
                <a:spcPct val="105000"/>
              </a:lnSpc>
              <a:spcAft>
                <a:spcPts val="700"/>
              </a:spcAft>
              <a:buFont typeface="Courier New" panose="02070309020205020404" pitchFamily="49" charset="0"/>
              <a:buChar char="o"/>
            </a:pPr>
            <a:r>
              <a:rPr sz="1150" err="1">
                <a:solidFill>
                  <a:srgbClr val="33424D"/>
                </a:solidFill>
                <a:latin typeface="Calibri"/>
              </a:rPr>
              <a:t>TrackManager</a:t>
            </a:r>
            <a:r>
              <a:rPr sz="1150">
                <a:solidFill>
                  <a:srgbClr val="33424D"/>
                </a:solidFill>
                <a:latin typeface="Calibri"/>
              </a:rPr>
              <a:t> keeps a stable global track ID across segment</a:t>
            </a:r>
            <a:r>
              <a:rPr lang="en-US" sz="1150">
                <a:solidFill>
                  <a:srgbClr val="33424D"/>
                </a:solidFill>
                <a:latin typeface="Calibri"/>
              </a:rPr>
              <a:t>,</a:t>
            </a:r>
            <a:r>
              <a:rPr sz="1150">
                <a:solidFill>
                  <a:srgbClr val="33424D"/>
                </a:solidFill>
                <a:latin typeface="Calibri"/>
              </a:rPr>
              <a:t> kinematics only, never the oracle ID.</a:t>
            </a:r>
          </a:p>
          <a:p>
            <a:pPr marL="171450" indent="-171450">
              <a:lnSpc>
                <a:spcPct val="105000"/>
              </a:lnSpc>
              <a:spcAft>
                <a:spcPts val="700"/>
              </a:spcAft>
              <a:buFont typeface="Courier New" panose="02070309020205020404" pitchFamily="49" charset="0"/>
              <a:buChar char="o"/>
            </a:pPr>
            <a:r>
              <a:rPr sz="1150">
                <a:solidFill>
                  <a:srgbClr val="33424D"/>
                </a:solidFill>
                <a:latin typeface="Calibri"/>
              </a:rPr>
              <a:t>Candidates scored by predicted-vs-measured </a:t>
            </a:r>
            <a:r>
              <a:rPr lang="en-US" sz="1150">
                <a:solidFill>
                  <a:srgbClr val="33424D"/>
                </a:solidFill>
                <a:latin typeface="Calibri"/>
              </a:rPr>
              <a:t>properties.</a:t>
            </a:r>
            <a:r>
              <a:rPr sz="1150">
                <a:solidFill>
                  <a:srgbClr val="33424D"/>
                </a:solidFill>
                <a:latin typeface="Calibri"/>
              </a:rPr>
              <a:t> 3 agreeing hits to confirm</a:t>
            </a:r>
            <a:r>
              <a:rPr lang="en-US" sz="1150">
                <a:solidFill>
                  <a:srgbClr val="33424D"/>
                </a:solidFill>
                <a:latin typeface="Calibri"/>
              </a:rPr>
              <a:t> so</a:t>
            </a:r>
            <a:r>
              <a:rPr sz="1150">
                <a:solidFill>
                  <a:srgbClr val="33424D"/>
                </a:solidFill>
                <a:latin typeface="Calibri"/>
              </a:rPr>
              <a:t> DAS ghosts rejected.</a:t>
            </a:r>
          </a:p>
          <a:p>
            <a:pPr marL="171450" indent="-171450">
              <a:lnSpc>
                <a:spcPct val="105000"/>
              </a:lnSpc>
              <a:spcAft>
                <a:spcPts val="700"/>
              </a:spcAft>
              <a:buFont typeface="Courier New" panose="02070309020205020404" pitchFamily="49" charset="0"/>
              <a:buChar char="o"/>
            </a:pPr>
            <a:r>
              <a:rPr sz="1150">
                <a:solidFill>
                  <a:srgbClr val="33424D"/>
                </a:solidFill>
                <a:latin typeface="Calibri"/>
              </a:rPr>
              <a:t>6-state constant-acceleration Kalman filter, decoupled x/y, Joseph-form covariance.</a:t>
            </a:r>
          </a:p>
          <a:p>
            <a:pPr marL="171450" indent="-171450">
              <a:lnSpc>
                <a:spcPct val="105000"/>
              </a:lnSpc>
              <a:spcAft>
                <a:spcPts val="700"/>
              </a:spcAft>
              <a:buFont typeface="Courier New" panose="02070309020205020404" pitchFamily="49" charset="0"/>
              <a:buChar char="o"/>
            </a:pPr>
            <a:r>
              <a:rPr sz="1150">
                <a:solidFill>
                  <a:srgbClr val="33424D"/>
                </a:solidFill>
                <a:latin typeface="Calibri"/>
              </a:rPr>
              <a:t>a sustained rise above 1.0 is an anomaly.</a:t>
            </a:r>
          </a:p>
        </p:txBody>
      </p:sp>
      <p:pic>
        <p:nvPicPr>
          <p:cNvPr id="22" name="Picture 21" descr="fig5_flow.png">
            <a:extLst>
              <a:ext uri="{FF2B5EF4-FFF2-40B4-BE49-F238E27FC236}">
                <a16:creationId xmlns:a16="http://schemas.microsoft.com/office/drawing/2014/main" id="{0102A35E-F7C6-284A-603D-AAB5ED50718C}"/>
              </a:ext>
            </a:extLst>
          </p:cNvPr>
          <p:cNvPicPr>
            <a:picLocks noChangeAspect="1"/>
          </p:cNvPicPr>
          <p:nvPr/>
        </p:nvPicPr>
        <p:blipFill>
          <a:blip r:embed="rId9"/>
          <a:srcRect l="3074" r="2863"/>
          <a:stretch>
            <a:fillRect/>
          </a:stretch>
        </p:blipFill>
        <p:spPr>
          <a:xfrm>
            <a:off x="4069080" y="3913632"/>
            <a:ext cx="3831336" cy="228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Anomaly</a:t>
            </a:r>
            <a:r>
              <a:rPr lang="en-US" sz="2500" b="1" i="0">
                <a:solidFill>
                  <a:srgbClr val="0B4F6C"/>
                </a:solidFill>
                <a:latin typeface="Cambria"/>
              </a:rPr>
              <a:t> </a:t>
            </a:r>
            <a:r>
              <a:rPr sz="2500" b="1" i="0">
                <a:solidFill>
                  <a:srgbClr val="0B4F6C"/>
                </a:solidFill>
                <a:latin typeface="Cambria"/>
              </a:rPr>
              <a:t>Detection Model</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7</a:t>
            </a:r>
          </a:p>
        </p:txBody>
      </p:sp>
      <p:sp>
        <p:nvSpPr>
          <p:cNvPr id="7" name="TextBox 6"/>
          <p:cNvSpPr txBox="1"/>
          <p:nvPr/>
        </p:nvSpPr>
        <p:spPr>
          <a:xfrm>
            <a:off x="594360" y="1280160"/>
            <a:ext cx="5212080" cy="1865575"/>
          </a:xfrm>
          <a:prstGeom prst="rect">
            <a:avLst/>
          </a:prstGeom>
          <a:noFill/>
        </p:spPr>
        <p:txBody>
          <a:bodyPr wrap="square" lIns="0" tIns="0" rIns="0" bIns="0" anchor="t">
            <a:spAutoFit/>
          </a:bodyPr>
          <a:lstStyle/>
          <a:p>
            <a:pPr marL="171450" indent="-171450">
              <a:lnSpc>
                <a:spcPct val="106000"/>
              </a:lnSpc>
              <a:spcAft>
                <a:spcPts val="800"/>
              </a:spcAft>
              <a:buFont typeface="Courier New" panose="02070309020205020404" pitchFamily="49" charset="0"/>
              <a:buChar char="o"/>
            </a:pPr>
            <a:r>
              <a:rPr lang="en-US" sz="1200" b="1" dirty="0">
                <a:solidFill>
                  <a:srgbClr val="33373B"/>
                </a:solidFill>
              </a:rPr>
              <a:t>A read only, unsupervised model. it learns the distribution of normal driving and scores each vehicle by deviation. </a:t>
            </a:r>
          </a:p>
          <a:p>
            <a:pPr marL="171450" indent="-171450">
              <a:lnSpc>
                <a:spcPct val="106000"/>
              </a:lnSpc>
              <a:spcAft>
                <a:spcPts val="800"/>
              </a:spcAft>
              <a:buFont typeface="Courier New" panose="02070309020205020404" pitchFamily="49" charset="0"/>
              <a:buChar char="o"/>
            </a:pPr>
            <a:r>
              <a:rPr lang="en-US" sz="1200" dirty="0">
                <a:solidFill>
                  <a:srgbClr val="33373B"/>
                </a:solidFill>
              </a:rPr>
              <a:t>Layer 1: Each vehicle trajectory → a 166-feature behavioral fingerprint across 9 semantic groups.</a:t>
            </a:r>
          </a:p>
          <a:p>
            <a:pPr marL="171450" indent="-171450">
              <a:lnSpc>
                <a:spcPct val="106000"/>
              </a:lnSpc>
              <a:spcAft>
                <a:spcPts val="800"/>
              </a:spcAft>
              <a:buFont typeface="Courier New" panose="02070309020205020404" pitchFamily="49" charset="0"/>
              <a:buChar char="o"/>
            </a:pPr>
            <a:r>
              <a:rPr lang="en-US" sz="1200" b="1" dirty="0">
                <a:solidFill>
                  <a:srgbClr val="33373B"/>
                </a:solidFill>
              </a:rPr>
              <a:t>Layer 2: the per feature Z-score baseline flags a vehicle when its largest |Z| exceeds the decision threshold, and reports which features drove the flag.</a:t>
            </a:r>
          </a:p>
          <a:p>
            <a:pPr marL="171450" indent="-171450">
              <a:lnSpc>
                <a:spcPct val="106000"/>
              </a:lnSpc>
              <a:spcAft>
                <a:spcPts val="800"/>
              </a:spcAft>
              <a:buFont typeface="Courier New" panose="02070309020205020404" pitchFamily="49" charset="0"/>
              <a:buChar char="o"/>
            </a:pPr>
            <a:r>
              <a:rPr lang="en-US" sz="1200" dirty="0">
                <a:solidFill>
                  <a:srgbClr val="33373B"/>
                </a:solidFill>
              </a:rPr>
              <a:t>DAS weight is back-estimated from the Flamant–</a:t>
            </a:r>
            <a:r>
              <a:rPr lang="en-US" sz="1200" dirty="0" err="1">
                <a:solidFill>
                  <a:srgbClr val="33373B"/>
                </a:solidFill>
              </a:rPr>
              <a:t>Boussinesq</a:t>
            </a:r>
            <a:r>
              <a:rPr lang="en-US" sz="1200" dirty="0">
                <a:solidFill>
                  <a:srgbClr val="33373B"/>
                </a:solidFill>
              </a:rPr>
              <a:t> law to flag overweight or misclassified vehicles.</a:t>
            </a:r>
          </a:p>
        </p:txBody>
      </p:sp>
      <p:sp>
        <p:nvSpPr>
          <p:cNvPr id="8" name="TextBox 7"/>
          <p:cNvSpPr txBox="1"/>
          <p:nvPr/>
        </p:nvSpPr>
        <p:spPr>
          <a:xfrm>
            <a:off x="6172200" y="1207008"/>
            <a:ext cx="4846320" cy="274320"/>
          </a:xfrm>
          <a:prstGeom prst="rect">
            <a:avLst/>
          </a:prstGeom>
          <a:noFill/>
        </p:spPr>
        <p:txBody>
          <a:bodyPr wrap="square" lIns="0" tIns="0" rIns="0" bIns="0" anchor="t">
            <a:spAutoFit/>
          </a:bodyPr>
          <a:lstStyle/>
          <a:p>
            <a:pPr algn="l">
              <a:lnSpc>
                <a:spcPct val="100000"/>
              </a:lnSpc>
              <a:spcAft>
                <a:spcPts val="0"/>
              </a:spcAft>
            </a:pPr>
            <a:r>
              <a:rPr sz="1150" b="1" i="0" dirty="0">
                <a:solidFill>
                  <a:srgbClr val="1C7293"/>
                </a:solidFill>
                <a:latin typeface="Cambria"/>
              </a:rPr>
              <a:t>166 FEATURES PER VEHICLE  ·  9 GROUPS</a:t>
            </a:r>
          </a:p>
        </p:txBody>
      </p:sp>
      <p:sp>
        <p:nvSpPr>
          <p:cNvPr id="9" name="Rounded Rectangle 8"/>
          <p:cNvSpPr/>
          <p:nvPr/>
        </p:nvSpPr>
        <p:spPr>
          <a:xfrm>
            <a:off x="6172200" y="160020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355080" y="169164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Coverage &amp; sensor utility</a:t>
            </a:r>
          </a:p>
        </p:txBody>
      </p:sp>
      <p:sp>
        <p:nvSpPr>
          <p:cNvPr id="11" name="TextBox 10"/>
          <p:cNvSpPr txBox="1"/>
          <p:nvPr/>
        </p:nvSpPr>
        <p:spPr>
          <a:xfrm>
            <a:off x="10149840" y="169164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54</a:t>
            </a:r>
          </a:p>
        </p:txBody>
      </p:sp>
      <p:sp>
        <p:nvSpPr>
          <p:cNvPr id="12" name="Rounded Rectangle 11"/>
          <p:cNvSpPr/>
          <p:nvPr/>
        </p:nvSpPr>
        <p:spPr>
          <a:xfrm>
            <a:off x="6172200" y="2034540"/>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355080" y="212598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Kinematics</a:t>
            </a:r>
          </a:p>
        </p:txBody>
      </p:sp>
      <p:sp>
        <p:nvSpPr>
          <p:cNvPr id="14" name="TextBox 13"/>
          <p:cNvSpPr txBox="1"/>
          <p:nvPr/>
        </p:nvSpPr>
        <p:spPr>
          <a:xfrm>
            <a:off x="10149840" y="212598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35</a:t>
            </a:r>
          </a:p>
        </p:txBody>
      </p:sp>
      <p:sp>
        <p:nvSpPr>
          <p:cNvPr id="15" name="Rounded Rectangle 14"/>
          <p:cNvSpPr/>
          <p:nvPr/>
        </p:nvSpPr>
        <p:spPr>
          <a:xfrm>
            <a:off x="6172200" y="246888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355080" y="256032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Inter-vehicle interaction</a:t>
            </a:r>
          </a:p>
        </p:txBody>
      </p:sp>
      <p:sp>
        <p:nvSpPr>
          <p:cNvPr id="17" name="TextBox 16"/>
          <p:cNvSpPr txBox="1"/>
          <p:nvPr/>
        </p:nvSpPr>
        <p:spPr>
          <a:xfrm>
            <a:off x="10149840" y="256032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20</a:t>
            </a:r>
          </a:p>
        </p:txBody>
      </p:sp>
      <p:sp>
        <p:nvSpPr>
          <p:cNvPr id="18" name="Rounded Rectangle 17"/>
          <p:cNvSpPr/>
          <p:nvPr/>
        </p:nvSpPr>
        <p:spPr>
          <a:xfrm>
            <a:off x="6172200" y="2903220"/>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355080" y="299466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Kalman-filter quality</a:t>
            </a:r>
          </a:p>
        </p:txBody>
      </p:sp>
      <p:sp>
        <p:nvSpPr>
          <p:cNvPr id="20" name="TextBox 19"/>
          <p:cNvSpPr txBox="1"/>
          <p:nvPr/>
        </p:nvSpPr>
        <p:spPr>
          <a:xfrm>
            <a:off x="10149840" y="299466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13</a:t>
            </a:r>
          </a:p>
        </p:txBody>
      </p:sp>
      <p:sp>
        <p:nvSpPr>
          <p:cNvPr id="21" name="Rounded Rectangle 20"/>
          <p:cNvSpPr/>
          <p:nvPr/>
        </p:nvSpPr>
        <p:spPr>
          <a:xfrm>
            <a:off x="6172200" y="333756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6355080" y="342900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Sensor disagreement</a:t>
            </a:r>
          </a:p>
        </p:txBody>
      </p:sp>
      <p:sp>
        <p:nvSpPr>
          <p:cNvPr id="23" name="TextBox 22"/>
          <p:cNvSpPr txBox="1"/>
          <p:nvPr/>
        </p:nvSpPr>
        <p:spPr>
          <a:xfrm>
            <a:off x="10149840" y="342900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11</a:t>
            </a:r>
          </a:p>
        </p:txBody>
      </p:sp>
      <p:sp>
        <p:nvSpPr>
          <p:cNvPr id="24" name="Rounded Rectangle 23"/>
          <p:cNvSpPr/>
          <p:nvPr/>
        </p:nvSpPr>
        <p:spPr>
          <a:xfrm>
            <a:off x="6172200" y="3771900"/>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6355080" y="386333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DAS signal quality</a:t>
            </a:r>
          </a:p>
        </p:txBody>
      </p:sp>
      <p:sp>
        <p:nvSpPr>
          <p:cNvPr id="26" name="TextBox 25"/>
          <p:cNvSpPr txBox="1"/>
          <p:nvPr/>
        </p:nvSpPr>
        <p:spPr>
          <a:xfrm>
            <a:off x="10149840" y="386333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11</a:t>
            </a:r>
          </a:p>
        </p:txBody>
      </p:sp>
      <p:sp>
        <p:nvSpPr>
          <p:cNvPr id="27" name="Rounded Rectangle 26"/>
          <p:cNvSpPr/>
          <p:nvPr/>
        </p:nvSpPr>
        <p:spPr>
          <a:xfrm>
            <a:off x="6172200" y="420624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6355080" y="429767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Camera &amp; GPS</a:t>
            </a:r>
          </a:p>
        </p:txBody>
      </p:sp>
      <p:sp>
        <p:nvSpPr>
          <p:cNvPr id="29" name="TextBox 28"/>
          <p:cNvSpPr txBox="1"/>
          <p:nvPr/>
        </p:nvSpPr>
        <p:spPr>
          <a:xfrm>
            <a:off x="10149840" y="429767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8</a:t>
            </a:r>
          </a:p>
        </p:txBody>
      </p:sp>
      <p:sp>
        <p:nvSpPr>
          <p:cNvPr id="30" name="Rounded Rectangle 29"/>
          <p:cNvSpPr/>
          <p:nvPr/>
        </p:nvSpPr>
        <p:spPr>
          <a:xfrm>
            <a:off x="6172200" y="4640579"/>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6355080" y="473201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DAS weight estimation</a:t>
            </a:r>
          </a:p>
        </p:txBody>
      </p:sp>
      <p:sp>
        <p:nvSpPr>
          <p:cNvPr id="32" name="TextBox 31"/>
          <p:cNvSpPr txBox="1"/>
          <p:nvPr/>
        </p:nvSpPr>
        <p:spPr>
          <a:xfrm>
            <a:off x="10149840" y="473201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3</a:t>
            </a:r>
          </a:p>
        </p:txBody>
      </p:sp>
      <p:sp>
        <p:nvSpPr>
          <p:cNvPr id="33" name="Rounded Rectangle 32"/>
          <p:cNvSpPr/>
          <p:nvPr/>
        </p:nvSpPr>
        <p:spPr>
          <a:xfrm>
            <a:off x="6172200" y="5074919"/>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6355080" y="516635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Scenario context</a:t>
            </a:r>
          </a:p>
        </p:txBody>
      </p:sp>
      <p:sp>
        <p:nvSpPr>
          <p:cNvPr id="35" name="TextBox 34"/>
          <p:cNvSpPr txBox="1"/>
          <p:nvPr/>
        </p:nvSpPr>
        <p:spPr>
          <a:xfrm>
            <a:off x="10149840" y="516635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a:t>
            </a:r>
          </a:p>
        </p:txBody>
      </p:sp>
      <p:sp>
        <p:nvSpPr>
          <p:cNvPr id="36" name="TextBox 35"/>
          <p:cNvSpPr txBox="1"/>
          <p:nvPr/>
        </p:nvSpPr>
        <p:spPr>
          <a:xfrm>
            <a:off x="6172200" y="5541264"/>
            <a:ext cx="4846320" cy="274320"/>
          </a:xfrm>
          <a:prstGeom prst="rect">
            <a:avLst/>
          </a:prstGeom>
          <a:noFill/>
        </p:spPr>
        <p:txBody>
          <a:bodyPr wrap="square" lIns="0" tIns="0" rIns="0" bIns="0" anchor="t">
            <a:spAutoFit/>
          </a:bodyPr>
          <a:lstStyle/>
          <a:p>
            <a:pPr algn="l">
              <a:lnSpc>
                <a:spcPct val="100000"/>
              </a:lnSpc>
              <a:spcAft>
                <a:spcPts val="0"/>
              </a:spcAft>
            </a:pPr>
            <a:r>
              <a:rPr sz="950" b="0" i="1">
                <a:solidFill>
                  <a:srgbClr val="6B7A85"/>
                </a:solidFill>
                <a:latin typeface="Calibri"/>
              </a:rPr>
              <a:t>156 features are scored by the model (identifiers &amp; metadata excluded).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Demonstration </a:t>
            </a:r>
            <a:r>
              <a:rPr sz="2500" b="1" i="0" err="1">
                <a:solidFill>
                  <a:srgbClr val="0B4F6C"/>
                </a:solidFill>
                <a:latin typeface="Cambria"/>
              </a:rPr>
              <a:t>SimStudio</a:t>
            </a:r>
            <a:endParaRPr sz="2500" b="1" i="0">
              <a:solidFill>
                <a:srgbClr val="0B4F6C"/>
              </a:solidFill>
              <a:latin typeface="Cambria"/>
            </a:endParaRP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8</a:t>
            </a:r>
          </a:p>
        </p:txBody>
      </p:sp>
      <p:sp>
        <p:nvSpPr>
          <p:cNvPr id="7" name="Rounded Rectangle 6"/>
          <p:cNvSpPr/>
          <p:nvPr/>
        </p:nvSpPr>
        <p:spPr>
          <a:xfrm>
            <a:off x="594360" y="1170432"/>
            <a:ext cx="10881360" cy="566928"/>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r>
              <a:rPr sz="1500" b="1">
                <a:solidFill>
                  <a:srgbClr val="FFFFFF"/>
                </a:solidFill>
                <a:latin typeface="Cambria"/>
              </a:rPr>
              <a:t>▶  LIVE DEMO</a:t>
            </a:r>
            <a:endParaRPr sz="1050" i="1">
              <a:solidFill>
                <a:srgbClr val="8EAFC2"/>
              </a:solidFill>
              <a:latin typeface="Calibri"/>
            </a:endParaRPr>
          </a:p>
        </p:txBody>
      </p:sp>
      <p:sp>
        <p:nvSpPr>
          <p:cNvPr id="8" name="Rounded Rectangle 7"/>
          <p:cNvSpPr/>
          <p:nvPr/>
        </p:nvSpPr>
        <p:spPr>
          <a:xfrm>
            <a:off x="594360"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9" name="Picture 8" descr="image10.png"/>
          <p:cNvPicPr>
            <a:picLocks noChangeAspect="1"/>
          </p:cNvPicPr>
          <p:nvPr/>
        </p:nvPicPr>
        <p:blipFill>
          <a:blip r:embed="rId5"/>
          <a:stretch>
            <a:fillRect/>
          </a:stretch>
        </p:blipFill>
        <p:spPr>
          <a:xfrm>
            <a:off x="685800" y="2029968"/>
            <a:ext cx="2468880" cy="1485617"/>
          </a:xfrm>
          <a:prstGeom prst="rect">
            <a:avLst/>
          </a:prstGeom>
        </p:spPr>
      </p:pic>
      <p:sp>
        <p:nvSpPr>
          <p:cNvPr id="10" name="TextBox 9"/>
          <p:cNvSpPr txBox="1"/>
          <p:nvPr/>
        </p:nvSpPr>
        <p:spPr>
          <a:xfrm>
            <a:off x="685800"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1 · Import real streets (OSM)</a:t>
            </a:r>
          </a:p>
        </p:txBody>
      </p:sp>
      <p:sp>
        <p:nvSpPr>
          <p:cNvPr id="11" name="Rounded Rectangle 10"/>
          <p:cNvSpPr/>
          <p:nvPr/>
        </p:nvSpPr>
        <p:spPr>
          <a:xfrm>
            <a:off x="3392424"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2" name="Picture 11" descr="image11.png"/>
          <p:cNvPicPr>
            <a:picLocks noChangeAspect="1"/>
          </p:cNvPicPr>
          <p:nvPr/>
        </p:nvPicPr>
        <p:blipFill>
          <a:blip r:embed="rId6"/>
          <a:stretch>
            <a:fillRect/>
          </a:stretch>
        </p:blipFill>
        <p:spPr>
          <a:xfrm>
            <a:off x="3483864" y="2029968"/>
            <a:ext cx="2468880" cy="1485617"/>
          </a:xfrm>
          <a:prstGeom prst="rect">
            <a:avLst/>
          </a:prstGeom>
        </p:spPr>
      </p:pic>
      <p:sp>
        <p:nvSpPr>
          <p:cNvPr id="13" name="TextBox 12"/>
          <p:cNvSpPr txBox="1"/>
          <p:nvPr/>
        </p:nvSpPr>
        <p:spPr>
          <a:xfrm>
            <a:off x="3483864"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2 · Build &amp; place sensors</a:t>
            </a:r>
          </a:p>
        </p:txBody>
      </p:sp>
      <p:sp>
        <p:nvSpPr>
          <p:cNvPr id="14" name="Rounded Rectangle 13"/>
          <p:cNvSpPr/>
          <p:nvPr/>
        </p:nvSpPr>
        <p:spPr>
          <a:xfrm>
            <a:off x="6190488"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5" name="Picture 14" descr="image12.png"/>
          <p:cNvPicPr>
            <a:picLocks noChangeAspect="1"/>
          </p:cNvPicPr>
          <p:nvPr/>
        </p:nvPicPr>
        <p:blipFill>
          <a:blip r:embed="rId7"/>
          <a:stretch>
            <a:fillRect/>
          </a:stretch>
        </p:blipFill>
        <p:spPr>
          <a:xfrm>
            <a:off x="6281927" y="2029968"/>
            <a:ext cx="2468880" cy="1485617"/>
          </a:xfrm>
          <a:prstGeom prst="rect">
            <a:avLst/>
          </a:prstGeom>
        </p:spPr>
      </p:pic>
      <p:sp>
        <p:nvSpPr>
          <p:cNvPr id="16" name="TextBox 15"/>
          <p:cNvSpPr txBox="1"/>
          <p:nvPr/>
        </p:nvSpPr>
        <p:spPr>
          <a:xfrm>
            <a:off x="6281927"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3 · Simulate traffic (50 Hz)</a:t>
            </a:r>
          </a:p>
        </p:txBody>
      </p:sp>
      <p:sp>
        <p:nvSpPr>
          <p:cNvPr id="17" name="Rounded Rectangle 16"/>
          <p:cNvSpPr/>
          <p:nvPr/>
        </p:nvSpPr>
        <p:spPr>
          <a:xfrm>
            <a:off x="8988552"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8" name="Picture 17" descr="image13.png"/>
          <p:cNvPicPr>
            <a:picLocks noChangeAspect="1"/>
          </p:cNvPicPr>
          <p:nvPr/>
        </p:nvPicPr>
        <p:blipFill>
          <a:blip r:embed="rId8"/>
          <a:stretch>
            <a:fillRect/>
          </a:stretch>
        </p:blipFill>
        <p:spPr>
          <a:xfrm>
            <a:off x="9079992" y="2029968"/>
            <a:ext cx="2468880" cy="1485617"/>
          </a:xfrm>
          <a:prstGeom prst="rect">
            <a:avLst/>
          </a:prstGeom>
        </p:spPr>
      </p:pic>
      <p:sp>
        <p:nvSpPr>
          <p:cNvPr id="19" name="TextBox 18"/>
          <p:cNvSpPr txBox="1"/>
          <p:nvPr/>
        </p:nvSpPr>
        <p:spPr>
          <a:xfrm>
            <a:off x="9079992"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4 · Inspect fused data streams</a:t>
            </a:r>
          </a:p>
        </p:txBody>
      </p:sp>
      <p:sp>
        <p:nvSpPr>
          <p:cNvPr id="20" name="Rounded Rectangle 19"/>
          <p:cNvSpPr/>
          <p:nvPr/>
        </p:nvSpPr>
        <p:spPr>
          <a:xfrm>
            <a:off x="594360" y="4434840"/>
            <a:ext cx="10881360" cy="1234440"/>
          </a:xfrm>
          <a:prstGeom prst="roundRect">
            <a:avLst>
              <a:gd name="adj" fmla="val 6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822960" y="4590288"/>
            <a:ext cx="10424160" cy="927177"/>
          </a:xfrm>
          <a:prstGeom prst="rect">
            <a:avLst/>
          </a:prstGeom>
          <a:noFill/>
        </p:spPr>
        <p:txBody>
          <a:bodyPr wrap="square" lIns="0" tIns="0" rIns="0" bIns="0" anchor="t">
            <a:spAutoFit/>
          </a:bodyPr>
          <a:lstStyle/>
          <a:p>
            <a:pPr marL="171450" indent="-171450">
              <a:lnSpc>
                <a:spcPct val="106000"/>
              </a:lnSpc>
              <a:spcAft>
                <a:spcPts val="600"/>
              </a:spcAft>
              <a:buFont typeface="Courier New" panose="02070309020205020404" pitchFamily="49" charset="0"/>
              <a:buChar char="o"/>
            </a:pPr>
            <a:r>
              <a:rPr lang="en-US" sz="1200">
                <a:solidFill>
                  <a:srgbClr val="33373B"/>
                </a:solidFill>
              </a:rPr>
              <a:t>Workflow: generate a scenario, run the simulation (optionally in batch), collect the exports, then run feature extraction and anomaly scoring.</a:t>
            </a:r>
          </a:p>
          <a:p>
            <a:pPr marL="171450" indent="-171450">
              <a:lnSpc>
                <a:spcPct val="106000"/>
              </a:lnSpc>
              <a:spcAft>
                <a:spcPts val="600"/>
              </a:spcAft>
              <a:buFont typeface="Courier New" panose="02070309020205020404" pitchFamily="49" charset="0"/>
              <a:buChar char="o"/>
            </a:pPr>
            <a:r>
              <a:rPr lang="en-US" sz="1200">
                <a:solidFill>
                  <a:srgbClr val="33373B"/>
                </a:solidFill>
              </a:rPr>
              <a:t>Each recorded run produces trajectories, a styled Excel workbook, an audit report and per-track visualizations, the same files are then fed to the anomaly layer later </a:t>
            </a:r>
            <a:r>
              <a:rPr lang="en-IL" sz="1200">
                <a:solidFill>
                  <a:srgbClr val="33373B"/>
                </a:solidFill>
              </a:rPr>
              <a:t>to score each vehicle.</a:t>
            </a:r>
            <a:endParaRPr lang="en-US" sz="1200">
              <a:solidFill>
                <a:srgbClr val="33373B"/>
              </a:solidFill>
            </a:endParaRPr>
          </a:p>
          <a:p>
            <a:pPr>
              <a:lnSpc>
                <a:spcPct val="105000"/>
              </a:lnSpc>
              <a:spcAft>
                <a:spcPts val="600"/>
              </a:spcAft>
            </a:pPr>
            <a:r>
              <a:rPr sz="1200" b="0">
                <a:solidFill>
                  <a:srgbClr val="33424D"/>
                </a:solidFill>
                <a:latin typeface="Calibri"/>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52600" y="310896"/>
            <a:ext cx="8686800" cy="384721"/>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Results Tracking Accuracy</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9</a:t>
            </a:r>
          </a:p>
        </p:txBody>
      </p:sp>
      <p:sp>
        <p:nvSpPr>
          <p:cNvPr id="7" name="Rounded Rectangle 6"/>
          <p:cNvSpPr/>
          <p:nvPr/>
        </p:nvSpPr>
        <p:spPr>
          <a:xfrm>
            <a:off x="594360" y="1234440"/>
            <a:ext cx="214884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94360" y="1344168"/>
            <a:ext cx="214884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0B4F6C"/>
                </a:solidFill>
                <a:latin typeface="Cambria"/>
              </a:rPr>
              <a:t>0.35 m</a:t>
            </a:r>
          </a:p>
          <a:p>
            <a:pPr algn="ctr">
              <a:lnSpc>
                <a:spcPct val="100000"/>
              </a:lnSpc>
              <a:spcAft>
                <a:spcPts val="0"/>
              </a:spcAft>
            </a:pPr>
            <a:r>
              <a:rPr sz="1050" b="0" i="0">
                <a:solidFill>
                  <a:srgbClr val="6B7A85"/>
                </a:solidFill>
                <a:latin typeface="Calibri"/>
              </a:rPr>
              <a:t>mean track RMSE</a:t>
            </a:r>
          </a:p>
        </p:txBody>
      </p:sp>
      <p:sp>
        <p:nvSpPr>
          <p:cNvPr id="9" name="Rounded Rectangle 8"/>
          <p:cNvSpPr/>
          <p:nvPr/>
        </p:nvSpPr>
        <p:spPr>
          <a:xfrm>
            <a:off x="2907792" y="1234440"/>
            <a:ext cx="214884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907792" y="1344168"/>
            <a:ext cx="214884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0B4F6C"/>
                </a:solidFill>
                <a:latin typeface="Cambria"/>
              </a:rPr>
              <a:t>0.49 m</a:t>
            </a:r>
          </a:p>
          <a:p>
            <a:pPr algn="ctr">
              <a:lnSpc>
                <a:spcPct val="100000"/>
              </a:lnSpc>
              <a:spcAft>
                <a:spcPts val="0"/>
              </a:spcAft>
            </a:pPr>
            <a:r>
              <a:rPr sz="1050" b="0" i="0">
                <a:solidFill>
                  <a:srgbClr val="6B7A85"/>
                </a:solidFill>
                <a:latin typeface="Calibri"/>
              </a:rPr>
              <a:t>cross-segment RMSE</a:t>
            </a:r>
          </a:p>
        </p:txBody>
      </p:sp>
      <p:sp>
        <p:nvSpPr>
          <p:cNvPr id="11" name="Rounded Rectangle 10"/>
          <p:cNvSpPr/>
          <p:nvPr/>
        </p:nvSpPr>
        <p:spPr>
          <a:xfrm>
            <a:off x="5221224" y="1234440"/>
            <a:ext cx="214884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5221224" y="1344168"/>
            <a:ext cx="214884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2E7D5B"/>
                </a:solidFill>
                <a:latin typeface="Cambria"/>
              </a:rPr>
              <a:t>1.52 m</a:t>
            </a:r>
          </a:p>
          <a:p>
            <a:pPr algn="ctr">
              <a:lnSpc>
                <a:spcPct val="100000"/>
              </a:lnSpc>
              <a:spcAft>
                <a:spcPts val="0"/>
              </a:spcAft>
            </a:pPr>
            <a:r>
              <a:rPr sz="1050" b="0" i="0">
                <a:solidFill>
                  <a:srgbClr val="6B7A85"/>
                </a:solidFill>
                <a:latin typeface="Calibri"/>
              </a:rPr>
              <a:t>max error  (≤ ±5 m)</a:t>
            </a:r>
          </a:p>
        </p:txBody>
      </p:sp>
      <p:sp>
        <p:nvSpPr>
          <p:cNvPr id="13" name="TextBox 12"/>
          <p:cNvSpPr txBox="1"/>
          <p:nvPr/>
        </p:nvSpPr>
        <p:spPr>
          <a:xfrm>
            <a:off x="594360" y="2514600"/>
            <a:ext cx="6766560" cy="1708225"/>
          </a:xfrm>
          <a:prstGeom prst="rect">
            <a:avLst/>
          </a:prstGeom>
          <a:noFill/>
        </p:spPr>
        <p:txBody>
          <a:bodyPr wrap="square" lIns="0" tIns="0" rIns="0" bIns="0" anchor="t">
            <a:spAutoFit/>
          </a:bodyPr>
          <a:lstStyle/>
          <a:p>
            <a:pPr marL="171450" indent="-171450">
              <a:lnSpc>
                <a:spcPct val="106000"/>
              </a:lnSpc>
              <a:spcAft>
                <a:spcPts val="900"/>
              </a:spcAft>
              <a:buFont typeface="Courier New" panose="02070309020205020404" pitchFamily="49" charset="0"/>
              <a:buChar char="o"/>
            </a:pPr>
            <a:r>
              <a:rPr lang="en-US" sz="1200" b="1">
                <a:solidFill>
                  <a:srgbClr val="33373B"/>
                </a:solidFill>
              </a:rPr>
              <a:t>A vehicle fused across the seg1→seg2 boundary reached 0.49 m RMSE (max 1.52 m). the mean across the nine evaluation scenarios was 0.35 m (best 0.19, worst 0.45).</a:t>
            </a:r>
          </a:p>
          <a:p>
            <a:pPr marL="171450" indent="-171450">
              <a:lnSpc>
                <a:spcPct val="106000"/>
              </a:lnSpc>
              <a:spcAft>
                <a:spcPts val="900"/>
              </a:spcAft>
              <a:buFont typeface="Courier New" panose="02070309020205020404" pitchFamily="49" charset="0"/>
              <a:buChar char="o"/>
            </a:pPr>
            <a:r>
              <a:rPr lang="en-US" sz="1200">
                <a:solidFill>
                  <a:srgbClr val="33373B"/>
                </a:solidFill>
              </a:rPr>
              <a:t>DAS gives high rate, high trust updates along the fiber. the camera contributes accurate fixes at intersections. GPS supplies low-rate absolute corrections between DAS zones.</a:t>
            </a:r>
          </a:p>
          <a:p>
            <a:pPr marL="171450" indent="-171450">
              <a:lnSpc>
                <a:spcPct val="106000"/>
              </a:lnSpc>
              <a:spcAft>
                <a:spcPts val="900"/>
              </a:spcAft>
              <a:buFont typeface="Courier New" panose="02070309020205020404" pitchFamily="49" charset="0"/>
              <a:buChar char="o"/>
            </a:pPr>
            <a:r>
              <a:rPr lang="en-US" sz="1200">
                <a:solidFill>
                  <a:srgbClr val="33373B"/>
                </a:solidFill>
              </a:rPr>
              <a:t>A stable identity is maintained across every segment transition.</a:t>
            </a:r>
          </a:p>
          <a:p>
            <a:pPr marL="171450" indent="-171450">
              <a:lnSpc>
                <a:spcPct val="106000"/>
              </a:lnSpc>
              <a:spcAft>
                <a:spcPts val="900"/>
              </a:spcAft>
              <a:buFont typeface="Courier New" panose="02070309020205020404" pitchFamily="49" charset="0"/>
              <a:buChar char="o"/>
            </a:pPr>
            <a:r>
              <a:rPr lang="en-US" sz="1200">
                <a:solidFill>
                  <a:srgbClr val="33373B"/>
                </a:solidFill>
              </a:rPr>
              <a:t>Fixing a subtle GPS fragmentation or a ghost track bug with an identity aware ambiguity guard ensured GPS reached the correct confirmed track rather than orphan fragments, improving fusion accuracy.</a:t>
            </a:r>
          </a:p>
        </p:txBody>
      </p:sp>
      <p:sp>
        <p:nvSpPr>
          <p:cNvPr id="14" name="Rounded Rectangle 13"/>
          <p:cNvSpPr/>
          <p:nvPr/>
        </p:nvSpPr>
        <p:spPr>
          <a:xfrm>
            <a:off x="7635240" y="1188720"/>
            <a:ext cx="3840480" cy="452628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5" name="Picture 14" descr="image15.png"/>
          <p:cNvPicPr>
            <a:picLocks noChangeAspect="1"/>
          </p:cNvPicPr>
          <p:nvPr/>
        </p:nvPicPr>
        <p:blipFill>
          <a:blip r:embed="rId5"/>
          <a:stretch>
            <a:fillRect/>
          </a:stretch>
        </p:blipFill>
        <p:spPr>
          <a:xfrm>
            <a:off x="7901577" y="1394460"/>
            <a:ext cx="3307805" cy="3611880"/>
          </a:xfrm>
          <a:prstGeom prst="rect">
            <a:avLst/>
          </a:prstGeom>
        </p:spPr>
      </p:pic>
      <p:sp>
        <p:nvSpPr>
          <p:cNvPr id="16" name="TextBox 15"/>
          <p:cNvSpPr txBox="1"/>
          <p:nvPr/>
        </p:nvSpPr>
        <p:spPr>
          <a:xfrm>
            <a:off x="7772400" y="5212080"/>
            <a:ext cx="3566160" cy="365760"/>
          </a:xfrm>
          <a:prstGeom prst="rect">
            <a:avLst/>
          </a:prstGeom>
          <a:noFill/>
        </p:spPr>
        <p:txBody>
          <a:bodyPr wrap="square" lIns="0" tIns="0" rIns="0" bIns="0" anchor="t">
            <a:spAutoFit/>
          </a:bodyPr>
          <a:lstStyle/>
          <a:p>
            <a:pPr algn="ctr">
              <a:lnSpc>
                <a:spcPct val="100000"/>
              </a:lnSpc>
              <a:spcAft>
                <a:spcPts val="0"/>
              </a:spcAft>
            </a:pPr>
            <a:r>
              <a:rPr sz="1050" b="0" i="0">
                <a:solidFill>
                  <a:srgbClr val="6B7A85"/>
                </a:solidFill>
                <a:latin typeface="Calibri"/>
              </a:rPr>
              <a:t>Fused cross-segment track vs. ground truth.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Results Anomaly Detection</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10</a:t>
            </a:r>
          </a:p>
        </p:txBody>
      </p:sp>
      <p:sp>
        <p:nvSpPr>
          <p:cNvPr id="7" name="Rounded Rectangle 6"/>
          <p:cNvSpPr/>
          <p:nvPr/>
        </p:nvSpPr>
        <p:spPr>
          <a:xfrm>
            <a:off x="594359" y="1280160"/>
            <a:ext cx="5120639" cy="12344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94359" y="1635770"/>
            <a:ext cx="2377440" cy="523220"/>
          </a:xfrm>
          <a:prstGeom prst="rect">
            <a:avLst/>
          </a:prstGeom>
          <a:noFill/>
        </p:spPr>
        <p:txBody>
          <a:bodyPr wrap="square" lIns="0" tIns="0" rIns="0" bIns="0" anchor="t">
            <a:spAutoFit/>
          </a:bodyPr>
          <a:lstStyle/>
          <a:p>
            <a:pPr algn="ctr">
              <a:lnSpc>
                <a:spcPct val="100000"/>
              </a:lnSpc>
              <a:spcAft>
                <a:spcPts val="200"/>
              </a:spcAft>
            </a:pPr>
            <a:r>
              <a:rPr sz="3400" b="1" i="0">
                <a:solidFill>
                  <a:srgbClr val="2E7D5B"/>
                </a:solidFill>
                <a:latin typeface="Cambria"/>
              </a:rPr>
              <a:t>6 / 9</a:t>
            </a:r>
          </a:p>
        </p:txBody>
      </p:sp>
      <mc:AlternateContent xmlns:mc="http://schemas.openxmlformats.org/markup-compatibility/2006" xmlns:a14="http://schemas.microsoft.com/office/drawing/2010/main">
        <mc:Choice Requires="a14">
          <p:sp>
            <p:nvSpPr>
              <p:cNvPr id="9" name="TextBox 8"/>
              <p:cNvSpPr txBox="1"/>
              <p:nvPr/>
            </p:nvSpPr>
            <p:spPr>
              <a:xfrm>
                <a:off x="594360" y="2788920"/>
                <a:ext cx="5120640" cy="1592872"/>
              </a:xfrm>
              <a:prstGeom prst="rect">
                <a:avLst/>
              </a:prstGeom>
              <a:noFill/>
            </p:spPr>
            <p:txBody>
              <a:bodyPr wrap="square" lIns="0" tIns="0" rIns="0" bIns="0" anchor="t">
                <a:spAutoFit/>
              </a:bodyPr>
              <a:lstStyle/>
              <a:p>
                <a:pPr marL="171450" indent="-171450">
                  <a:lnSpc>
                    <a:spcPct val="106000"/>
                  </a:lnSpc>
                  <a:spcAft>
                    <a:spcPts val="900"/>
                  </a:spcAft>
                  <a:buFont typeface="Courier New" panose="02070309020205020404" pitchFamily="49" charset="0"/>
                  <a:buChar char="o"/>
                </a:pPr>
                <a:r>
                  <a:rPr lang="en-US" sz="1200">
                    <a:solidFill>
                      <a:srgbClr val="33373B"/>
                    </a:solidFill>
                  </a:rPr>
                  <a:t>Detected: hard braking, stalled vehicle, collision, reckless driving, speeding, overweight, longitudinal &amp; sensor level anomalies separate clearly.</a:t>
                </a:r>
              </a:p>
              <a:p>
                <a:pPr marL="171450" indent="-171450">
                  <a:lnSpc>
                    <a:spcPct val="106000"/>
                  </a:lnSpc>
                  <a:spcAft>
                    <a:spcPts val="900"/>
                  </a:spcAft>
                  <a:buFont typeface="Courier New" panose="02070309020205020404" pitchFamily="49" charset="0"/>
                  <a:buChar char="o"/>
                </a:pPr>
                <a:r>
                  <a:rPr lang="en-US" sz="1200">
                    <a:solidFill>
                      <a:srgbClr val="33373B"/>
                    </a:solidFill>
                  </a:rPr>
                  <a:t>Interpretable: for over speeding the flag was driven by relative speed at closest approach, mean speed, and lateral velocity.</a:t>
                </a:r>
              </a:p>
              <a:p>
                <a:pPr marL="171450" indent="-171450">
                  <a:lnSpc>
                    <a:spcPct val="106000"/>
                  </a:lnSpc>
                  <a:spcAft>
                    <a:spcPts val="900"/>
                  </a:spcAft>
                  <a:buFont typeface="Courier New" panose="02070309020205020404" pitchFamily="49" charset="0"/>
                  <a:buChar char="o"/>
                </a:pPr>
                <a:r>
                  <a:rPr lang="en-US" sz="1200" b="1">
                    <a:solidFill>
                      <a:srgbClr val="33373B"/>
                    </a:solidFill>
                  </a:rPr>
                  <a:t>Missed: lane straddling (6.2 </a:t>
                </a:r>
                <a14:m>
                  <m:oMath xmlns:m="http://schemas.openxmlformats.org/officeDocument/2006/math">
                    <m:r>
                      <a:rPr lang="en-US" sz="1200" b="1" i="1">
                        <a:solidFill>
                          <a:srgbClr val="33373B"/>
                        </a:solidFill>
                        <a:latin typeface="Cambria Math" panose="02040503050406030204" pitchFamily="18" charset="0"/>
                      </a:rPr>
                      <m:t>𝝈</m:t>
                    </m:r>
                  </m:oMath>
                </a14:m>
                <a:r>
                  <a:rPr lang="en-US" sz="1200" b="1">
                    <a:solidFill>
                      <a:srgbClr val="33373B"/>
                    </a:solidFill>
                  </a:rPr>
                  <a:t>), weaving (5.0 </a:t>
                </a:r>
                <a14:m>
                  <m:oMath xmlns:m="http://schemas.openxmlformats.org/officeDocument/2006/math">
                    <m:r>
                      <a:rPr lang="en-US" sz="1200" b="1" i="1">
                        <a:solidFill>
                          <a:srgbClr val="33373B"/>
                        </a:solidFill>
                        <a:latin typeface="Cambria Math" panose="02040503050406030204" pitchFamily="18" charset="0"/>
                      </a:rPr>
                      <m:t>𝝈</m:t>
                    </m:r>
                  </m:oMath>
                </a14:m>
                <a:r>
                  <a:rPr lang="en-US" sz="1200" b="1">
                    <a:solidFill>
                      <a:srgbClr val="33373B"/>
                    </a:solidFill>
                  </a:rPr>
                  <a:t>), tailgating (2.1 </a:t>
                </a:r>
                <a14:m>
                  <m:oMath xmlns:m="http://schemas.openxmlformats.org/officeDocument/2006/math">
                    <m:r>
                      <a:rPr lang="en-US" sz="1200" b="1" i="1">
                        <a:solidFill>
                          <a:srgbClr val="33373B"/>
                        </a:solidFill>
                        <a:latin typeface="Cambria Math" panose="02040503050406030204" pitchFamily="18" charset="0"/>
                      </a:rPr>
                      <m:t>𝝈</m:t>
                    </m:r>
                  </m:oMath>
                </a14:m>
                <a:r>
                  <a:rPr lang="en-US" sz="1200" b="1">
                    <a:solidFill>
                      <a:srgbClr val="33373B"/>
                    </a:solidFill>
                  </a:rPr>
                  <a:t>), subtle behaviors below the conservative </a:t>
                </a:r>
                <a14:m>
                  <m:oMath xmlns:m="http://schemas.openxmlformats.org/officeDocument/2006/math">
                    <m:r>
                      <a:rPr lang="en-US" sz="1200" b="1" i="1">
                        <a:solidFill>
                          <a:srgbClr val="33373B"/>
                        </a:solidFill>
                        <a:latin typeface="Cambria Math" panose="02040503050406030204" pitchFamily="18" charset="0"/>
                      </a:rPr>
                      <m:t>≈</m:t>
                    </m:r>
                    <m:r>
                      <a:rPr lang="en-US" sz="1200" b="1" i="1">
                        <a:solidFill>
                          <a:srgbClr val="33373B"/>
                        </a:solidFill>
                        <a:latin typeface="Cambria Math" panose="02040503050406030204" pitchFamily="18" charset="0"/>
                      </a:rPr>
                      <m:t>𝟏𝟓</m:t>
                    </m:r>
                    <m:r>
                      <a:rPr lang="en-US" sz="1200" b="1" i="1">
                        <a:solidFill>
                          <a:srgbClr val="33373B"/>
                        </a:solidFill>
                        <a:latin typeface="Cambria Math" panose="02040503050406030204" pitchFamily="18" charset="0"/>
                      </a:rPr>
                      <m:t>.</m:t>
                    </m:r>
                    <m:r>
                      <a:rPr lang="en-US" sz="1200" b="1" i="1">
                        <a:solidFill>
                          <a:srgbClr val="33373B"/>
                        </a:solidFill>
                        <a:latin typeface="Cambria Math" panose="02040503050406030204" pitchFamily="18" charset="0"/>
                      </a:rPr>
                      <m:t>𝟒</m:t>
                    </m:r>
                    <m:r>
                      <a:rPr lang="en-US" sz="1200" b="1" i="1">
                        <a:solidFill>
                          <a:srgbClr val="33373B"/>
                        </a:solidFill>
                        <a:latin typeface="Cambria Math" panose="02040503050406030204" pitchFamily="18" charset="0"/>
                      </a:rPr>
                      <m:t> </m:t>
                    </m:r>
                    <m:r>
                      <a:rPr lang="en-US" sz="1200" b="1" i="1">
                        <a:solidFill>
                          <a:srgbClr val="33373B"/>
                        </a:solidFill>
                        <a:latin typeface="Cambria Math" panose="02040503050406030204" pitchFamily="18" charset="0"/>
                      </a:rPr>
                      <m:t>𝝈</m:t>
                    </m:r>
                    <m:r>
                      <a:rPr lang="en-US" sz="1200" b="1" i="1">
                        <a:solidFill>
                          <a:srgbClr val="33373B"/>
                        </a:solidFill>
                        <a:latin typeface="Cambria Math" panose="02040503050406030204" pitchFamily="18" charset="0"/>
                      </a:rPr>
                      <m:t> </m:t>
                    </m:r>
                  </m:oMath>
                </a14:m>
                <a:r>
                  <a:rPr lang="en-US" sz="1200" b="1">
                    <a:solidFill>
                      <a:srgbClr val="33373B"/>
                    </a:solidFill>
                  </a:rPr>
                  <a:t>threshold chosen to keep false positives low.</a:t>
                </a:r>
              </a:p>
            </p:txBody>
          </p:sp>
        </mc:Choice>
        <mc:Fallback xmlns="">
          <p:sp>
            <p:nvSpPr>
              <p:cNvPr id="9" name="TextBox 8"/>
              <p:cNvSpPr txBox="1">
                <a:spLocks noRot="1" noChangeAspect="1" noMove="1" noResize="1" noEditPoints="1" noAdjustHandles="1" noChangeArrowheads="1" noChangeShapeType="1" noTextEdit="1"/>
              </p:cNvSpPr>
              <p:nvPr/>
            </p:nvSpPr>
            <p:spPr>
              <a:xfrm>
                <a:off x="594360" y="2788920"/>
                <a:ext cx="5120640" cy="1592872"/>
              </a:xfrm>
              <a:prstGeom prst="rect">
                <a:avLst/>
              </a:prstGeom>
              <a:blipFill>
                <a:blip r:embed="rId5"/>
                <a:stretch>
                  <a:fillRect l="-1980" t="-2362" r="-990" b="-3937"/>
                </a:stretch>
              </a:blipFill>
            </p:spPr>
            <p:txBody>
              <a:bodyPr/>
              <a:lstStyle/>
              <a:p>
                <a:r>
                  <a:rPr lang="en-IL">
                    <a:noFill/>
                  </a:rPr>
                  <a:t> </a:t>
                </a:r>
              </a:p>
            </p:txBody>
          </p:sp>
        </mc:Fallback>
      </mc:AlternateContent>
      <p:sp>
        <p:nvSpPr>
          <p:cNvPr id="10" name="Rounded Rectangle 9"/>
          <p:cNvSpPr/>
          <p:nvPr/>
        </p:nvSpPr>
        <p:spPr>
          <a:xfrm>
            <a:off x="5989320" y="1188720"/>
            <a:ext cx="5486400" cy="452628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1" name="Picture 10" descr="image16.png"/>
          <p:cNvPicPr>
            <a:picLocks noChangeAspect="1"/>
          </p:cNvPicPr>
          <p:nvPr/>
        </p:nvPicPr>
        <p:blipFill>
          <a:blip r:embed="rId6"/>
          <a:stretch>
            <a:fillRect/>
          </a:stretch>
        </p:blipFill>
        <p:spPr>
          <a:xfrm>
            <a:off x="6172200" y="2103120"/>
            <a:ext cx="5120640" cy="2651484"/>
          </a:xfrm>
          <a:prstGeom prst="rect">
            <a:avLst/>
          </a:prstGeom>
        </p:spPr>
      </p:pic>
      <p:sp>
        <p:nvSpPr>
          <p:cNvPr id="12" name="TextBox 11"/>
          <p:cNvSpPr txBox="1"/>
          <p:nvPr/>
        </p:nvSpPr>
        <p:spPr>
          <a:xfrm>
            <a:off x="6172200" y="5074920"/>
            <a:ext cx="5120640" cy="411480"/>
          </a:xfrm>
          <a:prstGeom prst="rect">
            <a:avLst/>
          </a:prstGeom>
          <a:noFill/>
        </p:spPr>
        <p:txBody>
          <a:bodyPr wrap="square" lIns="0" tIns="0" rIns="0" bIns="0" anchor="t">
            <a:spAutoFit/>
          </a:bodyPr>
          <a:lstStyle/>
          <a:p>
            <a:pPr algn="ctr">
              <a:lnSpc>
                <a:spcPct val="100000"/>
              </a:lnSpc>
              <a:spcAft>
                <a:spcPts val="0"/>
              </a:spcAft>
            </a:pPr>
            <a:r>
              <a:rPr sz="1050" b="0" i="0">
                <a:solidFill>
                  <a:srgbClr val="6B7A85"/>
                </a:solidFill>
                <a:latin typeface="Calibri"/>
              </a:rPr>
              <a:t>Injected-vehicle anomaly score per scenario vs. the conservative decision threshold (dashed).</a:t>
            </a:r>
          </a:p>
        </p:txBody>
      </p:sp>
      <p:sp>
        <p:nvSpPr>
          <p:cNvPr id="13" name="TextBox 12">
            <a:extLst>
              <a:ext uri="{FF2B5EF4-FFF2-40B4-BE49-F238E27FC236}">
                <a16:creationId xmlns:a16="http://schemas.microsoft.com/office/drawing/2014/main" id="{F91A89C5-4DA2-6F0B-3AD6-E9D4CA330FBB}"/>
              </a:ext>
            </a:extLst>
          </p:cNvPr>
          <p:cNvSpPr txBox="1"/>
          <p:nvPr/>
        </p:nvSpPr>
        <p:spPr>
          <a:xfrm>
            <a:off x="2743198" y="1417320"/>
            <a:ext cx="2971800" cy="960120"/>
          </a:xfrm>
          <a:prstGeom prst="rect">
            <a:avLst/>
          </a:prstGeom>
          <a:noFill/>
        </p:spPr>
        <p:txBody>
          <a:bodyPr wrap="square" lIns="0" tIns="0" rIns="0" bIns="0" anchor="ctr">
            <a:spAutoFit/>
          </a:bodyPr>
          <a:lstStyle/>
          <a:p>
            <a:pPr algn="l">
              <a:lnSpc>
                <a:spcPct val="100000"/>
              </a:lnSpc>
              <a:spcBef>
                <a:spcPts val="0"/>
              </a:spcBef>
              <a:spcAft>
                <a:spcPts val="300"/>
              </a:spcAft>
            </a:pPr>
            <a:r>
              <a:rPr sz="1500" b="1" i="0">
                <a:solidFill>
                  <a:srgbClr val="0B2A45"/>
                </a:solidFill>
                <a:latin typeface="Calibri"/>
              </a:rPr>
              <a:t>anomalies detected</a:t>
            </a:r>
          </a:p>
          <a:p>
            <a:pPr algn="l">
              <a:lnSpc>
                <a:spcPct val="100000"/>
              </a:lnSpc>
              <a:spcBef>
                <a:spcPts val="0"/>
              </a:spcBef>
              <a:spcAft>
                <a:spcPts val="300"/>
              </a:spcAft>
            </a:pPr>
            <a:r>
              <a:rPr sz="1250" b="0" i="1">
                <a:solidFill>
                  <a:srgbClr val="2E7D32"/>
                </a:solidFill>
                <a:latin typeface="Calibri"/>
              </a:rPr>
              <a:t>target ≥ 5 / 10  —  met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68983"/>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Real-World Validation — Klausner St.</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11</a:t>
            </a:r>
          </a:p>
        </p:txBody>
      </p:sp>
      <p:sp>
        <p:nvSpPr>
          <p:cNvPr id="8" name="Rounded Rectangle 7"/>
          <p:cNvSpPr/>
          <p:nvPr/>
        </p:nvSpPr>
        <p:spPr>
          <a:xfrm>
            <a:off x="594360" y="3657600"/>
            <a:ext cx="164592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94360" y="3767328"/>
            <a:ext cx="164592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0B4F6C"/>
                </a:solidFill>
                <a:latin typeface="Cambria"/>
              </a:rPr>
              <a:t>1.17 m</a:t>
            </a:r>
          </a:p>
          <a:p>
            <a:pPr algn="ctr">
              <a:lnSpc>
                <a:spcPct val="100000"/>
              </a:lnSpc>
              <a:spcAft>
                <a:spcPts val="0"/>
              </a:spcAft>
            </a:pPr>
            <a:r>
              <a:rPr sz="1050" b="0" i="0">
                <a:solidFill>
                  <a:srgbClr val="6B7A85"/>
                </a:solidFill>
                <a:latin typeface="Calibri"/>
              </a:rPr>
              <a:t>fused track RMSE</a:t>
            </a:r>
          </a:p>
        </p:txBody>
      </p:sp>
      <p:sp>
        <p:nvSpPr>
          <p:cNvPr id="10" name="Rounded Rectangle 9"/>
          <p:cNvSpPr/>
          <p:nvPr/>
        </p:nvSpPr>
        <p:spPr>
          <a:xfrm>
            <a:off x="2377440" y="3657600"/>
            <a:ext cx="164592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2377440" y="3767328"/>
            <a:ext cx="164592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2E7D5B"/>
                </a:solidFill>
                <a:latin typeface="Cambria"/>
              </a:rPr>
              <a:t>0.33 m</a:t>
            </a:r>
          </a:p>
          <a:p>
            <a:pPr algn="ctr">
              <a:lnSpc>
                <a:spcPct val="100000"/>
              </a:lnSpc>
              <a:spcAft>
                <a:spcPts val="0"/>
              </a:spcAft>
            </a:pPr>
            <a:r>
              <a:rPr sz="1050" b="0" i="0">
                <a:solidFill>
                  <a:srgbClr val="6B7A85"/>
                </a:solidFill>
                <a:latin typeface="Calibri"/>
              </a:rPr>
              <a:t>DAS per-sensor RMSE</a:t>
            </a:r>
          </a:p>
        </p:txBody>
      </p:sp>
      <p:sp>
        <p:nvSpPr>
          <p:cNvPr id="12" name="Rounded Rectangle 11"/>
          <p:cNvSpPr/>
          <p:nvPr/>
        </p:nvSpPr>
        <p:spPr>
          <a:xfrm>
            <a:off x="4160520" y="3657600"/>
            <a:ext cx="164592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4160520" y="3767328"/>
            <a:ext cx="164592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C97B2C"/>
                </a:solidFill>
                <a:latin typeface="Cambria"/>
              </a:rPr>
              <a:t>2.49 m</a:t>
            </a:r>
          </a:p>
          <a:p>
            <a:pPr algn="ctr">
              <a:lnSpc>
                <a:spcPct val="100000"/>
              </a:lnSpc>
              <a:spcAft>
                <a:spcPts val="0"/>
              </a:spcAft>
            </a:pPr>
            <a:r>
              <a:rPr sz="1050" b="0" i="0">
                <a:solidFill>
                  <a:srgbClr val="6B7A85"/>
                </a:solidFill>
                <a:latin typeface="Calibri"/>
              </a:rPr>
              <a:t>camera per-sensor RMSE</a:t>
            </a:r>
          </a:p>
        </p:txBody>
      </p:sp>
      <mc:AlternateContent xmlns:mc="http://schemas.openxmlformats.org/markup-compatibility/2006" xmlns:a14="http://schemas.microsoft.com/office/drawing/2010/main">
        <mc:Choice Requires="a14">
          <p:sp>
            <p:nvSpPr>
              <p:cNvPr id="14" name="TextBox 13"/>
              <p:cNvSpPr txBox="1"/>
              <p:nvPr/>
            </p:nvSpPr>
            <p:spPr>
              <a:xfrm>
                <a:off x="640080" y="5917296"/>
                <a:ext cx="5166360" cy="526041"/>
              </a:xfrm>
              <a:prstGeom prst="rect">
                <a:avLst/>
              </a:prstGeom>
              <a:noFill/>
            </p:spPr>
            <p:txBody>
              <a:bodyPr wrap="square" lIns="0" tIns="0" rIns="0" bIns="0" anchor="t">
                <a:spAutoFit/>
              </a:bodyPr>
              <a:lstStyle/>
              <a:p>
                <a:pPr>
                  <a:lnSpc>
                    <a:spcPct val="105000"/>
                  </a:lnSpc>
                  <a:spcAft>
                    <a:spcPts val="400"/>
                  </a:spcAft>
                </a:pPr>
                <a:r>
                  <a:rPr lang="en-US" sz="1100" i="1">
                    <a:solidFill>
                      <a:srgbClr val="33373B"/>
                    </a:solidFill>
                  </a:rPr>
                  <a:t>The camera's measured error far exceeded its reported </a:t>
                </a:r>
                <a14:m>
                  <m:oMath xmlns:m="http://schemas.openxmlformats.org/officeDocument/2006/math">
                    <m:r>
                      <a:rPr lang="el-GR" sz="1100" i="1">
                        <a:solidFill>
                          <a:srgbClr val="33373B"/>
                        </a:solidFill>
                        <a:latin typeface="Cambria Math" panose="02040503050406030204" pitchFamily="18" charset="0"/>
                      </a:rPr>
                      <m:t>𝜎</m:t>
                    </m:r>
                    <m:r>
                      <a:rPr lang="en-US" sz="1100" i="1">
                        <a:solidFill>
                          <a:srgbClr val="33373B"/>
                        </a:solidFill>
                        <a:latin typeface="Cambria Math" panose="02040503050406030204" pitchFamily="18" charset="0"/>
                      </a:rPr>
                      <m:t>=0.2</m:t>
                    </m:r>
                    <m:r>
                      <a:rPr lang="en-US" sz="1100" i="1">
                        <a:solidFill>
                          <a:srgbClr val="33373B"/>
                        </a:solidFill>
                        <a:latin typeface="Cambria Math" panose="02040503050406030204" pitchFamily="18" charset="0"/>
                      </a:rPr>
                      <m:t>𝑚</m:t>
                    </m:r>
                    <m:r>
                      <a:rPr lang="en-US" sz="1100" i="1">
                        <a:solidFill>
                          <a:srgbClr val="33373B"/>
                        </a:solidFill>
                        <a:latin typeface="Cambria Math" panose="02040503050406030204" pitchFamily="18" charset="0"/>
                      </a:rPr>
                      <m:t>,</m:t>
                    </m:r>
                  </m:oMath>
                </a14:m>
                <a:r>
                  <a:rPr lang="el-GR" sz="1100" i="1">
                    <a:solidFill>
                      <a:srgbClr val="33373B"/>
                    </a:solidFill>
                  </a:rPr>
                  <a:t> </a:t>
                </a:r>
                <a:r>
                  <a:rPr lang="en-US" sz="1100" i="1">
                    <a:solidFill>
                      <a:srgbClr val="33373B"/>
                    </a:solidFill>
                  </a:rPr>
                  <a:t>exactly the failure mode the design anticipates. </a:t>
                </a:r>
                <a:r>
                  <a:rPr lang="en-IL" sz="1100" i="1">
                    <a:solidFill>
                      <a:srgbClr val="33373B"/>
                    </a:solidFill>
                  </a:rPr>
                  <a:t>Cameras must be calibrated at each site before a larger real world deployment.</a:t>
                </a:r>
              </a:p>
            </p:txBody>
          </p:sp>
        </mc:Choice>
        <mc:Fallback xmlns="">
          <p:sp>
            <p:nvSpPr>
              <p:cNvPr id="14" name="TextBox 13"/>
              <p:cNvSpPr txBox="1">
                <a:spLocks noRot="1" noChangeAspect="1" noMove="1" noResize="1" noEditPoints="1" noAdjustHandles="1" noChangeArrowheads="1" noChangeShapeType="1" noTextEdit="1"/>
              </p:cNvSpPr>
              <p:nvPr/>
            </p:nvSpPr>
            <p:spPr>
              <a:xfrm>
                <a:off x="640080" y="5917296"/>
                <a:ext cx="5166360" cy="526041"/>
              </a:xfrm>
              <a:prstGeom prst="rect">
                <a:avLst/>
              </a:prstGeom>
              <a:blipFill>
                <a:blip r:embed="rId5"/>
                <a:stretch>
                  <a:fillRect l="-1716" t="-7143" r="-1225" b="-16667"/>
                </a:stretch>
              </a:blipFill>
            </p:spPr>
            <p:txBody>
              <a:bodyPr/>
              <a:lstStyle/>
              <a:p>
                <a:r>
                  <a:rPr lang="en-IL">
                    <a:noFill/>
                  </a:rPr>
                  <a:t> </a:t>
                </a:r>
              </a:p>
            </p:txBody>
          </p:sp>
        </mc:Fallback>
      </mc:AlternateContent>
      <p:sp>
        <p:nvSpPr>
          <p:cNvPr id="19" name="TextBox 18">
            <a:extLst>
              <a:ext uri="{FF2B5EF4-FFF2-40B4-BE49-F238E27FC236}">
                <a16:creationId xmlns:a16="http://schemas.microsoft.com/office/drawing/2014/main" id="{D99D3786-C09E-653D-7338-D1B0A9CDD2A2}"/>
              </a:ext>
            </a:extLst>
          </p:cNvPr>
          <p:cNvSpPr txBox="1"/>
          <p:nvPr/>
        </p:nvSpPr>
        <p:spPr>
          <a:xfrm>
            <a:off x="640080" y="1417320"/>
            <a:ext cx="5212080" cy="2117439"/>
          </a:xfrm>
          <a:prstGeom prst="rect">
            <a:avLst/>
          </a:prstGeom>
          <a:noFill/>
        </p:spPr>
        <p:txBody>
          <a:bodyPr wrap="square" lIns="0" tIns="0" rIns="0" bIns="0">
            <a:spAutoFit/>
          </a:bodyPr>
          <a:lstStyle/>
          <a:p>
            <a:pPr marL="171450" indent="-171450">
              <a:lnSpc>
                <a:spcPct val="106000"/>
              </a:lnSpc>
              <a:spcAft>
                <a:spcPts val="800"/>
              </a:spcAft>
              <a:buFont typeface="Courier New" panose="02070309020205020404" pitchFamily="49" charset="0"/>
              <a:buChar char="o"/>
            </a:pPr>
            <a:r>
              <a:rPr lang="en-US" sz="1400" b="1">
                <a:solidFill>
                  <a:srgbClr val="33373B"/>
                </a:solidFill>
              </a:rPr>
              <a:t>A real camera + DAS channel operated on an existing telecom fiber on Klausner St., beside the TAU campus.</a:t>
            </a:r>
          </a:p>
          <a:p>
            <a:pPr marL="171450" indent="-171450">
              <a:lnSpc>
                <a:spcPct val="106000"/>
              </a:lnSpc>
              <a:spcAft>
                <a:spcPts val="800"/>
              </a:spcAft>
              <a:buFont typeface="Courier New" panose="02070309020205020404" pitchFamily="49" charset="0"/>
              <a:buChar char="o"/>
            </a:pPr>
            <a:r>
              <a:rPr lang="en-US" sz="1400">
                <a:solidFill>
                  <a:srgbClr val="33373B"/>
                </a:solidFill>
              </a:rPr>
              <a:t>A city bus decelerating to a bus stop was replayed through the exact, unchanged pipeline on the true street geometry.</a:t>
            </a:r>
          </a:p>
          <a:p>
            <a:pPr marL="171450" indent="-171450">
              <a:lnSpc>
                <a:spcPct val="106000"/>
              </a:lnSpc>
              <a:spcAft>
                <a:spcPts val="800"/>
              </a:spcAft>
              <a:buFont typeface="Courier New" panose="02070309020205020404" pitchFamily="49" charset="0"/>
              <a:buChar char="o"/>
            </a:pPr>
            <a:r>
              <a:rPr lang="en-US" sz="1400">
                <a:solidFill>
                  <a:srgbClr val="33373B"/>
                </a:solidFill>
              </a:rPr>
              <a:t>Fused 86 DAS + 39 camera measurements over 41.8 s, ran on prediction alone for 42% of the run (longest gap 3.98 s) and never lost the track through the stop.</a:t>
            </a:r>
          </a:p>
          <a:p>
            <a:pPr algn="l">
              <a:lnSpc>
                <a:spcPct val="106000"/>
              </a:lnSpc>
              <a:spcBef>
                <a:spcPts val="0"/>
              </a:spcBef>
              <a:spcAft>
                <a:spcPts val="800"/>
              </a:spcAft>
            </a:pPr>
            <a:endParaRPr sz="1350" b="0">
              <a:solidFill>
                <a:srgbClr val="33373B"/>
              </a:solidFill>
              <a:latin typeface="Calibri"/>
            </a:endParaRPr>
          </a:p>
        </p:txBody>
      </p:sp>
      <p:sp>
        <p:nvSpPr>
          <p:cNvPr id="20" name="Rounded Rectangle 19">
            <a:extLst>
              <a:ext uri="{FF2B5EF4-FFF2-40B4-BE49-F238E27FC236}">
                <a16:creationId xmlns:a16="http://schemas.microsoft.com/office/drawing/2014/main" id="{BC57DFA2-75A5-1F9B-A25D-963CDAC1EEC0}"/>
              </a:ext>
            </a:extLst>
          </p:cNvPr>
          <p:cNvSpPr/>
          <p:nvPr/>
        </p:nvSpPr>
        <p:spPr>
          <a:xfrm>
            <a:off x="6096000" y="802647"/>
            <a:ext cx="5532120" cy="5986369"/>
          </a:xfrm>
          <a:prstGeom prst="roundRect">
            <a:avLst>
              <a:gd name="adj" fmla="val 3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algn="ctr" defTabSz="457200" rtl="1" eaLnBrk="1" latinLnBrk="0" hangingPunct="1"/>
            <a:endParaRPr/>
          </a:p>
        </p:txBody>
      </p:sp>
      <p:pic>
        <p:nvPicPr>
          <p:cNvPr id="21" name="Picture 20" descr="klausner_map.png">
            <a:extLst>
              <a:ext uri="{FF2B5EF4-FFF2-40B4-BE49-F238E27FC236}">
                <a16:creationId xmlns:a16="http://schemas.microsoft.com/office/drawing/2014/main" id="{E6F3287B-3C29-1D15-5088-49761062B83F}"/>
              </a:ext>
            </a:extLst>
          </p:cNvPr>
          <p:cNvPicPr>
            <a:picLocks noChangeAspect="1"/>
          </p:cNvPicPr>
          <p:nvPr/>
        </p:nvPicPr>
        <p:blipFill>
          <a:blip r:embed="rId6"/>
          <a:srcRect r="33865" b="4685"/>
          <a:stretch>
            <a:fillRect/>
          </a:stretch>
        </p:blipFill>
        <p:spPr>
          <a:xfrm>
            <a:off x="6187201" y="1039870"/>
            <a:ext cx="2356312" cy="2635729"/>
          </a:xfrm>
          <a:prstGeom prst="rect">
            <a:avLst/>
          </a:prstGeom>
        </p:spPr>
      </p:pic>
      <p:pic>
        <p:nvPicPr>
          <p:cNvPr id="22" name="Picture 21" descr="klausner_bus_track.png">
            <a:extLst>
              <a:ext uri="{FF2B5EF4-FFF2-40B4-BE49-F238E27FC236}">
                <a16:creationId xmlns:a16="http://schemas.microsoft.com/office/drawing/2014/main" id="{C41346F0-FB32-2404-C9D5-AFF974C05332}"/>
              </a:ext>
            </a:extLst>
          </p:cNvPr>
          <p:cNvPicPr>
            <a:picLocks noChangeAspect="1"/>
          </p:cNvPicPr>
          <p:nvPr/>
        </p:nvPicPr>
        <p:blipFill>
          <a:blip r:embed="rId7"/>
          <a:stretch>
            <a:fillRect/>
          </a:stretch>
        </p:blipFill>
        <p:spPr>
          <a:xfrm>
            <a:off x="8634714" y="825798"/>
            <a:ext cx="2724643" cy="3020992"/>
          </a:xfrm>
          <a:prstGeom prst="rect">
            <a:avLst/>
          </a:prstGeom>
        </p:spPr>
      </p:pic>
      <p:sp>
        <p:nvSpPr>
          <p:cNvPr id="23" name="TextBox 22">
            <a:extLst>
              <a:ext uri="{FF2B5EF4-FFF2-40B4-BE49-F238E27FC236}">
                <a16:creationId xmlns:a16="http://schemas.microsoft.com/office/drawing/2014/main" id="{32BF44B3-91D9-C22F-9DB6-447CC0FB5A94}"/>
              </a:ext>
            </a:extLst>
          </p:cNvPr>
          <p:cNvSpPr txBox="1"/>
          <p:nvPr/>
        </p:nvSpPr>
        <p:spPr>
          <a:xfrm>
            <a:off x="6166375" y="6500000"/>
            <a:ext cx="5257800" cy="320040"/>
          </a:xfrm>
          <a:prstGeom prst="rect">
            <a:avLst/>
          </a:prstGeom>
          <a:noFill/>
        </p:spPr>
        <p:txBody>
          <a:bodyPr wrap="square" lIns="0" tIns="0" rIns="0" bIns="0" anchor="t">
            <a:spAutoFit/>
          </a:bodyPr>
          <a:lstStyle/>
          <a:p>
            <a:pPr algn="ctr">
              <a:lnSpc>
                <a:spcPct val="100000"/>
              </a:lnSpc>
              <a:spcBef>
                <a:spcPts val="0"/>
              </a:spcBef>
              <a:spcAft>
                <a:spcPts val="400"/>
              </a:spcAft>
            </a:pPr>
            <a:r>
              <a:rPr sz="900" i="1">
                <a:solidFill>
                  <a:srgbClr val="6B7A85"/>
                </a:solidFill>
                <a:latin typeface="Calibri"/>
              </a:rPr>
              <a:t>Site map (OSM), the fused bus track, and six selected features vs. the simulation-trained normal distribution.</a:t>
            </a:r>
          </a:p>
        </p:txBody>
      </p:sp>
      <p:pic>
        <p:nvPicPr>
          <p:cNvPr id="7" name="Image 3" descr="Picture">
            <a:extLst>
              <a:ext uri="{FF2B5EF4-FFF2-40B4-BE49-F238E27FC236}">
                <a16:creationId xmlns:a16="http://schemas.microsoft.com/office/drawing/2014/main" id="{00000000-0008-0000-0400-000004000000}"/>
              </a:ext>
            </a:extLst>
          </p:cNvPr>
          <p:cNvPicPr/>
          <p:nvPr/>
        </p:nvPicPr>
        <p:blipFill>
          <a:blip r:embed="rId8" cstate="print"/>
          <a:stretch>
            <a:fillRect/>
          </a:stretch>
        </p:blipFill>
        <p:spPr>
          <a:xfrm>
            <a:off x="6565781" y="3900668"/>
            <a:ext cx="4608000" cy="2560000"/>
          </a:xfrm>
          <a:prstGeom prst="rect">
            <a:avLst/>
          </a:prstGeom>
        </p:spPr>
      </p:pic>
      <p:sp>
        <p:nvSpPr>
          <p:cNvPr id="24" name="TextBox 30"/>
          <p:cNvSpPr txBox="1"/>
          <p:nvPr/>
        </p:nvSpPr>
        <p:spPr>
          <a:xfrm>
            <a:off x="640080" y="4681728"/>
            <a:ext cx="5166360" cy="201168"/>
          </a:xfrm>
          <a:prstGeom prst="rect">
            <a:avLst/>
          </a:prstGeom>
          <a:noFill/>
        </p:spPr>
        <p:txBody>
          <a:bodyPr wrap="none">
            <a:spAutoFit/>
          </a:bodyPr>
          <a:lstStyle/>
          <a:p>
            <a:r>
              <a:rPr sz="1150" b="1">
                <a:solidFill>
                  <a:srgbClr val="1C7293"/>
                </a:solidFill>
                <a:latin typeface="Cambria"/>
              </a:rPr>
              <a:t>REAL EVENT vs. SIMULATED ANOMALIES</a:t>
            </a:r>
          </a:p>
        </p:txBody>
      </p:sp>
      <p:sp>
        <p:nvSpPr>
          <p:cNvPr id="25" name="TextBox 31"/>
          <p:cNvSpPr txBox="1"/>
          <p:nvPr/>
        </p:nvSpPr>
        <p:spPr>
          <a:xfrm>
            <a:off x="640080" y="4919472"/>
            <a:ext cx="5166360" cy="1150000"/>
          </a:xfrm>
          <a:prstGeom prst="rect">
            <a:avLst/>
          </a:prstGeom>
          <a:noFill/>
        </p:spPr>
        <p:txBody>
          <a:bodyPr wrap="square" lIns="0" tIns="0" rIns="0" bIns="0">
            <a:spAutoFit/>
          </a:bodyPr>
          <a:lstStyle/>
          <a:p>
            <a:pPr algn="l">
              <a:lnSpc>
                <a:spcPct val="103000"/>
              </a:lnSpc>
              <a:spcAft>
                <a:spcPts val="300"/>
              </a:spcAft>
            </a:pPr>
            <a:r>
              <a:rPr sz="950">
                <a:solidFill>
                  <a:srgbClr val="33373B"/>
                </a:solidFill>
                <a:latin typeface="Calibri"/>
              </a:rPr>
              <a:t>•  Through the unchanged model the real bus reaches |z| = 27.5 σ, well past the 15.4 σ threshold learned from 13,333 simulated normal tracks.</a:t>
            </a:r>
          </a:p>
          <a:p>
            <a:pPr algn="l">
              <a:lnSpc>
                <a:spcPct val="103000"/>
              </a:lnSpc>
              <a:spcAft>
                <a:spcPts val="300"/>
              </a:spcAft>
            </a:pPr>
            <a:r>
              <a:rPr sz="950">
                <a:solidFill>
                  <a:srgbClr val="33373B"/>
                </a:solidFill>
                <a:latin typeface="Calibri"/>
              </a:rPr>
              <a:t>•  Signature: repeated, prolonged stopping — 41% of the run stopped (+16.9 σ), longest stop 7.9 s (+15.1 σ), 6 stop events (+8.3 σ) — as in the simulated stalled-vehicle class.</a:t>
            </a:r>
          </a:p>
          <a:p>
            <a:pPr algn="l">
              <a:lnSpc>
                <a:spcPct val="103000"/>
              </a:lnSpc>
              <a:spcAft>
                <a:spcPts val="300"/>
              </a:spcAft>
            </a:pPr>
            <a:r>
              <a:rPr sz="950">
                <a:solidFill>
                  <a:srgbClr val="33373B"/>
                </a:solidFill>
                <a:latin typeface="Calibri"/>
              </a:rPr>
              <a:t>•  Stopping alone clears the threshold (+16.9 σ), measured directly from speed with no differentiation.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400" b="1" i="0">
                <a:solidFill>
                  <a:srgbClr val="0B4F6C"/>
                </a:solidFill>
                <a:latin typeface="Cambria"/>
              </a:rPr>
              <a:t>Continuation &amp; Project Documentation</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12</a:t>
            </a:r>
          </a:p>
        </p:txBody>
      </p:sp>
      <p:sp>
        <p:nvSpPr>
          <p:cNvPr id="7" name="TextBox 6"/>
          <p:cNvSpPr txBox="1"/>
          <p:nvPr/>
        </p:nvSpPr>
        <p:spPr>
          <a:xfrm>
            <a:off x="621792" y="969264"/>
            <a:ext cx="5486400" cy="237744"/>
          </a:xfrm>
          <a:prstGeom prst="rect">
            <a:avLst/>
          </a:prstGeom>
          <a:noFill/>
        </p:spPr>
        <p:txBody>
          <a:bodyPr wrap="square" lIns="0" tIns="0" rIns="0" bIns="0" anchor="t">
            <a:spAutoFit/>
          </a:bodyPr>
          <a:lstStyle/>
          <a:p>
            <a:pPr algn="l">
              <a:lnSpc>
                <a:spcPct val="100000"/>
              </a:lnSpc>
              <a:spcAft>
                <a:spcPts val="0"/>
              </a:spcAft>
            </a:pPr>
            <a:r>
              <a:rPr sz="1100" b="1" i="0">
                <a:solidFill>
                  <a:srgbClr val="1C7293"/>
                </a:solidFill>
                <a:latin typeface="Cambria"/>
              </a:rPr>
              <a:t>SUGGESTIONS FOR CONTINUATION</a:t>
            </a:r>
          </a:p>
        </p:txBody>
      </p:sp>
      <p:sp>
        <p:nvSpPr>
          <p:cNvPr id="8" name="Rounded Rectangle 7"/>
          <p:cNvSpPr/>
          <p:nvPr/>
        </p:nvSpPr>
        <p:spPr>
          <a:xfrm>
            <a:off x="594360" y="1243584"/>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Oval 8"/>
          <p:cNvSpPr/>
          <p:nvPr/>
        </p:nvSpPr>
        <p:spPr>
          <a:xfrm>
            <a:off x="777240" y="1399032"/>
            <a:ext cx="365760" cy="365760"/>
          </a:xfrm>
          <a:prstGeom prst="ellipse">
            <a:avLst/>
          </a:prstGeom>
          <a:solidFill>
            <a:srgbClr val="C97B2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1</a:t>
            </a:r>
          </a:p>
        </p:txBody>
      </p:sp>
      <p:sp>
        <p:nvSpPr>
          <p:cNvPr id="10" name="TextBox 9"/>
          <p:cNvSpPr txBox="1"/>
          <p:nvPr/>
        </p:nvSpPr>
        <p:spPr>
          <a:xfrm>
            <a:off x="1252728" y="1426464"/>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Catch the tricky anomalies</a:t>
            </a:r>
          </a:p>
        </p:txBody>
      </p:sp>
      <p:sp>
        <p:nvSpPr>
          <p:cNvPr id="11" name="TextBox 10"/>
          <p:cNvSpPr txBox="1"/>
          <p:nvPr/>
        </p:nvSpPr>
        <p:spPr>
          <a:xfrm>
            <a:off x="795528" y="1847088"/>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Use the labelled examples we now have to train a smarter model, so it can spot the hard cases we miss today (weaving, straddling, tailgating).</a:t>
            </a:r>
          </a:p>
        </p:txBody>
      </p:sp>
      <p:sp>
        <p:nvSpPr>
          <p:cNvPr id="12" name="Rounded Rectangle 11"/>
          <p:cNvSpPr/>
          <p:nvPr/>
        </p:nvSpPr>
        <p:spPr>
          <a:xfrm>
            <a:off x="4325112" y="1243584"/>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Oval 12"/>
          <p:cNvSpPr/>
          <p:nvPr/>
        </p:nvSpPr>
        <p:spPr>
          <a:xfrm>
            <a:off x="4507992" y="1399032"/>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2</a:t>
            </a:r>
          </a:p>
        </p:txBody>
      </p:sp>
      <p:sp>
        <p:nvSpPr>
          <p:cNvPr id="14" name="TextBox 13"/>
          <p:cNvSpPr txBox="1"/>
          <p:nvPr/>
        </p:nvSpPr>
        <p:spPr>
          <a:xfrm>
            <a:off x="4983480" y="1426464"/>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Add better features</a:t>
            </a:r>
          </a:p>
        </p:txBody>
      </p:sp>
      <p:sp>
        <p:nvSpPr>
          <p:cNvPr id="15" name="TextBox 14"/>
          <p:cNvSpPr txBox="1"/>
          <p:nvPr/>
        </p:nvSpPr>
        <p:spPr>
          <a:xfrm>
            <a:off x="4526280" y="1847088"/>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Measure side-to-side motion and how close cars get, and combine the 'what happened' and 'when it happened' signals so odd behaviour stands out.</a:t>
            </a:r>
          </a:p>
        </p:txBody>
      </p:sp>
      <p:sp>
        <p:nvSpPr>
          <p:cNvPr id="16" name="Rounded Rectangle 15"/>
          <p:cNvSpPr/>
          <p:nvPr/>
        </p:nvSpPr>
        <p:spPr>
          <a:xfrm>
            <a:off x="8055864" y="1243584"/>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8238744" y="1399032"/>
            <a:ext cx="365760" cy="365760"/>
          </a:xfrm>
          <a:prstGeom prst="ellipse">
            <a:avLst/>
          </a:prstGeom>
          <a:solidFill>
            <a:srgbClr val="C97B2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3</a:t>
            </a:r>
          </a:p>
        </p:txBody>
      </p:sp>
      <p:sp>
        <p:nvSpPr>
          <p:cNvPr id="18" name="TextBox 17"/>
          <p:cNvSpPr txBox="1"/>
          <p:nvPr/>
        </p:nvSpPr>
        <p:spPr>
          <a:xfrm>
            <a:off x="8714232" y="1426464"/>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Calibrate the cameras</a:t>
            </a:r>
          </a:p>
        </p:txBody>
      </p:sp>
      <p:sp>
        <p:nvSpPr>
          <p:cNvPr id="19" name="TextBox 18"/>
          <p:cNvSpPr txBox="1"/>
          <p:nvPr/>
        </p:nvSpPr>
        <p:spPr>
          <a:xfrm>
            <a:off x="8257032" y="1847088"/>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Check each camera's real accuracy at its own spot before trusting it, so it helps the fusion instead of hurting it.</a:t>
            </a:r>
          </a:p>
        </p:txBody>
      </p:sp>
      <p:sp>
        <p:nvSpPr>
          <p:cNvPr id="20" name="Rounded Rectangle 19"/>
          <p:cNvSpPr/>
          <p:nvPr/>
        </p:nvSpPr>
        <p:spPr>
          <a:xfrm>
            <a:off x="594360" y="2624328"/>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777240" y="2779776"/>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4</a:t>
            </a:r>
          </a:p>
        </p:txBody>
      </p:sp>
      <p:sp>
        <p:nvSpPr>
          <p:cNvPr id="22" name="TextBox 21"/>
          <p:cNvSpPr txBox="1"/>
          <p:nvPr/>
        </p:nvSpPr>
        <p:spPr>
          <a:xfrm>
            <a:off x="1252728" y="2807208"/>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Test on real streets</a:t>
            </a:r>
          </a:p>
        </p:txBody>
      </p:sp>
      <p:sp>
        <p:nvSpPr>
          <p:cNvPr id="23" name="TextBox 22"/>
          <p:cNvSpPr txBox="1"/>
          <p:nvPr/>
        </p:nvSpPr>
        <p:spPr>
          <a:xfrm>
            <a:off x="795528" y="3227832"/>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Put a real DAS device on an instrumented street and run a longer real-world trial, building on our single Klausner recording.</a:t>
            </a:r>
          </a:p>
        </p:txBody>
      </p:sp>
      <p:sp>
        <p:nvSpPr>
          <p:cNvPr id="24" name="Rounded Rectangle 23"/>
          <p:cNvSpPr/>
          <p:nvPr/>
        </p:nvSpPr>
        <p:spPr>
          <a:xfrm>
            <a:off x="4325112" y="2624328"/>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4507992" y="2779776"/>
            <a:ext cx="365760" cy="365760"/>
          </a:xfrm>
          <a:prstGeom prst="ellipse">
            <a:avLst/>
          </a:prstGeom>
          <a:solidFill>
            <a:srgbClr val="C97B2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5</a:t>
            </a:r>
          </a:p>
        </p:txBody>
      </p:sp>
      <p:sp>
        <p:nvSpPr>
          <p:cNvPr id="26" name="TextBox 25"/>
          <p:cNvSpPr txBox="1"/>
          <p:nvPr/>
        </p:nvSpPr>
        <p:spPr>
          <a:xfrm>
            <a:off x="4983480" y="2807208"/>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Use the raw fiber signal</a:t>
            </a:r>
          </a:p>
        </p:txBody>
      </p:sp>
      <p:sp>
        <p:nvSpPr>
          <p:cNvPr id="27" name="TextBox 26"/>
          <p:cNvSpPr txBox="1"/>
          <p:nvPr/>
        </p:nvSpPr>
        <p:spPr>
          <a:xfrm>
            <a:off x="4526280" y="3227832"/>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Work directly with the full DAS signal, not just simplified numbers, to detect events earlier and in more detail.</a:t>
            </a:r>
          </a:p>
        </p:txBody>
      </p:sp>
      <p:sp>
        <p:nvSpPr>
          <p:cNvPr id="28" name="Rounded Rectangle 27"/>
          <p:cNvSpPr/>
          <p:nvPr/>
        </p:nvSpPr>
        <p:spPr>
          <a:xfrm>
            <a:off x="8055864" y="2624328"/>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Oval 28"/>
          <p:cNvSpPr/>
          <p:nvPr/>
        </p:nvSpPr>
        <p:spPr>
          <a:xfrm>
            <a:off x="8238744" y="2779776"/>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6</a:t>
            </a:r>
          </a:p>
        </p:txBody>
      </p:sp>
      <p:sp>
        <p:nvSpPr>
          <p:cNvPr id="30" name="TextBox 29"/>
          <p:cNvSpPr txBox="1"/>
          <p:nvPr/>
        </p:nvSpPr>
        <p:spPr>
          <a:xfrm>
            <a:off x="8714232" y="2807208"/>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Run it live, city-wide</a:t>
            </a:r>
          </a:p>
        </p:txBody>
      </p:sp>
      <p:sp>
        <p:nvSpPr>
          <p:cNvPr id="31" name="TextBox 30"/>
          <p:cNvSpPr txBox="1"/>
          <p:nvPr/>
        </p:nvSpPr>
        <p:spPr>
          <a:xfrm>
            <a:off x="8257032" y="3227832"/>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Make it fast enough for real time, follow cars across many intersections, and show live tracks and alerts on a dashboard.</a:t>
            </a:r>
          </a:p>
        </p:txBody>
      </p:sp>
      <p:sp>
        <p:nvSpPr>
          <p:cNvPr id="32" name="TextBox 31"/>
          <p:cNvSpPr txBox="1"/>
          <p:nvPr/>
        </p:nvSpPr>
        <p:spPr>
          <a:xfrm>
            <a:off x="621792" y="3950208"/>
            <a:ext cx="5486400" cy="237744"/>
          </a:xfrm>
          <a:prstGeom prst="rect">
            <a:avLst/>
          </a:prstGeom>
          <a:noFill/>
        </p:spPr>
        <p:txBody>
          <a:bodyPr wrap="square" lIns="0" tIns="0" rIns="0" bIns="0" anchor="t">
            <a:spAutoFit/>
          </a:bodyPr>
          <a:lstStyle/>
          <a:p>
            <a:pPr algn="l">
              <a:lnSpc>
                <a:spcPct val="100000"/>
              </a:lnSpc>
              <a:spcAft>
                <a:spcPts val="0"/>
              </a:spcAft>
            </a:pPr>
            <a:r>
              <a:rPr sz="1100" b="1" i="0">
                <a:solidFill>
                  <a:srgbClr val="1C7293"/>
                </a:solidFill>
                <a:latin typeface="Cambria"/>
              </a:rPr>
              <a:t>PROJECT DOCUMENTATION</a:t>
            </a:r>
          </a:p>
        </p:txBody>
      </p:sp>
      <p:sp>
        <p:nvSpPr>
          <p:cNvPr id="33" name="Rounded Rectangle 32"/>
          <p:cNvSpPr/>
          <p:nvPr/>
        </p:nvSpPr>
        <p:spPr>
          <a:xfrm>
            <a:off x="594360" y="4206240"/>
            <a:ext cx="3529584" cy="10058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795528" y="4325112"/>
            <a:ext cx="3127248" cy="237744"/>
          </a:xfrm>
          <a:prstGeom prst="rect">
            <a:avLst/>
          </a:prstGeom>
          <a:noFill/>
        </p:spPr>
        <p:txBody>
          <a:bodyPr wrap="square" lIns="0" tIns="0" rIns="0" bIns="0" anchor="t">
            <a:spAutoFit/>
          </a:bodyPr>
          <a:lstStyle/>
          <a:p>
            <a:pPr algn="l">
              <a:lnSpc>
                <a:spcPct val="100000"/>
              </a:lnSpc>
              <a:spcAft>
                <a:spcPts val="0"/>
              </a:spcAft>
            </a:pPr>
            <a:r>
              <a:rPr sz="1250" b="1" i="0">
                <a:solidFill>
                  <a:srgbClr val="0B4F6C"/>
                </a:solidFill>
                <a:latin typeface="Cambria"/>
              </a:rPr>
              <a:t>SimStudio</a:t>
            </a:r>
          </a:p>
        </p:txBody>
      </p:sp>
      <p:sp>
        <p:nvSpPr>
          <p:cNvPr id="35" name="TextBox 34"/>
          <p:cNvSpPr txBox="1"/>
          <p:nvPr/>
        </p:nvSpPr>
        <p:spPr>
          <a:xfrm>
            <a:off x="795528" y="4617720"/>
            <a:ext cx="3127248" cy="548640"/>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Engine &amp; sensor models, event bus, track manager, Kalman fusion, export/audit, Tkinter editor; install script + packaged macOS app.</a:t>
            </a:r>
          </a:p>
        </p:txBody>
      </p:sp>
      <p:sp>
        <p:nvSpPr>
          <p:cNvPr id="36" name="Rounded Rectangle 35"/>
          <p:cNvSpPr/>
          <p:nvPr/>
        </p:nvSpPr>
        <p:spPr>
          <a:xfrm>
            <a:off x="4325112" y="4206240"/>
            <a:ext cx="3529584" cy="10058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4526280" y="4325112"/>
            <a:ext cx="3127248" cy="237744"/>
          </a:xfrm>
          <a:prstGeom prst="rect">
            <a:avLst/>
          </a:prstGeom>
          <a:noFill/>
        </p:spPr>
        <p:txBody>
          <a:bodyPr wrap="square" lIns="0" tIns="0" rIns="0" bIns="0" anchor="t">
            <a:spAutoFit/>
          </a:bodyPr>
          <a:lstStyle/>
          <a:p>
            <a:pPr algn="l">
              <a:lnSpc>
                <a:spcPct val="100000"/>
              </a:lnSpc>
              <a:spcAft>
                <a:spcPts val="0"/>
              </a:spcAft>
            </a:pPr>
            <a:r>
              <a:rPr sz="1250" b="1" i="0">
                <a:solidFill>
                  <a:srgbClr val="0B4F6C"/>
                </a:solidFill>
                <a:latin typeface="Cambria"/>
              </a:rPr>
              <a:t>Anomaly model &amp; tests</a:t>
            </a:r>
          </a:p>
        </p:txBody>
      </p:sp>
      <p:sp>
        <p:nvSpPr>
          <p:cNvPr id="38" name="TextBox 37"/>
          <p:cNvSpPr txBox="1"/>
          <p:nvPr/>
        </p:nvSpPr>
        <p:spPr>
          <a:xfrm>
            <a:off x="4526280" y="4617720"/>
            <a:ext cx="3127248" cy="548640"/>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Feature extractor, CUSUM detector, per-feature Z-score scorer, batch scripts; pytest across simulator core, filter, tracker and export.</a:t>
            </a:r>
          </a:p>
        </p:txBody>
      </p:sp>
      <p:sp>
        <p:nvSpPr>
          <p:cNvPr id="39" name="Rounded Rectangle 38"/>
          <p:cNvSpPr/>
          <p:nvPr/>
        </p:nvSpPr>
        <p:spPr>
          <a:xfrm>
            <a:off x="8055864" y="4206240"/>
            <a:ext cx="3529584" cy="10058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8257032" y="4325112"/>
            <a:ext cx="3127248" cy="237744"/>
          </a:xfrm>
          <a:prstGeom prst="rect">
            <a:avLst/>
          </a:prstGeom>
          <a:noFill/>
        </p:spPr>
        <p:txBody>
          <a:bodyPr wrap="square" lIns="0" tIns="0" rIns="0" bIns="0" anchor="t">
            <a:spAutoFit/>
          </a:bodyPr>
          <a:lstStyle/>
          <a:p>
            <a:pPr algn="l">
              <a:lnSpc>
                <a:spcPct val="100000"/>
              </a:lnSpc>
              <a:spcAft>
                <a:spcPts val="0"/>
              </a:spcAft>
            </a:pPr>
            <a:r>
              <a:rPr sz="1250" b="1" i="0">
                <a:solidFill>
                  <a:srgbClr val="0B4F6C"/>
                </a:solidFill>
                <a:latin typeface="Cambria"/>
              </a:rPr>
              <a:t>Data &amp; repository</a:t>
            </a:r>
          </a:p>
        </p:txBody>
      </p:sp>
      <p:sp>
        <p:nvSpPr>
          <p:cNvPr id="41" name="TextBox 40"/>
          <p:cNvSpPr txBox="1"/>
          <p:nvPr/>
        </p:nvSpPr>
        <p:spPr>
          <a:xfrm>
            <a:off x="8257032" y="4617720"/>
            <a:ext cx="3127248" cy="548640"/>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OSM networks, ~150 normal scenarios (12 conditions) + 9 injected-anomaly scenarios; README, changelog, validation protocol — github.com/noasapir3/simstudio-das-fusion</a:t>
            </a:r>
          </a:p>
        </p:txBody>
      </p:sp>
      <p:sp>
        <p:nvSpPr>
          <p:cNvPr id="42" name="Rounded Rectangle 41"/>
          <p:cNvSpPr/>
          <p:nvPr/>
        </p:nvSpPr>
        <p:spPr>
          <a:xfrm>
            <a:off x="594360" y="5358384"/>
            <a:ext cx="10927080" cy="969264"/>
          </a:xfrm>
          <a:prstGeom prst="roundRect">
            <a:avLst>
              <a:gd name="adj" fmla="val 6000"/>
            </a:avLst>
          </a:prstGeom>
          <a:no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594360" y="5440680"/>
            <a:ext cx="10927080" cy="219456"/>
          </a:xfrm>
          <a:prstGeom prst="rect">
            <a:avLst/>
          </a:prstGeom>
          <a:noFill/>
        </p:spPr>
        <p:txBody>
          <a:bodyPr wrap="square" lIns="0" tIns="0" rIns="0" bIns="0" anchor="t">
            <a:spAutoFit/>
          </a:bodyPr>
          <a:lstStyle/>
          <a:p>
            <a:pPr algn="ctr">
              <a:lnSpc>
                <a:spcPct val="100000"/>
              </a:lnSpc>
              <a:spcAft>
                <a:spcPts val="0"/>
              </a:spcAft>
            </a:pPr>
            <a:r>
              <a:rPr sz="1050" b="1" i="0">
                <a:solidFill>
                  <a:srgbClr val="1C7293"/>
                </a:solidFill>
                <a:latin typeface="Cambria"/>
              </a:rPr>
              <a:t>KEY REFERENCES</a:t>
            </a:r>
          </a:p>
        </p:txBody>
      </p:sp>
      <p:sp>
        <p:nvSpPr>
          <p:cNvPr id="44" name="TextBox 43"/>
          <p:cNvSpPr txBox="1"/>
          <p:nvPr/>
        </p:nvSpPr>
        <p:spPr>
          <a:xfrm>
            <a:off x="822960" y="5705856"/>
            <a:ext cx="10515600" cy="566928"/>
          </a:xfrm>
          <a:prstGeom prst="rect">
            <a:avLst/>
          </a:prstGeom>
          <a:noFill/>
        </p:spPr>
        <p:txBody>
          <a:bodyPr wrap="square" lIns="0" tIns="0" rIns="0" bIns="0" anchor="t">
            <a:spAutoFit/>
          </a:bodyPr>
          <a:lstStyle/>
          <a:p>
            <a:pPr>
              <a:lnSpc>
                <a:spcPct val="110000"/>
              </a:lnSpc>
              <a:spcAft>
                <a:spcPts val="300"/>
              </a:spcAft>
            </a:pPr>
            <a:r>
              <a:rPr sz="900" b="1">
                <a:solidFill>
                  <a:srgbClr val="6B7A85"/>
                </a:solidFill>
                <a:latin typeface="Calibri"/>
              </a:rPr>
              <a:t>○   </a:t>
            </a:r>
            <a:r>
              <a:rPr sz="900" b="0">
                <a:solidFill>
                  <a:srgbClr val="33424D"/>
                </a:solidFill>
                <a:latin typeface="Calibri"/>
              </a:rPr>
              <a:t>Cohen, K., Hen, L., &amp; Lellouch, A. "A fiber-optic traffic monitoring network trained with video inputs," Scientific Reports, vol. 15, art. 14928, 2025 (arXiv:2412.12743).</a:t>
            </a:r>
          </a:p>
          <a:p>
            <a:pPr>
              <a:lnSpc>
                <a:spcPct val="110000"/>
              </a:lnSpc>
              <a:spcAft>
                <a:spcPts val="300"/>
              </a:spcAft>
            </a:pPr>
            <a:r>
              <a:rPr sz="900" b="1">
                <a:solidFill>
                  <a:srgbClr val="6B7A85"/>
                </a:solidFill>
                <a:latin typeface="Calibri"/>
              </a:rPr>
              <a:t>○   </a:t>
            </a:r>
            <a:r>
              <a:rPr sz="900" b="0">
                <a:solidFill>
                  <a:srgbClr val="33424D"/>
                </a:solidFill>
                <a:latin typeface="Calibri"/>
              </a:rPr>
              <a:t>Kalman, R. E. J. Basic Eng. 82(1):35–45, 1960.   ·   Page, E. S. Biometrika 41(1–2):100–115, 1954.   ·   Welch &amp; Bishop, "An Introduction to the Kalman Filter," UNC.   ·   OpenStreetMap contributors.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Appendix Index</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13</a:t>
            </a:r>
          </a:p>
        </p:txBody>
      </p:sp>
      <p:sp>
        <p:nvSpPr>
          <p:cNvPr id="7" name="TextBox 6"/>
          <p:cNvSpPr txBox="1"/>
          <p:nvPr/>
        </p:nvSpPr>
        <p:spPr>
          <a:xfrm>
            <a:off x="603504" y="932688"/>
            <a:ext cx="10881360" cy="274320"/>
          </a:xfrm>
          <a:prstGeom prst="rect">
            <a:avLst/>
          </a:prstGeom>
          <a:noFill/>
        </p:spPr>
        <p:txBody>
          <a:bodyPr wrap="square" lIns="0" tIns="0" rIns="0" bIns="0">
            <a:spAutoFit/>
          </a:bodyPr>
          <a:lstStyle/>
          <a:p>
            <a:pPr algn="ctr"/>
            <a:r>
              <a:rPr sz="1100">
                <a:solidFill>
                  <a:srgbClr val="6B7A85"/>
                </a:solidFill>
                <a:latin typeface="Calibri"/>
              </a:rPr>
              <a:t>31 focused appendices · click any line to jump · every appendix returns here</a:t>
            </a:r>
          </a:p>
        </p:txBody>
      </p:sp>
      <p:sp>
        <p:nvSpPr>
          <p:cNvPr id="8" name="Rounded Rectangle 7"/>
          <p:cNvSpPr/>
          <p:nvPr/>
        </p:nvSpPr>
        <p:spPr>
          <a:xfrm>
            <a:off x="603504" y="1353312"/>
            <a:ext cx="3483864" cy="2395728"/>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508760"/>
            <a:ext cx="3081528" cy="274320"/>
          </a:xfrm>
          <a:prstGeom prst="rect">
            <a:avLst/>
          </a:prstGeom>
          <a:noFill/>
        </p:spPr>
        <p:txBody>
          <a:bodyPr wrap="square" lIns="0" tIns="0" rIns="0" bIns="0">
            <a:spAutoFit/>
          </a:bodyPr>
          <a:lstStyle/>
          <a:p>
            <a:r>
              <a:rPr sz="1400" b="1">
                <a:solidFill>
                  <a:srgbClr val="0B4F6C"/>
                </a:solidFill>
                <a:latin typeface="Cambria"/>
              </a:rPr>
              <a:t>A  </a:t>
            </a:r>
            <a:r>
              <a:rPr sz="1000" b="1">
                <a:solidFill>
                  <a:srgbClr val="0B4F6C"/>
                </a:solidFill>
                <a:latin typeface="Calibri"/>
              </a:rPr>
              <a:t>PHYSICS &amp; SENSING</a:t>
            </a:r>
          </a:p>
        </p:txBody>
      </p:sp>
      <p:sp>
        <p:nvSpPr>
          <p:cNvPr id="10" name="TextBox 9">
            <a:hlinkClick r:id="rId5" action="ppaction://hlinksldjump"/>
          </p:cNvPr>
          <p:cNvSpPr txBox="1"/>
          <p:nvPr/>
        </p:nvSpPr>
        <p:spPr>
          <a:xfrm>
            <a:off x="804672" y="1883664"/>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A1  </a:t>
            </a:r>
            <a:r>
              <a:rPr sz="1000">
                <a:solidFill>
                  <a:srgbClr val="33424D"/>
                </a:solidFill>
                <a:latin typeface="Calibri"/>
              </a:rPr>
              <a:t>φ-OTDR — From Laser Pulse to Strain</a:t>
            </a:r>
          </a:p>
        </p:txBody>
      </p:sp>
      <p:sp>
        <p:nvSpPr>
          <p:cNvPr id="11" name="TextBox 10">
            <a:hlinkClick r:id="rId6" action="ppaction://hlinksldjump"/>
          </p:cNvPr>
          <p:cNvSpPr txBox="1"/>
          <p:nvPr/>
        </p:nvSpPr>
        <p:spPr>
          <a:xfrm>
            <a:off x="804672" y="2171700"/>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A2  </a:t>
            </a:r>
            <a:r>
              <a:rPr sz="1000">
                <a:solidFill>
                  <a:srgbClr val="33424D"/>
                </a:solidFill>
                <a:latin typeface="Calibri"/>
              </a:rPr>
              <a:t>Flamant–Boussinesq — Where 1/r² Comes From</a:t>
            </a:r>
          </a:p>
        </p:txBody>
      </p:sp>
      <p:sp>
        <p:nvSpPr>
          <p:cNvPr id="12" name="TextBox 11">
            <a:hlinkClick r:id="rId7" action="ppaction://hlinksldjump"/>
          </p:cNvPr>
          <p:cNvSpPr txBox="1"/>
          <p:nvPr/>
        </p:nvSpPr>
        <p:spPr>
          <a:xfrm>
            <a:off x="804672" y="2459736"/>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A3  </a:t>
            </a:r>
            <a:r>
              <a:rPr sz="1000">
                <a:solidFill>
                  <a:srgbClr val="33424D"/>
                </a:solidFill>
                <a:latin typeface="Calibri"/>
              </a:rPr>
              <a:t>Detection and Association — What We Assume</a:t>
            </a:r>
          </a:p>
        </p:txBody>
      </p:sp>
      <p:sp>
        <p:nvSpPr>
          <p:cNvPr id="13" name="TextBox 12">
            <a:hlinkClick r:id="rId8" action="ppaction://hlinksldjump"/>
          </p:cNvPr>
          <p:cNvSpPr txBox="1"/>
          <p:nvPr/>
        </p:nvSpPr>
        <p:spPr>
          <a:xfrm>
            <a:off x="804672" y="2747772"/>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A4  </a:t>
            </a:r>
            <a:r>
              <a:rPr sz="1000">
                <a:solidFill>
                  <a:srgbClr val="33424D"/>
                </a:solidFill>
                <a:latin typeface="Calibri"/>
              </a:rPr>
              <a:t>What We Invert From the Signal</a:t>
            </a:r>
          </a:p>
        </p:txBody>
      </p:sp>
      <p:sp>
        <p:nvSpPr>
          <p:cNvPr id="14" name="TextBox 13">
            <a:hlinkClick r:id="rId9" action="ppaction://hlinksldjump"/>
          </p:cNvPr>
          <p:cNvSpPr txBox="1"/>
          <p:nvPr/>
        </p:nvSpPr>
        <p:spPr>
          <a:xfrm>
            <a:off x="804672" y="3035808"/>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A5  </a:t>
            </a:r>
            <a:r>
              <a:rPr sz="1000">
                <a:solidFill>
                  <a:srgbClr val="33424D"/>
                </a:solidFill>
                <a:latin typeface="Calibri"/>
              </a:rPr>
              <a:t>What We Deliberately Did Not Model</a:t>
            </a:r>
          </a:p>
        </p:txBody>
      </p:sp>
      <p:sp>
        <p:nvSpPr>
          <p:cNvPr id="15" name="Rounded Rectangle 14"/>
          <p:cNvSpPr/>
          <p:nvPr/>
        </p:nvSpPr>
        <p:spPr>
          <a:xfrm>
            <a:off x="4315968" y="1353312"/>
            <a:ext cx="3483864" cy="2395728"/>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17136" y="1508760"/>
            <a:ext cx="3081528" cy="274320"/>
          </a:xfrm>
          <a:prstGeom prst="rect">
            <a:avLst/>
          </a:prstGeom>
          <a:noFill/>
        </p:spPr>
        <p:txBody>
          <a:bodyPr wrap="square" lIns="0" tIns="0" rIns="0" bIns="0">
            <a:spAutoFit/>
          </a:bodyPr>
          <a:lstStyle/>
          <a:p>
            <a:r>
              <a:rPr sz="1400" b="1">
                <a:solidFill>
                  <a:srgbClr val="1C7293"/>
                </a:solidFill>
                <a:latin typeface="Cambria"/>
              </a:rPr>
              <a:t>B  </a:t>
            </a:r>
            <a:r>
              <a:rPr sz="1000" b="1">
                <a:solidFill>
                  <a:srgbClr val="1C7293"/>
                </a:solidFill>
                <a:latin typeface="Calibri"/>
              </a:rPr>
              <a:t>ARCHITECTURE &amp; CODE</a:t>
            </a:r>
          </a:p>
        </p:txBody>
      </p:sp>
      <p:sp>
        <p:nvSpPr>
          <p:cNvPr id="17" name="TextBox 16">
            <a:hlinkClick r:id="rId10" action="ppaction://hlinksldjump"/>
          </p:cNvPr>
          <p:cNvSpPr txBox="1"/>
          <p:nvPr/>
        </p:nvSpPr>
        <p:spPr>
          <a:xfrm>
            <a:off x="4517136" y="1883664"/>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B1  </a:t>
            </a:r>
            <a:r>
              <a:rPr sz="1000">
                <a:solidFill>
                  <a:srgbClr val="33424D"/>
                </a:solidFill>
                <a:latin typeface="Calibri"/>
              </a:rPr>
              <a:t>Module Map and Interfaces</a:t>
            </a:r>
          </a:p>
        </p:txBody>
      </p:sp>
      <p:sp>
        <p:nvSpPr>
          <p:cNvPr id="18" name="TextBox 17">
            <a:hlinkClick r:id="rId11" action="ppaction://hlinksldjump"/>
          </p:cNvPr>
          <p:cNvSpPr txBox="1"/>
          <p:nvPr/>
        </p:nvSpPr>
        <p:spPr>
          <a:xfrm>
            <a:off x="4517136" y="2171700"/>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B2  </a:t>
            </a:r>
            <a:r>
              <a:rPr sz="1000">
                <a:solidFill>
                  <a:srgbClr val="33424D"/>
                </a:solidFill>
                <a:latin typeface="Calibri"/>
              </a:rPr>
              <a:t>Why an Event Bus</a:t>
            </a:r>
          </a:p>
        </p:txBody>
      </p:sp>
      <p:sp>
        <p:nvSpPr>
          <p:cNvPr id="19" name="TextBox 18">
            <a:hlinkClick r:id="rId12" action="ppaction://hlinksldjump"/>
          </p:cNvPr>
          <p:cNvSpPr txBox="1"/>
          <p:nvPr/>
        </p:nvSpPr>
        <p:spPr>
          <a:xfrm>
            <a:off x="4517136" y="2459736"/>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B3  </a:t>
            </a:r>
            <a:r>
              <a:rPr sz="1000">
                <a:solidFill>
                  <a:srgbClr val="33424D"/>
                </a:solidFill>
                <a:latin typeface="Calibri"/>
              </a:rPr>
              <a:t>Ground-Truth Separation</a:t>
            </a:r>
          </a:p>
        </p:txBody>
      </p:sp>
      <p:sp>
        <p:nvSpPr>
          <p:cNvPr id="20" name="TextBox 19">
            <a:hlinkClick r:id="rId13" action="ppaction://hlinksldjump"/>
          </p:cNvPr>
          <p:cNvSpPr txBox="1"/>
          <p:nvPr/>
        </p:nvSpPr>
        <p:spPr>
          <a:xfrm>
            <a:off x="4517136" y="2747772"/>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B4  </a:t>
            </a:r>
            <a:r>
              <a:rPr sz="1000">
                <a:solidFill>
                  <a:srgbClr val="33424D"/>
                </a:solidFill>
                <a:latin typeface="Calibri"/>
              </a:rPr>
              <a:t>Repository and Deliverables</a:t>
            </a:r>
          </a:p>
        </p:txBody>
      </p:sp>
      <p:sp>
        <p:nvSpPr>
          <p:cNvPr id="21" name="TextBox 20">
            <a:hlinkClick r:id="rId14" action="ppaction://hlinksldjump"/>
          </p:cNvPr>
          <p:cNvSpPr txBox="1"/>
          <p:nvPr/>
        </p:nvSpPr>
        <p:spPr>
          <a:xfrm>
            <a:off x="4517136" y="3035808"/>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B5  </a:t>
            </a:r>
            <a:r>
              <a:rPr sz="1000">
                <a:solidFill>
                  <a:srgbClr val="33424D"/>
                </a:solidFill>
                <a:latin typeface="Calibri"/>
              </a:rPr>
              <a:t>The Test Suite</a:t>
            </a:r>
          </a:p>
        </p:txBody>
      </p:sp>
      <p:sp>
        <p:nvSpPr>
          <p:cNvPr id="22" name="Rounded Rectangle 21"/>
          <p:cNvSpPr/>
          <p:nvPr/>
        </p:nvSpPr>
        <p:spPr>
          <a:xfrm>
            <a:off x="8028432" y="1353312"/>
            <a:ext cx="3483864" cy="2395728"/>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0" y="1508760"/>
            <a:ext cx="3081528" cy="274320"/>
          </a:xfrm>
          <a:prstGeom prst="rect">
            <a:avLst/>
          </a:prstGeom>
          <a:noFill/>
        </p:spPr>
        <p:txBody>
          <a:bodyPr wrap="square" lIns="0" tIns="0" rIns="0" bIns="0">
            <a:spAutoFit/>
          </a:bodyPr>
          <a:lstStyle/>
          <a:p>
            <a:r>
              <a:rPr sz="1400" b="1">
                <a:solidFill>
                  <a:srgbClr val="0B4F6C"/>
                </a:solidFill>
                <a:latin typeface="Cambria"/>
              </a:rPr>
              <a:t>C  </a:t>
            </a:r>
            <a:r>
              <a:rPr sz="1000" b="1">
                <a:solidFill>
                  <a:srgbClr val="0B4F6C"/>
                </a:solidFill>
                <a:latin typeface="Calibri"/>
              </a:rPr>
              <a:t>TRACKING &amp; FUSION</a:t>
            </a:r>
          </a:p>
        </p:txBody>
      </p:sp>
      <p:sp>
        <p:nvSpPr>
          <p:cNvPr id="24" name="TextBox 23">
            <a:hlinkClick r:id="rId15" action="ppaction://hlinksldjump"/>
          </p:cNvPr>
          <p:cNvSpPr txBox="1"/>
          <p:nvPr/>
        </p:nvSpPr>
        <p:spPr>
          <a:xfrm>
            <a:off x="8229600" y="1883664"/>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C1  </a:t>
            </a:r>
            <a:r>
              <a:rPr sz="1000">
                <a:solidFill>
                  <a:srgbClr val="33424D"/>
                </a:solidFill>
                <a:latin typeface="Calibri"/>
              </a:rPr>
              <a:t>The Kalman Filter</a:t>
            </a:r>
          </a:p>
        </p:txBody>
      </p:sp>
      <p:sp>
        <p:nvSpPr>
          <p:cNvPr id="25" name="TextBox 24">
            <a:hlinkClick r:id="rId16" action="ppaction://hlinksldjump"/>
          </p:cNvPr>
          <p:cNvSpPr txBox="1"/>
          <p:nvPr/>
        </p:nvSpPr>
        <p:spPr>
          <a:xfrm>
            <a:off x="8229600" y="2136664"/>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C2  </a:t>
            </a:r>
            <a:r>
              <a:rPr sz="1000">
                <a:solidFill>
                  <a:srgbClr val="33424D"/>
                </a:solidFill>
                <a:latin typeface="Calibri"/>
              </a:rPr>
              <a:t>SNR-Driven Measurement Noise</a:t>
            </a:r>
          </a:p>
        </p:txBody>
      </p:sp>
      <p:sp>
        <p:nvSpPr>
          <p:cNvPr id="26" name="TextBox 25">
            <a:hlinkClick r:id="rId17" action="ppaction://hlinksldjump"/>
          </p:cNvPr>
          <p:cNvSpPr txBox="1"/>
          <p:nvPr/>
        </p:nvSpPr>
        <p:spPr>
          <a:xfrm>
            <a:off x="8229600" y="2389664"/>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C3  </a:t>
            </a:r>
            <a:r>
              <a:rPr sz="1000">
                <a:solidFill>
                  <a:srgbClr val="33424D"/>
                </a:solidFill>
                <a:latin typeface="Calibri"/>
              </a:rPr>
              <a:t>Data Association</a:t>
            </a:r>
          </a:p>
        </p:txBody>
      </p:sp>
      <p:sp>
        <p:nvSpPr>
          <p:cNvPr id="27" name="TextBox 26">
            <a:hlinkClick r:id="rId18" action="ppaction://hlinksldjump"/>
          </p:cNvPr>
          <p:cNvSpPr txBox="1"/>
          <p:nvPr/>
        </p:nvSpPr>
        <p:spPr>
          <a:xfrm>
            <a:off x="8229600" y="2642664"/>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C4  </a:t>
            </a:r>
            <a:r>
              <a:rPr sz="1000">
                <a:solidFill>
                  <a:srgbClr val="33424D"/>
                </a:solidFill>
                <a:latin typeface="Calibri"/>
              </a:rPr>
              <a:t>From True (x, y) to a Measurement</a:t>
            </a:r>
          </a:p>
        </p:txBody>
      </p:sp>
      <p:sp>
        <p:nvSpPr>
          <p:cNvPr id="28" name="TextBox 27">
            <a:hlinkClick r:id="rId19" action="ppaction://hlinksldjump"/>
          </p:cNvPr>
          <p:cNvSpPr txBox="1"/>
          <p:nvPr/>
        </p:nvSpPr>
        <p:spPr>
          <a:xfrm>
            <a:off x="8229600" y="2895664"/>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C5  </a:t>
            </a:r>
            <a:r>
              <a:rPr sz="1000">
                <a:solidFill>
                  <a:srgbClr val="33424D"/>
                </a:solidFill>
                <a:latin typeface="Calibri"/>
              </a:rPr>
              <a:t>From a Measurement to the Kalman Update</a:t>
            </a:r>
          </a:p>
        </p:txBody>
      </p:sp>
      <p:sp>
        <p:nvSpPr>
          <p:cNvPr id="29" name="Rounded Rectangle 28"/>
          <p:cNvSpPr/>
          <p:nvPr/>
        </p:nvSpPr>
        <p:spPr>
          <a:xfrm>
            <a:off x="603504" y="3950208"/>
            <a:ext cx="3483864" cy="2395728"/>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4672" y="4105656"/>
            <a:ext cx="3081528" cy="274320"/>
          </a:xfrm>
          <a:prstGeom prst="rect">
            <a:avLst/>
          </a:prstGeom>
          <a:noFill/>
        </p:spPr>
        <p:txBody>
          <a:bodyPr wrap="square" lIns="0" tIns="0" rIns="0" bIns="0">
            <a:spAutoFit/>
          </a:bodyPr>
          <a:lstStyle/>
          <a:p>
            <a:r>
              <a:rPr sz="1400" b="1">
                <a:solidFill>
                  <a:srgbClr val="1C7293"/>
                </a:solidFill>
                <a:latin typeface="Cambria"/>
              </a:rPr>
              <a:t>D  </a:t>
            </a:r>
            <a:r>
              <a:rPr sz="1000" b="1">
                <a:solidFill>
                  <a:srgbClr val="1C7293"/>
                </a:solidFill>
                <a:latin typeface="Calibri"/>
              </a:rPr>
              <a:t>ANOMALY MODEL</a:t>
            </a:r>
          </a:p>
        </p:txBody>
      </p:sp>
      <p:sp>
        <p:nvSpPr>
          <p:cNvPr id="31" name="TextBox 30">
            <a:hlinkClick r:id="rId20" action="ppaction://hlinksldjump"/>
          </p:cNvPr>
          <p:cNvSpPr txBox="1"/>
          <p:nvPr/>
        </p:nvSpPr>
        <p:spPr>
          <a:xfrm>
            <a:off x="804672" y="4480560"/>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D1  </a:t>
            </a:r>
            <a:r>
              <a:rPr sz="1000">
                <a:solidFill>
                  <a:srgbClr val="33424D"/>
                </a:solidFill>
                <a:latin typeface="Calibri"/>
              </a:rPr>
              <a:t>156 Features in 9 Groups</a:t>
            </a:r>
          </a:p>
        </p:txBody>
      </p:sp>
      <p:sp>
        <p:nvSpPr>
          <p:cNvPr id="32" name="TextBox 31">
            <a:hlinkClick r:id="rId21" action="ppaction://hlinksldjump"/>
          </p:cNvPr>
          <p:cNvSpPr txBox="1"/>
          <p:nvPr/>
        </p:nvSpPr>
        <p:spPr>
          <a:xfrm>
            <a:off x="804672" y="4768596"/>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D2  </a:t>
            </a:r>
            <a:r>
              <a:rPr sz="1000">
                <a:solidFill>
                  <a:srgbClr val="33424D"/>
                </a:solidFill>
                <a:latin typeface="Calibri"/>
              </a:rPr>
              <a:t>Scoring and the Threshold</a:t>
            </a:r>
          </a:p>
        </p:txBody>
      </p:sp>
      <p:sp>
        <p:nvSpPr>
          <p:cNvPr id="33" name="TextBox 32">
            <a:hlinkClick r:id="rId22" action="ppaction://hlinksldjump"/>
          </p:cNvPr>
          <p:cNvSpPr txBox="1"/>
          <p:nvPr/>
        </p:nvSpPr>
        <p:spPr>
          <a:xfrm>
            <a:off x="804672" y="5056632"/>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D3  </a:t>
            </a:r>
            <a:r>
              <a:rPr sz="1000">
                <a:solidFill>
                  <a:srgbClr val="33424D"/>
                </a:solidFill>
                <a:latin typeface="Calibri"/>
              </a:rPr>
              <a:t>False Positives, Measured</a:t>
            </a:r>
          </a:p>
        </p:txBody>
      </p:sp>
      <p:sp>
        <p:nvSpPr>
          <p:cNvPr id="34" name="TextBox 33">
            <a:hlinkClick r:id="rId23" action="ppaction://hlinksldjump"/>
          </p:cNvPr>
          <p:cNvSpPr txBox="1"/>
          <p:nvPr/>
        </p:nvSpPr>
        <p:spPr>
          <a:xfrm>
            <a:off x="804672" y="5344668"/>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D4  </a:t>
            </a:r>
            <a:r>
              <a:rPr sz="1000">
                <a:solidFill>
                  <a:srgbClr val="33424D"/>
                </a:solidFill>
                <a:latin typeface="Calibri"/>
              </a:rPr>
              <a:t>The Three We Missed</a:t>
            </a:r>
          </a:p>
        </p:txBody>
      </p:sp>
      <p:sp>
        <p:nvSpPr>
          <p:cNvPr id="35" name="TextBox 34">
            <a:hlinkClick r:id="rId24" action="ppaction://hlinksldjump"/>
          </p:cNvPr>
          <p:cNvSpPr txBox="1"/>
          <p:nvPr/>
        </p:nvSpPr>
        <p:spPr>
          <a:xfrm>
            <a:off x="804672" y="5632704"/>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D5  </a:t>
            </a:r>
            <a:r>
              <a:rPr sz="1000">
                <a:solidFill>
                  <a:srgbClr val="33424D"/>
                </a:solidFill>
                <a:latin typeface="Calibri"/>
              </a:rPr>
              <a:t>Interpretability — One Decision Traced</a:t>
            </a:r>
          </a:p>
        </p:txBody>
      </p:sp>
      <p:sp>
        <p:nvSpPr>
          <p:cNvPr id="120" name="TextBox 34b">
            <a:hlinkClick r:id="rId25" action="ppaction://hlinksldjump"/>
          </p:cNvPr>
          <p:cNvSpPr txBox="1"/>
          <p:nvPr/>
        </p:nvSpPr>
        <p:spPr>
          <a:xfrm>
            <a:off x="804672" y="5920000"/>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D6  </a:t>
            </a:r>
            <a:r>
              <a:rPr sz="1000">
                <a:solidFill>
                  <a:srgbClr val="33424D"/>
                </a:solidFill>
                <a:latin typeface="Calibri"/>
              </a:rPr>
              <a:t>The Six Features Behind the Klausner Flag</a:t>
            </a:r>
          </a:p>
        </p:txBody>
      </p:sp>
      <p:sp>
        <p:nvSpPr>
          <p:cNvPr id="37" name="Rounded Rectangle 36"/>
          <p:cNvSpPr/>
          <p:nvPr/>
        </p:nvSpPr>
        <p:spPr>
          <a:xfrm>
            <a:off x="4315968" y="3950208"/>
            <a:ext cx="3483864" cy="2395728"/>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17136" y="4105656"/>
            <a:ext cx="3081528" cy="274320"/>
          </a:xfrm>
          <a:prstGeom prst="rect">
            <a:avLst/>
          </a:prstGeom>
          <a:noFill/>
        </p:spPr>
        <p:txBody>
          <a:bodyPr wrap="square" lIns="0" tIns="0" rIns="0" bIns="0">
            <a:spAutoFit/>
          </a:bodyPr>
          <a:lstStyle/>
          <a:p>
            <a:r>
              <a:rPr sz="1400" b="1">
                <a:solidFill>
                  <a:srgbClr val="0B4F6C"/>
                </a:solidFill>
                <a:latin typeface="Cambria"/>
              </a:rPr>
              <a:t>E  </a:t>
            </a:r>
            <a:r>
              <a:rPr sz="1000" b="1">
                <a:solidFill>
                  <a:srgbClr val="0B4F6C"/>
                </a:solidFill>
                <a:latin typeface="Calibri"/>
              </a:rPr>
              <a:t>RESULTS &amp; VALIDATION</a:t>
            </a:r>
          </a:p>
        </p:txBody>
      </p:sp>
      <p:sp>
        <p:nvSpPr>
          <p:cNvPr id="39" name="TextBox 38">
            <a:hlinkClick r:id="rId26" action="ppaction://hlinksldjump"/>
          </p:cNvPr>
          <p:cNvSpPr txBox="1"/>
          <p:nvPr/>
        </p:nvSpPr>
        <p:spPr>
          <a:xfrm>
            <a:off x="4517136" y="4480560"/>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E1  </a:t>
            </a:r>
            <a:r>
              <a:rPr sz="1000">
                <a:solidFill>
                  <a:srgbClr val="33424D"/>
                </a:solidFill>
                <a:latin typeface="Calibri"/>
              </a:rPr>
              <a:t>How We Validated the Simulator Itself</a:t>
            </a:r>
          </a:p>
        </p:txBody>
      </p:sp>
      <p:sp>
        <p:nvSpPr>
          <p:cNvPr id="40" name="TextBox 39">
            <a:hlinkClick r:id="rId27" action="ppaction://hlinksldjump"/>
          </p:cNvPr>
          <p:cNvSpPr txBox="1"/>
          <p:nvPr/>
        </p:nvSpPr>
        <p:spPr>
          <a:xfrm>
            <a:off x="4517136" y="4768596"/>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E2  </a:t>
            </a:r>
            <a:r>
              <a:rPr sz="1000">
                <a:solidFill>
                  <a:srgbClr val="33424D"/>
                </a:solidFill>
                <a:latin typeface="Calibri"/>
              </a:rPr>
              <a:t>Tracking Accuracy in Detail</a:t>
            </a:r>
          </a:p>
        </p:txBody>
      </p:sp>
      <p:sp>
        <p:nvSpPr>
          <p:cNvPr id="41" name="TextBox 40">
            <a:hlinkClick r:id="rId28" action="ppaction://hlinksldjump"/>
          </p:cNvPr>
          <p:cNvSpPr txBox="1"/>
          <p:nvPr/>
        </p:nvSpPr>
        <p:spPr>
          <a:xfrm>
            <a:off x="4517136" y="5056632"/>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E3  </a:t>
            </a:r>
            <a:r>
              <a:rPr sz="1000">
                <a:solidFill>
                  <a:srgbClr val="33424D"/>
                </a:solidFill>
                <a:latin typeface="Calibri"/>
              </a:rPr>
              <a:t>Klausner Street — The Real Recording</a:t>
            </a:r>
          </a:p>
        </p:txBody>
      </p:sp>
      <p:sp>
        <p:nvSpPr>
          <p:cNvPr id="42" name="TextBox 41">
            <a:hlinkClick r:id="rId29" action="ppaction://hlinksldjump"/>
          </p:cNvPr>
          <p:cNvSpPr txBox="1"/>
          <p:nvPr/>
        </p:nvSpPr>
        <p:spPr>
          <a:xfrm>
            <a:off x="4517136" y="5344668"/>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E4  </a:t>
            </a:r>
            <a:r>
              <a:rPr sz="1000">
                <a:solidFill>
                  <a:srgbClr val="33424D"/>
                </a:solidFill>
                <a:latin typeface="Calibri"/>
              </a:rPr>
              <a:t>Klausner — The Synthetic Twin</a:t>
            </a:r>
          </a:p>
        </p:txBody>
      </p:sp>
      <p:sp>
        <p:nvSpPr>
          <p:cNvPr id="43" name="TextBox 42">
            <a:hlinkClick r:id="rId30" action="ppaction://hlinksldjump"/>
          </p:cNvPr>
          <p:cNvSpPr txBox="1"/>
          <p:nvPr/>
        </p:nvSpPr>
        <p:spPr>
          <a:xfrm>
            <a:off x="4517136" y="5632704"/>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E5  </a:t>
            </a:r>
            <a:r>
              <a:rPr sz="1000">
                <a:solidFill>
                  <a:srgbClr val="33424D"/>
                </a:solidFill>
                <a:latin typeface="Calibri"/>
              </a:rPr>
              <a:t>Targets vs Achieved — Exact Definitions</a:t>
            </a:r>
          </a:p>
        </p:txBody>
      </p:sp>
      <p:sp>
        <p:nvSpPr>
          <p:cNvPr id="44" name="Rounded Rectangle 43"/>
          <p:cNvSpPr/>
          <p:nvPr/>
        </p:nvSpPr>
        <p:spPr>
          <a:xfrm>
            <a:off x="8028432" y="3950208"/>
            <a:ext cx="3483864" cy="2395728"/>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29600" y="4105656"/>
            <a:ext cx="3081528" cy="274320"/>
          </a:xfrm>
          <a:prstGeom prst="rect">
            <a:avLst/>
          </a:prstGeom>
          <a:noFill/>
        </p:spPr>
        <p:txBody>
          <a:bodyPr wrap="square" lIns="0" tIns="0" rIns="0" bIns="0">
            <a:spAutoFit/>
          </a:bodyPr>
          <a:lstStyle/>
          <a:p>
            <a:r>
              <a:rPr sz="1400" b="1">
                <a:solidFill>
                  <a:srgbClr val="1C7293"/>
                </a:solidFill>
                <a:latin typeface="Cambria"/>
              </a:rPr>
              <a:t>F  </a:t>
            </a:r>
            <a:r>
              <a:rPr sz="1000" b="1">
                <a:solidFill>
                  <a:srgbClr val="1C7293"/>
                </a:solidFill>
                <a:latin typeface="Calibri"/>
              </a:rPr>
              <a:t>PROCESS &amp; TEAM</a:t>
            </a:r>
          </a:p>
        </p:txBody>
      </p:sp>
      <p:sp>
        <p:nvSpPr>
          <p:cNvPr id="46" name="TextBox 45">
            <a:hlinkClick r:id="rId31" action="ppaction://hlinksldjump"/>
          </p:cNvPr>
          <p:cNvSpPr txBox="1"/>
          <p:nvPr/>
        </p:nvSpPr>
        <p:spPr>
          <a:xfrm>
            <a:off x="8229600" y="4480560"/>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F1  </a:t>
            </a:r>
            <a:r>
              <a:rPr sz="1000">
                <a:solidFill>
                  <a:srgbClr val="33424D"/>
                </a:solidFill>
                <a:latin typeface="Calibri"/>
              </a:rPr>
              <a:t>What the AI Did — and What We Did</a:t>
            </a:r>
          </a:p>
        </p:txBody>
      </p:sp>
      <p:sp>
        <p:nvSpPr>
          <p:cNvPr id="47" name="TextBox 46">
            <a:hlinkClick r:id="rId32" action="ppaction://hlinksldjump"/>
          </p:cNvPr>
          <p:cNvSpPr txBox="1"/>
          <p:nvPr/>
        </p:nvSpPr>
        <p:spPr>
          <a:xfrm>
            <a:off x="8229600" y="4768596"/>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F2  </a:t>
            </a:r>
            <a:r>
              <a:rPr sz="1000">
                <a:solidFill>
                  <a:srgbClr val="33424D"/>
                </a:solidFill>
                <a:latin typeface="Calibri"/>
              </a:rPr>
              <a:t>Division of Work</a:t>
            </a:r>
          </a:p>
        </p:txBody>
      </p:sp>
      <p:sp>
        <p:nvSpPr>
          <p:cNvPr id="48" name="TextBox 47">
            <a:hlinkClick r:id="rId33" action="ppaction://hlinksldjump"/>
          </p:cNvPr>
          <p:cNvSpPr txBox="1"/>
          <p:nvPr/>
        </p:nvSpPr>
        <p:spPr>
          <a:xfrm>
            <a:off x="8229600" y="5056632"/>
            <a:ext cx="3081528" cy="274320"/>
          </a:xfrm>
          <a:prstGeom prst="rect">
            <a:avLst/>
          </a:prstGeom>
          <a:noFill/>
        </p:spPr>
        <p:txBody>
          <a:bodyPr wrap="square" lIns="0" tIns="0" rIns="0" bIns="0">
            <a:spAutoFit/>
          </a:bodyPr>
          <a:lstStyle/>
          <a:p>
            <a:pPr marL="274320" indent="-274320"/>
            <a:r>
              <a:rPr sz="1000" b="1">
                <a:solidFill>
                  <a:srgbClr val="1C7293"/>
                </a:solidFill>
                <a:latin typeface="Calibri"/>
              </a:rPr>
              <a:t>F3  </a:t>
            </a:r>
            <a:r>
              <a:rPr sz="1000">
                <a:solidFill>
                  <a:srgbClr val="33424D"/>
                </a:solidFill>
                <a:latin typeface="Calibri"/>
              </a:rPr>
              <a:t>Alternatives Considered and Rejected</a:t>
            </a:r>
          </a:p>
        </p:txBody>
      </p:sp>
      <p:sp>
        <p:nvSpPr>
          <p:cNvPr id="49" name="TextBox 27b">
            <a:hlinkClick r:id="rId34" action="ppaction://hlinksldjump"/>
          </p:cNvPr>
          <p:cNvSpPr txBox="1"/>
          <p:nvPr/>
        </p:nvSpPr>
        <p:spPr>
          <a:xfrm>
            <a:off x="8229600" y="3148664"/>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C6  </a:t>
            </a:r>
            <a:r>
              <a:rPr sz="1000">
                <a:solidFill>
                  <a:srgbClr val="33424D"/>
                </a:solidFill>
                <a:latin typeface="Calibri"/>
              </a:rPr>
              <a:t>The Ghost-Track Bug</a:t>
            </a:r>
          </a:p>
        </p:txBody>
      </p:sp>
      <p:sp>
        <p:nvSpPr>
          <p:cNvPr id="50" name="TextBox 27c">
            <a:hlinkClick r:id="rId35" action="ppaction://hlinksldjump"/>
          </p:cNvPr>
          <p:cNvSpPr txBox="1"/>
          <p:nvPr/>
        </p:nvSpPr>
        <p:spPr>
          <a:xfrm>
            <a:off x="8229600" y="3401664"/>
            <a:ext cx="3081528" cy="274320"/>
          </a:xfrm>
          <a:prstGeom prst="rect">
            <a:avLst/>
          </a:prstGeom>
          <a:noFill/>
        </p:spPr>
        <p:txBody>
          <a:bodyPr wrap="square" lIns="0" tIns="0" rIns="0" bIns="0">
            <a:spAutoFit/>
          </a:bodyPr>
          <a:lstStyle/>
          <a:p>
            <a:pPr marL="274320" indent="-274320"/>
            <a:r>
              <a:rPr sz="1000" b="1">
                <a:solidFill>
                  <a:srgbClr val="0B4F6C"/>
                </a:solidFill>
                <a:latin typeface="Calibri"/>
              </a:rPr>
              <a:t>C7  </a:t>
            </a:r>
            <a:r>
              <a:rPr sz="1000">
                <a:solidFill>
                  <a:srgbClr val="33424D"/>
                </a:solidFill>
                <a:latin typeface="Calibri"/>
              </a:rPr>
              <a:t>Five Defences Against Track Proliferation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φ-OTDR — From Laser Pulse to Strain</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14</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A1   ·   </a:t>
            </a:r>
            <a:r>
              <a:rPr sz="1100" b="1">
                <a:solidFill>
                  <a:srgbClr val="1C7293"/>
                </a:solidFill>
                <a:latin typeface="Calibri"/>
              </a:rPr>
              <a:t>HOW THE MEASUREMENT IS MADE</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Rayleigh back-scatter</a:t>
            </a:r>
            <a:r>
              <a:rPr sz="1050" b="0">
                <a:solidFill>
                  <a:srgbClr val="33424D"/>
                </a:solidFill>
                <a:latin typeface="Calibri"/>
              </a:rPr>
              <a:t> from frozen refractive-index fluctuations in the glass. No sensor is ever installed — the glass is the sensor.</a:t>
            </a:r>
          </a:p>
          <a:p>
            <a:pPr marL="201168" indent="-201168">
              <a:spcAft>
                <a:spcPts val="600"/>
              </a:spcAft>
            </a:pPr>
            <a:r>
              <a:rPr sz="1050" b="1">
                <a:solidFill>
                  <a:srgbClr val="1C7293"/>
                </a:solidFill>
                <a:latin typeface="Calibri"/>
              </a:rPr>
              <a:t>▪   </a:t>
            </a:r>
            <a:r>
              <a:rPr sz="1050" b="1">
                <a:solidFill>
                  <a:srgbClr val="33424D"/>
                </a:solidFill>
                <a:latin typeface="Calibri"/>
              </a:rPr>
              <a:t>Time of flight</a:t>
            </a:r>
            <a:r>
              <a:rPr sz="1050" b="0">
                <a:solidFill>
                  <a:srgbClr val="33424D"/>
                </a:solidFill>
                <a:latin typeface="Calibri"/>
              </a:rPr>
              <a:t> of the returning light gives position along the fiber; </a:t>
            </a:r>
            <a:r>
              <a:rPr sz="1050" b="1">
                <a:solidFill>
                  <a:srgbClr val="33424D"/>
                </a:solidFill>
                <a:latin typeface="Calibri"/>
              </a:rPr>
              <a:t>the optical phase</a:t>
            </a:r>
            <a:r>
              <a:rPr sz="1050" b="0">
                <a:solidFill>
                  <a:srgbClr val="33424D"/>
                </a:solidFill>
                <a:latin typeface="Calibri"/>
              </a:rPr>
              <a:t> gives the measurement.</a:t>
            </a:r>
          </a:p>
          <a:p>
            <a:pPr marL="201168" indent="-201168">
              <a:spcAft>
                <a:spcPts val="600"/>
              </a:spcAft>
            </a:pPr>
            <a:r>
              <a:rPr sz="1050" b="1">
                <a:solidFill>
                  <a:srgbClr val="1C7293"/>
                </a:solidFill>
                <a:latin typeface="Calibri"/>
              </a:rPr>
              <a:t>▪   </a:t>
            </a:r>
            <a:r>
              <a:rPr sz="1050" b="0">
                <a:solidFill>
                  <a:srgbClr val="33424D"/>
                </a:solidFill>
                <a:latin typeface="Calibri"/>
              </a:rPr>
              <a:t>Coherent (I/Q) detection recovers </a:t>
            </a:r>
            <a:r>
              <a:rPr sz="1050" b="1">
                <a:solidFill>
                  <a:srgbClr val="33424D"/>
                </a:solidFill>
                <a:latin typeface="Calibri"/>
              </a:rPr>
              <a:t>phase</a:t>
            </a:r>
            <a:r>
              <a:rPr sz="1050" b="0">
                <a:solidFill>
                  <a:srgbClr val="33424D"/>
                </a:solidFill>
                <a:latin typeface="Calibri"/>
              </a:rPr>
              <a:t>, not just intensity — this is what separates φ-OTDR from ordinary OTDR.</a:t>
            </a:r>
          </a:p>
          <a:p>
            <a:pPr marL="201168" indent="-201168">
              <a:spcAft>
                <a:spcPts val="600"/>
              </a:spcAft>
            </a:pPr>
            <a:r>
              <a:rPr sz="1050" b="1">
                <a:solidFill>
                  <a:srgbClr val="1C7293"/>
                </a:solidFill>
                <a:latin typeface="Calibri"/>
              </a:rPr>
              <a:t>▪   </a:t>
            </a:r>
            <a:r>
              <a:rPr sz="1050" b="0">
                <a:solidFill>
                  <a:srgbClr val="33424D"/>
                </a:solidFill>
                <a:latin typeface="Calibri"/>
              </a:rPr>
              <a:t>The phase difference across a gauge length L is the </a:t>
            </a:r>
            <a:r>
              <a:rPr sz="1050" b="1">
                <a:solidFill>
                  <a:srgbClr val="33424D"/>
                </a:solidFill>
                <a:latin typeface="Calibri"/>
              </a:rPr>
              <a:t>strain of that segment</a:t>
            </a:r>
            <a:r>
              <a:rPr sz="1050" b="0">
                <a:solidFill>
                  <a:srgbClr val="33424D"/>
                </a:solidFill>
                <a:latin typeface="Calibri"/>
              </a:rPr>
              <a:t>  (Report Eq. 1).</a:t>
            </a:r>
          </a:p>
          <a:p>
            <a:pPr marL="201168" indent="-201168">
              <a:spcAft>
                <a:spcPts val="600"/>
              </a:spcAft>
            </a:pPr>
            <a:r>
              <a:rPr sz="1050" b="1">
                <a:solidFill>
                  <a:srgbClr val="1C7293"/>
                </a:solidFill>
                <a:latin typeface="Calibri"/>
              </a:rPr>
              <a:t>▪   </a:t>
            </a:r>
            <a:r>
              <a:rPr sz="1050" b="0">
                <a:solidFill>
                  <a:srgbClr val="33424D"/>
                </a:solidFill>
                <a:latin typeface="Calibri"/>
              </a:rPr>
              <a:t>Every gauge length is an independent channel: a 10 km cable yields ≈10,000 channels, interrogated </a:t>
            </a:r>
            <a:r>
              <a:rPr sz="1050" b="1">
                <a:solidFill>
                  <a:srgbClr val="33424D"/>
                </a:solidFill>
                <a:latin typeface="Calibri"/>
              </a:rPr>
              <a:t>from one end only</a:t>
            </a:r>
            <a:r>
              <a:rPr sz="1050" b="0">
                <a:solidFill>
                  <a:srgbClr val="33424D"/>
                </a:solidFill>
                <a:latin typeface="Calibri"/>
              </a:rPr>
              <a:t>.</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Rayleigh back-scatter  —  </a:t>
            </a:r>
            <a:r>
              <a:rPr sz="850">
                <a:solidFill>
                  <a:srgbClr val="33424D"/>
                </a:solidFill>
                <a:latin typeface="Calibri"/>
              </a:rPr>
              <a:t>light reflected by frozen density variations in the glass itself</a:t>
            </a:r>
          </a:p>
          <a:p>
            <a:pPr marL="128016" indent="-128016">
              <a:spcAft>
                <a:spcPts val="200"/>
              </a:spcAft>
            </a:pPr>
            <a:r>
              <a:rPr sz="850" b="1">
                <a:solidFill>
                  <a:srgbClr val="1C7293"/>
                </a:solidFill>
                <a:latin typeface="Calibri"/>
              </a:rPr>
              <a:t>gauge length L  —  </a:t>
            </a:r>
            <a:r>
              <a:rPr sz="850">
                <a:solidFill>
                  <a:srgbClr val="33424D"/>
                </a:solidFill>
                <a:latin typeface="Calibri"/>
              </a:rPr>
              <a:t>the span over which phase difference is read — one channel</a:t>
            </a:r>
          </a:p>
          <a:p>
            <a:pPr marL="128016" indent="-128016">
              <a:spcAft>
                <a:spcPts val="200"/>
              </a:spcAft>
            </a:pPr>
            <a:r>
              <a:rPr sz="850" b="1">
                <a:solidFill>
                  <a:srgbClr val="1C7293"/>
                </a:solidFill>
                <a:latin typeface="Calibri"/>
              </a:rPr>
              <a:t>φ-OTDR  —  </a:t>
            </a:r>
            <a:r>
              <a:rPr sz="850">
                <a:solidFill>
                  <a:srgbClr val="33424D"/>
                </a:solidFill>
                <a:latin typeface="Calibri"/>
              </a:rPr>
              <a:t>phase-sensitive OTDR: recovers optical phase, not just returned intensity</a:t>
            </a:r>
          </a:p>
          <a:p>
            <a:pPr marL="128016" indent="-128016">
              <a:spcAft>
                <a:spcPts val="200"/>
              </a:spcAft>
            </a:pPr>
            <a:r>
              <a:rPr sz="850" b="1">
                <a:solidFill>
                  <a:srgbClr val="1C7293"/>
                </a:solidFill>
                <a:latin typeface="Calibri"/>
              </a:rPr>
              <a:t>strain rate ε̇  —  </a:t>
            </a:r>
            <a:r>
              <a:rPr sz="850">
                <a:solidFill>
                  <a:srgbClr val="33424D"/>
                </a:solidFill>
                <a:latin typeface="Calibri"/>
              </a:rPr>
              <a:t>how fast a fiber segment is stretching — what a channel actually reports</a:t>
            </a:r>
          </a:p>
        </p:txBody>
      </p:sp>
      <p:pic>
        <p:nvPicPr>
          <p:cNvPr id="12" name="Picture 11" descr="A1.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THE GAUGE-LENGTH TRADE-OFF</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Longer L → higher SNR, </a:t>
            </a:r>
            <a:r>
              <a:rPr sz="850" b="1">
                <a:solidFill>
                  <a:srgbClr val="33424D"/>
                </a:solidFill>
                <a:latin typeface="Calibri"/>
              </a:rPr>
              <a:t>coarser</a:t>
            </a:r>
            <a:r>
              <a:rPr sz="850" b="0">
                <a:solidFill>
                  <a:srgbClr val="33424D"/>
                </a:solidFill>
                <a:latin typeface="Calibri"/>
              </a:rPr>
              <a:t> spatial resolution</a:t>
            </a:r>
          </a:p>
          <a:p>
            <a:pPr marL="128016" indent="-128016">
              <a:spcAft>
                <a:spcPts val="200"/>
              </a:spcAft>
            </a:pPr>
            <a:r>
              <a:rPr sz="850" b="1">
                <a:solidFill>
                  <a:srgbClr val="1C7293"/>
                </a:solidFill>
                <a:latin typeface="Calibri"/>
              </a:rPr>
              <a:t>–  </a:t>
            </a:r>
            <a:r>
              <a:rPr sz="850" b="0">
                <a:solidFill>
                  <a:srgbClr val="33424D"/>
                </a:solidFill>
                <a:latin typeface="Calibri"/>
              </a:rPr>
              <a:t>Shorter L → finer resolution, </a:t>
            </a:r>
            <a:r>
              <a:rPr sz="850" b="1">
                <a:solidFill>
                  <a:srgbClr val="33424D"/>
                </a:solidFill>
                <a:latin typeface="Calibri"/>
              </a:rPr>
              <a:t>noisier</a:t>
            </a:r>
            <a:r>
              <a:rPr sz="850" b="0">
                <a:solidFill>
                  <a:srgbClr val="33424D"/>
                </a:solidFill>
                <a:latin typeface="Calibri"/>
              </a:rPr>
              <a:t> strain estimate</a:t>
            </a:r>
          </a:p>
          <a:p>
            <a:pPr marL="128016" indent="-128016">
              <a:spcAft>
                <a:spcPts val="200"/>
              </a:spcAft>
            </a:pPr>
            <a:r>
              <a:rPr sz="850" b="1">
                <a:solidFill>
                  <a:srgbClr val="1C7293"/>
                </a:solidFill>
                <a:latin typeface="Calibri"/>
              </a:rPr>
              <a:t>–  </a:t>
            </a:r>
            <a:r>
              <a:rPr sz="850" b="0">
                <a:solidFill>
                  <a:srgbClr val="33424D"/>
                </a:solidFill>
                <a:latin typeface="Calibri"/>
              </a:rPr>
              <a:t>We model at the channel level (1 m spacing), not the raw optics — see A5</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Flamant–Boussinesq — Where 1/r² Comes From</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15</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A2   ·   </a:t>
            </a:r>
            <a:r>
              <a:rPr sz="1100" b="1">
                <a:solidFill>
                  <a:srgbClr val="1C7293"/>
                </a:solidFill>
                <a:latin typeface="Calibri"/>
              </a:rPr>
              <a:t>THE GROUND-RESPONSE MODEL</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A vehicle is a </a:t>
            </a:r>
            <a:r>
              <a:rPr sz="1050" b="1">
                <a:solidFill>
                  <a:srgbClr val="33424D"/>
                </a:solidFill>
                <a:latin typeface="Calibri"/>
              </a:rPr>
              <a:t>moving surface point load</a:t>
            </a:r>
            <a:r>
              <a:rPr sz="1050" b="0">
                <a:solidFill>
                  <a:srgbClr val="33424D"/>
                </a:solidFill>
                <a:latin typeface="Calibri"/>
              </a:rPr>
              <a:t> on an elastic half-space.</a:t>
            </a:r>
          </a:p>
          <a:p>
            <a:pPr marL="201168" indent="-201168">
              <a:spcAft>
                <a:spcPts val="600"/>
              </a:spcAft>
            </a:pPr>
            <a:r>
              <a:rPr sz="1050" b="1">
                <a:solidFill>
                  <a:srgbClr val="1C7293"/>
                </a:solidFill>
                <a:latin typeface="Calibri"/>
              </a:rPr>
              <a:t>▪   </a:t>
            </a:r>
            <a:r>
              <a:rPr sz="1050" b="0">
                <a:solidFill>
                  <a:srgbClr val="33424D"/>
                </a:solidFill>
                <a:latin typeface="Calibri"/>
              </a:rPr>
              <a:t>Boussinesq: vertical stress under a point load decays as </a:t>
            </a:r>
            <a:r>
              <a:rPr sz="1050" b="1">
                <a:solidFill>
                  <a:srgbClr val="33424D"/>
                </a:solidFill>
                <a:latin typeface="Calibri"/>
              </a:rPr>
              <a:t>1/z²</a:t>
            </a:r>
            <a:r>
              <a:rPr sz="1050" b="0">
                <a:solidFill>
                  <a:srgbClr val="33424D"/>
                </a:solidFill>
                <a:latin typeface="Calibri"/>
              </a:rPr>
              <a:t> with depth; the induced strain follows the same law.</a:t>
            </a:r>
          </a:p>
          <a:p>
            <a:pPr marL="201168" indent="-201168">
              <a:spcAft>
                <a:spcPts val="600"/>
              </a:spcAft>
            </a:pPr>
            <a:r>
              <a:rPr sz="1050" b="1">
                <a:solidFill>
                  <a:srgbClr val="1C7293"/>
                </a:solidFill>
                <a:latin typeface="Calibri"/>
              </a:rPr>
              <a:t>▪   </a:t>
            </a:r>
            <a:r>
              <a:rPr sz="1050" b="0">
                <a:solidFill>
                  <a:srgbClr val="33424D"/>
                </a:solidFill>
                <a:latin typeface="Calibri"/>
              </a:rPr>
              <a:t>Hence  </a:t>
            </a:r>
            <a:r>
              <a:rPr sz="1050" b="1">
                <a:solidFill>
                  <a:srgbClr val="33424D"/>
                </a:solidFill>
                <a:latin typeface="Calibri"/>
              </a:rPr>
              <a:t>A = k·W / (r + d₀)²</a:t>
            </a:r>
            <a:r>
              <a:rPr sz="1050" b="0">
                <a:solidFill>
                  <a:srgbClr val="33424D"/>
                </a:solidFill>
                <a:latin typeface="Calibri"/>
              </a:rPr>
              <a:t> , with r the perpendicular distance from the vehicle to the fiber.</a:t>
            </a:r>
          </a:p>
          <a:p>
            <a:pPr marL="201168" indent="-201168">
              <a:spcAft>
                <a:spcPts val="600"/>
              </a:spcAft>
            </a:pPr>
            <a:r>
              <a:rPr sz="1050" b="1">
                <a:solidFill>
                  <a:srgbClr val="1C7293"/>
                </a:solidFill>
                <a:latin typeface="Calibri"/>
              </a:rPr>
              <a:t>▪   </a:t>
            </a:r>
            <a:r>
              <a:rPr sz="1050" b="1">
                <a:solidFill>
                  <a:srgbClr val="33424D"/>
                </a:solidFill>
                <a:latin typeface="Calibri"/>
              </a:rPr>
              <a:t>d₀ = 1 m</a:t>
            </a:r>
            <a:r>
              <a:rPr sz="1050" b="0">
                <a:solidFill>
                  <a:srgbClr val="33424D"/>
                </a:solidFill>
                <a:latin typeface="Calibri"/>
              </a:rPr>
              <a:t> — a floor that keeps the amplitude finite directly above the cable.</a:t>
            </a:r>
          </a:p>
          <a:p>
            <a:pPr marL="201168" indent="-201168">
              <a:spcAft>
                <a:spcPts val="600"/>
              </a:spcAft>
            </a:pPr>
            <a:r>
              <a:rPr sz="1050" b="1">
                <a:solidFill>
                  <a:srgbClr val="1C7293"/>
                </a:solidFill>
                <a:latin typeface="Calibri"/>
              </a:rPr>
              <a:t>▪   </a:t>
            </a:r>
            <a:r>
              <a:rPr sz="1050" b="1">
                <a:solidFill>
                  <a:srgbClr val="33424D"/>
                </a:solidFill>
                <a:latin typeface="Calibri"/>
              </a:rPr>
              <a:t>k</a:t>
            </a:r>
            <a:r>
              <a:rPr sz="1050" b="0">
                <a:solidFill>
                  <a:srgbClr val="33424D"/>
                </a:solidFill>
                <a:latin typeface="Calibri"/>
              </a:rPr>
              <a:t> is the site-specific ground-to-fiber coupling constant. In simulation the same k generates and inverts the signal, so it cancels; on real data it must be calibrated per site (see E4).</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half-space  —  </a:t>
            </a:r>
            <a:r>
              <a:rPr sz="850">
                <a:solidFill>
                  <a:srgbClr val="33424D"/>
                </a:solidFill>
                <a:latin typeface="Calibri"/>
              </a:rPr>
              <a:t>an idealised ground: uniform, elastic, infinitely deep</a:t>
            </a:r>
          </a:p>
          <a:p>
            <a:pPr marL="128016" indent="-128016">
              <a:spcAft>
                <a:spcPts val="200"/>
              </a:spcAft>
            </a:pPr>
            <a:r>
              <a:rPr sz="850" b="1">
                <a:solidFill>
                  <a:srgbClr val="1C7293"/>
                </a:solidFill>
                <a:latin typeface="Calibri"/>
              </a:rPr>
              <a:t>quasi-static  —  </a:t>
            </a:r>
            <a:r>
              <a:rPr sz="850">
                <a:solidFill>
                  <a:srgbClr val="33424D"/>
                </a:solidFill>
                <a:latin typeface="Calibri"/>
              </a:rPr>
              <a:t>below ~1 Hz — the vehicle's weight, not the seismic wave</a:t>
            </a:r>
          </a:p>
          <a:p>
            <a:pPr marL="128016" indent="-128016">
              <a:spcAft>
                <a:spcPts val="200"/>
              </a:spcAft>
            </a:pPr>
            <a:r>
              <a:rPr sz="850" b="1">
                <a:solidFill>
                  <a:srgbClr val="1C7293"/>
                </a:solidFill>
                <a:latin typeface="Calibri"/>
              </a:rPr>
              <a:t>d₀  —  </a:t>
            </a:r>
            <a:r>
              <a:rPr sz="850">
                <a:solidFill>
                  <a:srgbClr val="33424D"/>
                </a:solidFill>
                <a:latin typeface="Calibri"/>
              </a:rPr>
              <a:t>offset floor, 1 m — stops the amplitude blowing up directly above the cable</a:t>
            </a:r>
          </a:p>
          <a:p>
            <a:pPr marL="128016" indent="-128016">
              <a:spcAft>
                <a:spcPts val="200"/>
              </a:spcAft>
            </a:pPr>
            <a:r>
              <a:rPr sz="850" b="1">
                <a:solidFill>
                  <a:srgbClr val="1C7293"/>
                </a:solidFill>
                <a:latin typeface="Calibri"/>
              </a:rPr>
              <a:t>k  —  </a:t>
            </a:r>
            <a:r>
              <a:rPr sz="850">
                <a:solidFill>
                  <a:srgbClr val="33424D"/>
                </a:solidFill>
                <a:latin typeface="Calibri"/>
              </a:rPr>
              <a:t>ground-to-fiber coupling — site-specific, cancels in simulation</a:t>
            </a:r>
          </a:p>
        </p:txBody>
      </p:sp>
      <p:pic>
        <p:nvPicPr>
          <p:cNvPr id="12" name="Picture 11" descr="A2.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ASSUMPTIONS — AND WHEN THEY BREAK</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Homogeneous, isotropic, linear-elastic half-space — a real road is </a:t>
            </a:r>
            <a:r>
              <a:rPr sz="850" b="1">
                <a:solidFill>
                  <a:srgbClr val="33424D"/>
                </a:solidFill>
                <a:latin typeface="Calibri"/>
              </a:rPr>
              <a:t>layered</a:t>
            </a:r>
            <a:r>
              <a:rPr sz="850" b="0">
                <a:solidFill>
                  <a:srgbClr val="33424D"/>
                </a:solidFill>
                <a:latin typeface="Calibri"/>
              </a:rPr>
              <a:t> (asphalt / base / subgrade)</a:t>
            </a:r>
          </a:p>
          <a:p>
            <a:pPr marL="128016" indent="-128016">
              <a:spcAft>
                <a:spcPts val="200"/>
              </a:spcAft>
            </a:pPr>
            <a:r>
              <a:rPr sz="850" b="1">
                <a:solidFill>
                  <a:srgbClr val="1C7293"/>
                </a:solidFill>
                <a:latin typeface="Calibri"/>
              </a:rPr>
              <a:t>–  </a:t>
            </a:r>
            <a:r>
              <a:rPr sz="850" b="1">
                <a:solidFill>
                  <a:srgbClr val="33424D"/>
                </a:solidFill>
                <a:latin typeface="Calibri"/>
              </a:rPr>
              <a:t>Static</a:t>
            </a:r>
            <a:r>
              <a:rPr sz="850" b="0">
                <a:solidFill>
                  <a:srgbClr val="33424D"/>
                </a:solidFill>
                <a:latin typeface="Calibri"/>
              </a:rPr>
              <a:t> point load — the vehicle moves and has a contact footprint</a:t>
            </a:r>
          </a:p>
          <a:p>
            <a:pPr marL="128016" indent="-128016">
              <a:spcAft>
                <a:spcPts val="200"/>
              </a:spcAft>
            </a:pPr>
            <a:r>
              <a:rPr sz="850" b="1">
                <a:solidFill>
                  <a:srgbClr val="1C7293"/>
                </a:solidFill>
                <a:latin typeface="Calibri"/>
              </a:rPr>
              <a:t>–  </a:t>
            </a:r>
            <a:r>
              <a:rPr sz="850" b="0">
                <a:solidFill>
                  <a:srgbClr val="33424D"/>
                </a:solidFill>
                <a:latin typeface="Calibri"/>
              </a:rPr>
              <a:t>Valid because we work in the </a:t>
            </a:r>
            <a:r>
              <a:rPr sz="850" b="1">
                <a:solidFill>
                  <a:srgbClr val="33424D"/>
                </a:solidFill>
                <a:latin typeface="Calibri"/>
              </a:rPr>
              <a:t>quasi-static band below 1 Hz</a:t>
            </a:r>
            <a:r>
              <a:rPr sz="850" b="0">
                <a:solidFill>
                  <a:srgbClr val="33424D"/>
                </a:solidFill>
                <a:latin typeface="Calibri"/>
              </a:rPr>
              <a:t>, where the load itself, not wave propagation, dominates</a:t>
            </a:r>
          </a:p>
          <a:p>
            <a:pPr marL="128016" indent="-128016">
              <a:spcAft>
                <a:spcPts val="200"/>
              </a:spcAft>
            </a:pPr>
            <a:r>
              <a:rPr sz="850" b="1">
                <a:solidFill>
                  <a:srgbClr val="1C7293"/>
                </a:solidFill>
                <a:latin typeface="Calibri"/>
              </a:rPr>
              <a:t>–  </a:t>
            </a:r>
            <a:r>
              <a:rPr sz="850" b="0">
                <a:solidFill>
                  <a:srgbClr val="33424D"/>
                </a:solidFill>
                <a:latin typeface="Calibri"/>
              </a:rPr>
              <a:t>Above that band the signal is street and ambient noise, which we do not invert</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Detection and Association — What We Assume</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16</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A3   ·   THE BOUNDARY WE DREW ON PURPOSE</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Detection and association are assumed solved. Every active vehicle inside a sensor's segment produces exactly one measurement per update — no missed detections, no merging of nearby strain peaks.</a:t>
            </a:r>
          </a:p>
          <a:p>
            <a:pPr marL="201168" indent="-201168">
              <a:spcAft>
                <a:spcPts val="600"/>
              </a:spcAft>
            </a:pPr>
            <a:r>
              <a:rPr sz="1050" b="1">
                <a:solidFill>
                  <a:srgbClr val="1C7293"/>
                </a:solidFill>
                <a:latin typeface="Calibri"/>
              </a:rPr>
              <a:t>▪   The DAS block is therefore a clean noise-only model: the question it answers is how accurate a measurement is, not whether it exists.</a:t>
            </a:r>
          </a:p>
          <a:p>
            <a:pPr marL="201168" indent="-201168">
              <a:spcAft>
                <a:spcPts val="600"/>
              </a:spcAft>
            </a:pPr>
            <a:r>
              <a:rPr sz="1050" b="1">
                <a:solidFill>
                  <a:srgbClr val="1C7293"/>
                </a:solidFill>
                <a:latin typeface="Calibri"/>
              </a:rPr>
              <a:t>▪   This is a deliberate scope decision. Peak-finding on a raw φ-OTDR trace is a signal-processing project of its own, and it would have made every uncertainty result impossible to attribute.</a:t>
            </a:r>
          </a:p>
          <a:p>
            <a:pPr marL="201168" indent="-201168">
              <a:spcAft>
                <a:spcPts val="600"/>
              </a:spcAft>
            </a:pPr>
            <a:r>
              <a:rPr sz="1050" b="1">
                <a:solidFill>
                  <a:srgbClr val="1C7293"/>
                </a:solidFill>
                <a:latin typeface="Calibri"/>
              </a:rPr>
              <a:t>▪   SNR still governs quality: SNR = A / σ_th with σ_th = 8.0, and the position uncertainty follows σ_DAS = max(0.3, k_DAS/√SNR)  (Report Eq. 3, Eq. 7).</a:t>
            </a:r>
          </a:p>
          <a:p>
            <a:pPr marL="201168" indent="-201168">
              <a:spcAft>
                <a:spcPts val="600"/>
              </a:spcAft>
            </a:pPr>
            <a:r>
              <a:rPr sz="1050" b="1">
                <a:solidFill>
                  <a:srgbClr val="1C7293"/>
                </a:solidFill>
                <a:latin typeface="Calibri"/>
              </a:rPr>
              <a:t>▪   Coverage gaps are still real — they come from the sensors' different rates and limited ranges, not from missed detections. At Klausner that produced 42% prediction-only rows.</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SNR  —  strain amplitude divided by the trace noise scale σ_th</a:t>
            </a:r>
          </a:p>
          <a:p>
            <a:pPr marL="128016" indent="-128016">
              <a:spcAft>
                <a:spcPts val="200"/>
              </a:spcAft>
            </a:pPr>
            <a:r>
              <a:rPr sz="850" b="1">
                <a:solidFill>
                  <a:srgbClr val="1C7293"/>
                </a:solidFill>
                <a:latin typeface="Calibri"/>
              </a:rPr>
              <a:t>σ_th  —  the DAS noise scale used to normalise amplitude — 8.0 here</a:t>
            </a:r>
          </a:p>
          <a:p>
            <a:pPr marL="128016" indent="-128016">
              <a:spcAft>
                <a:spcPts val="200"/>
              </a:spcAft>
            </a:pPr>
            <a:r>
              <a:rPr sz="850" b="1">
                <a:solidFill>
                  <a:srgbClr val="1C7293"/>
                </a:solidFill>
                <a:latin typeface="Calibri"/>
              </a:rPr>
              <a:t>detection  —  deciding that a peak in the trace is a vehicle at all — outside our scope</a:t>
            </a:r>
          </a:p>
          <a:p>
            <a:pPr marL="128016" indent="-128016">
              <a:spcAft>
                <a:spcPts val="200"/>
              </a:spcAft>
            </a:pPr>
            <a:r>
              <a:rPr sz="850" b="1">
                <a:solidFill>
                  <a:srgbClr val="1C7293"/>
                </a:solidFill>
                <a:latin typeface="Calibri"/>
              </a:rPr>
              <a:t>coverage gap  —  a stretch of time with no measurement, filled by prediction alone</a:t>
            </a:r>
          </a:p>
        </p:txBody>
      </p:sp>
      <p:pic>
        <p:nvPicPr>
          <p:cNvPr id="12" name="Picture 11" descr="A3.png"/>
          <p:cNvPicPr>
            <a:picLocks noChangeAspect="1"/>
          </p:cNvPicPr>
          <p:nvPr/>
        </p:nvPicPr>
        <p:blipFill>
          <a:blip r:embed="rId5"/>
          <a:stretch>
            <a:fillRect/>
          </a:stretch>
        </p:blipFill>
        <p:spPr>
          <a:xfrm>
            <a:off x="6163056" y="1316736"/>
            <a:ext cx="5413248" cy="243219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WHY THIS IS DEFENSIBLE</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The claim of the project is about fusion and uncertainty, not about peak detection</a:t>
            </a:r>
          </a:p>
          <a:p>
            <a:pPr marL="128016" indent="-128016">
              <a:spcAft>
                <a:spcPts val="200"/>
              </a:spcAft>
            </a:pPr>
            <a:r>
              <a:rPr sz="850" b="1">
                <a:solidFill>
                  <a:srgbClr val="1C7293"/>
                </a:solidFill>
                <a:latin typeface="Calibri"/>
              </a:rPr>
              <a:t>–  Assuming detection makes every tracking error attributable to the estimator, not to a detector we did not validate</a:t>
            </a:r>
          </a:p>
          <a:p>
            <a:pPr marL="128016" indent="-128016">
              <a:spcAft>
                <a:spcPts val="200"/>
              </a:spcAft>
            </a:pPr>
            <a:r>
              <a:rPr sz="850" b="1">
                <a:solidFill>
                  <a:srgbClr val="1C7293"/>
                </a:solidFill>
                <a:latin typeface="Calibri"/>
              </a:rPr>
              <a:t>–  The tracker is still tested against gaps: rate differences alone leave 42% of the Klausner run without a measurement</a:t>
            </a:r>
          </a:p>
          <a:p>
            <a:pPr marL="128016" indent="-128016">
              <a:spcAft>
                <a:spcPts val="200"/>
              </a:spcAft>
            </a:pPr>
            <a:r>
              <a:rPr sz="850" b="1">
                <a:solidFill>
                  <a:srgbClr val="1C7293"/>
                </a:solidFill>
                <a:latin typeface="Calibri"/>
              </a:rPr>
              <a:t>–  Relaxing this assumption is named explicitly as future work</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What We Invert From the Signal</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17</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A4   ·   </a:t>
            </a:r>
            <a:r>
              <a:rPr sz="1100" b="1">
                <a:solidFill>
                  <a:srgbClr val="1C7293"/>
                </a:solidFill>
                <a:latin typeface="Calibri"/>
              </a:rPr>
              <a:t>FOUR QUANTITIES PER VEHICLE</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Position</a:t>
            </a:r>
            <a:r>
              <a:rPr sz="1050" b="0">
                <a:solidFill>
                  <a:srgbClr val="33424D"/>
                </a:solidFill>
                <a:latin typeface="Calibri"/>
              </a:rPr>
              <a:t> — the channel index that fires. The fiber is geo-referenced once, at installation.</a:t>
            </a:r>
          </a:p>
          <a:p>
            <a:pPr marL="201168" indent="-201168">
              <a:spcAft>
                <a:spcPts val="600"/>
              </a:spcAft>
            </a:pPr>
            <a:r>
              <a:rPr sz="1050" b="1">
                <a:solidFill>
                  <a:srgbClr val="1C7293"/>
                </a:solidFill>
                <a:latin typeface="Calibri"/>
              </a:rPr>
              <a:t>▪   </a:t>
            </a:r>
            <a:r>
              <a:rPr sz="1050" b="1">
                <a:solidFill>
                  <a:srgbClr val="33424D"/>
                </a:solidFill>
                <a:latin typeface="Calibri"/>
              </a:rPr>
              <a:t>Speed</a:t>
            </a:r>
            <a:r>
              <a:rPr sz="1050" b="0">
                <a:solidFill>
                  <a:srgbClr val="33424D"/>
                </a:solidFill>
                <a:latin typeface="Calibri"/>
              </a:rPr>
              <a:t> — the slope of the diagonal streak in the waterfall, Δℓ/Δt. The sign of the slope gives the direction of travel.</a:t>
            </a:r>
          </a:p>
          <a:p>
            <a:pPr marL="201168" indent="-201168">
              <a:spcAft>
                <a:spcPts val="600"/>
              </a:spcAft>
            </a:pPr>
            <a:r>
              <a:rPr sz="1050" b="1">
                <a:solidFill>
                  <a:srgbClr val="1C7293"/>
                </a:solidFill>
                <a:latin typeface="Calibri"/>
              </a:rPr>
              <a:t>▪   </a:t>
            </a:r>
            <a:r>
              <a:rPr sz="1050" b="1">
                <a:solidFill>
                  <a:srgbClr val="33424D"/>
                </a:solidFill>
                <a:latin typeface="Calibri"/>
              </a:rPr>
              <a:t>Weight</a:t>
            </a:r>
            <a:r>
              <a:rPr sz="1050" b="0">
                <a:solidFill>
                  <a:srgbClr val="33424D"/>
                </a:solidFill>
                <a:latin typeface="Calibri"/>
              </a:rPr>
              <a:t> — invert the amplitude decay of A2, corrected for the distance r, which we know because we know the position.</a:t>
            </a:r>
          </a:p>
          <a:p>
            <a:pPr marL="201168" indent="-201168">
              <a:spcAft>
                <a:spcPts val="600"/>
              </a:spcAft>
            </a:pPr>
            <a:r>
              <a:rPr sz="1050" b="1">
                <a:solidFill>
                  <a:srgbClr val="1C7293"/>
                </a:solidFill>
                <a:latin typeface="Calibri"/>
              </a:rPr>
              <a:t>▪   </a:t>
            </a:r>
            <a:r>
              <a:rPr sz="1050" b="1">
                <a:solidFill>
                  <a:srgbClr val="33424D"/>
                </a:solidFill>
                <a:latin typeface="Calibri"/>
              </a:rPr>
              <a:t>Acceleration</a:t>
            </a:r>
            <a:r>
              <a:rPr sz="1050" b="0">
                <a:solidFill>
                  <a:srgbClr val="33424D"/>
                </a:solidFill>
                <a:latin typeface="Calibri"/>
              </a:rPr>
              <a:t> — dv/dt along the track. This is what exposes emergency braking.</a:t>
            </a:r>
          </a:p>
          <a:p>
            <a:pPr marL="201168" indent="-201168">
              <a:spcAft>
                <a:spcPts val="600"/>
              </a:spcAft>
            </a:pPr>
            <a:r>
              <a:rPr sz="1050" b="1">
                <a:solidFill>
                  <a:srgbClr val="1C7293"/>
                </a:solidFill>
                <a:latin typeface="Calibri"/>
              </a:rPr>
              <a:t>▪   </a:t>
            </a:r>
            <a:r>
              <a:rPr sz="1050" b="0">
                <a:solidFill>
                  <a:srgbClr val="33424D"/>
                </a:solidFill>
                <a:latin typeface="Calibri"/>
              </a:rPr>
              <a:t>These four are the raw material of the 156-feature behavioural fingerprint (see D1).</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waterfall  —  </a:t>
            </a:r>
            <a:r>
              <a:rPr sz="850">
                <a:solidFill>
                  <a:srgbClr val="33424D"/>
                </a:solidFill>
                <a:latin typeface="Calibri"/>
              </a:rPr>
              <a:t>strain rate plotted as distance-along-fiber versus time</a:t>
            </a:r>
          </a:p>
          <a:p>
            <a:pPr marL="128016" indent="-128016">
              <a:spcAft>
                <a:spcPts val="200"/>
              </a:spcAft>
            </a:pPr>
            <a:r>
              <a:rPr sz="850" b="1">
                <a:solidFill>
                  <a:srgbClr val="1C7293"/>
                </a:solidFill>
                <a:latin typeface="Calibri"/>
              </a:rPr>
              <a:t>streak  —  </a:t>
            </a:r>
            <a:r>
              <a:rPr sz="850">
                <a:solidFill>
                  <a:srgbClr val="33424D"/>
                </a:solidFill>
                <a:latin typeface="Calibri"/>
              </a:rPr>
              <a:t>the diagonal trace a moving vehicle leaves across successive channels</a:t>
            </a:r>
          </a:p>
          <a:p>
            <a:pPr marL="128016" indent="-128016">
              <a:spcAft>
                <a:spcPts val="200"/>
              </a:spcAft>
            </a:pPr>
            <a:r>
              <a:rPr sz="850" b="1">
                <a:solidFill>
                  <a:srgbClr val="1C7293"/>
                </a:solidFill>
                <a:latin typeface="Calibri"/>
              </a:rPr>
              <a:t>channel  —  </a:t>
            </a:r>
            <a:r>
              <a:rPr sz="850">
                <a:solidFill>
                  <a:srgbClr val="33424D"/>
                </a:solidFill>
                <a:latin typeface="Calibri"/>
              </a:rPr>
              <a:t>one gauge length of fiber, acting as an independent sensor</a:t>
            </a:r>
          </a:p>
          <a:p>
            <a:pPr marL="128016" indent="-128016">
              <a:spcAft>
                <a:spcPts val="200"/>
              </a:spcAft>
            </a:pPr>
            <a:r>
              <a:rPr sz="850" b="1">
                <a:solidFill>
                  <a:srgbClr val="1C7293"/>
                </a:solidFill>
                <a:latin typeface="Calibri"/>
              </a:rPr>
              <a:t>geo-referencing  —  </a:t>
            </a:r>
            <a:r>
              <a:rPr sz="850">
                <a:solidFill>
                  <a:srgbClr val="33424D"/>
                </a:solidFill>
                <a:latin typeface="Calibri"/>
              </a:rPr>
              <a:t>mapping each channel index to a real coordinate, done once at install</a:t>
            </a:r>
          </a:p>
        </p:txBody>
      </p:sp>
      <p:pic>
        <p:nvPicPr>
          <p:cNvPr id="12" name="Picture 11" descr="A4.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READING THE WATERFALL</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Horizontal axis: distance along the fiber. Vertical: time. Colour: strain rate</a:t>
            </a:r>
          </a:p>
          <a:p>
            <a:pPr marL="128016" indent="-128016">
              <a:spcAft>
                <a:spcPts val="200"/>
              </a:spcAft>
            </a:pPr>
            <a:r>
              <a:rPr sz="850" b="1">
                <a:solidFill>
                  <a:srgbClr val="1C7293"/>
                </a:solidFill>
                <a:latin typeface="Calibri"/>
              </a:rPr>
              <a:t>–  </a:t>
            </a:r>
            <a:r>
              <a:rPr sz="850" b="0">
                <a:solidFill>
                  <a:srgbClr val="33424D"/>
                </a:solidFill>
                <a:latin typeface="Calibri"/>
              </a:rPr>
              <a:t>A moving vehicle lights successive channels → a </a:t>
            </a:r>
            <a:r>
              <a:rPr sz="850" b="1">
                <a:solidFill>
                  <a:srgbClr val="33424D"/>
                </a:solidFill>
                <a:latin typeface="Calibri"/>
              </a:rPr>
              <a:t>diagonal streak</a:t>
            </a:r>
          </a:p>
          <a:p>
            <a:pPr marL="128016" indent="-128016">
              <a:spcAft>
                <a:spcPts val="200"/>
              </a:spcAft>
            </a:pPr>
            <a:r>
              <a:rPr sz="850" b="1">
                <a:solidFill>
                  <a:srgbClr val="1C7293"/>
                </a:solidFill>
                <a:latin typeface="Calibri"/>
              </a:rPr>
              <a:t>–  </a:t>
            </a:r>
            <a:r>
              <a:rPr sz="850" b="0">
                <a:solidFill>
                  <a:srgbClr val="33424D"/>
                </a:solidFill>
                <a:latin typeface="Calibri"/>
              </a:rPr>
              <a:t>Two streaks with opposite slopes = two vehicles travelling in opposite directions</a:t>
            </a:r>
          </a:p>
          <a:p>
            <a:pPr marL="128016" indent="-128016">
              <a:spcAft>
                <a:spcPts val="200"/>
              </a:spcAft>
            </a:pPr>
            <a:r>
              <a:rPr sz="850" b="1">
                <a:solidFill>
                  <a:srgbClr val="1C7293"/>
                </a:solidFill>
                <a:latin typeface="Calibri"/>
              </a:rPr>
              <a:t>–  </a:t>
            </a:r>
            <a:r>
              <a:rPr sz="850" b="0">
                <a:solidFill>
                  <a:srgbClr val="33424D"/>
                </a:solidFill>
                <a:latin typeface="Calibri"/>
              </a:rPr>
              <a:t>Amplitude across channels at one instant → the </a:t>
            </a:r>
            <a:r>
              <a:rPr sz="850" b="1">
                <a:solidFill>
                  <a:srgbClr val="33424D"/>
                </a:solidFill>
                <a:latin typeface="Calibri"/>
              </a:rPr>
              <a:t>weight</a:t>
            </a:r>
            <a:r>
              <a:rPr sz="850" b="0">
                <a:solidFill>
                  <a:srgbClr val="33424D"/>
                </a:solidFill>
                <a:latin typeface="Calibri"/>
              </a:rPr>
              <a:t> signature</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What We Deliberately Did Not Model</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18</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A5   ·   </a:t>
            </a:r>
            <a:r>
              <a:rPr sz="1100" b="1">
                <a:solidFill>
                  <a:srgbClr val="1C7293"/>
                </a:solidFill>
                <a:latin typeface="Calibri"/>
              </a:rPr>
              <a:t>THE HONEST BOUNDARY OF THE SIMULATOR</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No raw optical waterfall.</a:t>
            </a:r>
            <a:r>
              <a:rPr sz="1050" b="0">
                <a:solidFill>
                  <a:srgbClr val="33424D"/>
                </a:solidFill>
                <a:latin typeface="Calibri"/>
              </a:rPr>
              <a:t> We model at the derived-feature level: amplitude, SNR, fiber position.</a:t>
            </a:r>
          </a:p>
          <a:p>
            <a:pPr marL="201168" indent="-201168">
              <a:spcAft>
                <a:spcPts val="600"/>
              </a:spcAft>
            </a:pPr>
            <a:r>
              <a:rPr sz="1050" b="1">
                <a:solidFill>
                  <a:srgbClr val="1C7293"/>
                </a:solidFill>
                <a:latin typeface="Calibri"/>
              </a:rPr>
              <a:t>▪   </a:t>
            </a:r>
            <a:r>
              <a:rPr sz="1050" b="1">
                <a:solidFill>
                  <a:srgbClr val="33424D"/>
                </a:solidFill>
                <a:latin typeface="Calibri"/>
              </a:rPr>
              <a:t>No Rayleigh or polarisation fading</a:t>
            </a:r>
            <a:r>
              <a:rPr sz="1050" b="0">
                <a:solidFill>
                  <a:srgbClr val="33424D"/>
                </a:solidFill>
                <a:latin typeface="Calibri"/>
              </a:rPr>
              <a:t> — both are real φ-OTDR effects we did not reproduce.</a:t>
            </a:r>
          </a:p>
          <a:p>
            <a:pPr marL="201168" indent="-201168">
              <a:spcAft>
                <a:spcPts val="600"/>
              </a:spcAft>
            </a:pPr>
            <a:r>
              <a:rPr sz="1050" b="1">
                <a:solidFill>
                  <a:srgbClr val="1C7293"/>
                </a:solidFill>
                <a:latin typeface="Calibri"/>
              </a:rPr>
              <a:t>▪   </a:t>
            </a:r>
            <a:r>
              <a:rPr sz="1050" b="1">
                <a:solidFill>
                  <a:srgbClr val="33424D"/>
                </a:solidFill>
                <a:latin typeface="Calibri"/>
              </a:rPr>
              <a:t>Ground as a uniform half-space</a:t>
            </a:r>
            <a:r>
              <a:rPr sz="1050" b="0">
                <a:solidFill>
                  <a:srgbClr val="33424D"/>
                </a:solidFill>
                <a:latin typeface="Calibri"/>
              </a:rPr>
              <a:t>, not a layered pavement structure.</a:t>
            </a:r>
          </a:p>
          <a:p>
            <a:pPr marL="201168" indent="-201168">
              <a:spcAft>
                <a:spcPts val="600"/>
              </a:spcAft>
            </a:pPr>
            <a:r>
              <a:rPr sz="1050" b="1">
                <a:solidFill>
                  <a:srgbClr val="1C7293"/>
                </a:solidFill>
                <a:latin typeface="Calibri"/>
              </a:rPr>
              <a:t>▪   </a:t>
            </a:r>
            <a:r>
              <a:rPr sz="1050" b="1">
                <a:solidFill>
                  <a:srgbClr val="33424D"/>
                </a:solidFill>
                <a:latin typeface="Calibri"/>
              </a:rPr>
              <a:t>Vehicles as point masses</a:t>
            </a:r>
            <a:r>
              <a:rPr sz="1050" b="0">
                <a:solidFill>
                  <a:srgbClr val="33424D"/>
                </a:solidFill>
                <a:latin typeface="Calibri"/>
              </a:rPr>
              <a:t>, not extended bodies; weight is a proxy for ground force.</a:t>
            </a:r>
          </a:p>
          <a:p>
            <a:pPr marL="201168" indent="-201168">
              <a:spcAft>
                <a:spcPts val="600"/>
              </a:spcAft>
            </a:pPr>
            <a:r>
              <a:rPr sz="1050" b="1">
                <a:solidFill>
                  <a:srgbClr val="1C7293"/>
                </a:solidFill>
                <a:latin typeface="Calibri"/>
              </a:rPr>
              <a:t>▪   </a:t>
            </a:r>
            <a:r>
              <a:rPr sz="1050" b="1">
                <a:solidFill>
                  <a:srgbClr val="33424D"/>
                </a:solidFill>
                <a:latin typeface="Calibri"/>
              </a:rPr>
              <a:t>Fiber assumed parallel to the road</a:t>
            </a:r>
            <a:r>
              <a:rPr sz="1050" b="0">
                <a:solidFill>
                  <a:srgbClr val="33424D"/>
                </a:solidFill>
                <a:latin typeface="Calibri"/>
              </a:rPr>
              <a:t> at a known offset.</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optical waterfall  —  </a:t>
            </a:r>
            <a:r>
              <a:rPr sz="850">
                <a:solidFill>
                  <a:srgbClr val="33424D"/>
                </a:solidFill>
                <a:latin typeface="Calibri"/>
              </a:rPr>
              <a:t>the raw back-scatter record before any feature extraction</a:t>
            </a:r>
          </a:p>
          <a:p>
            <a:pPr marL="128016" indent="-128016">
              <a:spcAft>
                <a:spcPts val="200"/>
              </a:spcAft>
            </a:pPr>
            <a:r>
              <a:rPr sz="850" b="1">
                <a:solidFill>
                  <a:srgbClr val="1C7293"/>
                </a:solidFill>
                <a:latin typeface="Calibri"/>
              </a:rPr>
              <a:t>fading  —  </a:t>
            </a:r>
            <a:r>
              <a:rPr sz="850">
                <a:solidFill>
                  <a:srgbClr val="33424D"/>
                </a:solidFill>
                <a:latin typeface="Calibri"/>
              </a:rPr>
              <a:t>random signal loss from interference or polarisation — real, not modelled</a:t>
            </a:r>
          </a:p>
          <a:p>
            <a:pPr marL="128016" indent="-128016">
              <a:spcAft>
                <a:spcPts val="200"/>
              </a:spcAft>
            </a:pPr>
            <a:r>
              <a:rPr sz="850" b="1">
                <a:solidFill>
                  <a:srgbClr val="1C7293"/>
                </a:solidFill>
                <a:latin typeface="Calibri"/>
              </a:rPr>
              <a:t>derived-feature level  —  </a:t>
            </a:r>
            <a:r>
              <a:rPr sz="850">
                <a:solidFill>
                  <a:srgbClr val="33424D"/>
                </a:solidFill>
                <a:latin typeface="Calibri"/>
              </a:rPr>
              <a:t>we model amplitude, SNR and fiber position, not the optics</a:t>
            </a:r>
          </a:p>
          <a:p>
            <a:pPr marL="128016" indent="-128016">
              <a:spcAft>
                <a:spcPts val="200"/>
              </a:spcAft>
            </a:pPr>
            <a:r>
              <a:rPr sz="850" b="1">
                <a:solidFill>
                  <a:srgbClr val="1C7293"/>
                </a:solidFill>
                <a:latin typeface="Calibri"/>
              </a:rPr>
              <a:t>point mass  —  </a:t>
            </a:r>
            <a:r>
              <a:rPr sz="850">
                <a:solidFill>
                  <a:srgbClr val="33424D"/>
                </a:solidFill>
                <a:latin typeface="Calibri"/>
              </a:rPr>
              <a:t>vehicle treated as a single loaded point, not an extended body</a:t>
            </a:r>
          </a:p>
        </p:txBody>
      </p:sp>
      <p:pic>
        <p:nvPicPr>
          <p:cNvPr id="12" name="Picture 11" descr="A5.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WHY THIS IS THE RIGHT ABSTRACTION</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It preserves what the estimator actually consumes: per-sensor uncertainty, realistic coverage gaps, behavioural variability</a:t>
            </a:r>
          </a:p>
          <a:p>
            <a:pPr marL="128016" indent="-128016">
              <a:spcAft>
                <a:spcPts val="200"/>
              </a:spcAft>
            </a:pPr>
            <a:r>
              <a:rPr sz="850" b="1">
                <a:solidFill>
                  <a:srgbClr val="1C7293"/>
                </a:solidFill>
                <a:latin typeface="Calibri"/>
              </a:rPr>
              <a:t>–  </a:t>
            </a:r>
            <a:r>
              <a:rPr sz="850" b="0">
                <a:solidFill>
                  <a:srgbClr val="33424D"/>
                </a:solidFill>
                <a:latin typeface="Calibri"/>
              </a:rPr>
              <a:t>It keeps </a:t>
            </a:r>
            <a:r>
              <a:rPr sz="850" b="1">
                <a:solidFill>
                  <a:srgbClr val="33424D"/>
                </a:solidFill>
                <a:latin typeface="Calibri"/>
              </a:rPr>
              <a:t>hundreds</a:t>
            </a:r>
            <a:r>
              <a:rPr sz="850" b="0">
                <a:solidFill>
                  <a:srgbClr val="33424D"/>
                </a:solidFill>
                <a:latin typeface="Calibri"/>
              </a:rPr>
              <a:t> of scenarios runnable, which is what makes a normal baseline possible at all</a:t>
            </a:r>
          </a:p>
          <a:p>
            <a:pPr marL="128016" indent="-128016">
              <a:spcAft>
                <a:spcPts val="200"/>
              </a:spcAft>
            </a:pPr>
            <a:r>
              <a:rPr sz="850" b="1">
                <a:solidFill>
                  <a:srgbClr val="1C7293"/>
                </a:solidFill>
                <a:latin typeface="Calibri"/>
              </a:rPr>
              <a:t>–  </a:t>
            </a:r>
            <a:r>
              <a:rPr sz="850" b="0">
                <a:solidFill>
                  <a:srgbClr val="33424D"/>
                </a:solidFill>
                <a:latin typeface="Calibri"/>
              </a:rPr>
              <a:t>The same feature-extraction code then runs </a:t>
            </a:r>
            <a:r>
              <a:rPr sz="850" b="1">
                <a:solidFill>
                  <a:srgbClr val="33424D"/>
                </a:solidFill>
                <a:latin typeface="Calibri"/>
              </a:rPr>
              <a:t>unchanged</a:t>
            </a:r>
            <a:r>
              <a:rPr sz="850" b="0">
                <a:solidFill>
                  <a:srgbClr val="33424D"/>
                </a:solidFill>
                <a:latin typeface="Calibri"/>
              </a:rPr>
              <a:t> on recorded DAS data — demonstrated at Klausner (E3)</a:t>
            </a:r>
          </a:p>
          <a:p>
            <a:pPr marL="128016" indent="-128016">
              <a:spcAft>
                <a:spcPts val="200"/>
              </a:spcAft>
            </a:pPr>
            <a:r>
              <a:rPr sz="850" b="1">
                <a:solidFill>
                  <a:srgbClr val="1C7293"/>
                </a:solidFill>
                <a:latin typeface="Calibri"/>
              </a:rPr>
              <a:t>–  </a:t>
            </a:r>
            <a:r>
              <a:rPr sz="850" b="0">
                <a:solidFill>
                  <a:srgbClr val="33424D"/>
                </a:solidFill>
                <a:latin typeface="Calibri"/>
              </a:rPr>
              <a:t>Every assumption above is documented so it can be relaxed later</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Module Map and Interfaces</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19</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B1   ·   </a:t>
            </a:r>
            <a:r>
              <a:rPr sz="1100" b="1">
                <a:solidFill>
                  <a:srgbClr val="1C7293"/>
                </a:solidFill>
                <a:latin typeface="Calibri"/>
              </a:rPr>
              <a:t>ONE LEVEL BELOW THE BLOCK DIAGRAM</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sim_core</a:t>
            </a:r>
            <a:r>
              <a:rPr sz="1050" b="0">
                <a:solidFill>
                  <a:srgbClr val="33424D"/>
                </a:solidFill>
                <a:latin typeface="Calibri"/>
              </a:rPr>
              <a:t> — 50 Hz engine, vehicle physics, all three sensor models</a:t>
            </a:r>
          </a:p>
          <a:p>
            <a:pPr marL="201168" indent="-201168">
              <a:spcAft>
                <a:spcPts val="600"/>
              </a:spcAft>
            </a:pPr>
            <a:r>
              <a:rPr sz="1050" b="1">
                <a:solidFill>
                  <a:srgbClr val="1C7293"/>
                </a:solidFill>
                <a:latin typeface="Calibri"/>
              </a:rPr>
              <a:t>▪   </a:t>
            </a:r>
            <a:r>
              <a:rPr sz="1050" b="1">
                <a:solidFill>
                  <a:srgbClr val="33424D"/>
                </a:solidFill>
                <a:latin typeface="Calibri"/>
              </a:rPr>
              <a:t>bus</a:t>
            </a:r>
            <a:r>
              <a:rPr sz="1050" b="0">
                <a:solidFill>
                  <a:srgbClr val="33424D"/>
                </a:solidFill>
                <a:latin typeface="Calibri"/>
              </a:rPr>
              <a:t> — typed publish / subscribe event bus</a:t>
            </a:r>
          </a:p>
          <a:p>
            <a:pPr marL="201168" indent="-201168">
              <a:spcAft>
                <a:spcPts val="600"/>
              </a:spcAft>
            </a:pPr>
            <a:r>
              <a:rPr sz="1050" b="1">
                <a:solidFill>
                  <a:srgbClr val="1C7293"/>
                </a:solidFill>
                <a:latin typeface="Calibri"/>
              </a:rPr>
              <a:t>▪   </a:t>
            </a:r>
            <a:r>
              <a:rPr sz="1050" b="1">
                <a:solidFill>
                  <a:srgbClr val="33424D"/>
                </a:solidFill>
                <a:latin typeface="Calibri"/>
              </a:rPr>
              <a:t>tracking</a:t>
            </a:r>
            <a:r>
              <a:rPr sz="1050" b="0">
                <a:solidFill>
                  <a:srgbClr val="33424D"/>
                </a:solidFill>
                <a:latin typeface="Calibri"/>
              </a:rPr>
              <a:t> — cross-segment TrackManager, owns global identity</a:t>
            </a:r>
          </a:p>
          <a:p>
            <a:pPr marL="201168" indent="-201168">
              <a:spcAft>
                <a:spcPts val="600"/>
              </a:spcAft>
            </a:pPr>
            <a:r>
              <a:rPr sz="1050" b="1">
                <a:solidFill>
                  <a:srgbClr val="1C7293"/>
                </a:solidFill>
                <a:latin typeface="Calibri"/>
              </a:rPr>
              <a:t>▪   </a:t>
            </a:r>
            <a:r>
              <a:rPr sz="1050" b="1">
                <a:solidFill>
                  <a:srgbClr val="33424D"/>
                </a:solidFill>
                <a:latin typeface="Calibri"/>
              </a:rPr>
              <a:t>kalman</a:t>
            </a:r>
            <a:r>
              <a:rPr sz="1050" b="0">
                <a:solidFill>
                  <a:srgbClr val="33424D"/>
                </a:solidFill>
                <a:latin typeface="Calibri"/>
              </a:rPr>
              <a:t> — 6-state constant-acceleration fusion and row builders</a:t>
            </a:r>
          </a:p>
          <a:p>
            <a:pPr marL="201168" indent="-201168">
              <a:spcAft>
                <a:spcPts val="600"/>
              </a:spcAft>
            </a:pPr>
            <a:r>
              <a:rPr sz="1050" b="1">
                <a:solidFill>
                  <a:srgbClr val="1C7293"/>
                </a:solidFill>
                <a:latin typeface="Calibri"/>
              </a:rPr>
              <a:t>▪   </a:t>
            </a:r>
            <a:r>
              <a:rPr sz="1050" b="1">
                <a:solidFill>
                  <a:srgbClr val="33424D"/>
                </a:solidFill>
                <a:latin typeface="Calibri"/>
              </a:rPr>
              <a:t>audit / export_xlsx</a:t>
            </a:r>
            <a:r>
              <a:rPr sz="1050" b="0">
                <a:solidFill>
                  <a:srgbClr val="33424D"/>
                </a:solidFill>
                <a:latin typeface="Calibri"/>
              </a:rPr>
              <a:t> — trajectories, styled workbook, audit report, per-track visualisations</a:t>
            </a:r>
          </a:p>
          <a:p>
            <a:pPr marL="201168" indent="-201168">
              <a:spcAft>
                <a:spcPts val="600"/>
              </a:spcAft>
            </a:pPr>
            <a:r>
              <a:rPr sz="1050" b="1">
                <a:solidFill>
                  <a:srgbClr val="1C7293"/>
                </a:solidFill>
                <a:latin typeface="Calibri"/>
              </a:rPr>
              <a:t>▪   </a:t>
            </a:r>
            <a:r>
              <a:rPr sz="1050" b="1">
                <a:solidFill>
                  <a:srgbClr val="33424D"/>
                </a:solidFill>
                <a:latin typeface="Calibri"/>
              </a:rPr>
              <a:t>gui</a:t>
            </a:r>
            <a:r>
              <a:rPr sz="1050" b="0">
                <a:solidFill>
                  <a:srgbClr val="33424D"/>
                </a:solidFill>
                <a:latin typeface="Calibri"/>
              </a:rPr>
              <a:t> — Tkinter scene editor  ·  </a:t>
            </a:r>
            <a:r>
              <a:rPr sz="1050" b="1">
                <a:solidFill>
                  <a:srgbClr val="33424D"/>
                </a:solidFill>
                <a:latin typeface="Calibri"/>
              </a:rPr>
              <a:t>anomaly_model</a:t>
            </a:r>
            <a:r>
              <a:rPr sz="1050" b="0">
                <a:solidFill>
                  <a:srgbClr val="33424D"/>
                </a:solidFill>
                <a:latin typeface="Calibri"/>
              </a:rPr>
              <a:t> — read-only analytics, never imports simstudio</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event bus  —  </a:t>
            </a:r>
            <a:r>
              <a:rPr sz="850">
                <a:solidFill>
                  <a:srgbClr val="33424D"/>
                </a:solidFill>
                <a:latin typeface="Calibri"/>
              </a:rPr>
              <a:t>a channel modules publish to and subscribe from, instead of calling each other</a:t>
            </a:r>
          </a:p>
          <a:p>
            <a:pPr marL="128016" indent="-128016">
              <a:spcAft>
                <a:spcPts val="200"/>
              </a:spcAft>
            </a:pPr>
            <a:r>
              <a:rPr sz="850" b="1">
                <a:solidFill>
                  <a:srgbClr val="1C7293"/>
                </a:solidFill>
                <a:latin typeface="Calibri"/>
              </a:rPr>
              <a:t>acyclic  —  </a:t>
            </a:r>
            <a:r>
              <a:rPr sz="850">
                <a:solidFill>
                  <a:srgbClr val="33424D"/>
                </a:solidFill>
                <a:latin typeface="Calibri"/>
              </a:rPr>
              <a:t>dependencies flow one way only — no module depends on its own consumer</a:t>
            </a:r>
          </a:p>
          <a:p>
            <a:pPr marL="128016" indent="-128016">
              <a:spcAft>
                <a:spcPts val="200"/>
              </a:spcAft>
            </a:pPr>
            <a:r>
              <a:rPr sz="850" b="1">
                <a:solidFill>
                  <a:srgbClr val="1C7293"/>
                </a:solidFill>
                <a:latin typeface="Calibri"/>
              </a:rPr>
              <a:t>oracle id  —  </a:t>
            </a:r>
            <a:r>
              <a:rPr sz="850">
                <a:solidFill>
                  <a:srgbClr val="33424D"/>
                </a:solidFill>
                <a:latin typeface="Calibri"/>
              </a:rPr>
              <a:t>the simulator's true vehicle identity — carried but never used to associate</a:t>
            </a:r>
          </a:p>
          <a:p>
            <a:pPr marL="128016" indent="-128016">
              <a:spcAft>
                <a:spcPts val="200"/>
              </a:spcAft>
            </a:pPr>
            <a:r>
              <a:rPr sz="850" b="1">
                <a:solidFill>
                  <a:srgbClr val="1C7293"/>
                </a:solidFill>
                <a:latin typeface="Calibri"/>
              </a:rPr>
              <a:t>TrackManager  —  </a:t>
            </a:r>
            <a:r>
              <a:rPr sz="850">
                <a:solidFill>
                  <a:srgbClr val="33424D"/>
                </a:solidFill>
                <a:latin typeface="Calibri"/>
              </a:rPr>
              <a:t>the component that owns a vehicle's identity across segments</a:t>
            </a:r>
          </a:p>
        </p:txBody>
      </p:sp>
      <p:pic>
        <p:nvPicPr>
          <p:cNvPr id="12" name="Picture 11" descr="B1.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WHAT CROSSES EACH BOUNDARY</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sim_core → bus  </a:t>
            </a:r>
            <a:r>
              <a:rPr sz="850" b="0">
                <a:solidFill>
                  <a:srgbClr val="33424D"/>
                </a:solidFill>
                <a:latin typeface="Calibri"/>
              </a:rPr>
              <a:t>vehicle.state, sensor.das / gps / camera</a:t>
            </a:r>
          </a:p>
          <a:p>
            <a:pPr marL="128016" indent="-128016">
              <a:spcAft>
                <a:spcPts val="200"/>
              </a:spcAft>
            </a:pPr>
            <a:r>
              <a:rPr sz="850" b="1">
                <a:solidFill>
                  <a:srgbClr val="0B4F6C"/>
                </a:solidFill>
                <a:latin typeface="Calibri"/>
              </a:rPr>
              <a:t>bus → tracking  </a:t>
            </a:r>
            <a:r>
              <a:rPr sz="850" b="0">
                <a:solidFill>
                  <a:srgbClr val="33424D"/>
                </a:solidFill>
                <a:latin typeface="Calibri"/>
              </a:rPr>
              <a:t>measurements only — oracle ID never used to associate</a:t>
            </a:r>
          </a:p>
          <a:p>
            <a:pPr marL="128016" indent="-128016">
              <a:spcAft>
                <a:spcPts val="200"/>
              </a:spcAft>
            </a:pPr>
            <a:r>
              <a:rPr sz="850" b="1">
                <a:solidFill>
                  <a:srgbClr val="0B4F6C"/>
                </a:solidFill>
                <a:latin typeface="Calibri"/>
              </a:rPr>
              <a:t>tracking → kalman  </a:t>
            </a:r>
            <a:r>
              <a:rPr sz="850" b="0">
                <a:solidFill>
                  <a:srgbClr val="33424D"/>
                </a:solidFill>
                <a:latin typeface="Calibri"/>
              </a:rPr>
              <a:t>stable global track assignment</a:t>
            </a:r>
          </a:p>
          <a:p>
            <a:pPr marL="128016" indent="-128016">
              <a:spcAft>
                <a:spcPts val="200"/>
              </a:spcAft>
            </a:pPr>
            <a:r>
              <a:rPr sz="850" b="1">
                <a:solidFill>
                  <a:srgbClr val="0B4F6C"/>
                </a:solidFill>
                <a:latin typeface="Calibri"/>
              </a:rPr>
              <a:t>kalman → export  </a:t>
            </a:r>
            <a:r>
              <a:rPr sz="850" b="0">
                <a:solidFill>
                  <a:srgbClr val="33424D"/>
                </a:solidFill>
                <a:latin typeface="Calibri"/>
              </a:rPr>
              <a:t>fused rows + innovation and covariance</a:t>
            </a:r>
          </a:p>
          <a:p>
            <a:pPr marL="128016" indent="-128016">
              <a:spcAft>
                <a:spcPts val="200"/>
              </a:spcAft>
            </a:pPr>
            <a:r>
              <a:rPr sz="850" b="1">
                <a:solidFill>
                  <a:srgbClr val="0B4F6C"/>
                </a:solidFill>
                <a:latin typeface="Calibri"/>
              </a:rPr>
              <a:t>export → anomaly  </a:t>
            </a:r>
            <a:r>
              <a:rPr sz="850" b="0">
                <a:solidFill>
                  <a:srgbClr val="33424D"/>
                </a:solidFill>
                <a:latin typeface="Calibri"/>
              </a:rPr>
              <a:t>files on disk only</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Why an Event Bus</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20</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B2   ·   </a:t>
            </a:r>
            <a:r>
              <a:rPr sz="1100" b="1">
                <a:solidFill>
                  <a:srgbClr val="1C7293"/>
                </a:solidFill>
                <a:latin typeface="Calibri"/>
              </a:rPr>
              <a:t>THE CENTRAL DESIGN DECISION</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The alternative was a monolithic loop calling each consumer directly.</a:t>
            </a:r>
          </a:p>
          <a:p>
            <a:pPr marL="201168" indent="-201168">
              <a:spcAft>
                <a:spcPts val="600"/>
              </a:spcAft>
            </a:pPr>
            <a:r>
              <a:rPr sz="1050" b="1">
                <a:solidFill>
                  <a:srgbClr val="1C7293"/>
                </a:solidFill>
                <a:latin typeface="Calibri"/>
              </a:rPr>
              <a:t>▪   </a:t>
            </a:r>
            <a:r>
              <a:rPr sz="1050" b="0">
                <a:solidFill>
                  <a:srgbClr val="33424D"/>
                </a:solidFill>
                <a:latin typeface="Calibri"/>
              </a:rPr>
              <a:t>The bus keeps dependencies </a:t>
            </a:r>
            <a:r>
              <a:rPr sz="1050" b="1">
                <a:solidFill>
                  <a:srgbClr val="33424D"/>
                </a:solidFill>
                <a:latin typeface="Calibri"/>
              </a:rPr>
              <a:t>acyclic and one-directional</a:t>
            </a:r>
            <a:r>
              <a:rPr sz="1050" b="0">
                <a:solidFill>
                  <a:srgbClr val="33424D"/>
                </a:solidFill>
                <a:latin typeface="Calibri"/>
              </a:rPr>
              <a:t> — the simulator depends on nothing downstream.</a:t>
            </a:r>
          </a:p>
          <a:p>
            <a:pPr marL="201168" indent="-201168">
              <a:spcAft>
                <a:spcPts val="600"/>
              </a:spcAft>
            </a:pPr>
            <a:r>
              <a:rPr sz="1050" b="1">
                <a:solidFill>
                  <a:srgbClr val="1C7293"/>
                </a:solidFill>
                <a:latin typeface="Calibri"/>
              </a:rPr>
              <a:t>▪   </a:t>
            </a:r>
            <a:r>
              <a:rPr sz="1050" b="0">
                <a:solidFill>
                  <a:srgbClr val="33424D"/>
                </a:solidFill>
                <a:latin typeface="Calibri"/>
              </a:rPr>
              <a:t>Each sensor and each consumer becomes </a:t>
            </a:r>
            <a:r>
              <a:rPr sz="1050" b="1">
                <a:solidFill>
                  <a:srgbClr val="33424D"/>
                </a:solidFill>
                <a:latin typeface="Calibri"/>
              </a:rPr>
              <a:t>independently testable</a:t>
            </a:r>
            <a:r>
              <a:rPr sz="1050" b="0">
                <a:solidFill>
                  <a:srgbClr val="33424D"/>
                </a:solidFill>
                <a:latin typeface="Calibri"/>
              </a:rPr>
              <a:t>.</a:t>
            </a:r>
          </a:p>
          <a:p>
            <a:pPr marL="201168" indent="-201168">
              <a:spcAft>
                <a:spcPts val="600"/>
              </a:spcAft>
            </a:pPr>
            <a:r>
              <a:rPr sz="1050" b="1">
                <a:solidFill>
                  <a:srgbClr val="1C7293"/>
                </a:solidFill>
                <a:latin typeface="Calibri"/>
              </a:rPr>
              <a:t>▪   </a:t>
            </a:r>
            <a:r>
              <a:rPr sz="1050" b="0">
                <a:solidFill>
                  <a:srgbClr val="33424D"/>
                </a:solidFill>
                <a:latin typeface="Calibri"/>
              </a:rPr>
              <a:t>Tracking, fusion and analytics can evolve without touching the simulator core.</a:t>
            </a:r>
          </a:p>
          <a:p>
            <a:pPr marL="201168" indent="-201168">
              <a:spcAft>
                <a:spcPts val="600"/>
              </a:spcAft>
            </a:pPr>
            <a:r>
              <a:rPr sz="1050" b="1">
                <a:solidFill>
                  <a:srgbClr val="1C7293"/>
                </a:solidFill>
                <a:latin typeface="Calibri"/>
              </a:rPr>
              <a:t>▪   </a:t>
            </a:r>
            <a:r>
              <a:rPr sz="1050" b="0">
                <a:solidFill>
                  <a:srgbClr val="33424D"/>
                </a:solidFill>
                <a:latin typeface="Calibri"/>
              </a:rPr>
              <a:t>It makes the read-only property of the analytics layer </a:t>
            </a:r>
            <a:r>
              <a:rPr sz="1050" b="1">
                <a:solidFill>
                  <a:srgbClr val="33424D"/>
                </a:solidFill>
                <a:latin typeface="Calibri"/>
              </a:rPr>
              <a:t>structural</a:t>
            </a:r>
            <a:r>
              <a:rPr sz="1050" b="0">
                <a:solidFill>
                  <a:srgbClr val="33424D"/>
                </a:solidFill>
                <a:latin typeface="Calibri"/>
              </a:rPr>
              <a:t>, not a promise.</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monolithic  —  </a:t>
            </a:r>
            <a:r>
              <a:rPr sz="850">
                <a:solidFill>
                  <a:srgbClr val="33424D"/>
                </a:solidFill>
                <a:latin typeface="Calibri"/>
              </a:rPr>
              <a:t>one loop that calls every consumer directly — the rejected alternative</a:t>
            </a:r>
          </a:p>
          <a:p>
            <a:pPr marL="128016" indent="-128016">
              <a:spcAft>
                <a:spcPts val="200"/>
              </a:spcAft>
            </a:pPr>
            <a:r>
              <a:rPr sz="850" b="1">
                <a:solidFill>
                  <a:srgbClr val="1C7293"/>
                </a:solidFill>
                <a:latin typeface="Calibri"/>
              </a:rPr>
              <a:t>publish / subscribe  —  </a:t>
            </a:r>
            <a:r>
              <a:rPr sz="850">
                <a:solidFill>
                  <a:srgbClr val="33424D"/>
                </a:solidFill>
                <a:latin typeface="Calibri"/>
              </a:rPr>
              <a:t>producers emit typed events; consumers opt in, unaware of each other</a:t>
            </a:r>
          </a:p>
          <a:p>
            <a:pPr marL="128016" indent="-128016">
              <a:spcAft>
                <a:spcPts val="200"/>
              </a:spcAft>
            </a:pPr>
            <a:r>
              <a:rPr sz="850" b="1">
                <a:solidFill>
                  <a:srgbClr val="1C7293"/>
                </a:solidFill>
                <a:latin typeface="Calibri"/>
              </a:rPr>
              <a:t>read-only analytics  —  </a:t>
            </a:r>
            <a:r>
              <a:rPr sz="850">
                <a:solidFill>
                  <a:srgbClr val="33424D"/>
                </a:solidFill>
                <a:latin typeface="Calibri"/>
              </a:rPr>
              <a:t>the anomaly layer consumes exported files and writes nothing back</a:t>
            </a:r>
          </a:p>
          <a:p>
            <a:pPr marL="128016" indent="-128016">
              <a:spcAft>
                <a:spcPts val="200"/>
              </a:spcAft>
            </a:pPr>
            <a:r>
              <a:rPr sz="850" b="1">
                <a:solidFill>
                  <a:srgbClr val="1C7293"/>
                </a:solidFill>
                <a:latin typeface="Calibri"/>
              </a:rPr>
              <a:t>event schema  —  </a:t>
            </a:r>
            <a:r>
              <a:rPr sz="850">
                <a:solidFill>
                  <a:srgbClr val="33424D"/>
                </a:solidFill>
                <a:latin typeface="Calibri"/>
              </a:rPr>
              <a:t>the agreed shape of each message — the contract between modules</a:t>
            </a:r>
          </a:p>
        </p:txBody>
      </p:sp>
      <p:pic>
        <p:nvPicPr>
          <p:cNvPr id="12" name="Picture 11" descr="B2.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THE COST WE ACCEPTED</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Indirection: a measurement is not a function call you can follow in one step</a:t>
            </a:r>
          </a:p>
          <a:p>
            <a:pPr marL="128016" indent="-128016">
              <a:spcAft>
                <a:spcPts val="200"/>
              </a:spcAft>
            </a:pPr>
            <a:r>
              <a:rPr sz="850" b="1">
                <a:solidFill>
                  <a:srgbClr val="1C7293"/>
                </a:solidFill>
                <a:latin typeface="Calibri"/>
              </a:rPr>
              <a:t>–  </a:t>
            </a:r>
            <a:r>
              <a:rPr sz="850" b="0">
                <a:solidFill>
                  <a:srgbClr val="33424D"/>
                </a:solidFill>
                <a:latin typeface="Calibri"/>
              </a:rPr>
              <a:t>Event-schema maintenance across module boundaries</a:t>
            </a:r>
          </a:p>
          <a:p>
            <a:pPr marL="128016" indent="-128016">
              <a:spcAft>
                <a:spcPts val="200"/>
              </a:spcAft>
            </a:pPr>
            <a:r>
              <a:rPr sz="850" b="1">
                <a:solidFill>
                  <a:srgbClr val="1C7293"/>
                </a:solidFill>
                <a:latin typeface="Calibri"/>
              </a:rPr>
              <a:t>–  </a:t>
            </a:r>
            <a:r>
              <a:rPr sz="850" b="0">
                <a:solidFill>
                  <a:srgbClr val="33424D"/>
                </a:solidFill>
                <a:latin typeface="Calibri"/>
              </a:rPr>
              <a:t>Worth it — it is the reason the ground-truth separation (B3) is verifiable rather than asserted</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Ground-Truth Separation</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21</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B3   ·   </a:t>
            </a:r>
            <a:r>
              <a:rPr sz="1100" b="1">
                <a:solidFill>
                  <a:srgbClr val="1C7293"/>
                </a:solidFill>
                <a:latin typeface="Calibri"/>
              </a:rPr>
              <a:t>WHY THE RESULTS ARE NOT CONTAMINATED</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The simulator publishes the true position as an </a:t>
            </a:r>
            <a:r>
              <a:rPr sz="1050" b="1">
                <a:solidFill>
                  <a:srgbClr val="33424D"/>
                </a:solidFill>
                <a:latin typeface="Calibri"/>
              </a:rPr>
              <a:t>oracle</a:t>
            </a:r>
            <a:r>
              <a:rPr sz="1050" b="0">
                <a:solidFill>
                  <a:srgbClr val="33424D"/>
                </a:solidFill>
                <a:latin typeface="Calibri"/>
              </a:rPr>
              <a:t> — used only to compute error, never to estimate.</a:t>
            </a:r>
          </a:p>
          <a:p>
            <a:pPr marL="201168" indent="-201168">
              <a:spcAft>
                <a:spcPts val="600"/>
              </a:spcAft>
            </a:pPr>
            <a:r>
              <a:rPr sz="1050" b="1">
                <a:solidFill>
                  <a:srgbClr val="1C7293"/>
                </a:solidFill>
                <a:latin typeface="Calibri"/>
              </a:rPr>
              <a:t>▪   </a:t>
            </a:r>
            <a:r>
              <a:rPr sz="1050" b="0">
                <a:solidFill>
                  <a:srgbClr val="33424D"/>
                </a:solidFill>
                <a:latin typeface="Calibri"/>
              </a:rPr>
              <a:t>The anomaly model consumes </a:t>
            </a:r>
            <a:r>
              <a:rPr sz="1050" b="1">
                <a:solidFill>
                  <a:srgbClr val="33424D"/>
                </a:solidFill>
                <a:latin typeface="Calibri"/>
              </a:rPr>
              <a:t>sensor-derived measurements</a:t>
            </a:r>
            <a:r>
              <a:rPr sz="1050" b="0">
                <a:solidFill>
                  <a:srgbClr val="33424D"/>
                </a:solidFill>
                <a:latin typeface="Calibri"/>
              </a:rPr>
              <a:t> and quantities computed from them. Nothing else.</a:t>
            </a:r>
          </a:p>
          <a:p>
            <a:pPr marL="201168" indent="-201168">
              <a:spcAft>
                <a:spcPts val="600"/>
              </a:spcAft>
            </a:pPr>
            <a:r>
              <a:rPr sz="1050" b="1">
                <a:solidFill>
                  <a:srgbClr val="1C7293"/>
                </a:solidFill>
                <a:latin typeface="Calibri"/>
              </a:rPr>
              <a:t>▪   </a:t>
            </a:r>
            <a:r>
              <a:rPr sz="1050" b="0">
                <a:solidFill>
                  <a:srgbClr val="33424D"/>
                </a:solidFill>
                <a:latin typeface="Calibri"/>
              </a:rPr>
              <a:t>It never consumes: oracle vehicle ID, injected anomaly labels, or ground-truth trajectories.</a:t>
            </a:r>
          </a:p>
          <a:p>
            <a:pPr marL="201168" indent="-201168">
              <a:spcAft>
                <a:spcPts val="600"/>
              </a:spcAft>
            </a:pPr>
            <a:r>
              <a:rPr sz="1050" b="1">
                <a:solidFill>
                  <a:srgbClr val="1C7293"/>
                </a:solidFill>
                <a:latin typeface="Calibri"/>
              </a:rPr>
              <a:t>▪   </a:t>
            </a:r>
            <a:r>
              <a:rPr sz="1050" b="0">
                <a:solidFill>
                  <a:srgbClr val="33424D"/>
                </a:solidFill>
                <a:latin typeface="Calibri"/>
              </a:rPr>
              <a:t>Association is </a:t>
            </a:r>
            <a:r>
              <a:rPr sz="1050" b="1">
                <a:solidFill>
                  <a:srgbClr val="33424D"/>
                </a:solidFill>
                <a:latin typeface="Calibri"/>
              </a:rPr>
              <a:t>purely kinematic</a:t>
            </a:r>
            <a:r>
              <a:rPr sz="1050" b="0">
                <a:solidFill>
                  <a:srgbClr val="33424D"/>
                </a:solidFill>
                <a:latin typeface="Calibri"/>
              </a:rPr>
              <a:t> — the oracle ID travels in the payload but is never used to associate.</a:t>
            </a:r>
          </a:p>
          <a:p>
            <a:pPr marL="201168" indent="-201168">
              <a:spcAft>
                <a:spcPts val="600"/>
              </a:spcAft>
            </a:pPr>
            <a:r>
              <a:rPr sz="1050" b="1">
                <a:solidFill>
                  <a:srgbClr val="1C7293"/>
                </a:solidFill>
                <a:latin typeface="Calibri"/>
              </a:rPr>
              <a:t>▪   </a:t>
            </a:r>
            <a:r>
              <a:rPr sz="1050" b="0">
                <a:solidFill>
                  <a:srgbClr val="33424D"/>
                </a:solidFill>
                <a:latin typeface="Calibri"/>
              </a:rPr>
              <a:t>Enforced as an explicit layering rule and </a:t>
            </a:r>
            <a:r>
              <a:rPr sz="1050" b="1">
                <a:solidFill>
                  <a:srgbClr val="33424D"/>
                </a:solidFill>
                <a:latin typeface="Calibri"/>
              </a:rPr>
              <a:t>verified by tests</a:t>
            </a:r>
            <a:r>
              <a:rPr sz="1050" b="0">
                <a:solidFill>
                  <a:srgbClr val="33424D"/>
                </a:solidFill>
                <a:latin typeface="Calibri"/>
              </a:rPr>
              <a:t> (B5).</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ground truth  —  </a:t>
            </a:r>
            <a:r>
              <a:rPr sz="850">
                <a:solidFill>
                  <a:srgbClr val="33424D"/>
                </a:solidFill>
                <a:latin typeface="Calibri"/>
              </a:rPr>
              <a:t>the simulator's true position — used only to compute error</a:t>
            </a:r>
          </a:p>
          <a:p>
            <a:pPr marL="128016" indent="-128016">
              <a:spcAft>
                <a:spcPts val="200"/>
              </a:spcAft>
            </a:pPr>
            <a:r>
              <a:rPr sz="850" b="1">
                <a:solidFill>
                  <a:srgbClr val="1C7293"/>
                </a:solidFill>
                <a:latin typeface="Calibri"/>
              </a:rPr>
              <a:t>oracle  —  </a:t>
            </a:r>
            <a:r>
              <a:rPr sz="850">
                <a:solidFill>
                  <a:srgbClr val="33424D"/>
                </a:solidFill>
                <a:latin typeface="Calibri"/>
              </a:rPr>
              <a:t>any information a real deployment would not have</a:t>
            </a:r>
          </a:p>
          <a:p>
            <a:pPr marL="128016" indent="-128016">
              <a:spcAft>
                <a:spcPts val="200"/>
              </a:spcAft>
            </a:pPr>
            <a:r>
              <a:rPr sz="850" b="1">
                <a:solidFill>
                  <a:srgbClr val="1C7293"/>
                </a:solidFill>
                <a:latin typeface="Calibri"/>
              </a:rPr>
              <a:t>leakage  —  </a:t>
            </a:r>
            <a:r>
              <a:rPr sz="850">
                <a:solidFill>
                  <a:srgbClr val="33424D"/>
                </a:solidFill>
                <a:latin typeface="Calibri"/>
              </a:rPr>
              <a:t>when a model accidentally sees the answer it is meant to infer</a:t>
            </a:r>
          </a:p>
          <a:p>
            <a:pPr marL="128016" indent="-128016">
              <a:spcAft>
                <a:spcPts val="200"/>
              </a:spcAft>
            </a:pPr>
            <a:r>
              <a:rPr sz="850" b="1">
                <a:solidFill>
                  <a:srgbClr val="1C7293"/>
                </a:solidFill>
                <a:latin typeface="Calibri"/>
              </a:rPr>
              <a:t>kinematic association  —  </a:t>
            </a:r>
            <a:r>
              <a:rPr sz="850">
                <a:solidFill>
                  <a:srgbClr val="33424D"/>
                </a:solidFill>
                <a:latin typeface="Calibri"/>
              </a:rPr>
              <a:t>matching by motion alone — position, speed, heading</a:t>
            </a:r>
          </a:p>
        </p:txBody>
      </p:sp>
      <p:pic>
        <p:nvPicPr>
          <p:cNvPr id="12" name="Picture 11" descr="B3.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WHY IT MATTERS</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In a simulation-based project this is the single claim that makes every other result credible</a:t>
            </a:r>
          </a:p>
          <a:p>
            <a:pPr marL="128016" indent="-128016">
              <a:spcAft>
                <a:spcPts val="200"/>
              </a:spcAft>
            </a:pPr>
            <a:r>
              <a:rPr sz="850" b="1">
                <a:solidFill>
                  <a:srgbClr val="1C7293"/>
                </a:solidFill>
                <a:latin typeface="Calibri"/>
              </a:rPr>
              <a:t>–  </a:t>
            </a:r>
            <a:r>
              <a:rPr sz="850" b="0">
                <a:solidFill>
                  <a:srgbClr val="33424D"/>
                </a:solidFill>
                <a:latin typeface="Calibri"/>
              </a:rPr>
              <a:t>It is also what allowed the unchanged pipeline to run on the Klausner recording, where no oracle exists at all</a:t>
            </a:r>
          </a:p>
          <a:p>
            <a:pPr marL="128016" indent="-128016">
              <a:spcAft>
                <a:spcPts val="200"/>
              </a:spcAft>
            </a:pPr>
            <a:r>
              <a:rPr sz="850" b="1">
                <a:solidFill>
                  <a:srgbClr val="1C7293"/>
                </a:solidFill>
                <a:latin typeface="Calibri"/>
              </a:rPr>
              <a:t>–  </a:t>
            </a:r>
            <a:r>
              <a:rPr sz="850" b="0">
                <a:solidFill>
                  <a:srgbClr val="33424D"/>
                </a:solidFill>
                <a:latin typeface="Calibri"/>
              </a:rPr>
              <a:t>The anomaly package does not even import the simulator — the separation is enforced at the import level</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Repository and Deliverables</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22</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B4   ·   </a:t>
            </a:r>
            <a:r>
              <a:rPr sz="1100" b="1">
                <a:solidFill>
                  <a:srgbClr val="1C7293"/>
                </a:solidFill>
                <a:latin typeface="Calibri"/>
              </a:rPr>
              <a:t>WHAT IS ACTUALLY IN THE BOX</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src/simstudio/</a:t>
            </a:r>
            <a:r>
              <a:rPr sz="1050" b="0">
                <a:solidFill>
                  <a:srgbClr val="33424D"/>
                </a:solidFill>
                <a:latin typeface="Calibri"/>
              </a:rPr>
              <a:t> — engine, sensor models, bus, tracker, Kalman, export, audit, Tkinter GUI</a:t>
            </a:r>
          </a:p>
          <a:p>
            <a:pPr marL="201168" indent="-201168">
              <a:spcAft>
                <a:spcPts val="600"/>
              </a:spcAft>
            </a:pPr>
            <a:r>
              <a:rPr sz="1050" b="1">
                <a:solidFill>
                  <a:srgbClr val="1C7293"/>
                </a:solidFill>
                <a:latin typeface="Calibri"/>
              </a:rPr>
              <a:t>▪   </a:t>
            </a:r>
            <a:r>
              <a:rPr sz="1050" b="1">
                <a:solidFill>
                  <a:srgbClr val="33424D"/>
                </a:solidFill>
                <a:latin typeface="Calibri"/>
              </a:rPr>
              <a:t>anomaly_model/</a:t>
            </a:r>
            <a:r>
              <a:rPr sz="1050" b="0">
                <a:solidFill>
                  <a:srgbClr val="33424D"/>
                </a:solidFill>
                <a:latin typeface="Calibri"/>
              </a:rPr>
              <a:t> — feature extractor, scenario scorer, batch scripts</a:t>
            </a:r>
          </a:p>
          <a:p>
            <a:pPr marL="201168" indent="-201168">
              <a:spcAft>
                <a:spcPts val="600"/>
              </a:spcAft>
            </a:pPr>
            <a:r>
              <a:rPr sz="1050" b="1">
                <a:solidFill>
                  <a:srgbClr val="1C7293"/>
                </a:solidFill>
                <a:latin typeface="Calibri"/>
              </a:rPr>
              <a:t>▪   </a:t>
            </a:r>
            <a:r>
              <a:rPr sz="1050" b="1">
                <a:solidFill>
                  <a:srgbClr val="33424D"/>
                </a:solidFill>
                <a:latin typeface="Calibri"/>
              </a:rPr>
              <a:t>maps/</a:t>
            </a:r>
            <a:r>
              <a:rPr sz="1050" b="0">
                <a:solidFill>
                  <a:srgbClr val="33424D"/>
                </a:solidFill>
                <a:latin typeface="Calibri"/>
              </a:rPr>
              <a:t> — OpenStreetMap networks: Florentin, North Tel Aviv, Klausner</a:t>
            </a:r>
          </a:p>
          <a:p>
            <a:pPr marL="201168" indent="-201168">
              <a:spcAft>
                <a:spcPts val="600"/>
              </a:spcAft>
            </a:pPr>
            <a:r>
              <a:rPr sz="1050" b="1">
                <a:solidFill>
                  <a:srgbClr val="1C7293"/>
                </a:solidFill>
                <a:latin typeface="Calibri"/>
              </a:rPr>
              <a:t>▪   </a:t>
            </a:r>
            <a:r>
              <a:rPr sz="1050" b="1">
                <a:solidFill>
                  <a:srgbClr val="33424D"/>
                </a:solidFill>
                <a:latin typeface="Calibri"/>
              </a:rPr>
              <a:t>outputs/</a:t>
            </a:r>
            <a:r>
              <a:rPr sz="1050" b="0">
                <a:solidFill>
                  <a:srgbClr val="33424D"/>
                </a:solidFill>
                <a:latin typeface="Calibri"/>
              </a:rPr>
              <a:t> — trajectories, audit reports, workbooks, validation protocol, equations reference</a:t>
            </a:r>
          </a:p>
          <a:p>
            <a:pPr marL="201168" indent="-201168">
              <a:spcAft>
                <a:spcPts val="600"/>
              </a:spcAft>
            </a:pPr>
            <a:r>
              <a:rPr sz="1050" b="1">
                <a:solidFill>
                  <a:srgbClr val="1C7293"/>
                </a:solidFill>
                <a:latin typeface="Calibri"/>
              </a:rPr>
              <a:t>▪   </a:t>
            </a:r>
            <a:r>
              <a:rPr sz="1050" b="1">
                <a:solidFill>
                  <a:srgbClr val="33424D"/>
                </a:solidFill>
                <a:latin typeface="Calibri"/>
              </a:rPr>
              <a:t>tests/</a:t>
            </a:r>
            <a:r>
              <a:rPr sz="1050" b="0">
                <a:solidFill>
                  <a:srgbClr val="33424D"/>
                </a:solidFill>
                <a:latin typeface="Calibri"/>
              </a:rPr>
              <a:t> — pytest suite  ·  install script and a packaged macOS application</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scenario (.sim.json)  —  </a:t>
            </a:r>
            <a:r>
              <a:rPr sz="850">
                <a:solidFill>
                  <a:srgbClr val="33424D"/>
                </a:solidFill>
                <a:latin typeface="Calibri"/>
              </a:rPr>
              <a:t>map, vehicles, routes and sensor placement for one run</a:t>
            </a:r>
          </a:p>
          <a:p>
            <a:pPr marL="128016" indent="-128016">
              <a:spcAft>
                <a:spcPts val="200"/>
              </a:spcAft>
            </a:pPr>
            <a:r>
              <a:rPr sz="850" b="1">
                <a:solidFill>
                  <a:srgbClr val="1C7293"/>
                </a:solidFill>
                <a:latin typeface="Calibri"/>
              </a:rPr>
              <a:t>region / tile  —  </a:t>
            </a:r>
            <a:r>
              <a:rPr sz="850">
                <a:solidFill>
                  <a:srgbClr val="33424D"/>
                </a:solidFill>
                <a:latin typeface="Calibri"/>
              </a:rPr>
              <a:t>one of 144 patches of the North Tel Aviv network</a:t>
            </a:r>
          </a:p>
          <a:p>
            <a:pPr marL="128016" indent="-128016">
              <a:spcAft>
                <a:spcPts val="200"/>
              </a:spcAft>
            </a:pPr>
            <a:r>
              <a:rPr sz="850" b="1">
                <a:solidFill>
                  <a:srgbClr val="1C7293"/>
                </a:solidFill>
                <a:latin typeface="Calibri"/>
              </a:rPr>
              <a:t>audit report  —  </a:t>
            </a:r>
            <a:r>
              <a:rPr sz="850">
                <a:solidFill>
                  <a:srgbClr val="33424D"/>
                </a:solidFill>
                <a:latin typeface="Calibri"/>
              </a:rPr>
              <a:t>the per-run record of every measurement and every filter update</a:t>
            </a:r>
          </a:p>
          <a:p>
            <a:pPr marL="128016" indent="-128016">
              <a:spcAft>
                <a:spcPts val="200"/>
              </a:spcAft>
            </a:pPr>
            <a:r>
              <a:rPr sz="850" b="1">
                <a:solidFill>
                  <a:srgbClr val="1C7293"/>
                </a:solidFill>
                <a:latin typeface="Calibri"/>
              </a:rPr>
              <a:t>batch run  —  </a:t>
            </a:r>
            <a:r>
              <a:rPr sz="850">
                <a:solidFill>
                  <a:srgbClr val="33424D"/>
                </a:solidFill>
                <a:latin typeface="Calibri"/>
              </a:rPr>
              <a:t>hundreds of scenarios executed headless to build the normal baseline</a:t>
            </a:r>
          </a:p>
        </p:txBody>
      </p:sp>
      <p:pic>
        <p:nvPicPr>
          <p:cNvPr id="12" name="Picture 11" descr="B4.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BY THE NUMBERS</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Normal scenarios  </a:t>
            </a:r>
            <a:r>
              <a:rPr sz="850" b="0">
                <a:solidFill>
                  <a:srgbClr val="33424D"/>
                </a:solidFill>
                <a:latin typeface="Calibri"/>
              </a:rPr>
              <a:t>≈150, spanning 12 deliberately varied conditions</a:t>
            </a:r>
          </a:p>
          <a:p>
            <a:pPr marL="128016" indent="-128016">
              <a:spcAft>
                <a:spcPts val="200"/>
              </a:spcAft>
            </a:pPr>
            <a:r>
              <a:rPr sz="850" b="1">
                <a:solidFill>
                  <a:srgbClr val="0B4F6C"/>
                </a:solidFill>
                <a:latin typeface="Calibri"/>
              </a:rPr>
              <a:t>Anomaly scenarios  </a:t>
            </a:r>
            <a:r>
              <a:rPr sz="850" b="0">
                <a:solidFill>
                  <a:srgbClr val="33424D"/>
                </a:solidFill>
                <a:latin typeface="Calibri"/>
              </a:rPr>
              <a:t>9 injected, drawn from 8 categories</a:t>
            </a:r>
          </a:p>
          <a:p>
            <a:pPr marL="128016" indent="-128016">
              <a:spcAft>
                <a:spcPts val="200"/>
              </a:spcAft>
            </a:pPr>
            <a:r>
              <a:rPr sz="850" b="1">
                <a:solidFill>
                  <a:srgbClr val="0B4F6C"/>
                </a:solidFill>
                <a:latin typeface="Calibri"/>
              </a:rPr>
              <a:t>Simulation regions  </a:t>
            </a:r>
            <a:r>
              <a:rPr sz="850" b="0">
                <a:solidFill>
                  <a:srgbClr val="33424D"/>
                </a:solidFill>
                <a:latin typeface="Calibri"/>
              </a:rPr>
              <a:t>144 tiles from the North Tel Aviv network</a:t>
            </a:r>
          </a:p>
          <a:p>
            <a:pPr marL="128016" indent="-128016">
              <a:spcAft>
                <a:spcPts val="200"/>
              </a:spcAft>
            </a:pPr>
            <a:r>
              <a:rPr sz="850" b="1">
                <a:solidFill>
                  <a:srgbClr val="0B4F6C"/>
                </a:solidFill>
                <a:latin typeface="Calibri"/>
              </a:rPr>
              <a:t>Normal vehicle tracks  </a:t>
            </a:r>
            <a:r>
              <a:rPr sz="850" b="0">
                <a:solidFill>
                  <a:srgbClr val="33424D"/>
                </a:solidFill>
                <a:latin typeface="Calibri"/>
              </a:rPr>
              <a:t>14,424 behavioural fingerprints</a:t>
            </a:r>
          </a:p>
          <a:p>
            <a:pPr marL="128016" indent="-128016">
              <a:spcAft>
                <a:spcPts val="200"/>
              </a:spcAft>
            </a:pPr>
            <a:r>
              <a:rPr sz="850" b="1">
                <a:solidFill>
                  <a:srgbClr val="0B4F6C"/>
                </a:solidFill>
                <a:latin typeface="Calibri"/>
              </a:rPr>
              <a:t>Repository  </a:t>
            </a:r>
            <a:r>
              <a:rPr sz="850" b="0">
                <a:solidFill>
                  <a:srgbClr val="33424D"/>
                </a:solidFill>
                <a:latin typeface="Calibri"/>
              </a:rPr>
              <a:t>github.com/noasapir3/simstudio-das-fusion</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12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The Test Suite</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23</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B5   ·   </a:t>
            </a:r>
            <a:r>
              <a:rPr sz="1100" b="1">
                <a:solidFill>
                  <a:srgbClr val="1C7293"/>
                </a:solidFill>
                <a:latin typeface="Calibri"/>
              </a:rPr>
              <a:t>134 TESTS ACROSS 7 FILES</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Each test file guards one boundary that the anomaly model depends on.</a:t>
            </a:r>
          </a:p>
          <a:p>
            <a:pPr marL="201168" indent="-201168">
              <a:spcAft>
                <a:spcPts val="600"/>
              </a:spcAft>
            </a:pPr>
            <a:r>
              <a:rPr sz="1050" b="1">
                <a:solidFill>
                  <a:srgbClr val="1C7293"/>
                </a:solidFill>
                <a:latin typeface="Calibri"/>
              </a:rPr>
              <a:t>▪   </a:t>
            </a:r>
            <a:r>
              <a:rPr sz="1050" b="1">
                <a:solidFill>
                  <a:srgbClr val="33424D"/>
                </a:solidFill>
                <a:latin typeface="Calibri"/>
              </a:rPr>
              <a:t>Backward-compatible evolution:</a:t>
            </a:r>
            <a:r>
              <a:rPr sz="1050" b="0">
                <a:solidFill>
                  <a:srgbClr val="33424D"/>
                </a:solidFill>
                <a:latin typeface="Calibri"/>
              </a:rPr>
              <a:t> when the tracker was inserted in front of the Kalman filter, the one-to-one identity case was kept byte-identical, so no accuracy regression could pass unnoticed.</a:t>
            </a:r>
          </a:p>
          <a:p>
            <a:pPr marL="201168" indent="-201168">
              <a:spcAft>
                <a:spcPts val="600"/>
              </a:spcAft>
            </a:pPr>
            <a:r>
              <a:rPr sz="1050" b="1">
                <a:solidFill>
                  <a:srgbClr val="1C7293"/>
                </a:solidFill>
                <a:latin typeface="Calibri"/>
              </a:rPr>
              <a:t>▪   </a:t>
            </a:r>
            <a:r>
              <a:rPr sz="1050" b="0">
                <a:solidFill>
                  <a:srgbClr val="33424D"/>
                </a:solidFill>
                <a:latin typeface="Calibri"/>
              </a:rPr>
              <a:t>The suite is the gate every change had to pass — including changes drafted with AI assistance (F1).</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boundary test  —  </a:t>
            </a:r>
            <a:r>
              <a:rPr sz="850">
                <a:solidFill>
                  <a:srgbClr val="33424D"/>
                </a:solidFill>
                <a:latin typeface="Calibri"/>
              </a:rPr>
              <a:t>a test that guards one interface the anomaly model depends on</a:t>
            </a:r>
          </a:p>
          <a:p>
            <a:pPr marL="128016" indent="-128016">
              <a:spcAft>
                <a:spcPts val="200"/>
              </a:spcAft>
            </a:pPr>
            <a:r>
              <a:rPr sz="850" b="1">
                <a:solidFill>
                  <a:srgbClr val="1C7293"/>
                </a:solidFill>
                <a:latin typeface="Calibri"/>
              </a:rPr>
              <a:t>regression  —  </a:t>
            </a:r>
            <a:r>
              <a:rPr sz="850">
                <a:solidFill>
                  <a:srgbClr val="33424D"/>
                </a:solidFill>
                <a:latin typeface="Calibri"/>
              </a:rPr>
              <a:t>a change that silently degrades a result that used to be correct</a:t>
            </a:r>
          </a:p>
          <a:p>
            <a:pPr marL="128016" indent="-128016">
              <a:spcAft>
                <a:spcPts val="200"/>
              </a:spcAft>
            </a:pPr>
            <a:r>
              <a:rPr sz="850" b="1">
                <a:solidFill>
                  <a:srgbClr val="1C7293"/>
                </a:solidFill>
                <a:latin typeface="Calibri"/>
              </a:rPr>
              <a:t>byte-identical  —  </a:t>
            </a:r>
            <a:r>
              <a:rPr sz="850">
                <a:solidFill>
                  <a:srgbClr val="33424D"/>
                </a:solidFill>
                <a:latin typeface="Calibri"/>
              </a:rPr>
              <a:t>the new code reproduces the old output exactly, bit for bit</a:t>
            </a:r>
          </a:p>
          <a:p>
            <a:pPr marL="128016" indent="-128016">
              <a:spcAft>
                <a:spcPts val="200"/>
              </a:spcAft>
            </a:pPr>
            <a:r>
              <a:rPr sz="850" b="1">
                <a:solidFill>
                  <a:srgbClr val="1C7293"/>
                </a:solidFill>
                <a:latin typeface="Calibri"/>
              </a:rPr>
              <a:t>pytest  —  </a:t>
            </a:r>
            <a:r>
              <a:rPr sz="850">
                <a:solidFill>
                  <a:srgbClr val="33424D"/>
                </a:solidFill>
                <a:latin typeface="Calibri"/>
              </a:rPr>
              <a:t>the Python test runner the suite is written against</a:t>
            </a:r>
          </a:p>
        </p:txBody>
      </p:sp>
      <p:pic>
        <p:nvPicPr>
          <p:cNvPr id="12" name="Picture 11" descr="B5.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COVERAGE BY FILE</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test_tracking  </a:t>
            </a:r>
            <a:r>
              <a:rPr sz="850" b="0">
                <a:solidFill>
                  <a:srgbClr val="33424D"/>
                </a:solidFill>
                <a:latin typeface="Calibri"/>
              </a:rPr>
              <a:t>32 — association, gating, identity across segments</a:t>
            </a:r>
          </a:p>
          <a:p>
            <a:pPr marL="128016" indent="-128016">
              <a:spcAft>
                <a:spcPts val="200"/>
              </a:spcAft>
            </a:pPr>
            <a:r>
              <a:rPr sz="850" b="1">
                <a:solidFill>
                  <a:srgbClr val="0B4F6C"/>
                </a:solidFill>
                <a:latin typeface="Calibri"/>
              </a:rPr>
              <a:t>test_geometry  </a:t>
            </a:r>
            <a:r>
              <a:rPr sz="850" b="0">
                <a:solidFill>
                  <a:srgbClr val="33424D"/>
                </a:solidFill>
                <a:latin typeface="Calibri"/>
              </a:rPr>
              <a:t>30 — lanes, polylines, projections</a:t>
            </a:r>
          </a:p>
          <a:p>
            <a:pPr marL="128016" indent="-128016">
              <a:spcAft>
                <a:spcPts val="200"/>
              </a:spcAft>
            </a:pPr>
            <a:r>
              <a:rPr sz="850" b="1">
                <a:solidFill>
                  <a:srgbClr val="0B4F6C"/>
                </a:solidFill>
                <a:latin typeface="Calibri"/>
              </a:rPr>
              <a:t>test_kalman  </a:t>
            </a:r>
            <a:r>
              <a:rPr sz="850" b="0">
                <a:solidFill>
                  <a:srgbClr val="33424D"/>
                </a:solidFill>
                <a:latin typeface="Calibri"/>
              </a:rPr>
              <a:t>23 — predict / update, Joseph form, covariance</a:t>
            </a:r>
          </a:p>
          <a:p>
            <a:pPr marL="128016" indent="-128016">
              <a:spcAft>
                <a:spcPts val="200"/>
              </a:spcAft>
            </a:pPr>
            <a:r>
              <a:rPr sz="850" b="1">
                <a:solidFill>
                  <a:srgbClr val="0B4F6C"/>
                </a:solidFill>
                <a:latin typeface="Calibri"/>
              </a:rPr>
              <a:t>test_sim_core  </a:t>
            </a:r>
            <a:r>
              <a:rPr sz="850" b="0">
                <a:solidFill>
                  <a:srgbClr val="33424D"/>
                </a:solidFill>
                <a:latin typeface="Calibri"/>
              </a:rPr>
              <a:t>17 — engine tick, vehicle physics, sensor models</a:t>
            </a:r>
          </a:p>
          <a:p>
            <a:pPr marL="128016" indent="-128016">
              <a:spcAft>
                <a:spcPts val="200"/>
              </a:spcAft>
            </a:pPr>
            <a:r>
              <a:rPr sz="850" b="1">
                <a:solidFill>
                  <a:srgbClr val="0B4F6C"/>
                </a:solidFill>
                <a:latin typeface="Calibri"/>
              </a:rPr>
              <a:t>test_audit  </a:t>
            </a:r>
            <a:r>
              <a:rPr sz="850" b="0">
                <a:solidFill>
                  <a:srgbClr val="33424D"/>
                </a:solidFill>
                <a:latin typeface="Calibri"/>
              </a:rPr>
              <a:t>16 — trajectory and audit export integrity</a:t>
            </a:r>
          </a:p>
          <a:p>
            <a:pPr marL="128016" indent="-128016">
              <a:spcAft>
                <a:spcPts val="200"/>
              </a:spcAft>
            </a:pPr>
            <a:r>
              <a:rPr sz="850" b="1">
                <a:solidFill>
                  <a:srgbClr val="0B4F6C"/>
                </a:solidFill>
                <a:latin typeface="Calibri"/>
              </a:rPr>
              <a:t>test_anomaly_overrides  </a:t>
            </a:r>
            <a:r>
              <a:rPr sz="850" b="0">
                <a:solidFill>
                  <a:srgbClr val="33424D"/>
                </a:solidFill>
                <a:latin typeface="Calibri"/>
              </a:rPr>
              <a:t>10  ·  test_export_xlsx  6</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5</a:t>
            </a:r>
          </a:p>
        </p:txBody>
      </p:sp>
      <p:sp>
        <p:nvSpPr>
          <p:cNvPr id="150" name="Rounded Rectangle 149">
            <a:hlinkClick r:id="rId8"/>
          </p:cNvPr>
          <p:cNvSpPr/>
          <p:nvPr/>
        </p:nvSpPr>
        <p:spPr>
          <a:xfrm>
            <a:off x="7132320"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CODE  ↗</a:t>
            </a:r>
          </a:p>
        </p:txBody>
      </p:sp>
      <p:sp>
        <p:nvSpPr>
          <p:cNvPr id="152" name="TextBox 151"/>
          <p:cNvSpPr txBox="1"/>
          <p:nvPr/>
        </p:nvSpPr>
        <p:spPr>
          <a:xfrm>
            <a:off x="2377440" y="5733288"/>
            <a:ext cx="4681728" cy="219456"/>
          </a:xfrm>
          <a:prstGeom prst="rect">
            <a:avLst/>
          </a:prstGeom>
          <a:noFill/>
        </p:spPr>
        <p:txBody>
          <a:bodyPr wrap="square" lIns="0" tIns="0" rIns="0" bIns="0"/>
          <a:lstStyle/>
          <a:p>
            <a:pPr algn="r"/>
            <a:r>
              <a:rPr sz="800" b="1">
                <a:solidFill>
                  <a:srgbClr val="1C7293"/>
                </a:solidFill>
                <a:latin typeface="Calibri"/>
              </a:rPr>
              <a:t>code:  </a:t>
            </a:r>
            <a:r>
              <a:rPr sz="800" b="0">
                <a:solidFill>
                  <a:srgbClr val="6B7A85"/>
                </a:solidFill>
                <a:latin typeface="Consolas"/>
              </a:rPr>
              <a:t>tests/test_tracking.py  ·  lines 100–108  and  135–140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The Kalman Filter</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24</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C1   ·   </a:t>
            </a:r>
            <a:r>
              <a:rPr sz="1100" b="1">
                <a:solidFill>
                  <a:srgbClr val="1C7293"/>
                </a:solidFill>
                <a:latin typeface="Calibri"/>
              </a:rPr>
              <a:t>SIX STATES, DECOUPLED AXES</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State:  x = [x, vx, ax, y, vy, ay]ᵀ — constant-acceleration model, x and y decoupled.      (Report Eq. 4)</a:t>
            </a:r>
          </a:p>
          <a:p>
            <a:pPr marL="201168" indent="-201168">
              <a:spcAft>
                <a:spcPts val="600"/>
              </a:spcAft>
            </a:pPr>
            <a:r>
              <a:rPr sz="1050" b="1">
                <a:solidFill>
                  <a:srgbClr val="1C7293"/>
                </a:solidFill>
                <a:latin typeface="Calibri"/>
              </a:rPr>
              <a:t>▪   Predict:  x̂⁻ = F·x̂ ,  P⁻ = F·P·Fᵀ + Q      (Report Eq. 5)</a:t>
            </a:r>
          </a:p>
          <a:p>
            <a:pPr marL="201168" indent="-201168">
              <a:spcAft>
                <a:spcPts val="600"/>
              </a:spcAft>
            </a:pPr>
            <a:r>
              <a:rPr sz="1050" b="1">
                <a:solidFill>
                  <a:srgbClr val="1C7293"/>
                </a:solidFill>
                <a:latin typeface="Calibri"/>
              </a:rPr>
              <a:t>▪   Update:  K = P⁻Hᵀ (H P⁻ Hᵀ + R)⁻¹ , then Joseph-form covariance      (Report Eq. 6)</a:t>
            </a:r>
          </a:p>
          <a:p>
            <a:pPr marL="201168" indent="-201168">
              <a:spcAft>
                <a:spcPts val="600"/>
              </a:spcAft>
            </a:pPr>
            <a:r>
              <a:rPr sz="1050" b="1">
                <a:solidFill>
                  <a:srgbClr val="1C7293"/>
                </a:solidFill>
                <a:latin typeface="Calibri"/>
              </a:rPr>
              <a:t>▪   Joseph form keeps P symmetric and positive semi-definite under finite precision.</a:t>
            </a:r>
          </a:p>
          <a:p>
            <a:pPr marL="201168" indent="-201168">
              <a:spcAft>
                <a:spcPts val="600"/>
              </a:spcAft>
            </a:pPr>
            <a:r>
              <a:rPr sz="1050" b="1">
                <a:solidFill>
                  <a:srgbClr val="1C7293"/>
                </a:solidFill>
                <a:latin typeface="Calibri"/>
              </a:rPr>
              <a:t>▪   The filter runs as a post-tracking stage, replaying the event stream grouped by track.</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state vector x  —  </a:t>
            </a:r>
            <a:r>
              <a:rPr sz="850">
                <a:solidFill>
                  <a:srgbClr val="33424D"/>
                </a:solidFill>
                <a:latin typeface="Calibri"/>
              </a:rPr>
              <a:t>what the filter tracks: position, velocity and acceleration on each axis</a:t>
            </a:r>
          </a:p>
          <a:p>
            <a:pPr marL="128016" indent="-128016">
              <a:spcAft>
                <a:spcPts val="200"/>
              </a:spcAft>
            </a:pPr>
            <a:r>
              <a:rPr sz="850" b="1">
                <a:solidFill>
                  <a:srgbClr val="1C7293"/>
                </a:solidFill>
                <a:latin typeface="Calibri"/>
              </a:rPr>
              <a:t>F  —  </a:t>
            </a:r>
            <a:r>
              <a:rPr sz="850">
                <a:solidFill>
                  <a:srgbClr val="33424D"/>
                </a:solidFill>
                <a:latin typeface="Calibri"/>
              </a:rPr>
              <a:t>state transition — how the state is expected to evolve in one time step</a:t>
            </a:r>
          </a:p>
          <a:p>
            <a:pPr marL="128016" indent="-128016">
              <a:spcAft>
                <a:spcPts val="200"/>
              </a:spcAft>
            </a:pPr>
            <a:r>
              <a:rPr sz="850" b="1">
                <a:solidFill>
                  <a:srgbClr val="1C7293"/>
                </a:solidFill>
                <a:latin typeface="Calibri"/>
              </a:rPr>
              <a:t>Q / R  —  </a:t>
            </a:r>
            <a:r>
              <a:rPr sz="850">
                <a:solidFill>
                  <a:srgbClr val="33424D"/>
                </a:solidFill>
                <a:latin typeface="Calibri"/>
              </a:rPr>
              <a:t>process noise (model uncertainty) and measurement noise (sensor uncertainty)</a:t>
            </a:r>
          </a:p>
          <a:p>
            <a:pPr marL="128016" indent="-128016">
              <a:spcAft>
                <a:spcPts val="200"/>
              </a:spcAft>
            </a:pPr>
            <a:r>
              <a:rPr sz="850" b="1">
                <a:solidFill>
                  <a:srgbClr val="1C7293"/>
                </a:solidFill>
                <a:latin typeface="Calibri"/>
              </a:rPr>
              <a:t>Joseph form  —  </a:t>
            </a:r>
            <a:r>
              <a:rPr sz="850">
                <a:solidFill>
                  <a:srgbClr val="33424D"/>
                </a:solidFill>
                <a:latin typeface="Calibri"/>
              </a:rPr>
              <a:t>a covariance update that stays numerically stable and symmetric</a:t>
            </a:r>
          </a:p>
        </p:txBody>
      </p:sp>
      <p:pic>
        <p:nvPicPr>
          <p:cNvPr id="12" name="Picture 11" descr="C1.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WHY CA, AND NOT SOMETHING ELSE</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Constant velocity  </a:t>
            </a:r>
            <a:r>
              <a:rPr sz="850" b="0">
                <a:solidFill>
                  <a:srgbClr val="33424D"/>
                </a:solidFill>
                <a:latin typeface="Calibri"/>
              </a:rPr>
              <a:t>under-models braking and acceleration — the very behaviours we detect</a:t>
            </a:r>
          </a:p>
          <a:p>
            <a:pPr marL="128016" indent="-128016">
              <a:spcAft>
                <a:spcPts val="200"/>
              </a:spcAft>
            </a:pPr>
            <a:r>
              <a:rPr sz="850" b="1">
                <a:solidFill>
                  <a:srgbClr val="0B4F6C"/>
                </a:solidFill>
                <a:latin typeface="Calibri"/>
              </a:rPr>
              <a:t>EKF / UKF  </a:t>
            </a:r>
            <a:r>
              <a:rPr sz="850" b="0">
                <a:solidFill>
                  <a:srgbClr val="33424D"/>
                </a:solidFill>
                <a:latin typeface="Calibri"/>
              </a:rPr>
              <a:t>our motion and measurement models are adequately linear; complexity unjustified</a:t>
            </a:r>
          </a:p>
          <a:p>
            <a:pPr marL="128016" indent="-128016">
              <a:spcAft>
                <a:spcPts val="200"/>
              </a:spcAft>
            </a:pPr>
            <a:r>
              <a:rPr sz="850" b="1">
                <a:solidFill>
                  <a:srgbClr val="0B4F6C"/>
                </a:solidFill>
                <a:latin typeface="Calibri"/>
              </a:rPr>
              <a:t>Particle filter  </a:t>
            </a:r>
            <a:r>
              <a:rPr sz="850" b="0">
                <a:solidFill>
                  <a:srgbClr val="33424D"/>
                </a:solidFill>
                <a:latin typeface="Calibri"/>
              </a:rPr>
              <a:t>heavier, and unnecessary — sensor noise is near-Gaussian by construction</a:t>
            </a:r>
          </a:p>
          <a:p>
            <a:pPr marL="128016" indent="-128016">
              <a:spcAft>
                <a:spcPts val="200"/>
              </a:spcAft>
            </a:pPr>
            <a:r>
              <a:rPr sz="850" b="1">
                <a:solidFill>
                  <a:srgbClr val="0B4F6C"/>
                </a:solidFill>
                <a:latin typeface="Calibri"/>
              </a:rPr>
              <a:t>Decoupled x / y  </a:t>
            </a:r>
            <a:r>
              <a:rPr sz="850" b="0">
                <a:solidFill>
                  <a:srgbClr val="33424D"/>
                </a:solidFill>
                <a:latin typeface="Calibri"/>
              </a:rPr>
              <a:t>a simplification: on a curved road the axes are correlated. Accepted because segments are short and straight</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SNR-Driven Measurement Noise</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25</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C2   ·   </a:t>
            </a:r>
            <a:r>
              <a:rPr sz="1100" b="1">
                <a:solidFill>
                  <a:srgbClr val="1C7293"/>
                </a:solidFill>
                <a:latin typeface="Calibri"/>
              </a:rPr>
              <a:t>WHAT MAKES COMPLEMENTARY FUSION WORK</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σ_DAS = max( 0.3 , k_DAS / √SNR )</a:t>
            </a:r>
            <a:r>
              <a:rPr sz="1050" b="0">
                <a:solidFill>
                  <a:srgbClr val="33424D"/>
                </a:solidFill>
                <a:latin typeface="Calibri"/>
              </a:rPr>
              <a:t> , then  R = σ² / confidence      (Report Eq. 7)</a:t>
            </a:r>
          </a:p>
          <a:p>
            <a:pPr marL="201168" indent="-201168">
              <a:spcAft>
                <a:spcPts val="600"/>
              </a:spcAft>
            </a:pPr>
            <a:r>
              <a:rPr sz="1050" b="1">
                <a:solidFill>
                  <a:srgbClr val="1C7293"/>
                </a:solidFill>
                <a:latin typeface="Calibri"/>
              </a:rPr>
              <a:t>▪   </a:t>
            </a:r>
            <a:r>
              <a:rPr sz="1050" b="0">
                <a:solidFill>
                  <a:srgbClr val="33424D"/>
                </a:solidFill>
                <a:latin typeface="Calibri"/>
              </a:rPr>
              <a:t>No hand-tuned constants: every single measurement carries a </a:t>
            </a:r>
            <a:r>
              <a:rPr sz="1050" b="1">
                <a:solidFill>
                  <a:srgbClr val="33424D"/>
                </a:solidFill>
                <a:latin typeface="Calibri"/>
              </a:rPr>
              <a:t>physics-derived</a:t>
            </a:r>
            <a:r>
              <a:rPr sz="1050" b="0">
                <a:solidFill>
                  <a:srgbClr val="33424D"/>
                </a:solidFill>
                <a:latin typeface="Calibri"/>
              </a:rPr>
              <a:t> uncertainty into the filter.</a:t>
            </a:r>
          </a:p>
          <a:p>
            <a:pPr marL="201168" indent="-201168">
              <a:spcAft>
                <a:spcPts val="600"/>
              </a:spcAft>
            </a:pPr>
            <a:r>
              <a:rPr sz="1050" b="1">
                <a:solidFill>
                  <a:srgbClr val="1C7293"/>
                </a:solidFill>
                <a:latin typeface="Calibri"/>
              </a:rPr>
              <a:t>▪   </a:t>
            </a:r>
            <a:r>
              <a:rPr sz="1050" b="0">
                <a:solidFill>
                  <a:srgbClr val="33424D"/>
                </a:solidFill>
                <a:latin typeface="Calibri"/>
              </a:rPr>
              <a:t>The filter therefore trusts a heavy, nearby vehicle far more than a light, distant one — automatically.</a:t>
            </a:r>
          </a:p>
          <a:p>
            <a:pPr marL="201168" indent="-201168">
              <a:spcAft>
                <a:spcPts val="600"/>
              </a:spcAft>
            </a:pPr>
            <a:r>
              <a:rPr sz="1050" b="1">
                <a:solidFill>
                  <a:srgbClr val="1C7293"/>
                </a:solidFill>
                <a:latin typeface="Calibri"/>
              </a:rPr>
              <a:t>▪   </a:t>
            </a:r>
            <a:r>
              <a:rPr sz="1050" b="0">
                <a:solidFill>
                  <a:srgbClr val="33424D"/>
                </a:solidFill>
                <a:latin typeface="Calibri"/>
              </a:rPr>
              <a:t>DAS measurement variance can be </a:t>
            </a:r>
            <a:r>
              <a:rPr sz="1050" b="1">
                <a:solidFill>
                  <a:srgbClr val="33424D"/>
                </a:solidFill>
                <a:latin typeface="Calibri"/>
              </a:rPr>
              <a:t>an order of magnitude below GPS</a:t>
            </a:r>
            <a:r>
              <a:rPr sz="1050" b="0">
                <a:solidFill>
                  <a:srgbClr val="33424D"/>
                </a:solidFill>
                <a:latin typeface="Calibri"/>
              </a:rPr>
              <a:t>, so DAS dominates where it is strong and the filter falls back gracefully where it is not.</a:t>
            </a:r>
          </a:p>
          <a:p>
            <a:pPr marL="201168" indent="-201168">
              <a:spcAft>
                <a:spcPts val="600"/>
              </a:spcAft>
            </a:pPr>
            <a:r>
              <a:rPr sz="1050" b="1">
                <a:solidFill>
                  <a:srgbClr val="1C7293"/>
                </a:solidFill>
                <a:latin typeface="Calibri"/>
              </a:rPr>
              <a:t>▪   </a:t>
            </a:r>
            <a:r>
              <a:rPr sz="1050" b="0">
                <a:solidFill>
                  <a:srgbClr val="33424D"/>
                </a:solidFill>
                <a:latin typeface="Calibri"/>
              </a:rPr>
              <a:t>The 0.3 m floor prevents over-confidence at very high SNR, where peak-finding bias sets a practical limit.</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Kalman gain K  —  </a:t>
            </a:r>
            <a:r>
              <a:rPr sz="850">
                <a:solidFill>
                  <a:srgbClr val="33424D"/>
                </a:solidFill>
                <a:latin typeface="Calibri"/>
              </a:rPr>
              <a:t>how far the estimate moves toward each new measurement</a:t>
            </a:r>
          </a:p>
          <a:p>
            <a:pPr marL="128016" indent="-128016">
              <a:spcAft>
                <a:spcPts val="200"/>
              </a:spcAft>
            </a:pPr>
            <a:r>
              <a:rPr sz="850" b="1">
                <a:solidFill>
                  <a:srgbClr val="1C7293"/>
                </a:solidFill>
                <a:latin typeface="Calibri"/>
              </a:rPr>
              <a:t>complementary fusion  —  </a:t>
            </a:r>
            <a:r>
              <a:rPr sz="850">
                <a:solidFill>
                  <a:srgbClr val="33424D"/>
                </a:solidFill>
                <a:latin typeface="Calibri"/>
              </a:rPr>
              <a:t>each sensor contributes where it is strongest</a:t>
            </a:r>
          </a:p>
          <a:p>
            <a:pPr marL="128016" indent="-128016">
              <a:spcAft>
                <a:spcPts val="200"/>
              </a:spcAft>
            </a:pPr>
            <a:r>
              <a:rPr sz="850" b="1">
                <a:solidFill>
                  <a:srgbClr val="1C7293"/>
                </a:solidFill>
                <a:latin typeface="Calibri"/>
              </a:rPr>
              <a:t>confidence  —  </a:t>
            </a:r>
            <a:r>
              <a:rPr sz="850">
                <a:solidFill>
                  <a:srgbClr val="33424D"/>
                </a:solidFill>
                <a:latin typeface="Calibri"/>
              </a:rPr>
              <a:t>the detector's own belief in a measurement — scales R further</a:t>
            </a:r>
          </a:p>
          <a:p>
            <a:pPr marL="128016" indent="-128016">
              <a:spcAft>
                <a:spcPts val="200"/>
              </a:spcAft>
            </a:pPr>
            <a:r>
              <a:rPr sz="850" b="1">
                <a:solidFill>
                  <a:srgbClr val="1C7293"/>
                </a:solidFill>
                <a:latin typeface="Calibri"/>
              </a:rPr>
              <a:t>σ floor  —  </a:t>
            </a:r>
            <a:r>
              <a:rPr sz="850">
                <a:solidFill>
                  <a:srgbClr val="33424D"/>
                </a:solidFill>
                <a:latin typeface="Calibri"/>
              </a:rPr>
              <a:t>a minimum uncertainty, 0.8 m, that prevents over-confidence at high SNR</a:t>
            </a:r>
          </a:p>
        </p:txBody>
      </p:sp>
      <p:pic>
        <p:nvPicPr>
          <p:cNvPr id="12" name="Picture 11" descr="C2.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PER-SENSOR UNCERTAINTY</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DAS  </a:t>
            </a:r>
            <a:r>
              <a:rPr sz="850" b="0">
                <a:solidFill>
                  <a:srgbClr val="33424D"/>
                </a:solidFill>
                <a:latin typeface="Calibri"/>
              </a:rPr>
              <a:t>σ ∝ 1/√SNR · 30 Hz · along-fiber position and speed</a:t>
            </a:r>
          </a:p>
          <a:p>
            <a:pPr marL="128016" indent="-128016">
              <a:spcAft>
                <a:spcPts val="200"/>
              </a:spcAft>
            </a:pPr>
            <a:r>
              <a:rPr sz="850" b="1">
                <a:solidFill>
                  <a:srgbClr val="0B4F6C"/>
                </a:solidFill>
                <a:latin typeface="Calibri"/>
              </a:rPr>
              <a:t>Camera  </a:t>
            </a:r>
            <a:r>
              <a:rPr sz="850" b="0">
                <a:solidFill>
                  <a:srgbClr val="33424D"/>
                </a:solidFill>
                <a:latin typeface="Calibri"/>
              </a:rPr>
              <a:t>pinhole projection · floor + range + off-axis terms · stochastic FOV gating</a:t>
            </a:r>
          </a:p>
          <a:p>
            <a:pPr marL="128016" indent="-128016">
              <a:spcAft>
                <a:spcPts val="200"/>
              </a:spcAft>
            </a:pPr>
            <a:r>
              <a:rPr sz="850" b="1">
                <a:solidFill>
                  <a:srgbClr val="0B4F6C"/>
                </a:solidFill>
                <a:latin typeface="Calibri"/>
              </a:rPr>
              <a:t>GPS  </a:t>
            </a:r>
            <a:r>
              <a:rPr sz="850" b="0">
                <a:solidFill>
                  <a:srgbClr val="33424D"/>
                </a:solidFill>
                <a:latin typeface="Calibri"/>
              </a:rPr>
              <a:t>σ₀ ≈ 2.5 m · 5 Hz · grows with range from the receiver</a:t>
            </a:r>
          </a:p>
          <a:p>
            <a:pPr marL="128016" indent="-128016">
              <a:spcAft>
                <a:spcPts val="200"/>
              </a:spcAft>
            </a:pPr>
            <a:r>
              <a:rPr sz="850" b="1">
                <a:solidFill>
                  <a:srgbClr val="0B4F6C"/>
                </a:solidFill>
                <a:latin typeface="Calibri"/>
              </a:rPr>
              <a:t>Consequence  </a:t>
            </a:r>
            <a:r>
              <a:rPr sz="850" b="0">
                <a:solidFill>
                  <a:srgbClr val="33424D"/>
                </a:solidFill>
                <a:latin typeface="Calibri"/>
              </a:rPr>
              <a:t>the Kalman gain, not a tuning table, decides who wins at each update</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6</a:t>
            </a:r>
          </a:p>
        </p:txBody>
      </p:sp>
      <p:sp>
        <p:nvSpPr>
          <p:cNvPr id="150" name="Rounded Rectangle 149">
            <a:hlinkClick r:id="rId8"/>
          </p:cNvPr>
          <p:cNvSpPr/>
          <p:nvPr/>
        </p:nvSpPr>
        <p:spPr>
          <a:xfrm>
            <a:off x="7132320"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CODE  ↗</a:t>
            </a:r>
          </a:p>
        </p:txBody>
      </p:sp>
      <p:sp>
        <p:nvSpPr>
          <p:cNvPr id="152" name="TextBox 151"/>
          <p:cNvSpPr txBox="1"/>
          <p:nvPr/>
        </p:nvSpPr>
        <p:spPr>
          <a:xfrm>
            <a:off x="2377440" y="5733288"/>
            <a:ext cx="4681728" cy="219456"/>
          </a:xfrm>
          <a:prstGeom prst="rect">
            <a:avLst/>
          </a:prstGeom>
          <a:noFill/>
        </p:spPr>
        <p:txBody>
          <a:bodyPr wrap="square" lIns="0" tIns="0" rIns="0" bIns="0"/>
          <a:lstStyle/>
          <a:p>
            <a:pPr algn="r"/>
            <a:r>
              <a:rPr sz="800" b="1">
                <a:solidFill>
                  <a:srgbClr val="1C7293"/>
                </a:solidFill>
                <a:latin typeface="Calibri"/>
              </a:rPr>
              <a:t>code:  </a:t>
            </a:r>
            <a:r>
              <a:rPr sz="800" b="0">
                <a:solidFill>
                  <a:srgbClr val="6B7A85"/>
                </a:solidFill>
                <a:latin typeface="Consolas"/>
              </a:rPr>
              <a:t>src/simstudio/sim_core.py  ·  lines 1863–1871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Data Association</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26</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C3   ·   </a:t>
            </a:r>
            <a:r>
              <a:rPr sz="1100" b="1">
                <a:solidFill>
                  <a:srgbClr val="1C7293"/>
                </a:solidFill>
                <a:latin typeface="Calibri"/>
              </a:rPr>
              <a:t>HOW A MEASUREMENT FINDS ITS TRACK</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Candidate tracks are scored by </a:t>
            </a:r>
            <a:r>
              <a:rPr sz="1050" b="1">
                <a:solidFill>
                  <a:srgbClr val="33424D"/>
                </a:solidFill>
                <a:latin typeface="Calibri"/>
              </a:rPr>
              <a:t>predicted-versus-measured distance</a:t>
            </a:r>
            <a:r>
              <a:rPr sz="1050" b="0">
                <a:solidFill>
                  <a:srgbClr val="33424D"/>
                </a:solidFill>
                <a:latin typeface="Calibri"/>
              </a:rPr>
              <a:t>, plus speed, heading and segment-adjacency penalties.</a:t>
            </a:r>
          </a:p>
          <a:p>
            <a:pPr marL="201168" indent="-201168">
              <a:spcAft>
                <a:spcPts val="600"/>
              </a:spcAft>
            </a:pPr>
            <a:r>
              <a:rPr sz="1050" b="1">
                <a:solidFill>
                  <a:srgbClr val="1C7293"/>
                </a:solidFill>
                <a:latin typeface="Calibri"/>
              </a:rPr>
              <a:t>▪   </a:t>
            </a:r>
            <a:r>
              <a:rPr sz="1050" b="0">
                <a:solidFill>
                  <a:srgbClr val="33424D"/>
                </a:solidFill>
                <a:latin typeface="Calibri"/>
              </a:rPr>
              <a:t>Scoring happens inside </a:t>
            </a:r>
            <a:r>
              <a:rPr sz="1050" b="1">
                <a:solidFill>
                  <a:srgbClr val="33424D"/>
                </a:solidFill>
                <a:latin typeface="Calibri"/>
              </a:rPr>
              <a:t>spatial and temporal gates</a:t>
            </a:r>
            <a:r>
              <a:rPr sz="1050" b="0">
                <a:solidFill>
                  <a:srgbClr val="33424D"/>
                </a:solidFill>
                <a:latin typeface="Calibri"/>
              </a:rPr>
              <a:t>; the lowest-cost candidate wins.</a:t>
            </a:r>
          </a:p>
          <a:p>
            <a:pPr marL="201168" indent="-201168">
              <a:spcAft>
                <a:spcPts val="600"/>
              </a:spcAft>
            </a:pPr>
            <a:r>
              <a:rPr sz="1050" b="1">
                <a:solidFill>
                  <a:srgbClr val="1C7293"/>
                </a:solidFill>
                <a:latin typeface="Calibri"/>
              </a:rPr>
              <a:t>▪   </a:t>
            </a:r>
            <a:r>
              <a:rPr sz="1050" b="0">
                <a:solidFill>
                  <a:srgbClr val="33424D"/>
                </a:solidFill>
                <a:latin typeface="Calibri"/>
              </a:rPr>
              <a:t>New tracks are born </a:t>
            </a:r>
            <a:r>
              <a:rPr sz="1050" b="1">
                <a:solidFill>
                  <a:srgbClr val="33424D"/>
                </a:solidFill>
                <a:latin typeface="Calibri"/>
              </a:rPr>
              <a:t>tentative</a:t>
            </a:r>
            <a:r>
              <a:rPr sz="1050" b="0">
                <a:solidFill>
                  <a:srgbClr val="33424D"/>
                </a:solidFill>
                <a:latin typeface="Calibri"/>
              </a:rPr>
              <a:t> and promoted to </a:t>
            </a:r>
            <a:r>
              <a:rPr sz="1050" b="1">
                <a:solidFill>
                  <a:srgbClr val="33424D"/>
                </a:solidFill>
                <a:latin typeface="Calibri"/>
              </a:rPr>
              <a:t>confirmed</a:t>
            </a:r>
            <a:r>
              <a:rPr sz="1050" b="0">
                <a:solidFill>
                  <a:srgbClr val="33424D"/>
                </a:solidFill>
                <a:latin typeface="Calibri"/>
              </a:rPr>
              <a:t> only after three consecutive associated measurements.</a:t>
            </a:r>
          </a:p>
          <a:p>
            <a:pPr marL="201168" indent="-201168">
              <a:spcAft>
                <a:spcPts val="600"/>
              </a:spcAft>
            </a:pPr>
            <a:r>
              <a:rPr sz="1050" b="1">
                <a:solidFill>
                  <a:srgbClr val="1C7293"/>
                </a:solidFill>
                <a:latin typeface="Calibri"/>
              </a:rPr>
              <a:t>▪   </a:t>
            </a:r>
            <a:r>
              <a:rPr sz="1050" b="0">
                <a:solidFill>
                  <a:srgbClr val="33424D"/>
                </a:solidFill>
                <a:latin typeface="Calibri"/>
              </a:rPr>
              <a:t>That M-of-N rule is precisely what suppresses single-hit DAS ghosts.</a:t>
            </a:r>
          </a:p>
          <a:p>
            <a:pPr marL="201168" indent="-201168">
              <a:spcAft>
                <a:spcPts val="600"/>
              </a:spcAft>
            </a:pPr>
            <a:r>
              <a:rPr sz="1050" b="1">
                <a:solidFill>
                  <a:srgbClr val="1C7293"/>
                </a:solidFill>
                <a:latin typeface="Calibri"/>
              </a:rPr>
              <a:t>▪   </a:t>
            </a:r>
            <a:r>
              <a:rPr sz="1050" b="0">
                <a:solidFill>
                  <a:srgbClr val="33424D"/>
                </a:solidFill>
                <a:latin typeface="Calibri"/>
              </a:rPr>
              <a:t>A stable </a:t>
            </a:r>
            <a:r>
              <a:rPr sz="1050" b="1">
                <a:solidFill>
                  <a:srgbClr val="33424D"/>
                </a:solidFill>
                <a:latin typeface="Calibri"/>
              </a:rPr>
              <a:t>global track ID</a:t>
            </a:r>
            <a:r>
              <a:rPr sz="1050" b="0">
                <a:solidFill>
                  <a:srgbClr val="33424D"/>
                </a:solidFill>
                <a:latin typeface="Calibri"/>
              </a:rPr>
              <a:t> is carried across segment boundaries and sensor hand-offs.</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association  —  </a:t>
            </a:r>
            <a:r>
              <a:rPr sz="850">
                <a:solidFill>
                  <a:srgbClr val="33424D"/>
                </a:solidFill>
                <a:latin typeface="Calibri"/>
              </a:rPr>
              <a:t>deciding which existing track a new measurement belongs to</a:t>
            </a:r>
          </a:p>
          <a:p>
            <a:pPr marL="128016" indent="-128016">
              <a:spcAft>
                <a:spcPts val="200"/>
              </a:spcAft>
            </a:pPr>
            <a:r>
              <a:rPr sz="850" b="1">
                <a:solidFill>
                  <a:srgbClr val="1C7293"/>
                </a:solidFill>
                <a:latin typeface="Calibri"/>
              </a:rPr>
              <a:t>gate  —  </a:t>
            </a:r>
            <a:r>
              <a:rPr sz="850">
                <a:solidFill>
                  <a:srgbClr val="33424D"/>
                </a:solidFill>
                <a:latin typeface="Calibri"/>
              </a:rPr>
              <a:t>the spatial and temporal window a candidate must fall inside</a:t>
            </a:r>
          </a:p>
          <a:p>
            <a:pPr marL="128016" indent="-128016">
              <a:spcAft>
                <a:spcPts val="200"/>
              </a:spcAft>
            </a:pPr>
            <a:r>
              <a:rPr sz="850" b="1">
                <a:solidFill>
                  <a:srgbClr val="1C7293"/>
                </a:solidFill>
                <a:latin typeface="Calibri"/>
              </a:rPr>
              <a:t>tentative / confirmed  —  </a:t>
            </a:r>
            <a:r>
              <a:rPr sz="850">
                <a:solidFill>
                  <a:srgbClr val="33424D"/>
                </a:solidFill>
                <a:latin typeface="Calibri"/>
              </a:rPr>
              <a:t>a new track is provisional until three measurements agree</a:t>
            </a:r>
          </a:p>
          <a:p>
            <a:pPr marL="128016" indent="-128016">
              <a:spcAft>
                <a:spcPts val="200"/>
              </a:spcAft>
            </a:pPr>
            <a:r>
              <a:rPr sz="850" b="1">
                <a:solidFill>
                  <a:srgbClr val="1C7293"/>
                </a:solidFill>
                <a:latin typeface="Calibri"/>
              </a:rPr>
              <a:t>ghost track  —  </a:t>
            </a:r>
            <a:r>
              <a:rPr sz="850">
                <a:solidFill>
                  <a:srgbClr val="33424D"/>
                </a:solidFill>
                <a:latin typeface="Calibri"/>
              </a:rPr>
              <a:t>a spurious track born from a stray detection</a:t>
            </a:r>
          </a:p>
        </p:txBody>
      </p:sp>
      <p:pic>
        <p:nvPicPr>
          <p:cNvPr id="12" name="Picture 11" descr="C3.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WHAT WE WOULD DO DIFFERENTLY</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Replace the kinematic cost with a </a:t>
            </a:r>
            <a:r>
              <a:rPr sz="850" b="1">
                <a:solidFill>
                  <a:srgbClr val="33424D"/>
                </a:solidFill>
                <a:latin typeface="Calibri"/>
              </a:rPr>
              <a:t>Mahalanobis-gated, covariance-aware</a:t>
            </a:r>
            <a:r>
              <a:rPr sz="850" b="0">
                <a:solidFill>
                  <a:srgbClr val="33424D"/>
                </a:solidFill>
                <a:latin typeface="Calibri"/>
              </a:rPr>
              <a:t> cost — stated as future work in the report</a:t>
            </a:r>
          </a:p>
          <a:p>
            <a:pPr marL="128016" indent="-128016">
              <a:spcAft>
                <a:spcPts val="200"/>
              </a:spcAft>
            </a:pPr>
            <a:r>
              <a:rPr sz="850" b="1">
                <a:solidFill>
                  <a:srgbClr val="1C7293"/>
                </a:solidFill>
                <a:latin typeface="Calibri"/>
              </a:rPr>
              <a:t>–  </a:t>
            </a:r>
            <a:r>
              <a:rPr sz="850" b="0">
                <a:solidFill>
                  <a:srgbClr val="33424D"/>
                </a:solidFill>
                <a:latin typeface="Calibri"/>
              </a:rPr>
              <a:t>JPDA or MHT would pay off in dense traffic</a:t>
            </a:r>
          </a:p>
          <a:p>
            <a:pPr marL="128016" indent="-128016">
              <a:spcAft>
                <a:spcPts val="200"/>
              </a:spcAft>
            </a:pPr>
            <a:r>
              <a:rPr sz="850" b="1">
                <a:solidFill>
                  <a:srgbClr val="1C7293"/>
                </a:solidFill>
                <a:latin typeface="Calibri"/>
              </a:rPr>
              <a:t>–  </a:t>
            </a:r>
            <a:r>
              <a:rPr sz="850" b="0">
                <a:solidFill>
                  <a:srgbClr val="33424D"/>
                </a:solidFill>
                <a:latin typeface="Calibri"/>
              </a:rPr>
              <a:t>At our vehicle densities, nearest-neighbour plus M-of-N was sufficient </a:t>
            </a:r>
            <a:r>
              <a:rPr sz="850" b="1">
                <a:solidFill>
                  <a:srgbClr val="33424D"/>
                </a:solidFill>
                <a:latin typeface="Calibri"/>
              </a:rPr>
              <a:t>and far easier to verify</a:t>
            </a:r>
            <a:r>
              <a:rPr sz="850" b="0">
                <a:solidFill>
                  <a:srgbClr val="33424D"/>
                </a:solidFill>
                <a:latin typeface="Calibri"/>
              </a:rPr>
              <a:t> — which mattered more for a project whose credibility rests on verifiability</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From True (x, y) to a Measurement</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27</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C4   ·   HOW A MEASUREMENT IS BORN</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Every measurement starts from the same place: the true position (x, y) taken from the lane polyline at the vehicle's arc-length, offset by its lateral drift. No sensor is ever given this value.</a:t>
            </a:r>
          </a:p>
          <a:p>
            <a:pPr marL="201168" indent="-201168">
              <a:spcAft>
                <a:spcPts val="600"/>
              </a:spcAft>
            </a:pPr>
            <a:r>
              <a:rPr sz="1050" b="1">
                <a:solidFill>
                  <a:srgbClr val="1C7293"/>
                </a:solidFill>
                <a:latin typeface="Calibri"/>
              </a:rPr>
              <a:t>▪   DAS — r is the perpendicular distance to the fiber, A = W/(</a:t>
            </a:r>
            <a:r>
              <a:rPr sz="1050" b="1" err="1">
                <a:solidFill>
                  <a:srgbClr val="1C7293"/>
                </a:solidFill>
                <a:latin typeface="Calibri"/>
              </a:rPr>
              <a:t>r+d</a:t>
            </a:r>
            <a:r>
              <a:rPr sz="1050" b="1">
                <a:solidFill>
                  <a:srgbClr val="1C7293"/>
                </a:solidFill>
                <a:latin typeface="Calibri"/>
              </a:rPr>
              <a:t>₀)², SNR = A/</a:t>
            </a:r>
            <a:r>
              <a:rPr sz="1050" b="1" err="1">
                <a:solidFill>
                  <a:srgbClr val="1C7293"/>
                </a:solidFill>
                <a:latin typeface="Calibri"/>
              </a:rPr>
              <a:t>σ_th</a:t>
            </a:r>
            <a:r>
              <a:rPr sz="1050" b="1">
                <a:solidFill>
                  <a:srgbClr val="1C7293"/>
                </a:solidFill>
                <a:latin typeface="Calibri"/>
              </a:rPr>
              <a:t>, and </a:t>
            </a:r>
            <a:r>
              <a:rPr sz="1050" b="1" err="1">
                <a:solidFill>
                  <a:srgbClr val="1C7293"/>
                </a:solidFill>
                <a:latin typeface="Calibri"/>
              </a:rPr>
              <a:t>σ_DAS</a:t>
            </a:r>
            <a:r>
              <a:rPr sz="1050" b="1">
                <a:solidFill>
                  <a:srgbClr val="1C7293"/>
                </a:solidFill>
                <a:latin typeface="Calibri"/>
              </a:rPr>
              <a:t> = max(0.3, </a:t>
            </a:r>
            <a:r>
              <a:rPr sz="1050" b="1" err="1">
                <a:solidFill>
                  <a:srgbClr val="1C7293"/>
                </a:solidFill>
                <a:latin typeface="Calibri"/>
              </a:rPr>
              <a:t>k_DAS</a:t>
            </a:r>
            <a:r>
              <a:rPr sz="1050" b="1">
                <a:solidFill>
                  <a:srgbClr val="1C7293"/>
                </a:solidFill>
                <a:latin typeface="Calibri"/>
              </a:rPr>
              <a:t>/√SNR) with </a:t>
            </a:r>
            <a:r>
              <a:rPr sz="1050" b="1" err="1">
                <a:solidFill>
                  <a:srgbClr val="1C7293"/>
                </a:solidFill>
                <a:latin typeface="Calibri"/>
              </a:rPr>
              <a:t>k_DAS</a:t>
            </a:r>
            <a:r>
              <a:rPr sz="1050" b="1">
                <a:solidFill>
                  <a:srgbClr val="1C7293"/>
                </a:solidFill>
                <a:latin typeface="Calibri"/>
              </a:rPr>
              <a:t> = 2.0. Two independent Gaussians are added: N(0, </a:t>
            </a:r>
            <a:r>
              <a:rPr sz="1050" b="1" err="1">
                <a:solidFill>
                  <a:srgbClr val="1C7293"/>
                </a:solidFill>
                <a:latin typeface="Calibri"/>
              </a:rPr>
              <a:t>σ_DAS</a:t>
            </a:r>
            <a:r>
              <a:rPr sz="1050" b="1">
                <a:solidFill>
                  <a:srgbClr val="1C7293"/>
                </a:solidFill>
                <a:latin typeface="Calibri"/>
              </a:rPr>
              <a:t>) for the sensor, and N(0, </a:t>
            </a:r>
            <a:r>
              <a:rPr sz="1050" b="1" err="1">
                <a:solidFill>
                  <a:srgbClr val="1C7293"/>
                </a:solidFill>
                <a:latin typeface="Calibri"/>
              </a:rPr>
              <a:t>σ_lane</a:t>
            </a:r>
            <a:r>
              <a:rPr sz="1050" b="1">
                <a:solidFill>
                  <a:srgbClr val="1C7293"/>
                </a:solidFill>
                <a:latin typeface="Calibri"/>
              </a:rPr>
              <a:t>) with </a:t>
            </a:r>
            <a:r>
              <a:rPr sz="1050" b="1" err="1">
                <a:solidFill>
                  <a:srgbClr val="1C7293"/>
                </a:solidFill>
                <a:latin typeface="Calibri"/>
              </a:rPr>
              <a:t>σ_lane</a:t>
            </a:r>
            <a:r>
              <a:rPr sz="1050" b="1">
                <a:solidFill>
                  <a:srgbClr val="1C7293"/>
                </a:solidFill>
                <a:latin typeface="Calibri"/>
              </a:rPr>
              <a:t> = 0.2 m for the vehicle's true spread across the lane.</a:t>
            </a:r>
          </a:p>
          <a:p>
            <a:pPr marL="201168" indent="-201168">
              <a:spcAft>
                <a:spcPts val="600"/>
              </a:spcAft>
            </a:pPr>
            <a:r>
              <a:rPr sz="1050" b="1">
                <a:solidFill>
                  <a:srgbClr val="1C7293"/>
                </a:solidFill>
                <a:latin typeface="Calibri"/>
              </a:rPr>
              <a:t>▪   Camera — range r and off-axis angle </a:t>
            </a:r>
            <a:r>
              <a:rPr sz="1050" b="1" err="1">
                <a:solidFill>
                  <a:srgbClr val="1C7293"/>
                </a:solidFill>
                <a:latin typeface="Calibri"/>
              </a:rPr>
              <a:t>Δθ</a:t>
            </a:r>
            <a:r>
              <a:rPr sz="1050" b="1">
                <a:solidFill>
                  <a:srgbClr val="1C7293"/>
                </a:solidFill>
                <a:latin typeface="Calibri"/>
              </a:rPr>
              <a:t> follow from the camera pose, then </a:t>
            </a:r>
            <a:r>
              <a:rPr sz="1050" b="1" err="1">
                <a:solidFill>
                  <a:srgbClr val="1C7293"/>
                </a:solidFill>
                <a:latin typeface="Calibri"/>
              </a:rPr>
              <a:t>σ_cam</a:t>
            </a:r>
            <a:r>
              <a:rPr sz="1050" b="1">
                <a:solidFill>
                  <a:srgbClr val="1C7293"/>
                </a:solidFill>
                <a:latin typeface="Calibri"/>
              </a:rPr>
              <a:t> = σ_cam,0 + </a:t>
            </a:r>
            <a:r>
              <a:rPr sz="1050" b="1" err="1">
                <a:solidFill>
                  <a:srgbClr val="1C7293"/>
                </a:solidFill>
                <a:latin typeface="Calibri"/>
              </a:rPr>
              <a:t>k_r·r</a:t>
            </a:r>
            <a:r>
              <a:rPr sz="1050" b="1">
                <a:solidFill>
                  <a:srgbClr val="1C7293"/>
                </a:solidFill>
                <a:latin typeface="Calibri"/>
              </a:rPr>
              <a:t> + </a:t>
            </a:r>
            <a:r>
              <a:rPr sz="1050" b="1" err="1">
                <a:solidFill>
                  <a:srgbClr val="1C7293"/>
                </a:solidFill>
                <a:latin typeface="Calibri"/>
              </a:rPr>
              <a:t>k_θ|Δθ</a:t>
            </a:r>
            <a:r>
              <a:rPr sz="1050" b="1">
                <a:solidFill>
                  <a:srgbClr val="1C7293"/>
                </a:solidFill>
                <a:latin typeface="Calibri"/>
              </a:rPr>
              <a:t>|. Confidence falls with range and angle, and a draw against it decides whether the frame reports at all: a real camera does not see every vehicle.</a:t>
            </a:r>
          </a:p>
          <a:p>
            <a:pPr marL="201168" indent="-201168">
              <a:spcAft>
                <a:spcPts val="600"/>
              </a:spcAft>
            </a:pPr>
            <a:r>
              <a:rPr sz="1050" b="1">
                <a:solidFill>
                  <a:srgbClr val="1C7293"/>
                </a:solidFill>
                <a:latin typeface="Calibri"/>
              </a:rPr>
              <a:t>▪   GPS — </a:t>
            </a:r>
            <a:r>
              <a:rPr sz="1050" b="1" err="1">
                <a:solidFill>
                  <a:srgbClr val="1C7293"/>
                </a:solidFill>
                <a:latin typeface="Calibri"/>
              </a:rPr>
              <a:t>σ_GPS</a:t>
            </a:r>
            <a:r>
              <a:rPr sz="1050" b="1">
                <a:solidFill>
                  <a:srgbClr val="1C7293"/>
                </a:solidFill>
                <a:latin typeface="Calibri"/>
              </a:rPr>
              <a:t> = σ_GPS,0 [1 + 0.35 (r/</a:t>
            </a:r>
            <a:r>
              <a:rPr sz="1050" b="1" err="1">
                <a:solidFill>
                  <a:srgbClr val="1C7293"/>
                </a:solidFill>
                <a:latin typeface="Calibri"/>
              </a:rPr>
              <a:t>R_g</a:t>
            </a:r>
            <a:r>
              <a:rPr sz="1050" b="1">
                <a:solidFill>
                  <a:srgbClr val="1C7293"/>
                </a:solidFill>
                <a:latin typeface="Calibri"/>
              </a:rPr>
              <a:t>)²] with σ_GPS,0 = 2.5 m and </a:t>
            </a:r>
            <a:r>
              <a:rPr sz="1050" b="1" err="1">
                <a:solidFill>
                  <a:srgbClr val="1C7293"/>
                </a:solidFill>
                <a:latin typeface="Calibri"/>
              </a:rPr>
              <a:t>R_g</a:t>
            </a:r>
            <a:r>
              <a:rPr sz="1050" b="1">
                <a:solidFill>
                  <a:srgbClr val="1C7293"/>
                </a:solidFill>
                <a:latin typeface="Calibri"/>
              </a:rPr>
              <a:t> = 25 m; confidence = 1 / (1 + (</a:t>
            </a:r>
            <a:r>
              <a:rPr sz="1050" b="1" err="1">
                <a:solidFill>
                  <a:srgbClr val="1C7293"/>
                </a:solidFill>
                <a:latin typeface="Calibri"/>
              </a:rPr>
              <a:t>σ</a:t>
            </a:r>
            <a:r>
              <a:rPr sz="1050" b="1">
                <a:solidFill>
                  <a:srgbClr val="1C7293"/>
                </a:solidFill>
                <a:latin typeface="Calibri"/>
              </a:rPr>
              <a:t>/σ_GPS,0)²), so a distant fix is admitted but distrusted.</a:t>
            </a:r>
          </a:p>
          <a:p>
            <a:pPr marL="201168" indent="-201168">
              <a:spcAft>
                <a:spcPts val="600"/>
              </a:spcAft>
            </a:pPr>
            <a:r>
              <a:rPr sz="1050" b="1">
                <a:solidFill>
                  <a:srgbClr val="1C7293"/>
                </a:solidFill>
                <a:latin typeface="Calibri"/>
              </a:rPr>
              <a:t>▪   What is published is (x + noise, y + noise) together with </a:t>
            </a:r>
            <a:r>
              <a:rPr sz="1050" b="1" err="1">
                <a:solidFill>
                  <a:srgbClr val="1C7293"/>
                </a:solidFill>
                <a:latin typeface="Calibri"/>
              </a:rPr>
              <a:t>σ</a:t>
            </a:r>
            <a:r>
              <a:rPr sz="1050" b="1">
                <a:solidFill>
                  <a:srgbClr val="1C7293"/>
                </a:solidFill>
                <a:latin typeface="Calibri"/>
              </a:rPr>
              <a:t> and confidence — never the truth, and never the noise that was drawn.</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truth  —  the simulator's exact position; used only to measure error, never to estimate</a:t>
            </a:r>
          </a:p>
          <a:p>
            <a:pPr marL="128016" indent="-128016">
              <a:spcAft>
                <a:spcPts val="200"/>
              </a:spcAft>
            </a:pPr>
            <a:r>
              <a:rPr sz="850" b="1">
                <a:solidFill>
                  <a:srgbClr val="1C7293"/>
                </a:solidFill>
                <a:latin typeface="Calibri"/>
              </a:rPr>
              <a:t>σ  —  the standard deviation the sensor itself reports for that one reading</a:t>
            </a:r>
          </a:p>
          <a:p>
            <a:pPr marL="128016" indent="-128016">
              <a:spcAft>
                <a:spcPts val="200"/>
              </a:spcAft>
            </a:pPr>
            <a:r>
              <a:rPr sz="850" b="1">
                <a:solidFill>
                  <a:srgbClr val="1C7293"/>
                </a:solidFill>
                <a:latin typeface="Calibri"/>
              </a:rPr>
              <a:t>confidence  —  how much the sensor trusts the reading — driven by range, angle and SNR</a:t>
            </a:r>
          </a:p>
          <a:p>
            <a:pPr marL="128016" indent="-128016">
              <a:spcAft>
                <a:spcPts val="200"/>
              </a:spcAft>
            </a:pPr>
            <a:r>
              <a:rPr sz="850" b="1">
                <a:solidFill>
                  <a:srgbClr val="1C7293"/>
                </a:solidFill>
                <a:latin typeface="Calibri"/>
              </a:rPr>
              <a:t>σ_lane  —  0.2 m of true lateral spread inside the lane — a property of the vehicle, not the sensor</a:t>
            </a:r>
          </a:p>
        </p:txBody>
      </p:sp>
      <p:pic>
        <p:nvPicPr>
          <p:cNvPr id="12" name="Picture 11" descr="C4.png"/>
          <p:cNvPicPr>
            <a:picLocks noChangeAspect="1"/>
          </p:cNvPicPr>
          <p:nvPr/>
        </p:nvPicPr>
        <p:blipFill>
          <a:blip r:embed="rId5"/>
          <a:stretch>
            <a:fillRect/>
          </a:stretch>
        </p:blipFill>
        <p:spPr>
          <a:xfrm>
            <a:off x="6879147" y="1316736"/>
            <a:ext cx="3981067" cy="1750000"/>
          </a:xfrm>
          <a:prstGeom prst="rect">
            <a:avLst/>
          </a:prstGeom>
        </p:spPr>
      </p:pic>
      <p:sp>
        <p:nvSpPr>
          <p:cNvPr id="13" name="Rounded Rectangle 12"/>
          <p:cNvSpPr/>
          <p:nvPr/>
        </p:nvSpPr>
        <p:spPr>
          <a:xfrm>
            <a:off x="6163056" y="3200000"/>
            <a:ext cx="5413248" cy="2341264"/>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3330000"/>
            <a:ext cx="5010912" cy="219456"/>
          </a:xfrm>
          <a:prstGeom prst="rect">
            <a:avLst/>
          </a:prstGeom>
          <a:noFill/>
        </p:spPr>
        <p:txBody>
          <a:bodyPr wrap="square" lIns="0" tIns="0" rIns="0" bIns="0">
            <a:spAutoFit/>
          </a:bodyPr>
          <a:lstStyle/>
          <a:p>
            <a:r>
              <a:rPr sz="900" b="1">
                <a:solidFill>
                  <a:srgbClr val="0B4F6C"/>
                </a:solidFill>
                <a:latin typeface="Calibri"/>
              </a:rPr>
              <a:t>PER-SENSOR σ AND CONFIDENCE   (Report Eq. 7–9)</a:t>
            </a:r>
          </a:p>
        </p:txBody>
      </p:sp>
      <mc:AlternateContent xmlns:mc="http://schemas.openxmlformats.org/markup-compatibility/2006" xmlns:a14="http://schemas.microsoft.com/office/drawing/2010/main">
        <mc:Choice Requires="a14">
          <p:sp>
            <p:nvSpPr>
              <p:cNvPr id="15" name="TextBox 14"/>
              <p:cNvSpPr txBox="1"/>
              <p:nvPr/>
            </p:nvSpPr>
            <p:spPr>
              <a:xfrm>
                <a:off x="7181088" y="3274395"/>
                <a:ext cx="5010912" cy="2274084"/>
              </a:xfrm>
              <a:prstGeom prst="rect">
                <a:avLst/>
              </a:prstGeom>
              <a:noFill/>
            </p:spPr>
            <p:txBody>
              <a:bodyPr wrap="square" lIns="0" tIns="0" rIns="0" bIns="0">
                <a:spAutoFit/>
              </a:bodyPr>
              <a:lstStyle/>
              <a:p>
                <a:pPr algn="l">
                  <a:spcAft>
                    <a:spcPts val="300"/>
                  </a:spcAft>
                </a:pPr>
                <a14:m>
                  <m:oMathPara xmlns:m="http://schemas.openxmlformats.org/officeDocument/2006/math">
                    <m:oMath>
                      <m:sSub>
                        <m:sSubPr>
                          <m:ctrlPr>
                            <a:rPr lang="en-US" sz="900">
                              <a:latin typeface="Cambria Math"/>
                            </a:rPr>
                          </m:ctrlPr>
                        </m:sSubPr>
                        <m:e>
                          <m:r>
                            <a:rPr lang="en-US" sz="900">
                              <a:latin typeface="Cambria Math"/>
                            </a:rPr>
                            <m:t>𝜎</m:t>
                          </m:r>
                        </m:e>
                        <m:sub>
                          <m:r>
                            <a:rPr lang="en-US" sz="900">
                              <a:latin typeface="Cambria Math"/>
                            </a:rPr>
                            <m:t>𝐷𝐴𝑆</m:t>
                          </m:r>
                        </m:sub>
                      </m:sSub>
                      <m:r>
                        <a:rPr lang="en-US" sz="900">
                          <a:latin typeface="Cambria Math"/>
                        </a:rPr>
                        <m:t> = </m:t>
                      </m:r>
                      <m:r>
                        <m:rPr>
                          <m:nor/>
                        </m:rPr>
                        <a:rPr lang="en-US" sz="900" i="0">
                          <a:latin typeface="Cambria Math"/>
                        </a:rPr>
                        <m:t>max</m:t>
                      </m:r>
                      <m:d>
                        <m:dPr>
                          <m:ctrlPr>
                            <a:rPr lang="en-US" sz="900">
                              <a:latin typeface="Cambria Math"/>
                            </a:rPr>
                          </m:ctrlPr>
                        </m:dPr>
                        <m:e>
                          <m:r>
                            <a:rPr lang="en-US" sz="900">
                              <a:latin typeface="Cambria Math"/>
                            </a:rPr>
                            <m:t>0.3 ,  </m:t>
                          </m:r>
                          <m:f>
                            <m:fPr>
                              <m:ctrlPr>
                                <a:rPr lang="en-US" sz="900" i="1">
                                  <a:latin typeface="Cambria Math" panose="02040503050406030204" pitchFamily="18" charset="0"/>
                                </a:rPr>
                              </m:ctrlPr>
                            </m:fPr>
                            <m:num>
                              <m:sSub>
                                <m:sSubPr>
                                  <m:ctrlPr>
                                    <a:rPr lang="en-US" sz="900">
                                      <a:latin typeface="Cambria Math"/>
                                    </a:rPr>
                                  </m:ctrlPr>
                                </m:sSubPr>
                                <m:e>
                                  <m:r>
                                    <a:rPr lang="en-US" sz="900">
                                      <a:latin typeface="Cambria Math"/>
                                    </a:rPr>
                                    <m:t>𝑘</m:t>
                                  </m:r>
                                </m:e>
                                <m:sub>
                                  <m:r>
                                    <a:rPr lang="en-US" sz="900">
                                      <a:latin typeface="Cambria Math"/>
                                    </a:rPr>
                                    <m:t>𝐷𝐴𝑆</m:t>
                                  </m:r>
                                </m:sub>
                              </m:sSub>
                            </m:num>
                            <m:den>
                              <m:rad>
                                <m:radPr>
                                  <m:degHide m:val="on"/>
                                  <m:ctrlPr>
                                    <a:rPr lang="en-US" sz="900" i="1">
                                      <a:latin typeface="Cambria Math" panose="02040503050406030204" pitchFamily="18" charset="0"/>
                                    </a:rPr>
                                  </m:ctrlPr>
                                </m:radPr>
                                <m:deg/>
                                <m:e>
                                  <m:r>
                                    <a:rPr lang="en-US" sz="900">
                                      <a:latin typeface="Cambria Math"/>
                                    </a:rPr>
                                    <m:t>𝑆𝑁𝑅</m:t>
                                  </m:r>
                                </m:e>
                              </m:rad>
                            </m:den>
                          </m:f>
                        </m:e>
                      </m:d>
                    </m:oMath>
                  </m:oMathPara>
                </a14:m>
                <a:endParaRPr sz="1600"/>
              </a:p>
              <a:p>
                <a:pPr algn="l">
                  <a:spcAft>
                    <a:spcPts val="300"/>
                  </a:spcAft>
                </a:pPr>
                <a14:m>
                  <m:oMathPara xmlns:m="http://schemas.openxmlformats.org/officeDocument/2006/math">
                    <m:oMath>
                      <m:sSub>
                        <m:sSubPr>
                          <m:ctrlPr>
                            <a:rPr lang="en-US" sz="900">
                              <a:latin typeface="Cambria Math"/>
                            </a:rPr>
                          </m:ctrlPr>
                        </m:sSubPr>
                        <m:e>
                          <m:r>
                            <a:rPr lang="en-US" sz="900">
                              <a:latin typeface="Cambria Math"/>
                            </a:rPr>
                            <m:t>𝑐</m:t>
                          </m:r>
                        </m:e>
                        <m:sub>
                          <m:r>
                            <a:rPr lang="en-US" sz="900">
                              <a:latin typeface="Cambria Math"/>
                            </a:rPr>
                            <m:t>𝐷𝐴𝑆</m:t>
                          </m:r>
                        </m:sub>
                      </m:sSub>
                      <m:r>
                        <a:rPr lang="en-US" sz="900">
                          <a:latin typeface="Cambria Math"/>
                        </a:rPr>
                        <m:t> = </m:t>
                      </m:r>
                      <m:f>
                        <m:fPr>
                          <m:ctrlPr>
                            <a:rPr lang="en-US" sz="900">
                              <a:latin typeface="Cambria Math"/>
                            </a:rPr>
                          </m:ctrlPr>
                        </m:fPr>
                        <m:num>
                          <m:r>
                            <a:rPr lang="en-US" sz="900">
                              <a:latin typeface="Cambria Math"/>
                            </a:rPr>
                            <m:t>𝑆𝑁𝑅</m:t>
                          </m:r>
                        </m:num>
                        <m:den>
                          <m:r>
                            <a:rPr lang="en-US" sz="900">
                              <a:latin typeface="Cambria Math"/>
                            </a:rPr>
                            <m:t>𝑆𝑁𝑅</m:t>
                          </m:r>
                          <m:r>
                            <a:rPr lang="en-US" sz="900">
                              <a:latin typeface="Cambria Math"/>
                            </a:rPr>
                            <m:t> + </m:t>
                          </m:r>
                          <m:sSub>
                            <m:sSubPr>
                              <m:ctrlPr>
                                <a:rPr lang="en-US" sz="900">
                                  <a:latin typeface="Cambria Math"/>
                                </a:rPr>
                              </m:ctrlPr>
                            </m:sSubPr>
                            <m:e>
                              <m:r>
                                <a:rPr lang="en-US" sz="900">
                                  <a:latin typeface="Cambria Math"/>
                                </a:rPr>
                                <m:t>𝜎</m:t>
                              </m:r>
                            </m:e>
                            <m:sub>
                              <m:r>
                                <a:rPr lang="en-US" sz="900">
                                  <a:latin typeface="Cambria Math"/>
                                </a:rPr>
                                <m:t>𝑡ℎ</m:t>
                              </m:r>
                            </m:sub>
                          </m:sSub>
                        </m:den>
                      </m:f>
                    </m:oMath>
                  </m:oMathPara>
                </a14:m>
                <a:endParaRPr sz="1600"/>
              </a:p>
              <a:p>
                <a:pPr algn="l">
                  <a:spcAft>
                    <a:spcPts val="300"/>
                  </a:spcAft>
                </a:pPr>
                <a14:m>
                  <m:oMathPara xmlns:m="http://schemas.openxmlformats.org/officeDocument/2006/math">
                    <m:oMath>
                      <m:sSub>
                        <m:sSubPr>
                          <m:ctrlPr>
                            <a:rPr lang="en-US" sz="900">
                              <a:latin typeface="Cambria Math"/>
                            </a:rPr>
                          </m:ctrlPr>
                        </m:sSubPr>
                        <m:e>
                          <m:r>
                            <a:rPr lang="en-US" sz="900">
                              <a:latin typeface="Cambria Math"/>
                            </a:rPr>
                            <m:t>𝜎</m:t>
                          </m:r>
                        </m:e>
                        <m:sub>
                          <m:r>
                            <a:rPr lang="en-US" sz="900">
                              <a:latin typeface="Cambria Math"/>
                            </a:rPr>
                            <m:t>𝑐𝑎𝑚</m:t>
                          </m:r>
                        </m:sub>
                      </m:sSub>
                      <m:r>
                        <a:rPr lang="en-US" sz="900">
                          <a:latin typeface="Cambria Math"/>
                        </a:rPr>
                        <m:t> = </m:t>
                      </m:r>
                      <m:sSub>
                        <m:sSubPr>
                          <m:ctrlPr>
                            <a:rPr lang="en-US" sz="900">
                              <a:latin typeface="Cambria Math"/>
                            </a:rPr>
                          </m:ctrlPr>
                        </m:sSubPr>
                        <m:e>
                          <m:r>
                            <a:rPr lang="en-US" sz="900">
                              <a:latin typeface="Cambria Math"/>
                            </a:rPr>
                            <m:t>𝜎</m:t>
                          </m:r>
                        </m:e>
                        <m:sub>
                          <m:r>
                            <a:rPr lang="en-US" sz="900">
                              <a:latin typeface="Cambria Math"/>
                            </a:rPr>
                            <m:t>𝑐𝑎𝑚</m:t>
                          </m:r>
                          <m:r>
                            <a:rPr lang="en-US" sz="900">
                              <a:latin typeface="Cambria Math"/>
                            </a:rPr>
                            <m:t>,0</m:t>
                          </m:r>
                        </m:sub>
                      </m:sSub>
                      <m:r>
                        <a:rPr lang="en-US" sz="900">
                          <a:latin typeface="Cambria Math"/>
                        </a:rPr>
                        <m:t> + </m:t>
                      </m:r>
                      <m:sSub>
                        <m:sSubPr>
                          <m:ctrlPr>
                            <a:rPr lang="en-US" sz="900">
                              <a:latin typeface="Cambria Math"/>
                            </a:rPr>
                          </m:ctrlPr>
                        </m:sSubPr>
                        <m:e>
                          <m:r>
                            <a:rPr lang="en-US" sz="900">
                              <a:latin typeface="Cambria Math"/>
                            </a:rPr>
                            <m:t>𝑘</m:t>
                          </m:r>
                        </m:e>
                        <m:sub>
                          <m:r>
                            <a:rPr lang="en-US" sz="900">
                              <a:latin typeface="Cambria Math"/>
                            </a:rPr>
                            <m:t>𝑟</m:t>
                          </m:r>
                        </m:sub>
                      </m:sSub>
                      <m:r>
                        <a:rPr lang="en-US" sz="900">
                          <a:latin typeface="Cambria Math"/>
                        </a:rPr>
                        <m:t> </m:t>
                      </m:r>
                      <m:r>
                        <a:rPr lang="en-US" sz="900">
                          <a:latin typeface="Cambria Math"/>
                        </a:rPr>
                        <m:t>𝑟</m:t>
                      </m:r>
                      <m:r>
                        <a:rPr lang="en-US" sz="900">
                          <a:latin typeface="Cambria Math"/>
                        </a:rPr>
                        <m:t> + </m:t>
                      </m:r>
                      <m:sSub>
                        <m:sSubPr>
                          <m:ctrlPr>
                            <a:rPr lang="en-US" sz="900">
                              <a:latin typeface="Cambria Math"/>
                            </a:rPr>
                          </m:ctrlPr>
                        </m:sSubPr>
                        <m:e>
                          <m:r>
                            <a:rPr lang="en-US" sz="900">
                              <a:latin typeface="Cambria Math"/>
                            </a:rPr>
                            <m:t>𝑘</m:t>
                          </m:r>
                        </m:e>
                        <m:sub>
                          <m:r>
                            <a:rPr lang="en-US" sz="900">
                              <a:latin typeface="Cambria Math"/>
                            </a:rPr>
                            <m:t>𝜃</m:t>
                          </m:r>
                        </m:sub>
                      </m:sSub>
                      <m:r>
                        <a:rPr lang="en-US" sz="900">
                          <a:latin typeface="Cambria Math"/>
                        </a:rPr>
                        <m:t> |</m:t>
                      </m:r>
                      <m:r>
                        <a:rPr lang="en-US" sz="900">
                          <a:latin typeface="Cambria Math"/>
                        </a:rPr>
                        <m:t>𝛥𝜃</m:t>
                      </m:r>
                      <m:r>
                        <a:rPr lang="en-US" sz="900">
                          <a:latin typeface="Cambria Math"/>
                        </a:rPr>
                        <m:t>|</m:t>
                      </m:r>
                    </m:oMath>
                  </m:oMathPara>
                </a14:m>
                <a:endParaRPr sz="1600"/>
              </a:p>
              <a:p>
                <a:pPr algn="l">
                  <a:spcAft>
                    <a:spcPts val="300"/>
                  </a:spcAft>
                </a:pPr>
                <a14:m>
                  <m:oMathPara xmlns:m="http://schemas.openxmlformats.org/officeDocument/2006/math">
                    <m:oMath>
                      <m:sSub>
                        <m:sSubPr>
                          <m:ctrlPr>
                            <a:rPr lang="en-US" sz="900">
                              <a:latin typeface="Cambria Math"/>
                            </a:rPr>
                          </m:ctrlPr>
                        </m:sSubPr>
                        <m:e>
                          <m:r>
                            <a:rPr lang="en-US" sz="900">
                              <a:latin typeface="Cambria Math"/>
                            </a:rPr>
                            <m:t>𝑐</m:t>
                          </m:r>
                        </m:e>
                        <m:sub>
                          <m:r>
                            <a:rPr lang="en-US" sz="900">
                              <a:latin typeface="Cambria Math"/>
                            </a:rPr>
                            <m:t>𝑐𝑎𝑚</m:t>
                          </m:r>
                        </m:sub>
                      </m:sSub>
                      <m:r>
                        <a:rPr lang="en-US" sz="900">
                          <a:latin typeface="Cambria Math"/>
                        </a:rPr>
                        <m:t> = 0.15 + 0.83 </m:t>
                      </m:r>
                      <m:sSup>
                        <m:sSupPr>
                          <m:ctrlPr>
                            <a:rPr lang="en-US" sz="900" i="1">
                              <a:latin typeface="Cambria Math" panose="02040503050406030204" pitchFamily="18" charset="0"/>
                            </a:rPr>
                          </m:ctrlPr>
                        </m:sSupPr>
                        <m:e>
                          <m:d>
                            <m:dPr>
                              <m:ctrlPr>
                                <a:rPr lang="en-US" sz="900">
                                  <a:latin typeface="Cambria Math"/>
                                </a:rPr>
                              </m:ctrlPr>
                            </m:dPr>
                            <m:e>
                              <m:r>
                                <a:rPr lang="en-US" sz="900">
                                  <a:latin typeface="Cambria Math"/>
                                </a:rPr>
                                <m:t>1 − </m:t>
                              </m:r>
                              <m:f>
                                <m:fPr>
                                  <m:ctrlPr>
                                    <a:rPr lang="en-US" sz="900">
                                      <a:latin typeface="Cambria Math"/>
                                    </a:rPr>
                                  </m:ctrlPr>
                                </m:fPr>
                                <m:num>
                                  <m:r>
                                    <a:rPr lang="en-US" sz="900">
                                      <a:latin typeface="Cambria Math"/>
                                    </a:rPr>
                                    <m:t>𝑟</m:t>
                                  </m:r>
                                </m:num>
                                <m:den>
                                  <m:sSub>
                                    <m:sSubPr>
                                      <m:ctrlPr>
                                        <a:rPr lang="en-US" sz="900">
                                          <a:latin typeface="Cambria Math"/>
                                        </a:rPr>
                                      </m:ctrlPr>
                                    </m:sSubPr>
                                    <m:e>
                                      <m:r>
                                        <a:rPr lang="en-US" sz="900">
                                          <a:latin typeface="Cambria Math"/>
                                        </a:rPr>
                                        <m:t>𝑟</m:t>
                                      </m:r>
                                    </m:e>
                                    <m:sub>
                                      <m:r>
                                        <a:rPr lang="en-US" sz="900">
                                          <a:latin typeface="Cambria Math"/>
                                        </a:rPr>
                                        <m:t>𝑚𝑎𝑥</m:t>
                                      </m:r>
                                    </m:sub>
                                  </m:sSub>
                                </m:den>
                              </m:f>
                            </m:e>
                          </m:d>
                        </m:e>
                        <m:sup>
                          <m:r>
                            <a:rPr lang="en-US" sz="900">
                              <a:latin typeface="Cambria Math"/>
                            </a:rPr>
                            <m:t>1.35</m:t>
                          </m:r>
                        </m:sup>
                      </m:sSup>
                      <m:r>
                        <a:rPr lang="en-US" sz="900">
                          <a:latin typeface="Cambria Math"/>
                        </a:rPr>
                        <m:t> · </m:t>
                      </m:r>
                      <m:d>
                        <m:dPr>
                          <m:ctrlPr>
                            <a:rPr lang="en-US" sz="900">
                              <a:latin typeface="Cambria Math"/>
                            </a:rPr>
                          </m:ctrlPr>
                        </m:dPr>
                        <m:e>
                          <m:r>
                            <a:rPr lang="en-US" sz="900">
                              <a:latin typeface="Cambria Math"/>
                            </a:rPr>
                            <m:t>0.55 + 0.45 </m:t>
                          </m:r>
                          <m:d>
                            <m:dPr>
                              <m:ctrlPr>
                                <a:rPr lang="en-US" sz="900">
                                  <a:latin typeface="Cambria Math"/>
                                </a:rPr>
                              </m:ctrlPr>
                            </m:dPr>
                            <m:e>
                              <m:r>
                                <a:rPr lang="en-US" sz="900">
                                  <a:latin typeface="Cambria Math"/>
                                </a:rPr>
                                <m:t>1 − </m:t>
                              </m:r>
                              <m:f>
                                <m:fPr>
                                  <m:ctrlPr>
                                    <a:rPr lang="en-US" sz="900">
                                      <a:latin typeface="Cambria Math"/>
                                    </a:rPr>
                                  </m:ctrlPr>
                                </m:fPr>
                                <m:num>
                                  <m:r>
                                    <a:rPr lang="en-US" sz="900">
                                      <a:latin typeface="Cambria Math"/>
                                    </a:rPr>
                                    <m:t>|</m:t>
                                  </m:r>
                                  <m:r>
                                    <a:rPr lang="en-US" sz="900">
                                      <a:latin typeface="Cambria Math"/>
                                    </a:rPr>
                                    <m:t>𝛥𝜃</m:t>
                                  </m:r>
                                  <m:r>
                                    <a:rPr lang="en-US" sz="900">
                                      <a:latin typeface="Cambria Math"/>
                                    </a:rPr>
                                    <m:t>|</m:t>
                                  </m:r>
                                </m:num>
                                <m:den>
                                  <m:sSub>
                                    <m:sSubPr>
                                      <m:ctrlPr>
                                        <a:rPr lang="en-US" sz="900">
                                          <a:latin typeface="Cambria Math"/>
                                        </a:rPr>
                                      </m:ctrlPr>
                                    </m:sSubPr>
                                    <m:e>
                                      <m:r>
                                        <a:rPr lang="en-US" sz="900">
                                          <a:latin typeface="Cambria Math"/>
                                        </a:rPr>
                                        <m:t>𝜃</m:t>
                                      </m:r>
                                    </m:e>
                                    <m:sub>
                                      <m:r>
                                        <a:rPr lang="en-US" sz="900">
                                          <a:latin typeface="Cambria Math"/>
                                        </a:rPr>
                                        <m:t>𝑚𝑎𝑥</m:t>
                                      </m:r>
                                    </m:sub>
                                  </m:sSub>
                                </m:den>
                              </m:f>
                            </m:e>
                          </m:d>
                        </m:e>
                      </m:d>
                    </m:oMath>
                  </m:oMathPara>
                </a14:m>
                <a:endParaRPr sz="1600"/>
              </a:p>
              <a:p>
                <a:pPr algn="l">
                  <a:spcAft>
                    <a:spcPts val="300"/>
                  </a:spcAft>
                </a:pPr>
                <a14:m>
                  <m:oMathPara xmlns:m="http://schemas.openxmlformats.org/officeDocument/2006/math">
                    <m:oMath>
                      <m:sSub>
                        <m:sSubPr>
                          <m:ctrlPr>
                            <a:rPr lang="en-US" sz="900">
                              <a:latin typeface="Cambria Math"/>
                            </a:rPr>
                          </m:ctrlPr>
                        </m:sSubPr>
                        <m:e>
                          <m:r>
                            <a:rPr lang="en-US" sz="900">
                              <a:latin typeface="Cambria Math"/>
                            </a:rPr>
                            <m:t>𝜎</m:t>
                          </m:r>
                        </m:e>
                        <m:sub>
                          <m:r>
                            <a:rPr lang="en-US" sz="900">
                              <a:latin typeface="Cambria Math"/>
                            </a:rPr>
                            <m:t>𝐺𝑃𝑆</m:t>
                          </m:r>
                        </m:sub>
                      </m:sSub>
                      <m:r>
                        <a:rPr lang="en-US" sz="900">
                          <a:latin typeface="Cambria Math"/>
                        </a:rPr>
                        <m:t> = </m:t>
                      </m:r>
                      <m:sSub>
                        <m:sSubPr>
                          <m:ctrlPr>
                            <a:rPr lang="en-US" sz="900">
                              <a:latin typeface="Cambria Math"/>
                            </a:rPr>
                          </m:ctrlPr>
                        </m:sSubPr>
                        <m:e>
                          <m:r>
                            <a:rPr lang="en-US" sz="900">
                              <a:latin typeface="Cambria Math"/>
                            </a:rPr>
                            <m:t>𝜎</m:t>
                          </m:r>
                        </m:e>
                        <m:sub>
                          <m:r>
                            <a:rPr lang="en-US" sz="900">
                              <a:latin typeface="Cambria Math"/>
                            </a:rPr>
                            <m:t>𝐺𝑃𝑆</m:t>
                          </m:r>
                          <m:r>
                            <a:rPr lang="en-US" sz="900">
                              <a:latin typeface="Cambria Math"/>
                            </a:rPr>
                            <m:t>,0</m:t>
                          </m:r>
                        </m:sub>
                      </m:sSub>
                      <m:r>
                        <a:rPr lang="en-US" sz="900">
                          <a:latin typeface="Cambria Math"/>
                        </a:rPr>
                        <m:t> </m:t>
                      </m:r>
                      <m:d>
                        <m:dPr>
                          <m:ctrlPr>
                            <a:rPr lang="en-US" sz="900">
                              <a:latin typeface="Cambria Math"/>
                            </a:rPr>
                          </m:ctrlPr>
                        </m:dPr>
                        <m:e>
                          <m:r>
                            <a:rPr lang="en-US" sz="900">
                              <a:latin typeface="Cambria Math"/>
                            </a:rPr>
                            <m:t>1 + 0.35 </m:t>
                          </m:r>
                          <m:sSup>
                            <m:sSupPr>
                              <m:ctrlPr>
                                <a:rPr lang="en-US" sz="900" i="1">
                                  <a:latin typeface="Cambria Math" panose="02040503050406030204" pitchFamily="18" charset="0"/>
                                </a:rPr>
                              </m:ctrlPr>
                            </m:sSupPr>
                            <m:e>
                              <m:d>
                                <m:dPr>
                                  <m:ctrlPr>
                                    <a:rPr lang="en-US" sz="900" i="1">
                                      <a:latin typeface="Cambria Math" panose="02040503050406030204" pitchFamily="18" charset="0"/>
                                    </a:rPr>
                                  </m:ctrlPr>
                                </m:dPr>
                                <m:e>
                                  <m:f>
                                    <m:fPr>
                                      <m:ctrlPr>
                                        <a:rPr lang="en-US" sz="900">
                                          <a:latin typeface="Cambria Math"/>
                                        </a:rPr>
                                      </m:ctrlPr>
                                    </m:fPr>
                                    <m:num>
                                      <m:r>
                                        <a:rPr lang="en-US" sz="900">
                                          <a:latin typeface="Cambria Math"/>
                                        </a:rPr>
                                        <m:t>𝑟</m:t>
                                      </m:r>
                                    </m:num>
                                    <m:den>
                                      <m:sSub>
                                        <m:sSubPr>
                                          <m:ctrlPr>
                                            <a:rPr lang="en-US" sz="900">
                                              <a:latin typeface="Cambria Math"/>
                                            </a:rPr>
                                          </m:ctrlPr>
                                        </m:sSubPr>
                                        <m:e>
                                          <m:r>
                                            <a:rPr lang="en-US" sz="900">
                                              <a:latin typeface="Cambria Math"/>
                                            </a:rPr>
                                            <m:t>𝑅</m:t>
                                          </m:r>
                                        </m:e>
                                        <m:sub>
                                          <m:r>
                                            <a:rPr lang="en-US" sz="900">
                                              <a:latin typeface="Cambria Math"/>
                                            </a:rPr>
                                            <m:t>𝑔</m:t>
                                          </m:r>
                                        </m:sub>
                                      </m:sSub>
                                    </m:den>
                                  </m:f>
                                </m:e>
                              </m:d>
                            </m:e>
                            <m:sup>
                              <m:r>
                                <a:rPr lang="en-US" sz="900">
                                  <a:latin typeface="Cambria Math"/>
                                </a:rPr>
                                <m:t>2</m:t>
                              </m:r>
                            </m:sup>
                          </m:sSup>
                        </m:e>
                      </m:d>
                    </m:oMath>
                  </m:oMathPara>
                </a14:m>
                <a:endParaRPr sz="1600"/>
              </a:p>
              <a:p>
                <a:pPr algn="l">
                  <a:spcAft>
                    <a:spcPts val="300"/>
                  </a:spcAft>
                </a:pPr>
                <a14:m>
                  <m:oMathPara xmlns:m="http://schemas.openxmlformats.org/officeDocument/2006/math">
                    <m:oMath>
                      <m:sSub>
                        <m:sSubPr>
                          <m:ctrlPr>
                            <a:rPr lang="en-US" sz="900">
                              <a:latin typeface="Cambria Math"/>
                            </a:rPr>
                          </m:ctrlPr>
                        </m:sSubPr>
                        <m:e>
                          <m:r>
                            <a:rPr lang="en-US" sz="900">
                              <a:latin typeface="Cambria Math"/>
                            </a:rPr>
                            <m:t>𝑐</m:t>
                          </m:r>
                        </m:e>
                        <m:sub>
                          <m:r>
                            <a:rPr lang="en-US" sz="900">
                              <a:latin typeface="Cambria Math"/>
                            </a:rPr>
                            <m:t>𝐺𝑃𝑆</m:t>
                          </m:r>
                        </m:sub>
                      </m:sSub>
                      <m:r>
                        <a:rPr lang="en-US" sz="900">
                          <a:latin typeface="Cambria Math"/>
                        </a:rPr>
                        <m:t> = </m:t>
                      </m:r>
                      <m:f>
                        <m:fPr>
                          <m:ctrlPr>
                            <a:rPr lang="en-US" sz="900">
                              <a:latin typeface="Cambria Math"/>
                            </a:rPr>
                          </m:ctrlPr>
                        </m:fPr>
                        <m:num>
                          <m:r>
                            <a:rPr lang="en-US" sz="900">
                              <a:latin typeface="Cambria Math"/>
                            </a:rPr>
                            <m:t>1</m:t>
                          </m:r>
                        </m:num>
                        <m:den>
                          <m:r>
                            <a:rPr lang="en-US" sz="900">
                              <a:latin typeface="Cambria Math"/>
                            </a:rPr>
                            <m:t>1 + </m:t>
                          </m:r>
                          <m:sSup>
                            <m:sSupPr>
                              <m:ctrlPr>
                                <a:rPr lang="en-US" sz="900" i="1">
                                  <a:latin typeface="Cambria Math" panose="02040503050406030204" pitchFamily="18" charset="0"/>
                                </a:rPr>
                              </m:ctrlPr>
                            </m:sSupPr>
                            <m:e>
                              <m:d>
                                <m:dPr>
                                  <m:ctrlPr>
                                    <a:rPr lang="en-US" sz="900" i="1">
                                      <a:latin typeface="Cambria Math" panose="02040503050406030204" pitchFamily="18" charset="0"/>
                                    </a:rPr>
                                  </m:ctrlPr>
                                </m:dPr>
                                <m:e>
                                  <m:f>
                                    <m:fPr>
                                      <m:ctrlPr>
                                        <a:rPr lang="en-US" sz="900" i="1">
                                          <a:latin typeface="Cambria Math" panose="02040503050406030204" pitchFamily="18" charset="0"/>
                                        </a:rPr>
                                      </m:ctrlPr>
                                    </m:fPr>
                                    <m:num>
                                      <m:sSub>
                                        <m:sSubPr>
                                          <m:ctrlPr>
                                            <a:rPr lang="en-US" sz="900">
                                              <a:latin typeface="Cambria Math"/>
                                            </a:rPr>
                                          </m:ctrlPr>
                                        </m:sSubPr>
                                        <m:e>
                                          <m:r>
                                            <a:rPr lang="en-US" sz="900">
                                              <a:latin typeface="Cambria Math"/>
                                            </a:rPr>
                                            <m:t>𝜎</m:t>
                                          </m:r>
                                        </m:e>
                                        <m:sub>
                                          <m:r>
                                            <a:rPr lang="en-US" sz="900">
                                              <a:latin typeface="Cambria Math"/>
                                            </a:rPr>
                                            <m:t>𝐺𝑃𝑆</m:t>
                                          </m:r>
                                        </m:sub>
                                      </m:sSub>
                                    </m:num>
                                    <m:den>
                                      <m:sSub>
                                        <m:sSubPr>
                                          <m:ctrlPr>
                                            <a:rPr lang="en-US" sz="900">
                                              <a:latin typeface="Cambria Math"/>
                                            </a:rPr>
                                          </m:ctrlPr>
                                        </m:sSubPr>
                                        <m:e>
                                          <m:r>
                                            <a:rPr lang="en-US" sz="900">
                                              <a:latin typeface="Cambria Math"/>
                                            </a:rPr>
                                            <m:t>𝜎</m:t>
                                          </m:r>
                                        </m:e>
                                        <m:sub>
                                          <m:r>
                                            <a:rPr lang="en-US" sz="900">
                                              <a:latin typeface="Cambria Math"/>
                                            </a:rPr>
                                            <m:t>𝐺𝑃𝑆</m:t>
                                          </m:r>
                                          <m:r>
                                            <a:rPr lang="en-US" sz="900">
                                              <a:latin typeface="Cambria Math"/>
                                            </a:rPr>
                                            <m:t>,0</m:t>
                                          </m:r>
                                        </m:sub>
                                      </m:sSub>
                                    </m:den>
                                  </m:f>
                                </m:e>
                              </m:d>
                            </m:e>
                            <m:sup>
                              <m:r>
                                <a:rPr lang="en-US" sz="900">
                                  <a:latin typeface="Cambria Math"/>
                                </a:rPr>
                                <m:t>2</m:t>
                              </m:r>
                            </m:sup>
                          </m:sSup>
                        </m:den>
                      </m:f>
                    </m:oMath>
                  </m:oMathPara>
                </a14:m>
                <a:endParaRPr sz="1600"/>
              </a:p>
              <a:p>
                <a:pPr algn="l"/>
                <a:r>
                  <a:rPr lang="en-US" sz="700" i="1">
                    <a:solidFill>
                      <a:srgbClr val="6B7A85"/>
                    </a:solidFill>
                    <a:latin typeface="Calibri"/>
                  </a:rPr>
                  <a:t>confidence is clamped to [0.02, 0.98] for the camera and [0.05, 0.99] for GPS</a:t>
                </a:r>
              </a:p>
            </p:txBody>
          </p:sp>
        </mc:Choice>
        <mc:Fallback xmlns="">
          <p:sp>
            <p:nvSpPr>
              <p:cNvPr id="15" name="TextBox 14"/>
              <p:cNvSpPr txBox="1">
                <a:spLocks noRot="1" noChangeAspect="1" noMove="1" noResize="1" noEditPoints="1" noAdjustHandles="1" noChangeArrowheads="1" noChangeShapeType="1" noTextEdit="1"/>
              </p:cNvSpPr>
              <p:nvPr/>
            </p:nvSpPr>
            <p:spPr>
              <a:xfrm>
                <a:off x="7181088" y="3274395"/>
                <a:ext cx="5010912" cy="2274084"/>
              </a:xfrm>
              <a:prstGeom prst="rect">
                <a:avLst/>
              </a:prstGeom>
              <a:blipFill>
                <a:blip r:embed="rId6"/>
                <a:stretch>
                  <a:fillRect l="-1010"/>
                </a:stretch>
              </a:blipFill>
            </p:spPr>
            <p:txBody>
              <a:bodyPr/>
              <a:lstStyle/>
              <a:p>
                <a:r>
                  <a:rPr lang="en-IL">
                    <a:noFill/>
                  </a:rPr>
                  <a:t> </a:t>
                </a:r>
              </a:p>
            </p:txBody>
          </p:sp>
        </mc:Fallback>
      </mc:AlternateContent>
      <p:sp>
        <p:nvSpPr>
          <p:cNvPr id="16" name="Rounded Rectangle 15">
            <a:hlinkClick r:id="rId7"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8"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6</a:t>
            </a:r>
          </a:p>
        </p:txBody>
      </p:sp>
      <p:sp>
        <p:nvSpPr>
          <p:cNvPr id="150" name="Rounded Rectangle 149">
            <a:hlinkClick r:id="rId9"/>
          </p:cNvPr>
          <p:cNvSpPr/>
          <p:nvPr/>
        </p:nvSpPr>
        <p:spPr>
          <a:xfrm>
            <a:off x="7132320"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CODE  ↗</a:t>
            </a:r>
          </a:p>
        </p:txBody>
      </p:sp>
      <p:sp>
        <p:nvSpPr>
          <p:cNvPr id="152" name="TextBox 151"/>
          <p:cNvSpPr txBox="1"/>
          <p:nvPr/>
        </p:nvSpPr>
        <p:spPr>
          <a:xfrm>
            <a:off x="2377440" y="5733288"/>
            <a:ext cx="4681728" cy="219456"/>
          </a:xfrm>
          <a:prstGeom prst="rect">
            <a:avLst/>
          </a:prstGeom>
          <a:noFill/>
        </p:spPr>
        <p:txBody>
          <a:bodyPr wrap="square" lIns="0" tIns="0" rIns="0" bIns="0"/>
          <a:lstStyle/>
          <a:p>
            <a:pPr algn="r"/>
            <a:r>
              <a:rPr sz="800" b="1">
                <a:solidFill>
                  <a:srgbClr val="1C7293"/>
                </a:solidFill>
                <a:latin typeface="Calibri"/>
              </a:rPr>
              <a:t>code:  </a:t>
            </a:r>
            <a:r>
              <a:rPr sz="800" b="0">
                <a:solidFill>
                  <a:srgbClr val="6B7A85"/>
                </a:solidFill>
                <a:latin typeface="Consolas"/>
              </a:rPr>
              <a:t>src/simstudio/sim_core.py  ·  lines 1733–1744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From a Measurement to the Kalman Update</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28</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C5   ·   WHAT THE FILTER ACTUALLY CONSUMES</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 measurement is offered to the tracker before it is offered to the filter. It is gated on predicted-vs-measured distance, speed and heading; if two confirmed tracks match equally well the ambiguity guard refuses it, and an unassociated measurement is dropped rather than forced onto a track.</a:t>
            </a:r>
          </a:p>
          <a:p>
            <a:pPr marL="201168" indent="-201168">
              <a:spcAft>
                <a:spcPts val="600"/>
              </a:spcAft>
            </a:pPr>
            <a:r>
              <a:rPr sz="1050" b="1">
                <a:solidFill>
                  <a:srgbClr val="1C7293"/>
                </a:solidFill>
                <a:latin typeface="Calibri"/>
              </a:rPr>
              <a:t>▪   Only then does the filter see it. The reported σ is widened by the sensor's own confidence:  σ_eff = max( 0.05 , σ / √confidence ) , and the measurement-noise covariance is  R = σ_eff²   (Report Eq. 10).</a:t>
            </a:r>
          </a:p>
          <a:p>
            <a:pPr marL="201168" indent="-201168">
              <a:spcAft>
                <a:spcPts val="600"/>
              </a:spcAft>
            </a:pPr>
            <a:r>
              <a:rPr sz="1050" b="1">
                <a:solidFill>
                  <a:srgbClr val="1C7293"/>
                </a:solidFill>
                <a:latin typeface="Calibri"/>
              </a:rPr>
              <a:t>▪   Dividing by √confidence is what makes the fusion complementary: a low-confidence camera frame is still admitted, but with a variance large enough that it barely moves the estimate.</a:t>
            </a:r>
          </a:p>
          <a:p>
            <a:pPr marL="201168" indent="-201168">
              <a:spcAft>
                <a:spcPts val="600"/>
              </a:spcAft>
            </a:pPr>
            <a:r>
              <a:rPr sz="1050" b="1">
                <a:solidFill>
                  <a:srgbClr val="1C7293"/>
                </a:solidFill>
                <a:latin typeface="Calibri"/>
              </a:rPr>
              <a:t>▪   The order inside one tick is fixed: DAS position first, then camera and GPS positions, then the velocity updates — DAS leads because it is the densest and most accurate channel.</a:t>
            </a:r>
          </a:p>
          <a:p>
            <a:pPr marL="201168" indent="-201168">
              <a:spcAft>
                <a:spcPts val="600"/>
              </a:spcAft>
            </a:pPr>
            <a:r>
              <a:rPr sz="1050" b="1">
                <a:solidFill>
                  <a:srgbClr val="1C7293"/>
                </a:solidFill>
                <a:latin typeface="Calibri"/>
              </a:rPr>
              <a:t>▪   The gain K = P⁻Hᵀ (H P⁻ Hᵀ + R)⁻¹ therefore carries the physics all the way through. Nothing in R was hand-tuned.</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σ_eff  —  the effective uncertainty after confidence weighting — what R is built from</a:t>
            </a:r>
          </a:p>
          <a:p>
            <a:pPr marL="128016" indent="-128016">
              <a:spcAft>
                <a:spcPts val="200"/>
              </a:spcAft>
            </a:pPr>
            <a:r>
              <a:rPr sz="850" b="1">
                <a:solidFill>
                  <a:srgbClr val="1C7293"/>
                </a:solidFill>
                <a:latin typeface="Calibri"/>
              </a:rPr>
              <a:t>R  —  measurement-noise covariance: the filter's belief about this one reading</a:t>
            </a:r>
          </a:p>
          <a:p>
            <a:pPr marL="128016" indent="-128016">
              <a:spcAft>
                <a:spcPts val="200"/>
              </a:spcAft>
            </a:pPr>
            <a:r>
              <a:rPr sz="850" b="1">
                <a:solidFill>
                  <a:srgbClr val="1C7293"/>
                </a:solidFill>
                <a:latin typeface="Calibri"/>
              </a:rPr>
              <a:t>gating  —  a distance test deciding whether a measurement may join a track at all</a:t>
            </a:r>
          </a:p>
          <a:p>
            <a:pPr marL="128016" indent="-128016">
              <a:spcAft>
                <a:spcPts val="200"/>
              </a:spcAft>
            </a:pPr>
            <a:r>
              <a:rPr sz="850" b="1">
                <a:solidFill>
                  <a:srgbClr val="1C7293"/>
                </a:solidFill>
                <a:latin typeface="Calibri"/>
              </a:rPr>
              <a:t>dropped measurement  —  an unassociated reading; it never reaches the filter</a:t>
            </a:r>
          </a:p>
        </p:txBody>
      </p:sp>
      <p:pic>
        <p:nvPicPr>
          <p:cNvPr id="12" name="Picture 11" descr="D5.png"/>
          <p:cNvPicPr>
            <a:picLocks noChangeAspect="1"/>
          </p:cNvPicPr>
          <p:nvPr/>
        </p:nvPicPr>
        <p:blipFill>
          <a:blip r:embed="rId5"/>
          <a:stretch>
            <a:fillRect/>
          </a:stretch>
        </p:blipFill>
        <p:spPr>
          <a:xfrm>
            <a:off x="6604043" y="1316736"/>
            <a:ext cx="4531275" cy="2050000"/>
          </a:xfrm>
          <a:prstGeom prst="rect">
            <a:avLst/>
          </a:prstGeom>
        </p:spPr>
      </p:pic>
      <p:sp>
        <p:nvSpPr>
          <p:cNvPr id="13" name="Rounded Rectangle 12"/>
          <p:cNvSpPr/>
          <p:nvPr/>
        </p:nvSpPr>
        <p:spPr>
          <a:xfrm>
            <a:off x="6163056" y="3560000"/>
            <a:ext cx="5413248" cy="1981264"/>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3690000"/>
            <a:ext cx="5010912" cy="219456"/>
          </a:xfrm>
          <a:prstGeom prst="rect">
            <a:avLst/>
          </a:prstGeom>
          <a:noFill/>
        </p:spPr>
        <p:txBody>
          <a:bodyPr wrap="square" lIns="0" tIns="0" rIns="0" bIns="0">
            <a:spAutoFit/>
          </a:bodyPr>
          <a:lstStyle/>
          <a:p>
            <a:r>
              <a:rPr sz="900" b="1">
                <a:solidFill>
                  <a:srgbClr val="0B4F6C"/>
                </a:solidFill>
                <a:latin typeface="Calibri"/>
              </a:rPr>
              <a:t>CONFIDENCE → MEASUREMENT NOISE → GAIN   (Report Eq. 10)</a:t>
            </a:r>
          </a:p>
        </p:txBody>
      </p:sp>
      <mc:AlternateContent xmlns:mc="http://schemas.openxmlformats.org/markup-compatibility/2006" xmlns:a14="http://schemas.microsoft.com/office/drawing/2010/main">
        <mc:Choice Requires="a14">
          <p:sp>
            <p:nvSpPr>
              <p:cNvPr id="15" name="TextBox 14"/>
              <p:cNvSpPr txBox="1"/>
              <p:nvPr/>
            </p:nvSpPr>
            <p:spPr>
              <a:xfrm>
                <a:off x="6364224" y="3960000"/>
                <a:ext cx="5010912" cy="1521264"/>
              </a:xfrm>
              <a:prstGeom prst="rect">
                <a:avLst/>
              </a:prstGeom>
              <a:noFill/>
            </p:spPr>
            <p:txBody>
              <a:bodyPr wrap="square" lIns="0" tIns="0" rIns="0" bIns="0">
                <a:spAutoFit/>
              </a:bodyPr>
              <a:lstStyle/>
              <a:p>
                <a:pPr algn="l">
                  <a:spcAft>
                    <a:spcPts val="300"/>
                  </a:spcAft>
                </a:pPr>
                <a14:m>
                  <m:oMathPara xmlns:m="http://schemas.openxmlformats.org/officeDocument/2006/math">
                    <m:oMath>
                      <m:sSub>
                        <m:sSubPr>
                          <m:ctrlPr>
                            <a:rPr lang="en-US" sz="1200">
                              <a:latin typeface="Cambria Math"/>
                            </a:rPr>
                          </m:ctrlPr>
                        </m:sSubPr>
                        <m:e>
                          <m:r>
                            <a:rPr lang="en-US" sz="1200">
                              <a:latin typeface="Cambria Math"/>
                            </a:rPr>
                            <m:t>𝜎</m:t>
                          </m:r>
                        </m:e>
                        <m:sub>
                          <m:r>
                            <a:rPr lang="en-US" sz="1200">
                              <a:latin typeface="Cambria Math"/>
                            </a:rPr>
                            <m:t>𝑒𝑓𝑓</m:t>
                          </m:r>
                        </m:sub>
                      </m:sSub>
                      <m:r>
                        <a:rPr lang="en-US" sz="1200">
                          <a:latin typeface="Cambria Math"/>
                        </a:rPr>
                        <m:t> = </m:t>
                      </m:r>
                      <m:r>
                        <m:rPr>
                          <m:nor/>
                        </m:rPr>
                        <a:rPr lang="en-US" sz="1200" i="0">
                          <a:latin typeface="Cambria Math"/>
                        </a:rPr>
                        <m:t>max</m:t>
                      </m:r>
                      <m:d>
                        <m:dPr>
                          <m:ctrlPr>
                            <a:rPr lang="en-US" sz="1200">
                              <a:latin typeface="Cambria Math"/>
                            </a:rPr>
                          </m:ctrlPr>
                        </m:dPr>
                        <m:e>
                          <m:r>
                            <a:rPr lang="en-US" sz="1200">
                              <a:latin typeface="Cambria Math"/>
                            </a:rPr>
                            <m:t>0.05 ,  </m:t>
                          </m:r>
                          <m:f>
                            <m:fPr>
                              <m:ctrlPr>
                                <a:rPr lang="en-US" sz="1200">
                                  <a:latin typeface="Cambria Math"/>
                                </a:rPr>
                              </m:ctrlPr>
                            </m:fPr>
                            <m:num>
                              <m:r>
                                <a:rPr lang="en-US" sz="1200">
                                  <a:latin typeface="Cambria Math"/>
                                </a:rPr>
                                <m:t>𝜎</m:t>
                              </m:r>
                            </m:num>
                            <m:den>
                              <m:rad>
                                <m:radPr>
                                  <m:degHide m:val="on"/>
                                  <m:ctrlPr>
                                    <a:rPr lang="en-US" sz="1200" i="1">
                                      <a:latin typeface="Cambria Math" panose="02040503050406030204" pitchFamily="18" charset="0"/>
                                    </a:rPr>
                                  </m:ctrlPr>
                                </m:radPr>
                                <m:deg/>
                                <m:e>
                                  <m:r>
                                    <a:rPr lang="en-US" sz="1200">
                                      <a:latin typeface="Cambria Math"/>
                                    </a:rPr>
                                    <m:t>𝑐</m:t>
                                  </m:r>
                                </m:e>
                              </m:rad>
                            </m:den>
                          </m:f>
                        </m:e>
                      </m:d>
                    </m:oMath>
                  </m:oMathPara>
                </a14:m>
                <a:endParaRPr/>
              </a:p>
              <a:p>
                <a:pPr algn="l">
                  <a:spcAft>
                    <a:spcPts val="300"/>
                  </a:spcAft>
                </a:pPr>
                <a14:m>
                  <m:oMathPara xmlns:m="http://schemas.openxmlformats.org/officeDocument/2006/math">
                    <m:oMath>
                      <m:r>
                        <a:rPr lang="en-US" sz="1200">
                          <a:latin typeface="Cambria Math"/>
                        </a:rPr>
                        <m:t>𝑅</m:t>
                      </m:r>
                      <m:r>
                        <a:rPr lang="en-US" sz="1200">
                          <a:latin typeface="Cambria Math"/>
                        </a:rPr>
                        <m:t> = </m:t>
                      </m:r>
                      <m:sSup>
                        <m:sSupPr>
                          <m:ctrlPr>
                            <a:rPr lang="en-US" sz="1200" i="1">
                              <a:latin typeface="Cambria Math" panose="02040503050406030204" pitchFamily="18" charset="0"/>
                            </a:rPr>
                          </m:ctrlPr>
                        </m:sSupPr>
                        <m:e>
                          <m:sSub>
                            <m:sSubPr>
                              <m:ctrlPr>
                                <a:rPr lang="en-US" sz="1200">
                                  <a:latin typeface="Cambria Math"/>
                                </a:rPr>
                              </m:ctrlPr>
                            </m:sSubPr>
                            <m:e>
                              <m:r>
                                <a:rPr lang="en-US" sz="1200">
                                  <a:latin typeface="Cambria Math"/>
                                </a:rPr>
                                <m:t>𝜎</m:t>
                              </m:r>
                            </m:e>
                            <m:sub>
                              <m:r>
                                <a:rPr lang="en-US" sz="1200">
                                  <a:latin typeface="Cambria Math"/>
                                </a:rPr>
                                <m:t>𝑒𝑓𝑓</m:t>
                              </m:r>
                            </m:sub>
                          </m:sSub>
                        </m:e>
                        <m:sup>
                          <m:r>
                            <a:rPr lang="en-US" sz="1200">
                              <a:latin typeface="Cambria Math"/>
                            </a:rPr>
                            <m:t>2</m:t>
                          </m:r>
                        </m:sup>
                      </m:sSup>
                      <m:r>
                        <a:rPr lang="en-US" sz="1200">
                          <a:latin typeface="Cambria Math"/>
                        </a:rPr>
                        <m:t>  =  </m:t>
                      </m:r>
                      <m:f>
                        <m:fPr>
                          <m:ctrlPr>
                            <a:rPr lang="en-US" sz="1200" i="1">
                              <a:latin typeface="Cambria Math" panose="02040503050406030204" pitchFamily="18" charset="0"/>
                            </a:rPr>
                          </m:ctrlPr>
                        </m:fPr>
                        <m:num>
                          <m:sSup>
                            <m:sSupPr>
                              <m:ctrlPr>
                                <a:rPr lang="en-US" sz="1200">
                                  <a:latin typeface="Cambria Math"/>
                                </a:rPr>
                              </m:ctrlPr>
                            </m:sSupPr>
                            <m:e>
                              <m:r>
                                <a:rPr lang="en-US" sz="1200">
                                  <a:latin typeface="Cambria Math"/>
                                </a:rPr>
                                <m:t>𝜎</m:t>
                              </m:r>
                            </m:e>
                            <m:sup>
                              <m:r>
                                <a:rPr lang="en-US" sz="1200">
                                  <a:latin typeface="Cambria Math"/>
                                </a:rPr>
                                <m:t>2</m:t>
                              </m:r>
                            </m:sup>
                          </m:sSup>
                        </m:num>
                        <m:den>
                          <m:r>
                            <a:rPr lang="en-US" sz="1200">
                              <a:latin typeface="Cambria Math"/>
                            </a:rPr>
                            <m:t>𝑐</m:t>
                          </m:r>
                        </m:den>
                      </m:f>
                    </m:oMath>
                  </m:oMathPara>
                </a14:m>
                <a:endParaRPr/>
              </a:p>
              <a:p>
                <a:pPr algn="l">
                  <a:spcAft>
                    <a:spcPts val="300"/>
                  </a:spcAft>
                </a:pPr>
                <a14:m>
                  <m:oMathPara xmlns:m="http://schemas.openxmlformats.org/officeDocument/2006/math">
                    <m:oMath>
                      <m:r>
                        <a:rPr lang="en-US" sz="1200">
                          <a:latin typeface="Cambria Math"/>
                        </a:rPr>
                        <m:t>𝐾</m:t>
                      </m:r>
                      <m:r>
                        <a:rPr lang="en-US" sz="1200">
                          <a:latin typeface="Cambria Math"/>
                        </a:rPr>
                        <m:t> = </m:t>
                      </m:r>
                      <m:sSup>
                        <m:sSupPr>
                          <m:ctrlPr>
                            <a:rPr lang="en-US" sz="1200">
                              <a:latin typeface="Cambria Math"/>
                            </a:rPr>
                          </m:ctrlPr>
                        </m:sSupPr>
                        <m:e>
                          <m:r>
                            <a:rPr lang="en-US" sz="1200">
                              <a:latin typeface="Cambria Math"/>
                            </a:rPr>
                            <m:t>𝑃</m:t>
                          </m:r>
                        </m:e>
                        <m:sup>
                          <m:r>
                            <a:rPr lang="en-US" sz="1200">
                              <a:latin typeface="Cambria Math"/>
                            </a:rPr>
                            <m:t>−</m:t>
                          </m:r>
                        </m:sup>
                      </m:sSup>
                      <m:sSup>
                        <m:sSupPr>
                          <m:ctrlPr>
                            <a:rPr lang="en-US" sz="1200">
                              <a:latin typeface="Cambria Math"/>
                            </a:rPr>
                          </m:ctrlPr>
                        </m:sSupPr>
                        <m:e>
                          <m:r>
                            <a:rPr lang="en-US" sz="1200">
                              <a:latin typeface="Cambria Math"/>
                            </a:rPr>
                            <m:t>𝐻</m:t>
                          </m:r>
                        </m:e>
                        <m:sup>
                          <m:r>
                            <a:rPr lang="en-US" sz="1200">
                              <a:latin typeface="Cambria Math"/>
                            </a:rPr>
                            <m:t>𝑇</m:t>
                          </m:r>
                        </m:sup>
                      </m:sSup>
                      <m:r>
                        <a:rPr lang="en-US" sz="1200">
                          <a:latin typeface="Cambria Math"/>
                        </a:rPr>
                        <m:t> </m:t>
                      </m:r>
                      <m:sSup>
                        <m:sSupPr>
                          <m:ctrlPr>
                            <a:rPr lang="en-US" sz="1200" i="1">
                              <a:latin typeface="Cambria Math" panose="02040503050406030204" pitchFamily="18" charset="0"/>
                            </a:rPr>
                          </m:ctrlPr>
                        </m:sSupPr>
                        <m:e>
                          <m:d>
                            <m:dPr>
                              <m:ctrlPr>
                                <a:rPr lang="en-US" sz="1200">
                                  <a:latin typeface="Cambria Math"/>
                                </a:rPr>
                              </m:ctrlPr>
                            </m:dPr>
                            <m:e>
                              <m:r>
                                <a:rPr lang="en-US" sz="1200">
                                  <a:latin typeface="Cambria Math"/>
                                </a:rPr>
                                <m:t>𝐻</m:t>
                              </m:r>
                              <m:r>
                                <a:rPr lang="en-US" sz="1200">
                                  <a:latin typeface="Cambria Math"/>
                                </a:rPr>
                                <m:t> </m:t>
                              </m:r>
                              <m:sSup>
                                <m:sSupPr>
                                  <m:ctrlPr>
                                    <a:rPr lang="en-US" sz="1200">
                                      <a:latin typeface="Cambria Math"/>
                                    </a:rPr>
                                  </m:ctrlPr>
                                </m:sSupPr>
                                <m:e>
                                  <m:r>
                                    <a:rPr lang="en-US" sz="1200">
                                      <a:latin typeface="Cambria Math"/>
                                    </a:rPr>
                                    <m:t>𝑃</m:t>
                                  </m:r>
                                </m:e>
                                <m:sup>
                                  <m:r>
                                    <a:rPr lang="en-US" sz="1200">
                                      <a:latin typeface="Cambria Math"/>
                                    </a:rPr>
                                    <m:t>−</m:t>
                                  </m:r>
                                </m:sup>
                              </m:sSup>
                              <m:r>
                                <a:rPr lang="en-US" sz="1200">
                                  <a:latin typeface="Cambria Math"/>
                                </a:rPr>
                                <m:t> </m:t>
                              </m:r>
                              <m:sSup>
                                <m:sSupPr>
                                  <m:ctrlPr>
                                    <a:rPr lang="en-US" sz="1200">
                                      <a:latin typeface="Cambria Math"/>
                                    </a:rPr>
                                  </m:ctrlPr>
                                </m:sSupPr>
                                <m:e>
                                  <m:r>
                                    <a:rPr lang="en-US" sz="1200">
                                      <a:latin typeface="Cambria Math"/>
                                    </a:rPr>
                                    <m:t>𝐻</m:t>
                                  </m:r>
                                </m:e>
                                <m:sup>
                                  <m:r>
                                    <a:rPr lang="en-US" sz="1200">
                                      <a:latin typeface="Cambria Math"/>
                                    </a:rPr>
                                    <m:t>𝑇</m:t>
                                  </m:r>
                                </m:sup>
                              </m:sSup>
                              <m:r>
                                <a:rPr lang="en-US" sz="1200">
                                  <a:latin typeface="Cambria Math"/>
                                </a:rPr>
                                <m:t> + </m:t>
                              </m:r>
                              <m:r>
                                <a:rPr lang="en-US" sz="1200">
                                  <a:latin typeface="Cambria Math"/>
                                </a:rPr>
                                <m:t>𝑅</m:t>
                              </m:r>
                            </m:e>
                          </m:d>
                        </m:e>
                        <m:sup>
                          <m:r>
                            <a:rPr lang="en-US" sz="1200">
                              <a:latin typeface="Cambria Math"/>
                            </a:rPr>
                            <m:t>−1</m:t>
                          </m:r>
                        </m:sup>
                      </m:sSup>
                    </m:oMath>
                  </m:oMathPara>
                </a14:m>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6364224" y="3960000"/>
                <a:ext cx="5010912" cy="1521264"/>
              </a:xfrm>
              <a:prstGeom prst="rect">
                <a:avLst/>
              </a:prstGeom>
              <a:blipFill>
                <a:blip r:embed="rId6"/>
                <a:stretch>
                  <a:fillRect/>
                </a:stretch>
              </a:blipFill>
            </p:spPr>
            <p:txBody>
              <a:bodyPr/>
              <a:lstStyle/>
              <a:p>
                <a:r>
                  <a:rPr lang="en-IL">
                    <a:noFill/>
                  </a:rPr>
                  <a:t> </a:t>
                </a:r>
              </a:p>
            </p:txBody>
          </p:sp>
        </mc:Fallback>
      </mc:AlternateContent>
      <p:sp>
        <p:nvSpPr>
          <p:cNvPr id="16" name="Rounded Rectangle 15">
            <a:hlinkClick r:id="rId7"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8"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6</a:t>
            </a:r>
          </a:p>
        </p:txBody>
      </p:sp>
      <p:sp>
        <p:nvSpPr>
          <p:cNvPr id="150" name="Rounded Rectangle 149">
            <a:hlinkClick r:id="rId9"/>
          </p:cNvPr>
          <p:cNvSpPr/>
          <p:nvPr/>
        </p:nvSpPr>
        <p:spPr>
          <a:xfrm>
            <a:off x="7132320"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CODE  ↗</a:t>
            </a:r>
          </a:p>
        </p:txBody>
      </p:sp>
      <p:sp>
        <p:nvSpPr>
          <p:cNvPr id="152" name="TextBox 151"/>
          <p:cNvSpPr txBox="1"/>
          <p:nvPr/>
        </p:nvSpPr>
        <p:spPr>
          <a:xfrm>
            <a:off x="2377440" y="5733288"/>
            <a:ext cx="4681728" cy="219456"/>
          </a:xfrm>
          <a:prstGeom prst="rect">
            <a:avLst/>
          </a:prstGeom>
          <a:noFill/>
        </p:spPr>
        <p:txBody>
          <a:bodyPr wrap="square" lIns="0" tIns="0" rIns="0" bIns="0"/>
          <a:lstStyle/>
          <a:p>
            <a:pPr algn="r"/>
            <a:r>
              <a:rPr sz="800" b="1">
                <a:solidFill>
                  <a:srgbClr val="1C7293"/>
                </a:solidFill>
                <a:latin typeface="Calibri"/>
              </a:rPr>
              <a:t>code:  </a:t>
            </a:r>
            <a:r>
              <a:rPr sz="800" b="0">
                <a:solidFill>
                  <a:srgbClr val="6B7A85"/>
                </a:solidFill>
                <a:latin typeface="Consolas"/>
              </a:rPr>
              <a:t>src/simstudio/kalman.py  ·  lines 159–173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The Ghost-Track Bug</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29</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C6   ·   AN ENGINEERING FAILURE, DIAGNOSED</a:t>
            </a:r>
            <a:r>
              <a:rPr sz="1100" b="1">
                <a:solidFill>
                  <a:srgbClr val="1C7293"/>
                </a:solidFill>
                <a:latin typeface="Calibri"/>
              </a:rPr>
              <a:t>AN ENGINEERING FAILURE, DIAGNOSED</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Symptom:</a:t>
            </a:r>
            <a:r>
              <a:rPr sz="1050" b="0">
                <a:solidFill>
                  <a:srgbClr val="33424D"/>
                </a:solidFill>
                <a:latin typeface="Calibri"/>
              </a:rPr>
              <a:t> a well-tracked vehicle ended a run with zero GPS measurements associated to it.</a:t>
            </a:r>
          </a:p>
          <a:p>
            <a:pPr marL="201168" indent="-201168">
              <a:spcAft>
                <a:spcPts val="600"/>
              </a:spcAft>
            </a:pPr>
            <a:r>
              <a:rPr sz="1050" b="1">
                <a:solidFill>
                  <a:srgbClr val="1C7293"/>
                </a:solidFill>
                <a:latin typeface="Calibri"/>
              </a:rPr>
              <a:t>▪   </a:t>
            </a:r>
            <a:r>
              <a:rPr sz="1050" b="1">
                <a:solidFill>
                  <a:srgbClr val="33424D"/>
                </a:solidFill>
                <a:latin typeface="Calibri"/>
              </a:rPr>
              <a:t>Cause:</a:t>
            </a:r>
            <a:r>
              <a:rPr sz="1050" b="0">
                <a:solidFill>
                  <a:srgbClr val="33424D"/>
                </a:solidFill>
                <a:latin typeface="Calibri"/>
              </a:rPr>
              <a:t> high-rate DAS hits falling just outside the gate spawned tentative ghost tracks with near-identical kinematics. When a sparse GPS fix arrived, the ambiguity guard saw two matching candidates and — rather than risk a wrong association — opened a new fragment, orphaning the GPS data.</a:t>
            </a:r>
          </a:p>
          <a:p>
            <a:pPr marL="201168" indent="-201168">
              <a:spcAft>
                <a:spcPts val="600"/>
              </a:spcAft>
            </a:pPr>
            <a:r>
              <a:rPr sz="1050" b="1">
                <a:solidFill>
                  <a:srgbClr val="1C7293"/>
                </a:solidFill>
                <a:latin typeface="Calibri"/>
              </a:rPr>
              <a:t>▪   </a:t>
            </a:r>
            <a:r>
              <a:rPr sz="1050" b="1">
                <a:solidFill>
                  <a:srgbClr val="33424D"/>
                </a:solidFill>
                <a:latin typeface="Calibri"/>
              </a:rPr>
              <a:t>Fix:</a:t>
            </a:r>
            <a:r>
              <a:rPr sz="1050" b="0">
                <a:solidFill>
                  <a:srgbClr val="33424D"/>
                </a:solidFill>
                <a:latin typeface="Calibri"/>
              </a:rPr>
              <a:t> make the ambiguity guard </a:t>
            </a:r>
            <a:r>
              <a:rPr sz="1050" b="1">
                <a:solidFill>
                  <a:srgbClr val="33424D"/>
                </a:solidFill>
                <a:latin typeface="Calibri"/>
              </a:rPr>
              <a:t>identity-aware</a:t>
            </a:r>
            <a:r>
              <a:rPr sz="1050" b="0">
                <a:solidFill>
                  <a:srgbClr val="33424D"/>
                </a:solidFill>
                <a:latin typeface="Calibri"/>
              </a:rPr>
              <a:t>. Only a second *</a:t>
            </a:r>
            <a:r>
              <a:rPr sz="1050" b="1">
                <a:solidFill>
                  <a:srgbClr val="33424D"/>
                </a:solidFill>
                <a:latin typeface="Calibri"/>
              </a:rPr>
              <a:t>confirmed</a:t>
            </a:r>
            <a:r>
              <a:rPr sz="1050" b="0">
                <a:solidFill>
                  <a:srgbClr val="33424D"/>
                </a:solidFill>
                <a:latin typeface="Calibri"/>
              </a:rPr>
              <a:t>* track may block an association; transient ghosts are ignored.</a:t>
            </a:r>
          </a:p>
          <a:p>
            <a:pPr marL="201168" indent="-201168">
              <a:spcAft>
                <a:spcPts val="600"/>
              </a:spcAft>
            </a:pPr>
            <a:r>
              <a:rPr sz="1050" b="1">
                <a:solidFill>
                  <a:srgbClr val="1C7293"/>
                </a:solidFill>
                <a:latin typeface="Calibri"/>
              </a:rPr>
              <a:t>▪   </a:t>
            </a:r>
            <a:r>
              <a:rPr sz="1050" b="1">
                <a:solidFill>
                  <a:srgbClr val="33424D"/>
                </a:solidFill>
                <a:latin typeface="Calibri"/>
              </a:rPr>
              <a:t>Result:</a:t>
            </a:r>
            <a:r>
              <a:rPr sz="1050" b="0">
                <a:solidFill>
                  <a:srgbClr val="33424D"/>
                </a:solidFill>
                <a:latin typeface="Calibri"/>
              </a:rPr>
              <a:t> GPS flows into the correct confirmed track and fusion accuracy improved measurably.</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ambiguity guard  —  </a:t>
            </a:r>
            <a:r>
              <a:rPr sz="850">
                <a:solidFill>
                  <a:srgbClr val="33424D"/>
                </a:solidFill>
                <a:latin typeface="Calibri"/>
              </a:rPr>
              <a:t>logic that refuses an association when two candidates look identical</a:t>
            </a:r>
          </a:p>
          <a:p>
            <a:pPr marL="128016" indent="-128016">
              <a:spcAft>
                <a:spcPts val="200"/>
              </a:spcAft>
            </a:pPr>
            <a:r>
              <a:rPr sz="850" b="1">
                <a:solidFill>
                  <a:srgbClr val="1C7293"/>
                </a:solidFill>
                <a:latin typeface="Calibri"/>
              </a:rPr>
              <a:t>orphan fragment  —  </a:t>
            </a:r>
            <a:r>
              <a:rPr sz="850">
                <a:solidFill>
                  <a:srgbClr val="33424D"/>
                </a:solidFill>
                <a:latin typeface="Calibri"/>
              </a:rPr>
              <a:t>a track that captured measurements belonging to another track</a:t>
            </a:r>
          </a:p>
          <a:p>
            <a:pPr marL="128016" indent="-128016">
              <a:spcAft>
                <a:spcPts val="200"/>
              </a:spcAft>
            </a:pPr>
            <a:r>
              <a:rPr sz="850" b="1">
                <a:solidFill>
                  <a:srgbClr val="1C7293"/>
                </a:solidFill>
                <a:latin typeface="Calibri"/>
              </a:rPr>
              <a:t>multi-rate fusion  —  </a:t>
            </a:r>
            <a:r>
              <a:rPr sz="850">
                <a:solidFill>
                  <a:srgbClr val="33424D"/>
                </a:solidFill>
                <a:latin typeface="Calibri"/>
              </a:rPr>
              <a:t>combining sensors that report at very different frequencies</a:t>
            </a:r>
          </a:p>
          <a:p>
            <a:pPr marL="128016" indent="-128016">
              <a:spcAft>
                <a:spcPts val="200"/>
              </a:spcAft>
            </a:pPr>
            <a:r>
              <a:rPr sz="850" b="1">
                <a:solidFill>
                  <a:srgbClr val="1C7293"/>
                </a:solidFill>
                <a:latin typeface="Calibri"/>
              </a:rPr>
              <a:t>identity-aware  —  </a:t>
            </a:r>
            <a:r>
              <a:rPr sz="850">
                <a:solidFill>
                  <a:srgbClr val="33424D"/>
                </a:solidFill>
                <a:latin typeface="Calibri"/>
              </a:rPr>
              <a:t>the guard now distinguishes confirmed tracks from provisional ones</a:t>
            </a:r>
          </a:p>
        </p:txBody>
      </p:sp>
      <p:pic>
        <p:nvPicPr>
          <p:cNvPr id="12" name="Picture 11" descr="C5.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THE GENERAL LESSON</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In multi-rate sensor fusion, association logic must distinguish </a:t>
            </a:r>
            <a:r>
              <a:rPr sz="850" b="1">
                <a:solidFill>
                  <a:srgbClr val="33424D"/>
                </a:solidFill>
                <a:latin typeface="Calibri"/>
              </a:rPr>
              <a:t>established</a:t>
            </a:r>
            <a:r>
              <a:rPr sz="850" b="0">
                <a:solidFill>
                  <a:srgbClr val="33424D"/>
                </a:solidFill>
                <a:latin typeface="Calibri"/>
              </a:rPr>
              <a:t> tracks from </a:t>
            </a:r>
            <a:r>
              <a:rPr sz="850" b="1">
                <a:solidFill>
                  <a:srgbClr val="33424D"/>
                </a:solidFill>
                <a:latin typeface="Calibri"/>
              </a:rPr>
              <a:t>provisional</a:t>
            </a:r>
            <a:r>
              <a:rPr sz="850" b="0">
                <a:solidFill>
                  <a:srgbClr val="33424D"/>
                </a:solidFill>
                <a:latin typeface="Calibri"/>
              </a:rPr>
              <a:t> ones</a:t>
            </a:r>
          </a:p>
          <a:p>
            <a:pPr marL="128016" indent="-128016">
              <a:spcAft>
                <a:spcPts val="200"/>
              </a:spcAft>
            </a:pPr>
            <a:r>
              <a:rPr sz="850" b="1">
                <a:solidFill>
                  <a:srgbClr val="1C7293"/>
                </a:solidFill>
                <a:latin typeface="Calibri"/>
              </a:rPr>
              <a:t>–  </a:t>
            </a:r>
            <a:r>
              <a:rPr sz="850" b="0">
                <a:solidFill>
                  <a:srgbClr val="33424D"/>
                </a:solidFill>
                <a:latin typeface="Calibri"/>
              </a:rPr>
              <a:t>This class of bug is invisible in unit tests — it only appears when the pipeline runs end to end</a:t>
            </a:r>
          </a:p>
          <a:p>
            <a:pPr marL="128016" indent="-128016">
              <a:spcAft>
                <a:spcPts val="200"/>
              </a:spcAft>
            </a:pPr>
            <a:r>
              <a:rPr sz="850" b="1">
                <a:solidFill>
                  <a:srgbClr val="1C7293"/>
                </a:solidFill>
                <a:latin typeface="Calibri"/>
              </a:rPr>
              <a:t>–  </a:t>
            </a:r>
            <a:r>
              <a:rPr sz="850" b="0">
                <a:solidFill>
                  <a:srgbClr val="33424D"/>
                </a:solidFill>
                <a:latin typeface="Calibri"/>
              </a:rPr>
              <a:t>It is the reason the ≈150-scenario batch campaign was worth the runtime</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r>
              <a:rPr sz="2100" b="1">
                <a:solidFill>
                  <a:srgbClr val="0B4F6C"/>
                </a:solidFill>
                <a:latin typeface="Cambria"/>
              </a:rPr>
              <a:t>Five Defences Against Track Proliferation</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b="0">
                <a:solidFill>
                  <a:srgbClr val="6B7A85"/>
                </a:solidFill>
                <a:latin typeface="Calibri"/>
              </a:rPr>
              <a:t>30</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C7   ·   </a:t>
            </a:r>
            <a:r>
              <a:rPr sz="1100" b="1">
                <a:solidFill>
                  <a:srgbClr val="1C7293"/>
                </a:solidFill>
                <a:latin typeface="Calibri"/>
              </a:rPr>
              <a:t>WHY ONE VEHICLE STAYS ON ONE TRACK</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171450" indent="-171450">
              <a:spcAft>
                <a:spcPts val="450"/>
              </a:spcAft>
            </a:pPr>
            <a:r>
              <a:rPr sz="1050" b="1">
                <a:solidFill>
                  <a:srgbClr val="1C7293"/>
                </a:solidFill>
                <a:latin typeface="Calibri"/>
              </a:rPr>
              <a:t>▪   </a:t>
            </a:r>
            <a:r>
              <a:rPr sz="1050" b="1">
                <a:solidFill>
                  <a:srgbClr val="33424D"/>
                </a:solidFill>
                <a:latin typeface="Calibri"/>
              </a:rPr>
              <a:t>Step 1 — Close the door early.</a:t>
            </a:r>
            <a:r>
              <a:rPr sz="1050" b="0">
                <a:solidFill>
                  <a:srgbClr val="33424D"/>
                </a:solidFill>
                <a:latin typeface="Calibri"/>
              </a:rPr>
              <a:t> A candidate track is scored at all only if it was updated within the last 5 s and its predicted position lies within 20 m of the measurement. Everything else is rejected before any comparison happens.</a:t>
            </a:r>
          </a:p>
          <a:p>
            <a:pPr marL="171450" indent="-171450">
              <a:spcAft>
                <a:spcPts val="450"/>
              </a:spcAft>
            </a:pPr>
            <a:r>
              <a:rPr sz="1050" b="1">
                <a:solidFill>
                  <a:srgbClr val="1C7293"/>
                </a:solidFill>
                <a:latin typeface="Calibri"/>
              </a:rPr>
              <a:t>▪   </a:t>
            </a:r>
            <a:r>
              <a:rPr sz="1050" b="1">
                <a:solidFill>
                  <a:srgbClr val="33424D"/>
                </a:solidFill>
                <a:latin typeface="Calibri"/>
              </a:rPr>
              <a:t>Step 2 — Turn every difference into metres.</a:t>
            </a:r>
            <a:r>
              <a:rPr sz="1050" b="0">
                <a:solidFill>
                  <a:srgbClr val="33424D"/>
                </a:solidFill>
                <a:latin typeface="Calibri"/>
              </a:rPr>
              <a:t> Distance, speed mismatch, heading mismatch and a jump to a non-adjacent road segment are summed into one cost, so the winner is simply the cheapest candidate.</a:t>
            </a:r>
          </a:p>
          <a:p>
            <a:pPr marL="171450" indent="-171450">
              <a:spcAft>
                <a:spcPts val="450"/>
              </a:spcAft>
            </a:pPr>
            <a:r>
              <a:rPr sz="1050" b="1">
                <a:solidFill>
                  <a:srgbClr val="1C7293"/>
                </a:solidFill>
                <a:latin typeface="Calibri"/>
              </a:rPr>
              <a:t>▪   </a:t>
            </a:r>
            <a:r>
              <a:rPr sz="1050" b="1">
                <a:solidFill>
                  <a:srgbClr val="33424D"/>
                </a:solidFill>
                <a:latin typeface="Calibri"/>
              </a:rPr>
              <a:t>Step 3 — Refuse when unsure.</a:t>
            </a:r>
            <a:r>
              <a:rPr sz="1050" b="0">
                <a:solidFill>
                  <a:srgbClr val="33424D"/>
                </a:solidFill>
                <a:latin typeface="Calibri"/>
              </a:rPr>
              <a:t> If the runner-up is almost as cheap as the winner, the tracker refuses to associate: a wrong merge is unrecoverable, a split is not. That refusal is also exactly what opens a new track.</a:t>
            </a:r>
          </a:p>
          <a:p>
            <a:pPr marL="171450" indent="-171450">
              <a:spcAft>
                <a:spcPts val="450"/>
              </a:spcAft>
            </a:pPr>
            <a:r>
              <a:rPr sz="1050" b="1">
                <a:solidFill>
                  <a:srgbClr val="1C7293"/>
                </a:solidFill>
                <a:latin typeface="Calibri"/>
              </a:rPr>
              <a:t>▪   </a:t>
            </a:r>
            <a:r>
              <a:rPr sz="1050" b="1">
                <a:solidFill>
                  <a:srgbClr val="33424D"/>
                </a:solidFill>
                <a:latin typeface="Calibri"/>
              </a:rPr>
              <a:t>Step 4 — Make a new track earn trust.</a:t>
            </a:r>
            <a:r>
              <a:rPr sz="1050" b="0">
                <a:solidFill>
                  <a:srgbClr val="33424D"/>
                </a:solidFill>
                <a:latin typeface="Calibri"/>
              </a:rPr>
              <a:t> Every new track is born tentative and is promoted to confirmed only after three associated measurements, so a single stray DAS hit never becomes a real object.</a:t>
            </a:r>
          </a:p>
          <a:p>
            <a:pPr marL="171450" indent="-171450">
              <a:spcAft>
                <a:spcPts val="450"/>
              </a:spcAft>
            </a:pPr>
            <a:r>
              <a:rPr sz="1050" b="1">
                <a:solidFill>
                  <a:srgbClr val="1C7293"/>
                </a:solidFill>
                <a:latin typeface="Calibri"/>
              </a:rPr>
              <a:t>▪   </a:t>
            </a:r>
            <a:r>
              <a:rPr sz="1050" b="1">
                <a:solidFill>
                  <a:srgbClr val="33424D"/>
                </a:solidFill>
                <a:latin typeface="Calibri"/>
              </a:rPr>
              <a:t>Step 5 — Handicap the unconfirmed.</a:t>
            </a:r>
            <a:r>
              <a:rPr sz="1050" b="0">
                <a:solidFill>
                  <a:srgbClr val="33424D"/>
                </a:solidFill>
                <a:latin typeface="Calibri"/>
              </a:rPr>
              <a:t> Before the comparison, a tentative track’s cost is multiplied by 2.5. A ghost can still win when nothing else is near, but it can no longer block a confirmed vehicle.</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a:spcAft>
                <a:spcPts val="150"/>
              </a:spcAft>
            </a:pPr>
            <a:r>
              <a:rPr sz="850" b="1">
                <a:solidFill>
                  <a:srgbClr val="1C7293"/>
                </a:solidFill>
                <a:latin typeface="Calibri"/>
              </a:rPr>
              <a:t>track proliferation  —  </a:t>
            </a:r>
            <a:r>
              <a:rPr sz="850" b="0">
                <a:solidFill>
                  <a:srgbClr val="33424D"/>
                </a:solidFill>
                <a:latin typeface="Calibri"/>
              </a:rPr>
              <a:t>one real vehicle keeps spawning new tracks instead of updating its own</a:t>
            </a:r>
          </a:p>
          <a:p>
            <a:pPr>
              <a:spcAft>
                <a:spcPts val="150"/>
              </a:spcAft>
            </a:pPr>
            <a:r>
              <a:rPr sz="850" b="1">
                <a:solidFill>
                  <a:srgbClr val="1C7293"/>
                </a:solidFill>
                <a:latin typeface="Calibri"/>
              </a:rPr>
              <a:t>cost inflation  —  </a:t>
            </a:r>
            <a:r>
              <a:rPr sz="850" b="0">
                <a:solidFill>
                  <a:srgbClr val="33424D"/>
                </a:solidFill>
                <a:latin typeface="Calibri"/>
              </a:rPr>
              <a:t>the ×2.5 handicap applied to a tentative track before ranking</a:t>
            </a:r>
          </a:p>
          <a:p>
            <a:pPr>
              <a:spcAft>
                <a:spcPts val="150"/>
              </a:spcAft>
            </a:pPr>
            <a:r>
              <a:rPr sz="850" b="1">
                <a:solidFill>
                  <a:srgbClr val="1C7293"/>
                </a:solidFill>
                <a:latin typeface="Calibri"/>
              </a:rPr>
              <a:t>runner-up  —  </a:t>
            </a:r>
            <a:r>
              <a:rPr sz="850" b="0">
                <a:solidFill>
                  <a:srgbClr val="33424D"/>
                </a:solidFill>
                <a:latin typeface="Calibri"/>
              </a:rPr>
              <a:t>the second-cheapest candidate, the one the guard compares against the winner</a:t>
            </a:r>
          </a:p>
          <a:p>
            <a:pPr>
              <a:spcAft>
                <a:spcPts val="150"/>
              </a:spcAft>
            </a:pPr>
            <a:r>
              <a:rPr sz="850" b="1">
                <a:solidFill>
                  <a:srgbClr val="1C7293"/>
                </a:solidFill>
                <a:latin typeface="Calibri"/>
              </a:rPr>
              <a:t>a handicap, not a ban  —  </a:t>
            </a:r>
            <a:r>
              <a:rPr sz="850" b="0">
                <a:solidFill>
                  <a:srgbClr val="33424D"/>
                </a:solidFill>
                <a:latin typeface="Calibri"/>
              </a:rPr>
              <a:t>an inflated ghost still wins when no confirmed track is nearby</a:t>
            </a:r>
          </a:p>
        </p:txBody>
      </p:sp>
      <p:sp>
        <p:nvSpPr>
          <p:cNvPr id="40" name="Rounded Rectangle 39"/>
          <p:cNvSpPr/>
          <p:nvPr/>
        </p:nvSpPr>
        <p:spPr>
          <a:xfrm>
            <a:off x="6163056" y="1316736"/>
            <a:ext cx="5413248" cy="2432304"/>
          </a:xfrm>
          <a:prstGeom prst="roundRect">
            <a:avLst>
              <a:gd name="adj" fmla="val 6000"/>
            </a:avLst>
          </a:prstGeom>
          <a:solidFill>
            <a:srgbClr val="F1F5F8"/>
          </a:solidFill>
          <a:ln>
            <a:noFill/>
          </a:ln>
          <a:effectLst/>
        </p:spPr>
        <p:txBody>
          <a:bodyPr rtlCol="0" anchor="ctr"/>
          <a:lstStyle/>
          <a:p>
            <a:pPr algn="ctr"/>
            <a:endParaRPr/>
          </a:p>
        </p:txBody>
      </p:sp>
      <p:sp>
        <p:nvSpPr>
          <p:cNvPr id="41" name="TextBox 40"/>
          <p:cNvSpPr txBox="1"/>
          <p:nvPr/>
        </p:nvSpPr>
        <p:spPr>
          <a:xfrm>
            <a:off x="6364224" y="1463040"/>
            <a:ext cx="5010912" cy="219456"/>
          </a:xfrm>
          <a:prstGeom prst="rect">
            <a:avLst/>
          </a:prstGeom>
          <a:noFill/>
        </p:spPr>
        <p:txBody>
          <a:bodyPr wrap="square" lIns="0" tIns="0" rIns="0" bIns="0">
            <a:spAutoFit/>
          </a:bodyPr>
          <a:lstStyle/>
          <a:p>
            <a:r>
              <a:rPr sz="900" b="1">
                <a:solidFill>
                  <a:srgbClr val="0B4F6C"/>
                </a:solidFill>
                <a:latin typeface="Calibri"/>
              </a:rPr>
              <a:t>THE FIVE STEPS, AS EQUATIONS</a:t>
            </a:r>
          </a:p>
        </p:txBody>
      </p:sp>
      <mc:AlternateContent xmlns:mc="http://schemas.openxmlformats.org/markup-compatibility/2006" xmlns:a14="http://schemas.microsoft.com/office/drawing/2010/main">
        <mc:Choice Requires="a14">
          <p:sp>
            <p:nvSpPr>
              <p:cNvPr id="42" name="TextBox 41"/>
              <p:cNvSpPr txBox="1"/>
              <p:nvPr/>
            </p:nvSpPr>
            <p:spPr>
              <a:xfrm>
                <a:off x="6364224" y="1737360"/>
                <a:ext cx="5010912" cy="1865376"/>
              </a:xfrm>
              <a:prstGeom prst="rect">
                <a:avLst/>
              </a:prstGeom>
              <a:noFill/>
            </p:spPr>
            <p:txBody>
              <a:bodyPr wrap="square" lIns="0" tIns="0" rIns="0" bIns="0"/>
              <a:lstStyle/>
              <a:p>
                <a:pPr algn="l">
                  <a:spcBef>
                    <a:spcPts val="150"/>
                  </a:spcBef>
                </a:pPr>
                <a:r>
                  <a:rPr sz="800" b="1">
                    <a:solidFill>
                      <a:srgbClr val="1C7293"/>
                    </a:solidFill>
                    <a:latin typeface="Calibri"/>
                  </a:rPr>
                  <a:t>1   ·   GATES  —  time, then space</a:t>
                </a:r>
              </a:p>
              <a:p>
                <a:pPr algn="l">
                  <a:spcAft>
                    <a:spcPts val="450"/>
                  </a:spcAft>
                </a:pPr>
                <a14:m>
                  <m:oMathPara xmlns:m="http://schemas.openxmlformats.org/officeDocument/2006/math">
                    <m:oMath>
                      <m:r>
                        <m:rPr>
                          <m:nor/>
                        </m:rPr>
                        <a:rPr lang="en-US" sz="900" i="0">
                          <a:latin typeface="Cambria Math"/>
                        </a:rPr>
                        <m:t>Δ</m:t>
                      </m:r>
                      <m:r>
                        <a:rPr lang="en-US" sz="900">
                          <a:latin typeface="Cambria Math"/>
                        </a:rPr>
                        <m:t>𝑡</m:t>
                      </m:r>
                      <m:r>
                        <m:rPr>
                          <m:nor/>
                        </m:rPr>
                        <a:rPr lang="en-US" sz="900" i="0">
                          <a:latin typeface="Cambria Math"/>
                        </a:rPr>
                        <m:t> ≤ 5 s  ,   </m:t>
                      </m:r>
                      <m:r>
                        <a:rPr lang="en-US" sz="900">
                          <a:latin typeface="Cambria Math"/>
                        </a:rPr>
                        <m:t>𝑑</m:t>
                      </m:r>
                      <m:r>
                        <m:rPr>
                          <m:nor/>
                        </m:rPr>
                        <a:rPr lang="en-US" sz="900" i="0">
                          <a:latin typeface="Cambria Math"/>
                        </a:rPr>
                        <m:t> &lt; 20 m</m:t>
                      </m:r>
                    </m:oMath>
                  </m:oMathPara>
                </a14:m>
                <a:endParaRPr sz="900"/>
              </a:p>
              <a:p>
                <a:pPr algn="l">
                  <a:spcBef>
                    <a:spcPts val="150"/>
                  </a:spcBef>
                </a:pPr>
                <a:r>
                  <a:rPr sz="800" b="1">
                    <a:solidFill>
                      <a:srgbClr val="1C7293"/>
                    </a:solidFill>
                    <a:latin typeface="Calibri"/>
                  </a:rPr>
                  <a:t>2   ·   COST  —  everything in equivalent metres</a:t>
                </a:r>
              </a:p>
              <a:p>
                <a:pPr algn="l">
                  <a:spcAft>
                    <a:spcPts val="450"/>
                  </a:spcAft>
                </a:pPr>
                <a14:m>
                  <m:oMathPara xmlns:m="http://schemas.openxmlformats.org/officeDocument/2006/math">
                    <m:oMath>
                      <m:r>
                        <a:rPr lang="en-US" sz="900">
                          <a:latin typeface="Cambria Math"/>
                        </a:rPr>
                        <m:t>𝐶</m:t>
                      </m:r>
                      <m:r>
                        <m:rPr>
                          <m:nor/>
                        </m:rPr>
                        <a:rPr lang="en-US" sz="900" i="0">
                          <a:latin typeface="Cambria Math"/>
                        </a:rPr>
                        <m:t> = </m:t>
                      </m:r>
                      <m:r>
                        <a:rPr lang="en-US" sz="900">
                          <a:latin typeface="Cambria Math"/>
                        </a:rPr>
                        <m:t>𝑑</m:t>
                      </m:r>
                      <m:r>
                        <m:rPr>
                          <m:nor/>
                        </m:rPr>
                        <a:rPr lang="en-US" sz="900" i="0">
                          <a:latin typeface="Cambria Math"/>
                        </a:rPr>
                        <m:t> + 2 · </m:t>
                      </m:r>
                      <m:f>
                        <m:fPr>
                          <m:ctrlPr>
                            <a:rPr lang="en-US" sz="900" i="0">
                              <a:latin typeface="Cambria Math"/>
                            </a:rPr>
                          </m:ctrlPr>
                        </m:fPr>
                        <m:num>
                          <m:r>
                            <m:rPr>
                              <m:nor/>
                            </m:rPr>
                            <a:rPr lang="en-US" sz="900" i="0">
                              <a:latin typeface="Cambria Math"/>
                            </a:rPr>
                            <m:t>|Δ</m:t>
                          </m:r>
                          <m:r>
                            <a:rPr lang="en-US" sz="900">
                              <a:latin typeface="Cambria Math"/>
                            </a:rPr>
                            <m:t>𝑣</m:t>
                          </m:r>
                          <m:r>
                            <m:rPr>
                              <m:nor/>
                            </m:rPr>
                            <a:rPr lang="en-US" sz="900" i="0">
                              <a:latin typeface="Cambria Math"/>
                            </a:rPr>
                            <m:t>|</m:t>
                          </m:r>
                        </m:num>
                        <m:den>
                          <m:sSub>
                            <m:sSubPr>
                              <m:ctrlPr>
                                <a:rPr lang="en-US" sz="900">
                                  <a:latin typeface="Cambria Math"/>
                                </a:rPr>
                              </m:ctrlPr>
                            </m:sSubPr>
                            <m:e>
                              <m:r>
                                <a:rPr lang="en-US" sz="900">
                                  <a:latin typeface="Cambria Math"/>
                                </a:rPr>
                                <m:t>𝑣</m:t>
                              </m:r>
                            </m:e>
                            <m:sub>
                              <m:r>
                                <m:rPr>
                                  <m:nor/>
                                </m:rPr>
                                <a:rPr lang="en-US" sz="900" i="0">
                                  <a:latin typeface="Cambria Math"/>
                                </a:rPr>
                                <m:t>max</m:t>
                              </m:r>
                            </m:sub>
                          </m:sSub>
                        </m:den>
                      </m:f>
                      <m:r>
                        <m:rPr>
                          <m:nor/>
                        </m:rPr>
                        <a:rPr lang="en-US" sz="900" i="0">
                          <a:latin typeface="Cambria Math"/>
                        </a:rPr>
                        <m:t> + 3 |Δθ| + 4 (segment jump)</m:t>
                      </m:r>
                    </m:oMath>
                  </m:oMathPara>
                </a14:m>
                <a:endParaRPr sz="900"/>
              </a:p>
              <a:p>
                <a:pPr algn="l">
                  <a:spcBef>
                    <a:spcPts val="150"/>
                  </a:spcBef>
                </a:pPr>
                <a:r>
                  <a:rPr sz="800" b="1">
                    <a:solidFill>
                      <a:srgbClr val="1C7293"/>
                    </a:solidFill>
                    <a:latin typeface="Calibri"/>
                  </a:rPr>
                  <a:t>3   ·   AMBIGUITY GUARD  —  refuse when the runner-up is close</a:t>
                </a:r>
              </a:p>
              <a:p>
                <a:pPr algn="l">
                  <a:spcAft>
                    <a:spcPts val="450"/>
                  </a:spcAft>
                </a:pPr>
                <a14:m>
                  <m:oMathPara xmlns:m="http://schemas.openxmlformats.org/officeDocument/2006/math">
                    <m:oMath>
                      <m:sSub>
                        <m:sSubPr>
                          <m:ctrlPr>
                            <a:rPr lang="en-US" sz="900">
                              <a:latin typeface="Cambria Math"/>
                            </a:rPr>
                          </m:ctrlPr>
                        </m:sSubPr>
                        <m:e>
                          <m:r>
                            <a:rPr lang="en-US" sz="900">
                              <a:latin typeface="Cambria Math"/>
                            </a:rPr>
                            <m:t>𝐶</m:t>
                          </m:r>
                        </m:e>
                        <m:sub>
                          <m:r>
                            <m:rPr>
                              <m:nor/>
                            </m:rPr>
                            <a:rPr lang="en-US" sz="900" i="0">
                              <a:latin typeface="Cambria Math"/>
                            </a:rPr>
                            <m:t>(2)</m:t>
                          </m:r>
                        </m:sub>
                      </m:sSub>
                      <m:r>
                        <m:rPr>
                          <m:nor/>
                        </m:rPr>
                        <a:rPr lang="en-US" sz="900" i="0">
                          <a:latin typeface="Cambria Math"/>
                        </a:rPr>
                        <m:t> &lt; 2 · </m:t>
                      </m:r>
                      <m:sSub>
                        <m:sSubPr>
                          <m:ctrlPr>
                            <a:rPr lang="en-US" sz="900">
                              <a:latin typeface="Cambria Math"/>
                            </a:rPr>
                          </m:ctrlPr>
                        </m:sSubPr>
                        <m:e>
                          <m:r>
                            <a:rPr lang="en-US" sz="900">
                              <a:latin typeface="Cambria Math"/>
                            </a:rPr>
                            <m:t>𝐶</m:t>
                          </m:r>
                        </m:e>
                        <m:sub>
                          <m:r>
                            <m:rPr>
                              <m:nor/>
                            </m:rPr>
                            <a:rPr lang="en-US" sz="900" i="0">
                              <a:latin typeface="Cambria Math"/>
                            </a:rPr>
                            <m:t>(1)</m:t>
                          </m:r>
                        </m:sub>
                      </m:sSub>
                      <m:r>
                        <m:rPr>
                          <m:nor/>
                        </m:rPr>
                        <a:rPr lang="en-US" sz="900" i="0">
                          <a:latin typeface="Cambria Math"/>
                        </a:rPr>
                        <m:t>   ⇒   open a new track</m:t>
                      </m:r>
                    </m:oMath>
                  </m:oMathPara>
                </a14:m>
                <a:endParaRPr sz="900"/>
              </a:p>
              <a:p>
                <a:pPr algn="l">
                  <a:spcBef>
                    <a:spcPts val="150"/>
                  </a:spcBef>
                </a:pPr>
                <a:r>
                  <a:rPr sz="800" b="1">
                    <a:solidFill>
                      <a:srgbClr val="1C7293"/>
                    </a:solidFill>
                    <a:latin typeface="Calibri"/>
                  </a:rPr>
                  <a:t>4   ·   CONFIRMATION  —  a track must earn its status</a:t>
                </a:r>
              </a:p>
              <a:p>
                <a:pPr algn="l">
                  <a:spcAft>
                    <a:spcPts val="450"/>
                  </a:spcAft>
                </a:pPr>
                <a14:m>
                  <m:oMathPara xmlns:m="http://schemas.openxmlformats.org/officeDocument/2006/math">
                    <m:oMath>
                      <m:r>
                        <a:rPr lang="en-US" sz="900">
                          <a:latin typeface="Cambria Math"/>
                        </a:rPr>
                        <m:t>𝑛</m:t>
                      </m:r>
                      <m:r>
                        <m:rPr>
                          <m:nor/>
                        </m:rPr>
                        <a:rPr lang="en-US" sz="900" i="0">
                          <a:latin typeface="Cambria Math"/>
                        </a:rPr>
                        <m:t> ≥ 3   ⇒   tentative → confirmed</m:t>
                      </m:r>
                    </m:oMath>
                  </m:oMathPara>
                </a14:m>
                <a:endParaRPr sz="900"/>
              </a:p>
              <a:p>
                <a:pPr algn="l">
                  <a:spcBef>
                    <a:spcPts val="150"/>
                  </a:spcBef>
                </a:pPr>
                <a:r>
                  <a:rPr sz="800" b="1">
                    <a:solidFill>
                      <a:srgbClr val="1C7293"/>
                    </a:solidFill>
                    <a:latin typeface="Calibri"/>
                  </a:rPr>
                  <a:t>5   ·   COST INFLATION  —  the handicap that ends the loop</a:t>
                </a:r>
              </a:p>
              <a:p>
                <a:pPr algn="l">
                  <a:spcAft>
                    <a:spcPts val="450"/>
                  </a:spcAft>
                </a:pPr>
                <a14:m>
                  <m:oMathPara xmlns:m="http://schemas.openxmlformats.org/officeDocument/2006/math">
                    <m:oMath>
                      <m:sSub>
                        <m:sSubPr>
                          <m:ctrlPr>
                            <a:rPr lang="en-US" sz="900">
                              <a:latin typeface="Cambria Math"/>
                            </a:rPr>
                          </m:ctrlPr>
                        </m:sSubPr>
                        <m:e>
                          <m:r>
                            <a:rPr lang="en-US" sz="900">
                              <a:latin typeface="Cambria Math"/>
                            </a:rPr>
                            <m:t>𝐶</m:t>
                          </m:r>
                        </m:e>
                        <m:sub>
                          <m:r>
                            <m:rPr>
                              <m:nor/>
                            </m:rPr>
                            <a:rPr lang="en-US" sz="900" i="0">
                              <a:latin typeface="Cambria Math"/>
                            </a:rPr>
                            <m:t>eff</m:t>
                          </m:r>
                        </m:sub>
                      </m:sSub>
                      <m:r>
                        <m:rPr>
                          <m:nor/>
                        </m:rPr>
                        <a:rPr lang="en-US" sz="900" i="0">
                          <a:latin typeface="Cambria Math"/>
                        </a:rPr>
                        <m:t> = 2.5 · </m:t>
                      </m:r>
                      <m:r>
                        <a:rPr lang="en-US" sz="900">
                          <a:latin typeface="Cambria Math"/>
                        </a:rPr>
                        <m:t>𝐶</m:t>
                      </m:r>
                      <m:r>
                        <m:rPr>
                          <m:nor/>
                        </m:rPr>
                        <a:rPr lang="en-US" sz="900" i="0">
                          <a:latin typeface="Cambria Math"/>
                        </a:rPr>
                        <m:t>   for a tentative track</m:t>
                      </m:r>
                    </m:oMath>
                  </m:oMathPara>
                </a14:m>
                <a:endParaRPr sz="900"/>
              </a:p>
            </p:txBody>
          </p:sp>
        </mc:Choice>
        <mc:Fallback xmlns:m="http://schemas.openxmlformats.org/officeDocument/2006/math" xmlns="">
          <p:sp>
            <p:nvSpPr>
              <p:cNvPr id="42" name="TextBox 41"/>
              <p:cNvSpPr txBox="1"/>
              <p:nvPr/>
            </p:nvSpPr>
            <p:spPr>
              <a:xfrm>
                <a:off x="6364224" y="1737360"/>
                <a:ext cx="5010912" cy="1865376"/>
              </a:xfrm>
              <a:prstGeom prst="rect">
                <a:avLst/>
              </a:prstGeom>
              <a:noFill/>
            </p:spPr>
            <p:txBody>
              <a:bodyPr wrap="square" lIns="0" tIns="0" rIns="0" bIns="0"/>
              <a:lstStyle/>
              <a:p>
                <a:pPr algn="l">
                  <a:spcBef>
                    <a:spcPts val="150"/>
                  </a:spcBef>
                </a:pPr>
                <a:r>
                  <a:rPr sz="800" b="1">
                    <a:solidFill>
                      <a:srgbClr val="1C7293"/>
                    </a:solidFill>
                    <a:latin typeface="Calibri"/>
                  </a:rPr>
                  <a:t>1   ·   GATES  —  time, then space</a:t>
                </a:r>
              </a:p>
              <a:p>
                <a:pPr algn="l">
                  <a:spcAft>
                    <a:spcPts val="450"/>
                  </a:spcAft>
                </a:pPr>
                <a:r>
                  <a:rPr sz="900">
                    <a:solidFill>
                      <a:srgbClr val="33424D"/>
                    </a:solidFill>
                    <a:latin typeface="Cambria Math"/>
                  </a:rPr>
                  <a:t>Δt ≤ 5 s   ,   d &lt; 20 m</a:t>
                </a:r>
              </a:p>
              <a:p>
                <a:pPr algn="l">
                  <a:spcBef>
                    <a:spcPts val="150"/>
                  </a:spcBef>
                </a:pPr>
                <a:r>
                  <a:rPr sz="800" b="1">
                    <a:solidFill>
                      <a:srgbClr val="1C7293"/>
                    </a:solidFill>
                    <a:latin typeface="Calibri"/>
                  </a:rPr>
                  <a:t>2   ·   COST  —  everything in equivalent metres</a:t>
                </a:r>
              </a:p>
              <a:p>
                <a:pPr algn="l">
                  <a:spcAft>
                    <a:spcPts val="450"/>
                  </a:spcAft>
                </a:pPr>
                <a:r>
                  <a:rPr sz="900">
                    <a:solidFill>
                      <a:srgbClr val="33424D"/>
                    </a:solidFill>
                    <a:latin typeface="Cambria Math"/>
                  </a:rPr>
                  <a:t>C = d + 2 · |Δv| / v_max + 3 |Δθ| + 4  (segment jump)</a:t>
                </a:r>
              </a:p>
              <a:p>
                <a:pPr algn="l">
                  <a:spcBef>
                    <a:spcPts val="150"/>
                  </a:spcBef>
                </a:pPr>
                <a:r>
                  <a:rPr sz="800" b="1">
                    <a:solidFill>
                      <a:srgbClr val="1C7293"/>
                    </a:solidFill>
                    <a:latin typeface="Calibri"/>
                  </a:rPr>
                  <a:t>3   ·   AMBIGUITY GUARD  —  refuse when the runner-up is close</a:t>
                </a:r>
              </a:p>
              <a:p>
                <a:pPr algn="l">
                  <a:spcAft>
                    <a:spcPts val="450"/>
                  </a:spcAft>
                </a:pPr>
                <a:r>
                  <a:rPr sz="900">
                    <a:solidFill>
                      <a:srgbClr val="33424D"/>
                    </a:solidFill>
                    <a:latin typeface="Cambria Math"/>
                  </a:rPr>
                  <a:t>C(2) &lt; 2 · C(1)   ⇒   open a new track</a:t>
                </a:r>
              </a:p>
              <a:p>
                <a:pPr algn="l">
                  <a:spcBef>
                    <a:spcPts val="150"/>
                  </a:spcBef>
                </a:pPr>
                <a:r>
                  <a:rPr sz="800" b="1">
                    <a:solidFill>
                      <a:srgbClr val="1C7293"/>
                    </a:solidFill>
                    <a:latin typeface="Calibri"/>
                  </a:rPr>
                  <a:t>4   ·   CONFIRMATION  —  a track must earn its status</a:t>
                </a:r>
              </a:p>
              <a:p>
                <a:pPr algn="l">
                  <a:spcAft>
                    <a:spcPts val="450"/>
                  </a:spcAft>
                </a:pPr>
                <a:r>
                  <a:rPr sz="900">
                    <a:solidFill>
                      <a:srgbClr val="33424D"/>
                    </a:solidFill>
                    <a:latin typeface="Cambria Math"/>
                  </a:rPr>
                  <a:t>n ≥ 3   ⇒   tentative → confirmed</a:t>
                </a:r>
              </a:p>
              <a:p>
                <a:pPr algn="l">
                  <a:spcBef>
                    <a:spcPts val="150"/>
                  </a:spcBef>
                </a:pPr>
                <a:r>
                  <a:rPr sz="800" b="1">
                    <a:solidFill>
                      <a:srgbClr val="1C7293"/>
                    </a:solidFill>
                    <a:latin typeface="Calibri"/>
                  </a:rPr>
                  <a:t>5   ·   COST INFLATION  —  the handicap that ends the loop</a:t>
                </a:r>
              </a:p>
              <a:p>
                <a:pPr algn="l">
                  <a:spcAft>
                    <a:spcPts val="450"/>
                  </a:spcAft>
                </a:pPr>
                <a:r>
                  <a:rPr sz="900">
                    <a:solidFill>
                      <a:srgbClr val="33424D"/>
                    </a:solidFill>
                    <a:latin typeface="Cambria Math"/>
                  </a:rPr>
                  <a:t>C_eff = 2.5 · C   for a tentative track</a:t>
                </a:r>
              </a:p>
            </p:txBody>
          </p:sp>
        </mc:Fallback>
      </mc:AlternateContent>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WORKED EXAMPLE  —  WHY 2.5 MUST BEAT 2.0</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14300" indent="-114300">
              <a:spcAft>
                <a:spcPts val="150"/>
              </a:spcAft>
            </a:pPr>
            <a:r>
              <a:rPr sz="850" b="1">
                <a:solidFill>
                  <a:srgbClr val="1C7293"/>
                </a:solidFill>
                <a:latin typeface="Calibri"/>
              </a:rPr>
              <a:t>–  </a:t>
            </a:r>
            <a:r>
              <a:rPr sz="850" b="0">
                <a:solidFill>
                  <a:srgbClr val="33424D"/>
                </a:solidFill>
                <a:latin typeface="Calibri"/>
              </a:rPr>
              <a:t>Ghost and real vehicle both ≈ 4 m from the GPS fix: the ghost becomes 4 × 2.5 = 10 m, and 10 ≥ 2 × 4, so the guard stays silent and the fix joins the </a:t>
            </a:r>
            <a:r>
              <a:rPr sz="850" b="1">
                <a:solidFill>
                  <a:srgbClr val="33424D"/>
                </a:solidFill>
                <a:latin typeface="Calibri"/>
              </a:rPr>
              <a:t>real</a:t>
            </a:r>
            <a:r>
              <a:rPr sz="850" b="0">
                <a:solidFill>
                  <a:srgbClr val="33424D"/>
                </a:solidFill>
                <a:latin typeface="Calibri"/>
              </a:rPr>
              <a:t> track</a:t>
            </a:r>
          </a:p>
          <a:p>
            <a:pPr marL="114300" indent="-114300">
              <a:spcAft>
                <a:spcPts val="150"/>
              </a:spcAft>
            </a:pPr>
            <a:r>
              <a:rPr sz="850" b="1">
                <a:solidFill>
                  <a:srgbClr val="1C7293"/>
                </a:solidFill>
                <a:latin typeface="Calibri"/>
              </a:rPr>
              <a:t>–  </a:t>
            </a:r>
            <a:r>
              <a:rPr sz="850" b="0">
                <a:solidFill>
                  <a:srgbClr val="33424D"/>
                </a:solidFill>
                <a:latin typeface="Calibri"/>
              </a:rPr>
              <a:t>Two genuinely close vehicles, both ≈ 0.5 m: 0.5 &lt; 2 × 0.5, the guard fires and we fragment — the </a:t>
            </a:r>
            <a:r>
              <a:rPr sz="850" b="1">
                <a:solidFill>
                  <a:srgbClr val="33424D"/>
                </a:solidFill>
                <a:latin typeface="Calibri"/>
              </a:rPr>
              <a:t>safe</a:t>
            </a:r>
            <a:r>
              <a:rPr sz="850" b="0">
                <a:solidFill>
                  <a:srgbClr val="33424D"/>
                </a:solidFill>
                <a:latin typeface="Calibri"/>
              </a:rPr>
              <a:t> error</a:t>
            </a:r>
          </a:p>
          <a:p>
            <a:pPr marL="114300" indent="-114300">
              <a:spcAft>
                <a:spcPts val="150"/>
              </a:spcAft>
            </a:pPr>
            <a:r>
              <a:rPr sz="850" b="1">
                <a:solidFill>
                  <a:srgbClr val="1C7293"/>
                </a:solidFill>
                <a:latin typeface="Calibri"/>
              </a:rPr>
              <a:t>–  </a:t>
            </a:r>
            <a:r>
              <a:rPr sz="850" b="0">
                <a:solidFill>
                  <a:srgbClr val="33424D"/>
                </a:solidFill>
                <a:latin typeface="Calibri"/>
              </a:rPr>
              <a:t>The inflation factor must exceed the guard ratio; that single inequality is the whole fix</a:t>
            </a:r>
          </a:p>
        </p:txBody>
      </p:sp>
      <p:sp>
        <p:nvSpPr>
          <p:cNvPr id="16" name="Rounded Rectangle 15">
            <a:hlinkClick r:id="rId5"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6"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156 Features in 9 Groups</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31</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D1   ·   </a:t>
            </a:r>
            <a:r>
              <a:rPr sz="1100" b="1">
                <a:solidFill>
                  <a:srgbClr val="1C7293"/>
                </a:solidFill>
                <a:latin typeface="Calibri"/>
              </a:rPr>
              <a:t>THE BEHAVIOURAL FINGERPRINT</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The extractor writes </a:t>
            </a:r>
            <a:r>
              <a:rPr sz="1050" b="1">
                <a:solidFill>
                  <a:srgbClr val="33424D"/>
                </a:solidFill>
                <a:latin typeface="Calibri"/>
              </a:rPr>
              <a:t>166 columns</a:t>
            </a:r>
            <a:r>
              <a:rPr sz="1050" b="0">
                <a:solidFill>
                  <a:srgbClr val="33424D"/>
                </a:solidFill>
                <a:latin typeface="Calibri"/>
              </a:rPr>
              <a:t> per vehicle; 10 are identifiers and metadata and are </a:t>
            </a:r>
            <a:r>
              <a:rPr sz="1050" b="1">
                <a:solidFill>
                  <a:srgbClr val="33424D"/>
                </a:solidFill>
                <a:latin typeface="Calibri"/>
              </a:rPr>
              <a:t>not scored</a:t>
            </a:r>
            <a:r>
              <a:rPr sz="1050" b="0">
                <a:solidFill>
                  <a:srgbClr val="33424D"/>
                </a:solidFill>
                <a:latin typeface="Calibri"/>
              </a:rPr>
              <a:t>. 156 reach the model.</a:t>
            </a:r>
          </a:p>
          <a:p>
            <a:pPr marL="201168" indent="-201168">
              <a:spcAft>
                <a:spcPts val="600"/>
              </a:spcAft>
            </a:pPr>
            <a:r>
              <a:rPr sz="1050" b="1">
                <a:solidFill>
                  <a:srgbClr val="1C7293"/>
                </a:solidFill>
                <a:latin typeface="Calibri"/>
              </a:rPr>
              <a:t>▪   </a:t>
            </a:r>
            <a:r>
              <a:rPr sz="1050" b="0">
                <a:solidFill>
                  <a:srgbClr val="33424D"/>
                </a:solidFill>
                <a:latin typeface="Calibri"/>
              </a:rPr>
              <a:t>Each feature collapses thousands of time-step rows into a single number.</a:t>
            </a:r>
          </a:p>
          <a:p>
            <a:pPr marL="201168" indent="-201168">
              <a:spcAft>
                <a:spcPts val="600"/>
              </a:spcAft>
            </a:pPr>
            <a:r>
              <a:rPr sz="1050" b="1">
                <a:solidFill>
                  <a:srgbClr val="1C7293"/>
                </a:solidFill>
                <a:latin typeface="Calibri"/>
              </a:rPr>
              <a:t>▪   </a:t>
            </a:r>
            <a:r>
              <a:rPr sz="1050" b="0">
                <a:solidFill>
                  <a:srgbClr val="33424D"/>
                </a:solidFill>
                <a:latin typeface="Calibri"/>
              </a:rPr>
              <a:t>Sources: the Kalman trajectory CSV, the DAS audit rows, and the scenario JSON.</a:t>
            </a:r>
          </a:p>
          <a:p>
            <a:pPr marL="201168" indent="-201168">
              <a:spcAft>
                <a:spcPts val="600"/>
              </a:spcAft>
            </a:pPr>
            <a:r>
              <a:rPr sz="1050" b="1">
                <a:solidFill>
                  <a:srgbClr val="1C7293"/>
                </a:solidFill>
                <a:latin typeface="Calibri"/>
              </a:rPr>
              <a:t>▪   </a:t>
            </a:r>
            <a:r>
              <a:rPr sz="1050" b="0">
                <a:solidFill>
                  <a:srgbClr val="33424D"/>
                </a:solidFill>
                <a:latin typeface="Calibri"/>
              </a:rPr>
              <a:t>The grouping is </a:t>
            </a:r>
            <a:r>
              <a:rPr sz="1050" b="1">
                <a:solidFill>
                  <a:srgbClr val="33424D"/>
                </a:solidFill>
                <a:latin typeface="Calibri"/>
              </a:rPr>
              <a:t>semantic</a:t>
            </a:r>
            <a:r>
              <a:rPr sz="1050" b="0">
                <a:solidFill>
                  <a:srgbClr val="33424D"/>
                </a:solidFill>
                <a:latin typeface="Calibri"/>
              </a:rPr>
              <a:t>, not statistical — it is what makes a flag explainable to a transport authority.</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feature  —  </a:t>
            </a:r>
            <a:r>
              <a:rPr sz="850">
                <a:solidFill>
                  <a:srgbClr val="33424D"/>
                </a:solidFill>
                <a:latin typeface="Calibri"/>
              </a:rPr>
              <a:t>one number summarising a whole trajectory — e.g. max deceleration</a:t>
            </a:r>
          </a:p>
          <a:p>
            <a:pPr marL="128016" indent="-128016">
              <a:spcAft>
                <a:spcPts val="200"/>
              </a:spcAft>
            </a:pPr>
            <a:r>
              <a:rPr sz="850" b="1">
                <a:solidFill>
                  <a:srgbClr val="1C7293"/>
                </a:solidFill>
                <a:latin typeface="Calibri"/>
              </a:rPr>
              <a:t>fingerprint  —  </a:t>
            </a:r>
            <a:r>
              <a:rPr sz="850">
                <a:solidFill>
                  <a:srgbClr val="33424D"/>
                </a:solidFill>
                <a:latin typeface="Calibri"/>
              </a:rPr>
              <a:t>the full 156-number vector describing one vehicle's behaviour</a:t>
            </a:r>
          </a:p>
          <a:p>
            <a:pPr marL="128016" indent="-128016">
              <a:spcAft>
                <a:spcPts val="200"/>
              </a:spcAft>
            </a:pPr>
            <a:r>
              <a:rPr sz="850" b="1">
                <a:solidFill>
                  <a:srgbClr val="1C7293"/>
                </a:solidFill>
                <a:latin typeface="Calibri"/>
              </a:rPr>
              <a:t>semantic group  —  </a:t>
            </a:r>
            <a:r>
              <a:rPr sz="850">
                <a:solidFill>
                  <a:srgbClr val="33424D"/>
                </a:solidFill>
                <a:latin typeface="Calibri"/>
              </a:rPr>
              <a:t>features grouped by meaning, so a flag can be explained in words</a:t>
            </a:r>
          </a:p>
          <a:p>
            <a:pPr marL="128016" indent="-128016">
              <a:spcAft>
                <a:spcPts val="200"/>
              </a:spcAft>
            </a:pPr>
            <a:r>
              <a:rPr sz="850" b="1">
                <a:solidFill>
                  <a:srgbClr val="1C7293"/>
                </a:solidFill>
                <a:latin typeface="Calibri"/>
              </a:rPr>
              <a:t>identifier column  —  </a:t>
            </a:r>
            <a:r>
              <a:rPr sz="850">
                <a:solidFill>
                  <a:srgbClr val="33424D"/>
                </a:solidFill>
                <a:latin typeface="Calibri"/>
              </a:rPr>
              <a:t>scenario and track ids — written out but never scored</a:t>
            </a:r>
          </a:p>
        </p:txBody>
      </p:sp>
      <p:pic>
        <p:nvPicPr>
          <p:cNvPr id="12" name="Picture 11" descr="D1.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GROUP SIZES</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Coverage &amp; sensor utility  </a:t>
            </a:r>
            <a:r>
              <a:rPr sz="850" b="0">
                <a:solidFill>
                  <a:srgbClr val="33424D"/>
                </a:solidFill>
                <a:latin typeface="Calibri"/>
              </a:rPr>
              <a:t>54</a:t>
            </a:r>
          </a:p>
          <a:p>
            <a:pPr marL="128016" indent="-128016">
              <a:spcAft>
                <a:spcPts val="200"/>
              </a:spcAft>
            </a:pPr>
            <a:r>
              <a:rPr sz="850" b="1">
                <a:solidFill>
                  <a:srgbClr val="0B4F6C"/>
                </a:solidFill>
                <a:latin typeface="Calibri"/>
              </a:rPr>
              <a:t>Kinematics  </a:t>
            </a:r>
            <a:r>
              <a:rPr sz="850" b="0">
                <a:solidFill>
                  <a:srgbClr val="33424D"/>
                </a:solidFill>
                <a:latin typeface="Calibri"/>
              </a:rPr>
              <a:t>35        ·   Inter-vehicle interaction   20</a:t>
            </a:r>
          </a:p>
          <a:p>
            <a:pPr marL="128016" indent="-128016">
              <a:spcAft>
                <a:spcPts val="200"/>
              </a:spcAft>
            </a:pPr>
            <a:r>
              <a:rPr sz="850" b="1">
                <a:solidFill>
                  <a:srgbClr val="0B4F6C"/>
                </a:solidFill>
                <a:latin typeface="Calibri"/>
              </a:rPr>
              <a:t>Kalman-filter quality  </a:t>
            </a:r>
            <a:r>
              <a:rPr sz="850" b="0">
                <a:solidFill>
                  <a:srgbClr val="33424D"/>
                </a:solidFill>
                <a:latin typeface="Calibri"/>
              </a:rPr>
              <a:t>13        ·   Sensor disagreement          11</a:t>
            </a:r>
          </a:p>
          <a:p>
            <a:pPr marL="128016" indent="-128016">
              <a:spcAft>
                <a:spcPts val="200"/>
              </a:spcAft>
            </a:pPr>
            <a:r>
              <a:rPr sz="850" b="1">
                <a:solidFill>
                  <a:srgbClr val="0B4F6C"/>
                </a:solidFill>
                <a:latin typeface="Calibri"/>
              </a:rPr>
              <a:t>DAS signal quality  </a:t>
            </a:r>
            <a:r>
              <a:rPr sz="850" b="0">
                <a:solidFill>
                  <a:srgbClr val="33424D"/>
                </a:solidFill>
                <a:latin typeface="Calibri"/>
              </a:rPr>
              <a:t>11        ·   Camera &amp; GPS                       8</a:t>
            </a:r>
          </a:p>
          <a:p>
            <a:pPr marL="128016" indent="-128016">
              <a:spcAft>
                <a:spcPts val="200"/>
              </a:spcAft>
            </a:pPr>
            <a:r>
              <a:rPr sz="850" b="1">
                <a:solidFill>
                  <a:srgbClr val="0B4F6C"/>
                </a:solidFill>
                <a:latin typeface="Calibri"/>
              </a:rPr>
              <a:t>DAS weight estimation  </a:t>
            </a:r>
            <a:r>
              <a:rPr sz="850" b="0">
                <a:solidFill>
                  <a:srgbClr val="33424D"/>
                </a:solidFill>
                <a:latin typeface="Calibri"/>
              </a:rPr>
              <a:t>3          ·   Scenario context                    1</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Scoring and the Threshold</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32</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D2   ·   </a:t>
            </a:r>
            <a:r>
              <a:rPr sz="1100" b="1">
                <a:solidFill>
                  <a:srgbClr val="1C7293"/>
                </a:solidFill>
                <a:latin typeface="Calibri"/>
              </a:rPr>
              <a:t>HOW A VEHICLE GETS FLAGGED</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Per feature:  </a:t>
            </a:r>
            <a:r>
              <a:rPr sz="1050" b="1">
                <a:solidFill>
                  <a:srgbClr val="33424D"/>
                </a:solidFill>
                <a:latin typeface="Calibri"/>
              </a:rPr>
              <a:t>z_i = (x_i − μ_i) / σ_i</a:t>
            </a:r>
            <a:r>
              <a:rPr sz="1050" b="0">
                <a:solidFill>
                  <a:srgbClr val="33424D"/>
                </a:solidFill>
                <a:latin typeface="Calibri"/>
              </a:rPr>
              <a:t>  against the learned normal baseline.   Score = </a:t>
            </a:r>
            <a:r>
              <a:rPr sz="1050" b="1">
                <a:solidFill>
                  <a:srgbClr val="33424D"/>
                </a:solidFill>
                <a:latin typeface="Calibri"/>
              </a:rPr>
              <a:t>max_i |z_i|</a:t>
            </a:r>
            <a:r>
              <a:rPr sz="1050" b="0">
                <a:solidFill>
                  <a:srgbClr val="33424D"/>
                </a:solidFill>
                <a:latin typeface="Calibri"/>
              </a:rPr>
              <a:t>      (Report Eq. 10)</a:t>
            </a:r>
          </a:p>
          <a:p>
            <a:pPr marL="201168" indent="-201168">
              <a:spcAft>
                <a:spcPts val="600"/>
              </a:spcAft>
            </a:pPr>
            <a:r>
              <a:rPr sz="1050" b="1">
                <a:solidFill>
                  <a:srgbClr val="1C7293"/>
                </a:solidFill>
                <a:latin typeface="Calibri"/>
              </a:rPr>
              <a:t>▪   </a:t>
            </a:r>
            <a:r>
              <a:rPr sz="1050" b="0">
                <a:solidFill>
                  <a:srgbClr val="33424D"/>
                </a:solidFill>
                <a:latin typeface="Calibri"/>
              </a:rPr>
              <a:t>Flag when the score exceeds </a:t>
            </a:r>
            <a:r>
              <a:rPr sz="1050" b="1">
                <a:solidFill>
                  <a:srgbClr val="33424D"/>
                </a:solidFill>
                <a:latin typeface="Calibri"/>
              </a:rPr>
              <a:t>15.39</a:t>
            </a:r>
            <a:r>
              <a:rPr sz="1050" b="0">
                <a:solidFill>
                  <a:srgbClr val="33424D"/>
                </a:solidFill>
                <a:latin typeface="Calibri"/>
              </a:rPr>
              <a:t>.</a:t>
            </a:r>
          </a:p>
          <a:p>
            <a:pPr marL="201168" indent="-201168">
              <a:spcAft>
                <a:spcPts val="600"/>
              </a:spcAft>
            </a:pPr>
            <a:r>
              <a:rPr sz="1050" b="1">
                <a:solidFill>
                  <a:srgbClr val="1C7293"/>
                </a:solidFill>
                <a:latin typeface="Calibri"/>
              </a:rPr>
              <a:t>▪   </a:t>
            </a:r>
            <a:r>
              <a:rPr sz="1050" b="0">
                <a:solidFill>
                  <a:srgbClr val="33424D"/>
                </a:solidFill>
                <a:latin typeface="Calibri"/>
              </a:rPr>
              <a:t>The threshold was set from the normal baseline at </a:t>
            </a:r>
            <a:r>
              <a:rPr sz="1050" b="1">
                <a:solidFill>
                  <a:srgbClr val="33424D"/>
                </a:solidFill>
                <a:latin typeface="Calibri"/>
              </a:rPr>
              <a:t>contamination = 0.01</a:t>
            </a:r>
            <a:r>
              <a:rPr sz="1050" b="0">
                <a:solidFill>
                  <a:srgbClr val="33424D"/>
                </a:solidFill>
                <a:latin typeface="Calibri"/>
              </a:rPr>
              <a:t> — the 99th percentile of max|Z| on the training set. It was chosen to admit about 1% of normal traffic, not to reach zero.</a:t>
            </a:r>
          </a:p>
          <a:p>
            <a:pPr marL="201168" indent="-201168">
              <a:spcAft>
                <a:spcPts val="600"/>
              </a:spcAft>
            </a:pPr>
            <a:r>
              <a:rPr sz="1050" b="1">
                <a:solidFill>
                  <a:srgbClr val="1C7293"/>
                </a:solidFill>
                <a:latin typeface="Calibri"/>
              </a:rPr>
              <a:t>▪   </a:t>
            </a:r>
            <a:r>
              <a:rPr sz="1050" b="0">
                <a:solidFill>
                  <a:srgbClr val="33424D"/>
                </a:solidFill>
                <a:latin typeface="Calibri"/>
              </a:rPr>
              <a:t>Interpretable by construction: the model reports </a:t>
            </a:r>
            <a:r>
              <a:rPr sz="1050" b="1">
                <a:solidFill>
                  <a:srgbClr val="33424D"/>
                </a:solidFill>
                <a:latin typeface="Calibri"/>
              </a:rPr>
              <a:t>which feature</a:t>
            </a:r>
            <a:r>
              <a:rPr sz="1050" b="0">
                <a:solidFill>
                  <a:srgbClr val="33424D"/>
                </a:solidFill>
                <a:latin typeface="Calibri"/>
              </a:rPr>
              <a:t> drove each flag (see D5).</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Z-score  —  </a:t>
            </a:r>
            <a:r>
              <a:rPr sz="850">
                <a:solidFill>
                  <a:srgbClr val="33424D"/>
                </a:solidFill>
                <a:latin typeface="Calibri"/>
              </a:rPr>
              <a:t>how many standard deviations a value sits from the normal mean</a:t>
            </a:r>
          </a:p>
          <a:p>
            <a:pPr marL="128016" indent="-128016">
              <a:spcAft>
                <a:spcPts val="200"/>
              </a:spcAft>
            </a:pPr>
            <a:r>
              <a:rPr sz="850" b="1">
                <a:solidFill>
                  <a:srgbClr val="1C7293"/>
                </a:solidFill>
                <a:latin typeface="Calibri"/>
              </a:rPr>
              <a:t>baseline  —  </a:t>
            </a:r>
            <a:r>
              <a:rPr sz="850">
                <a:solidFill>
                  <a:srgbClr val="33424D"/>
                </a:solidFill>
                <a:latin typeface="Calibri"/>
              </a:rPr>
              <a:t>the mean and standard deviation learned from 14,424 normal tracks</a:t>
            </a:r>
          </a:p>
          <a:p>
            <a:pPr marL="128016" indent="-128016">
              <a:spcAft>
                <a:spcPts val="200"/>
              </a:spcAft>
            </a:pPr>
            <a:r>
              <a:rPr sz="850" b="1">
                <a:solidFill>
                  <a:srgbClr val="1C7293"/>
                </a:solidFill>
                <a:latin typeface="Calibri"/>
              </a:rPr>
              <a:t>contamination  —  </a:t>
            </a:r>
            <a:r>
              <a:rPr sz="850">
                <a:solidFill>
                  <a:srgbClr val="33424D"/>
                </a:solidFill>
                <a:latin typeface="Calibri"/>
              </a:rPr>
              <a:t>the fraction of the training set the threshold is set to flag — 1%</a:t>
            </a:r>
          </a:p>
          <a:p>
            <a:pPr marL="128016" indent="-128016">
              <a:spcAft>
                <a:spcPts val="200"/>
              </a:spcAft>
            </a:pPr>
            <a:r>
              <a:rPr sz="850" b="1">
                <a:solidFill>
                  <a:srgbClr val="1C7293"/>
                </a:solidFill>
                <a:latin typeface="Calibri"/>
              </a:rPr>
              <a:t>heavy-tailed  —  </a:t>
            </a:r>
            <a:r>
              <a:rPr sz="850">
                <a:solidFill>
                  <a:srgbClr val="33424D"/>
                </a:solidFill>
                <a:latin typeface="Calibri"/>
              </a:rPr>
              <a:t>extreme values far more common than a Gaussian would predict</a:t>
            </a:r>
          </a:p>
        </p:txBody>
      </p:sp>
      <p:pic>
        <p:nvPicPr>
          <p:cNvPr id="12" name="Picture 11" descr="D2.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WHY “σ” IS NOT A PROBABILITY HERE</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With 156 correlated, heavy-tailed features, max|Z| is a </a:t>
            </a:r>
            <a:r>
              <a:rPr sz="850" b="1">
                <a:solidFill>
                  <a:srgbClr val="33424D"/>
                </a:solidFill>
                <a:latin typeface="Calibri"/>
              </a:rPr>
              <a:t>distance</a:t>
            </a:r>
            <a:r>
              <a:rPr sz="850" b="0">
                <a:solidFill>
                  <a:srgbClr val="33424D"/>
                </a:solidFill>
                <a:latin typeface="Calibri"/>
              </a:rPr>
              <a:t>, not a p-value</a:t>
            </a:r>
          </a:p>
          <a:p>
            <a:pPr marL="128016" indent="-128016">
              <a:spcAft>
                <a:spcPts val="200"/>
              </a:spcAft>
            </a:pPr>
            <a:r>
              <a:rPr sz="850" b="1">
                <a:solidFill>
                  <a:srgbClr val="1C7293"/>
                </a:solidFill>
                <a:latin typeface="Calibri"/>
              </a:rPr>
              <a:t>–  </a:t>
            </a:r>
            <a:r>
              <a:rPr sz="850" b="0">
                <a:solidFill>
                  <a:srgbClr val="33424D"/>
                </a:solidFill>
                <a:latin typeface="Calibri"/>
              </a:rPr>
              <a:t>Under a Gaussian assumption the expected maximum of 156 draws is ≈3. Our normal </a:t>
            </a:r>
            <a:r>
              <a:rPr sz="850" b="1">
                <a:solidFill>
                  <a:srgbClr val="33424D"/>
                </a:solidFill>
                <a:latin typeface="Calibri"/>
              </a:rPr>
              <a:t>median</a:t>
            </a:r>
            <a:r>
              <a:rPr sz="850" b="0">
                <a:solidFill>
                  <a:srgbClr val="33424D"/>
                </a:solidFill>
                <a:latin typeface="Calibri"/>
              </a:rPr>
              <a:t> is 3.40 and the normal </a:t>
            </a:r>
            <a:r>
              <a:rPr sz="850" b="1">
                <a:solidFill>
                  <a:srgbClr val="33424D"/>
                </a:solidFill>
                <a:latin typeface="Calibri"/>
              </a:rPr>
              <a:t>maximum</a:t>
            </a:r>
            <a:r>
              <a:rPr sz="850" b="0">
                <a:solidFill>
                  <a:srgbClr val="33424D"/>
                </a:solidFill>
                <a:latin typeface="Calibri"/>
              </a:rPr>
              <a:t> is 372</a:t>
            </a:r>
          </a:p>
          <a:p>
            <a:pPr marL="128016" indent="-128016">
              <a:spcAft>
                <a:spcPts val="200"/>
              </a:spcAft>
            </a:pPr>
            <a:r>
              <a:rPr sz="850" b="1">
                <a:solidFill>
                  <a:srgbClr val="1C7293"/>
                </a:solidFill>
                <a:latin typeface="Calibri"/>
              </a:rPr>
              <a:t>–  </a:t>
            </a:r>
            <a:r>
              <a:rPr sz="850" b="0">
                <a:solidFill>
                  <a:srgbClr val="33424D"/>
                </a:solidFill>
                <a:latin typeface="Calibri"/>
              </a:rPr>
              <a:t>So the operating point must be read off the </a:t>
            </a:r>
            <a:r>
              <a:rPr sz="850" b="1">
                <a:solidFill>
                  <a:srgbClr val="33424D"/>
                </a:solidFill>
                <a:latin typeface="Calibri"/>
              </a:rPr>
              <a:t>empirical</a:t>
            </a:r>
            <a:r>
              <a:rPr sz="850" b="0">
                <a:solidFill>
                  <a:srgbClr val="33424D"/>
                </a:solidFill>
                <a:latin typeface="Calibri"/>
              </a:rPr>
              <a:t> distribution — which is exactly how it was chosen</a:t>
            </a:r>
          </a:p>
          <a:p>
            <a:pPr marL="128016" indent="-128016">
              <a:spcAft>
                <a:spcPts val="200"/>
              </a:spcAft>
            </a:pPr>
            <a:r>
              <a:rPr sz="850" b="1">
                <a:solidFill>
                  <a:srgbClr val="1C7293"/>
                </a:solidFill>
                <a:latin typeface="Calibri"/>
              </a:rPr>
              <a:t>–  </a:t>
            </a:r>
            <a:r>
              <a:rPr sz="850" b="0">
                <a:solidFill>
                  <a:srgbClr val="33424D"/>
                </a:solidFill>
                <a:latin typeface="Calibri"/>
              </a:rPr>
              <a:t>A consequence: max|Z| ignores correlation between features. A Mahalanobis distance would not</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7</a:t>
            </a:r>
          </a:p>
        </p:txBody>
      </p:sp>
      <p:sp>
        <p:nvSpPr>
          <p:cNvPr id="150" name="Rounded Rectangle 149">
            <a:hlinkClick r:id="rId8"/>
          </p:cNvPr>
          <p:cNvSpPr/>
          <p:nvPr/>
        </p:nvSpPr>
        <p:spPr>
          <a:xfrm>
            <a:off x="7132320"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CODE  ↗</a:t>
            </a:r>
          </a:p>
        </p:txBody>
      </p:sp>
      <p:sp>
        <p:nvSpPr>
          <p:cNvPr id="152" name="TextBox 151"/>
          <p:cNvSpPr txBox="1"/>
          <p:nvPr/>
        </p:nvSpPr>
        <p:spPr>
          <a:xfrm>
            <a:off x="2377440" y="5733288"/>
            <a:ext cx="4681728" cy="219456"/>
          </a:xfrm>
          <a:prstGeom prst="rect">
            <a:avLst/>
          </a:prstGeom>
          <a:noFill/>
        </p:spPr>
        <p:txBody>
          <a:bodyPr wrap="square" lIns="0" tIns="0" rIns="0" bIns="0"/>
          <a:lstStyle/>
          <a:p>
            <a:pPr algn="r"/>
            <a:r>
              <a:rPr sz="800" b="1">
                <a:solidFill>
                  <a:srgbClr val="1C7293"/>
                </a:solidFill>
                <a:latin typeface="Calibri"/>
              </a:rPr>
              <a:t>code:  </a:t>
            </a:r>
            <a:r>
              <a:rPr sz="800" b="0">
                <a:solidFill>
                  <a:srgbClr val="6B7A85"/>
                </a:solidFill>
                <a:latin typeface="Consolas"/>
              </a:rPr>
              <a:t>anomaly_model/scripts/scenario_scorer.py  ·  lines 61–89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False Positives, Measured</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33</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D3   ·   </a:t>
            </a:r>
            <a:r>
              <a:rPr sz="1100" b="1">
                <a:solidFill>
                  <a:srgbClr val="1C7293"/>
                </a:solidFill>
                <a:latin typeface="Calibri"/>
              </a:rPr>
              <a:t>THE NUMBER BEHIND THE THRESHOLD</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At the operating threshold, </a:t>
            </a:r>
            <a:r>
              <a:rPr sz="1050" b="1">
                <a:solidFill>
                  <a:srgbClr val="33424D"/>
                </a:solidFill>
                <a:latin typeface="Calibri"/>
              </a:rPr>
              <a:t>214 of 14,424</a:t>
            </a:r>
            <a:r>
              <a:rPr sz="1050" b="0">
                <a:solidFill>
                  <a:srgbClr val="33424D"/>
                </a:solidFill>
                <a:latin typeface="Calibri"/>
              </a:rPr>
              <a:t> normal tracks are flagged — a false-positive rate of </a:t>
            </a:r>
            <a:r>
              <a:rPr sz="1050" b="1">
                <a:solidFill>
                  <a:srgbClr val="33424D"/>
                </a:solidFill>
                <a:latin typeface="Calibri"/>
              </a:rPr>
              <a:t>1.48%</a:t>
            </a:r>
            <a:r>
              <a:rPr sz="1050" b="0">
                <a:solidFill>
                  <a:srgbClr val="33424D"/>
                </a:solidFill>
                <a:latin typeface="Calibri"/>
              </a:rPr>
              <a:t>.</a:t>
            </a:r>
          </a:p>
          <a:p>
            <a:pPr marL="201168" indent="-201168">
              <a:spcAft>
                <a:spcPts val="600"/>
              </a:spcAft>
            </a:pPr>
            <a:r>
              <a:rPr sz="1050" b="1">
                <a:solidFill>
                  <a:srgbClr val="1C7293"/>
                </a:solidFill>
                <a:latin typeface="Calibri"/>
              </a:rPr>
              <a:t>▪   </a:t>
            </a:r>
            <a:r>
              <a:rPr sz="1050" b="0">
                <a:solidFill>
                  <a:srgbClr val="33424D"/>
                </a:solidFill>
                <a:latin typeface="Calibri"/>
              </a:rPr>
              <a:t>That is by design: the model was trained at contamination = 0.01.</a:t>
            </a:r>
          </a:p>
          <a:p>
            <a:pPr marL="201168" indent="-201168">
              <a:spcAft>
                <a:spcPts val="600"/>
              </a:spcAft>
            </a:pPr>
            <a:r>
              <a:rPr sz="1050" b="1">
                <a:solidFill>
                  <a:srgbClr val="1C7293"/>
                </a:solidFill>
                <a:latin typeface="Calibri"/>
              </a:rPr>
              <a:t>▪   </a:t>
            </a:r>
            <a:r>
              <a:rPr sz="1050" b="0">
                <a:solidFill>
                  <a:srgbClr val="33424D"/>
                </a:solidFill>
                <a:latin typeface="Calibri"/>
              </a:rPr>
              <a:t>Lowering the threshold to catch the missed anomalies is not available: at 6.2σ the false-positive rate is </a:t>
            </a:r>
            <a:r>
              <a:rPr sz="1050" b="1">
                <a:solidFill>
                  <a:srgbClr val="33424D"/>
                </a:solidFill>
                <a:latin typeface="Calibri"/>
              </a:rPr>
              <a:t>12.9%</a:t>
            </a:r>
            <a:r>
              <a:rPr sz="1050" b="0">
                <a:solidFill>
                  <a:srgbClr val="33424D"/>
                </a:solidFill>
                <a:latin typeface="Calibri"/>
              </a:rPr>
              <a:t>.</a:t>
            </a:r>
          </a:p>
          <a:p>
            <a:pPr marL="201168" indent="-201168">
              <a:spcAft>
                <a:spcPts val="600"/>
              </a:spcAft>
            </a:pPr>
            <a:r>
              <a:rPr sz="1050" b="1">
                <a:solidFill>
                  <a:srgbClr val="1C7293"/>
                </a:solidFill>
                <a:latin typeface="Calibri"/>
              </a:rPr>
              <a:t>▪   </a:t>
            </a:r>
            <a:r>
              <a:rPr sz="1050" b="0">
                <a:solidFill>
                  <a:srgbClr val="33424D"/>
                </a:solidFill>
                <a:latin typeface="Calibri"/>
              </a:rPr>
              <a:t>This is the precision–recall trade-off stated plainly, on our own data.</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false positive  —  </a:t>
            </a:r>
            <a:r>
              <a:rPr sz="850">
                <a:solidFill>
                  <a:srgbClr val="33424D"/>
                </a:solidFill>
                <a:latin typeface="Calibri"/>
              </a:rPr>
              <a:t>a normal vehicle the model flags as anomalous</a:t>
            </a:r>
          </a:p>
          <a:p>
            <a:pPr marL="128016" indent="-128016">
              <a:spcAft>
                <a:spcPts val="200"/>
              </a:spcAft>
            </a:pPr>
            <a:r>
              <a:rPr sz="850" b="1">
                <a:solidFill>
                  <a:srgbClr val="1C7293"/>
                </a:solidFill>
                <a:latin typeface="Calibri"/>
              </a:rPr>
              <a:t>operating point  —  </a:t>
            </a:r>
            <a:r>
              <a:rPr sz="850">
                <a:solidFill>
                  <a:srgbClr val="33424D"/>
                </a:solidFill>
                <a:latin typeface="Calibri"/>
              </a:rPr>
              <a:t>the threshold actually in use — 15.39 σ</a:t>
            </a:r>
          </a:p>
          <a:p>
            <a:pPr marL="128016" indent="-128016">
              <a:spcAft>
                <a:spcPts val="200"/>
              </a:spcAft>
            </a:pPr>
            <a:r>
              <a:rPr sz="850" b="1">
                <a:solidFill>
                  <a:srgbClr val="1C7293"/>
                </a:solidFill>
                <a:latin typeface="Calibri"/>
              </a:rPr>
              <a:t>threshold sweep  —  </a:t>
            </a:r>
            <a:r>
              <a:rPr sz="850">
                <a:solidFill>
                  <a:srgbClr val="33424D"/>
                </a:solidFill>
                <a:latin typeface="Calibri"/>
              </a:rPr>
              <a:t>recomputing the false-positive rate across candidate thresholds</a:t>
            </a:r>
          </a:p>
          <a:p>
            <a:pPr marL="128016" indent="-128016">
              <a:spcAft>
                <a:spcPts val="200"/>
              </a:spcAft>
            </a:pPr>
            <a:r>
              <a:rPr sz="850" b="1">
                <a:solidFill>
                  <a:srgbClr val="1C7293"/>
                </a:solidFill>
                <a:latin typeface="Calibri"/>
              </a:rPr>
              <a:t>precision / recall  —  </a:t>
            </a:r>
            <a:r>
              <a:rPr sz="850">
                <a:solidFill>
                  <a:srgbClr val="33424D"/>
                </a:solidFill>
                <a:latin typeface="Calibri"/>
              </a:rPr>
              <a:t>how many flags are right, versus how many anomalies are caught</a:t>
            </a:r>
          </a:p>
        </p:txBody>
      </p:sp>
      <p:pic>
        <p:nvPicPr>
          <p:cNvPr id="12" name="Picture 11" descr="D3.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THRESHOLD SWEEP  (14,424 normal tracks)</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σ = 5.0  </a:t>
            </a:r>
            <a:r>
              <a:rPr sz="850" b="0">
                <a:solidFill>
                  <a:srgbClr val="33424D"/>
                </a:solidFill>
                <a:latin typeface="Calibri"/>
              </a:rPr>
              <a:t>3,242 flagged    22.5%</a:t>
            </a:r>
          </a:p>
          <a:p>
            <a:pPr marL="128016" indent="-128016">
              <a:spcAft>
                <a:spcPts val="200"/>
              </a:spcAft>
            </a:pPr>
            <a:r>
              <a:rPr sz="850" b="1">
                <a:solidFill>
                  <a:srgbClr val="0B4F6C"/>
                </a:solidFill>
                <a:latin typeface="Calibri"/>
              </a:rPr>
              <a:t>σ = 6.2  </a:t>
            </a:r>
            <a:r>
              <a:rPr sz="850" b="0">
                <a:solidFill>
                  <a:srgbClr val="33424D"/>
                </a:solidFill>
                <a:latin typeface="Calibri"/>
              </a:rPr>
              <a:t>1,855 flagged    12.9%</a:t>
            </a:r>
          </a:p>
          <a:p>
            <a:pPr marL="128016" indent="-128016">
              <a:spcAft>
                <a:spcPts val="200"/>
              </a:spcAft>
            </a:pPr>
            <a:r>
              <a:rPr sz="850" b="1">
                <a:solidFill>
                  <a:srgbClr val="0B4F6C"/>
                </a:solidFill>
                <a:latin typeface="Calibri"/>
              </a:rPr>
              <a:t>σ = 10.0  </a:t>
            </a:r>
            <a:r>
              <a:rPr sz="850" b="0">
                <a:solidFill>
                  <a:srgbClr val="33424D"/>
                </a:solidFill>
                <a:latin typeface="Calibri"/>
              </a:rPr>
              <a:t>457 flagged      3.2%</a:t>
            </a:r>
          </a:p>
          <a:p>
            <a:pPr marL="128016" indent="-128016">
              <a:spcAft>
                <a:spcPts val="200"/>
              </a:spcAft>
            </a:pPr>
            <a:r>
              <a:rPr sz="850" b="1">
                <a:solidFill>
                  <a:srgbClr val="0B4F6C"/>
                </a:solidFill>
                <a:latin typeface="Calibri"/>
              </a:rPr>
              <a:t>σ = 15.39  ← operating point  </a:t>
            </a:r>
            <a:r>
              <a:rPr sz="850" b="0">
                <a:solidFill>
                  <a:srgbClr val="33424D"/>
                </a:solidFill>
                <a:latin typeface="Calibri"/>
              </a:rPr>
              <a:t>214 flagged      1.48%</a:t>
            </a:r>
          </a:p>
          <a:p>
            <a:pPr marL="128016" indent="-128016">
              <a:spcAft>
                <a:spcPts val="200"/>
              </a:spcAft>
            </a:pPr>
            <a:r>
              <a:rPr sz="850" b="1">
                <a:solidFill>
                  <a:srgbClr val="0B4F6C"/>
                </a:solidFill>
                <a:latin typeface="Calibri"/>
              </a:rPr>
              <a:t>σ = 25.0  </a:t>
            </a:r>
            <a:r>
              <a:rPr sz="850" b="0">
                <a:solidFill>
                  <a:srgbClr val="33424D"/>
                </a:solidFill>
                <a:latin typeface="Calibri"/>
              </a:rPr>
              <a:t>90 flagged       0.62%</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10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The Three We Missed</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34</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D4   ·   </a:t>
            </a:r>
            <a:r>
              <a:rPr sz="1100" b="1">
                <a:solidFill>
                  <a:srgbClr val="1C7293"/>
                </a:solidFill>
                <a:latin typeface="Calibri"/>
              </a:rPr>
              <a:t>FAILURE ANALYSIS, WITHOUT SOFTENING IT</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The most useful way to read a score is not in σ, but as: </a:t>
            </a:r>
            <a:r>
              <a:rPr sz="1050" b="1">
                <a:solidFill>
                  <a:srgbClr val="33424D"/>
                </a:solidFill>
                <a:latin typeface="Calibri"/>
              </a:rPr>
              <a:t>what fraction of normal vehicles scored lower</a:t>
            </a:r>
            <a:r>
              <a:rPr sz="1050" b="0">
                <a:solidFill>
                  <a:srgbClr val="33424D"/>
                </a:solidFill>
                <a:latin typeface="Calibri"/>
              </a:rPr>
              <a:t>.</a:t>
            </a:r>
          </a:p>
          <a:p>
            <a:pPr marL="201168" indent="-201168">
              <a:spcAft>
                <a:spcPts val="600"/>
              </a:spcAft>
            </a:pPr>
            <a:r>
              <a:rPr sz="1050" b="1">
                <a:solidFill>
                  <a:srgbClr val="1C7293"/>
                </a:solidFill>
                <a:latin typeface="Calibri"/>
              </a:rPr>
              <a:t>▪   </a:t>
            </a:r>
            <a:r>
              <a:rPr sz="1050" b="1">
                <a:solidFill>
                  <a:srgbClr val="33424D"/>
                </a:solidFill>
                <a:latin typeface="Calibri"/>
              </a:rPr>
              <a:t>Lane straddling</a:t>
            </a:r>
            <a:r>
              <a:rPr sz="1050" b="0">
                <a:solidFill>
                  <a:srgbClr val="33424D"/>
                </a:solidFill>
                <a:latin typeface="Calibri"/>
              </a:rPr>
              <a:t> at 6.2σ beats 87% of normal tracks — meaning 13% of perfectly normal vehicles scored </a:t>
            </a:r>
            <a:r>
              <a:rPr sz="1050" b="1">
                <a:solidFill>
                  <a:srgbClr val="33424D"/>
                </a:solidFill>
                <a:latin typeface="Calibri"/>
              </a:rPr>
              <a:t>higher</a:t>
            </a:r>
            <a:r>
              <a:rPr sz="1050" b="0">
                <a:solidFill>
                  <a:srgbClr val="33424D"/>
                </a:solidFill>
                <a:latin typeface="Calibri"/>
              </a:rPr>
              <a:t>.</a:t>
            </a:r>
          </a:p>
          <a:p>
            <a:pPr marL="201168" indent="-201168">
              <a:spcAft>
                <a:spcPts val="600"/>
              </a:spcAft>
            </a:pPr>
            <a:r>
              <a:rPr sz="1050" b="1">
                <a:solidFill>
                  <a:srgbClr val="1C7293"/>
                </a:solidFill>
                <a:latin typeface="Calibri"/>
              </a:rPr>
              <a:t>▪   </a:t>
            </a:r>
            <a:r>
              <a:rPr sz="1050" b="1">
                <a:solidFill>
                  <a:srgbClr val="33424D"/>
                </a:solidFill>
                <a:latin typeface="Calibri"/>
              </a:rPr>
              <a:t>Tailgating</a:t>
            </a:r>
            <a:r>
              <a:rPr sz="1050" b="0">
                <a:solidFill>
                  <a:srgbClr val="33424D"/>
                </a:solidFill>
                <a:latin typeface="Calibri"/>
              </a:rPr>
              <a:t>: the injected vehicle scored 2.1σ, </a:t>
            </a:r>
            <a:r>
              <a:rPr sz="1050" b="1">
                <a:solidFill>
                  <a:srgbClr val="33424D"/>
                </a:solidFill>
                <a:latin typeface="Calibri"/>
              </a:rPr>
              <a:t>below the normal median of 3.40</a:t>
            </a:r>
            <a:r>
              <a:rPr sz="1050" b="0">
                <a:solidFill>
                  <a:srgbClr val="33424D"/>
                </a:solidFill>
                <a:latin typeface="Calibri"/>
              </a:rPr>
              <a:t>. In that same scene a background vehicle scored 4.25σ — higher than the anomalous one.</a:t>
            </a:r>
          </a:p>
          <a:p>
            <a:pPr marL="201168" indent="-201168">
              <a:spcAft>
                <a:spcPts val="600"/>
              </a:spcAft>
            </a:pPr>
            <a:r>
              <a:rPr sz="1050" b="1">
                <a:solidFill>
                  <a:srgbClr val="1C7293"/>
                </a:solidFill>
                <a:latin typeface="Calibri"/>
              </a:rPr>
              <a:t>▪   </a:t>
            </a:r>
            <a:r>
              <a:rPr sz="1050" b="0">
                <a:solidFill>
                  <a:srgbClr val="33424D"/>
                </a:solidFill>
                <a:latin typeface="Calibri"/>
              </a:rPr>
              <a:t>These are not near-misses. In the current feature space these behaviours sit </a:t>
            </a:r>
            <a:r>
              <a:rPr sz="1050" b="1">
                <a:solidFill>
                  <a:srgbClr val="33424D"/>
                </a:solidFill>
                <a:latin typeface="Calibri"/>
              </a:rPr>
              <a:t>inside</a:t>
            </a:r>
            <a:r>
              <a:rPr sz="1050" b="0">
                <a:solidFill>
                  <a:srgbClr val="33424D"/>
                </a:solidFill>
                <a:latin typeface="Calibri"/>
              </a:rPr>
              <a:t> the normal distribution.</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near-miss  —  </a:t>
            </a:r>
            <a:r>
              <a:rPr sz="850">
                <a:solidFill>
                  <a:srgbClr val="33424D"/>
                </a:solidFill>
                <a:latin typeface="Calibri"/>
              </a:rPr>
              <a:t>a case that almost crossed the threshold — these are not that</a:t>
            </a:r>
          </a:p>
          <a:p>
            <a:pPr marL="128016" indent="-128016">
              <a:spcAft>
                <a:spcPts val="200"/>
              </a:spcAft>
            </a:pPr>
            <a:r>
              <a:rPr sz="850" b="1">
                <a:solidFill>
                  <a:srgbClr val="1C7293"/>
                </a:solidFill>
                <a:latin typeface="Calibri"/>
              </a:rPr>
              <a:t>percentile framing  —  </a:t>
            </a:r>
            <a:r>
              <a:rPr sz="850">
                <a:solidFill>
                  <a:srgbClr val="33424D"/>
                </a:solidFill>
                <a:latin typeface="Calibri"/>
              </a:rPr>
              <a:t>reading a score as: what share of normal vehicles scored lower</a:t>
            </a:r>
          </a:p>
          <a:p>
            <a:pPr marL="128016" indent="-128016">
              <a:spcAft>
                <a:spcPts val="200"/>
              </a:spcAft>
            </a:pPr>
            <a:r>
              <a:rPr sz="850" b="1">
                <a:solidFill>
                  <a:srgbClr val="1C7293"/>
                </a:solidFill>
                <a:latin typeface="Calibri"/>
              </a:rPr>
              <a:t>lateral dynamics  —  </a:t>
            </a:r>
            <a:r>
              <a:rPr sz="850">
                <a:solidFill>
                  <a:srgbClr val="33424D"/>
                </a:solidFill>
                <a:latin typeface="Calibri"/>
              </a:rPr>
              <a:t>sideways motion — the signal the missed anomalies live in</a:t>
            </a:r>
          </a:p>
          <a:p>
            <a:pPr marL="128016" indent="-128016">
              <a:spcAft>
                <a:spcPts val="200"/>
              </a:spcAft>
            </a:pPr>
            <a:r>
              <a:rPr sz="850" b="1">
                <a:solidFill>
                  <a:srgbClr val="1C7293"/>
                </a:solidFill>
                <a:latin typeface="Calibri"/>
              </a:rPr>
              <a:t>supervised layer  —  </a:t>
            </a:r>
            <a:r>
              <a:rPr sz="850">
                <a:solidFill>
                  <a:srgbClr val="33424D"/>
                </a:solidFill>
                <a:latin typeface="Calibri"/>
              </a:rPr>
              <a:t>a classifier trained on labelled anomalies — the proposed next step</a:t>
            </a:r>
          </a:p>
        </p:txBody>
      </p:sp>
      <p:pic>
        <p:nvPicPr>
          <p:cNvPr id="12" name="Picture 11" descr="D4.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SCORE vs THE NORMAL POPULATION</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Hard braking / stalled / collision  </a:t>
            </a:r>
            <a:r>
              <a:rPr sz="850" b="0">
                <a:solidFill>
                  <a:srgbClr val="33424D"/>
                </a:solidFill>
                <a:latin typeface="Calibri"/>
              </a:rPr>
              <a:t>383 · 376 · 316 σ   →  beat ≥ 99.99%</a:t>
            </a:r>
          </a:p>
          <a:p>
            <a:pPr marL="128016" indent="-128016">
              <a:spcAft>
                <a:spcPts val="200"/>
              </a:spcAft>
            </a:pPr>
            <a:r>
              <a:rPr sz="850" b="1">
                <a:solidFill>
                  <a:srgbClr val="0B4F6C"/>
                </a:solidFill>
                <a:latin typeface="Calibri"/>
              </a:rPr>
              <a:t>Reckless · speeding · overweight  </a:t>
            </a:r>
            <a:r>
              <a:rPr sz="850" b="0">
                <a:solidFill>
                  <a:srgbClr val="33424D"/>
                </a:solidFill>
                <a:latin typeface="Calibri"/>
              </a:rPr>
              <a:t>25.1 · 21.6 · 19.0 σ  →  beat ≈ 99%</a:t>
            </a:r>
          </a:p>
          <a:p>
            <a:pPr marL="128016" indent="-128016">
              <a:spcAft>
                <a:spcPts val="200"/>
              </a:spcAft>
            </a:pPr>
            <a:r>
              <a:rPr sz="850" b="1">
                <a:solidFill>
                  <a:srgbClr val="0B4F6C"/>
                </a:solidFill>
                <a:latin typeface="Calibri"/>
              </a:rPr>
              <a:t>Lane straddling  </a:t>
            </a:r>
            <a:r>
              <a:rPr sz="850" b="0">
                <a:solidFill>
                  <a:srgbClr val="33424D"/>
                </a:solidFill>
                <a:latin typeface="Calibri"/>
              </a:rPr>
              <a:t>6.2 σ   →  beats 87.2%</a:t>
            </a:r>
          </a:p>
          <a:p>
            <a:pPr marL="128016" indent="-128016">
              <a:spcAft>
                <a:spcPts val="200"/>
              </a:spcAft>
            </a:pPr>
            <a:r>
              <a:rPr sz="850" b="1">
                <a:solidFill>
                  <a:srgbClr val="0B4F6C"/>
                </a:solidFill>
                <a:latin typeface="Calibri"/>
              </a:rPr>
              <a:t>Lane weaving  </a:t>
            </a:r>
            <a:r>
              <a:rPr sz="850" b="0">
                <a:solidFill>
                  <a:srgbClr val="33424D"/>
                </a:solidFill>
                <a:latin typeface="Calibri"/>
              </a:rPr>
              <a:t>5.0 σ   →  beats 79.2%</a:t>
            </a:r>
          </a:p>
          <a:p>
            <a:pPr marL="128016" indent="-128016">
              <a:spcAft>
                <a:spcPts val="200"/>
              </a:spcAft>
            </a:pPr>
            <a:r>
              <a:rPr sz="850" b="1">
                <a:solidFill>
                  <a:srgbClr val="0B4F6C"/>
                </a:solidFill>
                <a:latin typeface="Calibri"/>
              </a:rPr>
              <a:t>Tailgating  </a:t>
            </a:r>
            <a:r>
              <a:rPr sz="850" b="0">
                <a:solidFill>
                  <a:srgbClr val="33424D"/>
                </a:solidFill>
                <a:latin typeface="Calibri"/>
              </a:rPr>
              <a:t>4.2 σ   →  beats 65.4%</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10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Interpretability — One Decision Traced</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35</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D5   ·   THE OVER-SPEEDING SCENARIO</a:t>
            </a:r>
            <a:r>
              <a:rPr sz="1100" b="1">
                <a:solidFill>
                  <a:srgbClr val="1C7293"/>
                </a:solidFill>
                <a:latin typeface="Calibri"/>
              </a:rPr>
              <a:t>THE OVER-SPEEDING SCENARIO</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Injected vehicle </a:t>
            </a:r>
            <a:r>
              <a:rPr sz="1050" b="1">
                <a:solidFill>
                  <a:srgbClr val="33424D"/>
                </a:solidFill>
                <a:latin typeface="Calibri"/>
              </a:rPr>
              <a:t>T000001</a:t>
            </a:r>
            <a:r>
              <a:rPr sz="1050" b="0">
                <a:solidFill>
                  <a:srgbClr val="33424D"/>
                </a:solidFill>
                <a:latin typeface="Calibri"/>
              </a:rPr>
              <a:t> scored </a:t>
            </a:r>
            <a:r>
              <a:rPr sz="1050" b="1">
                <a:solidFill>
                  <a:srgbClr val="33424D"/>
                </a:solidFill>
                <a:latin typeface="Calibri"/>
              </a:rPr>
              <a:t>21.6σ</a:t>
            </a:r>
            <a:r>
              <a:rPr sz="1050" b="0">
                <a:solidFill>
                  <a:srgbClr val="33424D"/>
                </a:solidFill>
                <a:latin typeface="Calibri"/>
              </a:rPr>
              <a:t>; the three background vehicles sat near 2σ, well inside the normal band.</a:t>
            </a:r>
          </a:p>
          <a:p>
            <a:pPr marL="201168" indent="-201168">
              <a:spcAft>
                <a:spcPts val="600"/>
              </a:spcAft>
            </a:pPr>
            <a:r>
              <a:rPr sz="1050" b="1">
                <a:solidFill>
                  <a:srgbClr val="1C7293"/>
                </a:solidFill>
                <a:latin typeface="Calibri"/>
              </a:rPr>
              <a:t>▪   </a:t>
            </a:r>
            <a:r>
              <a:rPr sz="1050" b="0">
                <a:solidFill>
                  <a:srgbClr val="33424D"/>
                </a:solidFill>
                <a:latin typeface="Calibri"/>
              </a:rPr>
              <a:t>The features that drove the flag: </a:t>
            </a:r>
            <a:r>
              <a:rPr sz="1050" b="1">
                <a:solidFill>
                  <a:srgbClr val="33424D"/>
                </a:solidFill>
                <a:latin typeface="Calibri"/>
              </a:rPr>
              <a:t>relative speed at closest approach</a:t>
            </a:r>
            <a:r>
              <a:rPr sz="1050" b="0">
                <a:solidFill>
                  <a:srgbClr val="33424D"/>
                </a:solidFill>
                <a:latin typeface="Calibri"/>
              </a:rPr>
              <a:t>, </a:t>
            </a:r>
            <a:r>
              <a:rPr sz="1050" b="1">
                <a:solidFill>
                  <a:srgbClr val="33424D"/>
                </a:solidFill>
                <a:latin typeface="Calibri"/>
              </a:rPr>
              <a:t>mean speed over the run</a:t>
            </a:r>
            <a:r>
              <a:rPr sz="1050" b="0">
                <a:solidFill>
                  <a:srgbClr val="33424D"/>
                </a:solidFill>
                <a:latin typeface="Calibri"/>
              </a:rPr>
              <a:t>, and </a:t>
            </a:r>
            <a:r>
              <a:rPr sz="1050" b="1">
                <a:solidFill>
                  <a:srgbClr val="33424D"/>
                </a:solidFill>
                <a:latin typeface="Calibri"/>
              </a:rPr>
              <a:t>lateral velocity</a:t>
            </a:r>
            <a:r>
              <a:rPr sz="1050" b="0">
                <a:solidFill>
                  <a:srgbClr val="33424D"/>
                </a:solidFill>
                <a:latin typeface="Calibri"/>
              </a:rPr>
              <a:t>.</a:t>
            </a:r>
          </a:p>
          <a:p>
            <a:pPr marL="201168" indent="-201168">
              <a:spcAft>
                <a:spcPts val="600"/>
              </a:spcAft>
            </a:pPr>
            <a:r>
              <a:rPr sz="1050" b="1">
                <a:solidFill>
                  <a:srgbClr val="1C7293"/>
                </a:solidFill>
                <a:latin typeface="Calibri"/>
              </a:rPr>
              <a:t>▪   </a:t>
            </a:r>
            <a:r>
              <a:rPr sz="1050" b="0">
                <a:solidFill>
                  <a:srgbClr val="33424D"/>
                </a:solidFill>
                <a:latin typeface="Calibri"/>
              </a:rPr>
              <a:t>All three fall outside the ±4σ envelope of the normal training distribution.</a:t>
            </a:r>
          </a:p>
          <a:p>
            <a:pPr marL="201168" indent="-201168">
              <a:spcAft>
                <a:spcPts val="600"/>
              </a:spcAft>
            </a:pPr>
            <a:r>
              <a:rPr sz="1050" b="1">
                <a:solidFill>
                  <a:srgbClr val="1C7293"/>
                </a:solidFill>
                <a:latin typeface="Calibri"/>
              </a:rPr>
              <a:t>▪   </a:t>
            </a:r>
            <a:r>
              <a:rPr sz="1050" b="0">
                <a:solidFill>
                  <a:srgbClr val="33424D"/>
                </a:solidFill>
                <a:latin typeface="Calibri"/>
              </a:rPr>
              <a:t>The output is therefore a sentence a transport authority can act on — not a black-box score.</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interpretability  —  </a:t>
            </a:r>
            <a:r>
              <a:rPr sz="850">
                <a:solidFill>
                  <a:srgbClr val="33424D"/>
                </a:solidFill>
                <a:latin typeface="Calibri"/>
              </a:rPr>
              <a:t>the model reports which features drove each decision</a:t>
            </a:r>
          </a:p>
          <a:p>
            <a:pPr marL="128016" indent="-128016">
              <a:spcAft>
                <a:spcPts val="200"/>
              </a:spcAft>
            </a:pPr>
            <a:r>
              <a:rPr sz="850" b="1">
                <a:solidFill>
                  <a:srgbClr val="1C7293"/>
                </a:solidFill>
                <a:latin typeface="Calibri"/>
              </a:rPr>
              <a:t>±4σ envelope  —  </a:t>
            </a:r>
            <a:r>
              <a:rPr sz="850">
                <a:solidFill>
                  <a:srgbClr val="33424D"/>
                </a:solidFill>
                <a:latin typeface="Calibri"/>
              </a:rPr>
              <a:t>the band containing almost all normal values of a feature</a:t>
            </a:r>
          </a:p>
          <a:p>
            <a:pPr marL="128016" indent="-128016">
              <a:spcAft>
                <a:spcPts val="200"/>
              </a:spcAft>
            </a:pPr>
            <a:r>
              <a:rPr sz="850" b="1">
                <a:solidFill>
                  <a:srgbClr val="1C7293"/>
                </a:solidFill>
                <a:latin typeface="Calibri"/>
              </a:rPr>
              <a:t>closest approach  —  </a:t>
            </a:r>
            <a:r>
              <a:rPr sz="850">
                <a:solidFill>
                  <a:srgbClr val="33424D"/>
                </a:solidFill>
                <a:latin typeface="Calibri"/>
              </a:rPr>
              <a:t>the moment two vehicles are nearest — a strong interaction cue</a:t>
            </a:r>
          </a:p>
          <a:p>
            <a:pPr marL="128016" indent="-128016">
              <a:spcAft>
                <a:spcPts val="200"/>
              </a:spcAft>
            </a:pPr>
            <a:r>
              <a:rPr sz="850" b="1">
                <a:solidFill>
                  <a:srgbClr val="1C7293"/>
                </a:solidFill>
                <a:latin typeface="Calibri"/>
              </a:rPr>
              <a:t>black box  —  </a:t>
            </a:r>
            <a:r>
              <a:rPr sz="850">
                <a:solidFill>
                  <a:srgbClr val="33424D"/>
                </a:solidFill>
                <a:latin typeface="Calibri"/>
              </a:rPr>
              <a:t>a model that scores without explaining — what we chose to avoid</a:t>
            </a:r>
          </a:p>
        </p:txBody>
      </p:sp>
      <p:pic>
        <p:nvPicPr>
          <p:cNvPr id="12" name="Picture 11" descr="D6.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WHAT THE MODEL ACTUALLY REPORTS</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the score, the flag, </a:t>
            </a:r>
            <a:r>
              <a:rPr sz="850" b="1">
                <a:solidFill>
                  <a:srgbClr val="33424D"/>
                </a:solidFill>
                <a:latin typeface="Calibri"/>
              </a:rPr>
              <a:t>and</a:t>
            </a:r>
            <a:r>
              <a:rPr sz="850" b="0">
                <a:solidFill>
                  <a:srgbClr val="33424D"/>
                </a:solidFill>
                <a:latin typeface="Calibri"/>
              </a:rPr>
              <a:t> the ranked list of contributing features</a:t>
            </a:r>
          </a:p>
          <a:p>
            <a:pPr marL="128016" indent="-128016">
              <a:spcAft>
                <a:spcPts val="200"/>
              </a:spcAft>
            </a:pPr>
            <a:r>
              <a:rPr sz="850" b="1">
                <a:solidFill>
                  <a:srgbClr val="1C7293"/>
                </a:solidFill>
                <a:latin typeface="Calibri"/>
              </a:rPr>
              <a:t>–  </a:t>
            </a:r>
            <a:r>
              <a:rPr sz="850" b="0">
                <a:solidFill>
                  <a:srgbClr val="33424D"/>
                </a:solidFill>
                <a:latin typeface="Calibri"/>
              </a:rPr>
              <a:t>This is the main reason the per-feature Z-score was kept over Isolation Forest, which scores but does not explain</a:t>
            </a:r>
          </a:p>
          <a:p>
            <a:pPr marL="128016" indent="-128016">
              <a:spcAft>
                <a:spcPts val="200"/>
              </a:spcAft>
            </a:pPr>
            <a:r>
              <a:rPr sz="850" b="1">
                <a:solidFill>
                  <a:srgbClr val="1C7293"/>
                </a:solidFill>
                <a:latin typeface="Calibri"/>
              </a:rPr>
              <a:t>–  </a:t>
            </a:r>
            <a:r>
              <a:rPr sz="850" b="0">
                <a:solidFill>
                  <a:srgbClr val="33424D"/>
                </a:solidFill>
                <a:latin typeface="Calibri"/>
              </a:rPr>
              <a:t>In the stalled-vehicle and collision scenarios the model also flagged the vehicles </a:t>
            </a:r>
            <a:r>
              <a:rPr sz="850" b="1">
                <a:solidFill>
                  <a:srgbClr val="33424D"/>
                </a:solidFill>
                <a:latin typeface="Calibri"/>
              </a:rPr>
              <a:t>immediately behind</a:t>
            </a:r>
            <a:r>
              <a:rPr sz="850" b="0">
                <a:solidFill>
                  <a:srgbClr val="33424D"/>
                </a:solidFill>
                <a:latin typeface="Calibri"/>
              </a:rPr>
              <a:t> the event — physically correct, since those vehicles are forced to stop abnormally too</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10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r>
              <a:rPr sz="2100" b="1">
                <a:solidFill>
                  <a:srgbClr val="0B4F6C"/>
                </a:solidFill>
                <a:latin typeface="Cambria"/>
              </a:rPr>
              <a:t>The Six Features Behind the Klausner Flag</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b="0">
                <a:solidFill>
                  <a:srgbClr val="6B7A85"/>
                </a:solidFill>
                <a:latin typeface="Calibri"/>
              </a:rPr>
              <a:t>36</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D6   ·   </a:t>
            </a:r>
            <a:r>
              <a:rPr sz="1100" b="1">
                <a:solidFill>
                  <a:srgbClr val="1C7293"/>
                </a:solidFill>
                <a:latin typeface="Calibri"/>
              </a:rPr>
              <a:t>WHAT EACH FEATURE ON SLIDE 11 MEASURES, AND HOW IT IS COMPUTED</a:t>
            </a:r>
          </a:p>
        </p:txBody>
      </p:sp>
      <p:sp>
        <p:nvSpPr>
          <p:cNvPr id="60" name="Rounded Rectangle 59"/>
          <p:cNvSpPr/>
          <p:nvPr/>
        </p:nvSpPr>
        <p:spPr>
          <a:xfrm>
            <a:off x="603504" y="1298448"/>
            <a:ext cx="5358384" cy="1207008"/>
          </a:xfrm>
          <a:prstGeom prst="roundRect">
            <a:avLst>
              <a:gd name="adj" fmla="val 6000"/>
            </a:avLst>
          </a:prstGeom>
          <a:solidFill>
            <a:srgbClr val="F1F5F8"/>
          </a:solidFill>
          <a:ln>
            <a:noFill/>
          </a:ln>
          <a:effectLst/>
        </p:spPr>
        <p:txBody>
          <a:bodyPr rtlCol="0" anchor="ctr"/>
          <a:lstStyle/>
          <a:p>
            <a:pPr algn="ctr"/>
            <a:endParaRPr/>
          </a:p>
        </p:txBody>
      </p:sp>
      <p:sp>
        <p:nvSpPr>
          <p:cNvPr id="61" name="TextBox 61"/>
          <p:cNvSpPr txBox="1"/>
          <p:nvPr/>
        </p:nvSpPr>
        <p:spPr>
          <a:xfrm>
            <a:off x="804672" y="1417320"/>
            <a:ext cx="4956048" cy="201168"/>
          </a:xfrm>
          <a:prstGeom prst="rect">
            <a:avLst/>
          </a:prstGeom>
          <a:noFill/>
        </p:spPr>
        <p:txBody>
          <a:bodyPr wrap="square" lIns="0" tIns="0" rIns="0" bIns="0"/>
          <a:lstStyle/>
          <a:p>
            <a:r>
              <a:rPr sz="1050" b="1">
                <a:solidFill>
                  <a:srgbClr val="0B4F6C"/>
                </a:solidFill>
                <a:latin typeface="Calibri"/>
              </a:rPr>
              <a:t>jerk mean abs</a:t>
            </a:r>
            <a:r>
              <a:rPr sz="750" b="0">
                <a:solidFill>
                  <a:srgbClr val="6B7A85"/>
                </a:solidFill>
                <a:latin typeface="Consolas"/>
              </a:rPr>
              <a:t>     kin_jerk_mean_abs_mps3</a:t>
            </a:r>
          </a:p>
        </p:txBody>
      </p:sp>
      <p:sp>
        <p:nvSpPr>
          <p:cNvPr id="62" name="TextBox 62"/>
          <p:cNvSpPr txBox="1"/>
          <p:nvPr/>
        </p:nvSpPr>
        <p:spPr>
          <a:xfrm>
            <a:off x="804672" y="1664208"/>
            <a:ext cx="4956048" cy="201168"/>
          </a:xfrm>
          <a:prstGeom prst="rect">
            <a:avLst/>
          </a:prstGeom>
          <a:noFill/>
        </p:spPr>
        <p:txBody>
          <a:bodyPr wrap="square" lIns="0" tIns="0" rIns="0" bIns="0"/>
          <a:lstStyle/>
          <a:p>
            <a:r>
              <a:rPr sz="850" b="0">
                <a:solidFill>
                  <a:srgbClr val="33424D"/>
                </a:solidFill>
                <a:latin typeface="Calibri"/>
              </a:rPr>
              <a:t>How erratic the drive is — the average step-to-step change in longitudinal acceleration</a:t>
            </a:r>
          </a:p>
        </p:txBody>
      </p:sp>
      <mc:AlternateContent xmlns:mc="http://schemas.openxmlformats.org/markup-compatibility/2006" xmlns:a14="http://schemas.microsoft.com/office/drawing/2010/main">
        <mc:Choice Requires="a14">
          <p:sp>
            <p:nvSpPr>
              <p:cNvPr id="63" name="TextBox 62"/>
              <p:cNvSpPr txBox="1"/>
              <p:nvPr/>
            </p:nvSpPr>
            <p:spPr>
              <a:xfrm>
                <a:off x="804672" y="1920240"/>
                <a:ext cx="4956048" cy="237744"/>
              </a:xfrm>
              <a:prstGeom prst="rect">
                <a:avLst/>
              </a:prstGeom>
              <a:noFill/>
            </p:spPr>
            <p:txBody>
              <a:bodyPr wrap="square" lIns="0" tIns="0" rIns="0" bIns="0"/>
              <a:lstStyle/>
              <a:p>
                <a:pPr algn="l"/>
                <a14:m>
                  <m:oMathPara xmlns:m="http://schemas.openxmlformats.org/officeDocument/2006/math">
                    <m:oMath>
                      <m:f>
                        <m:fPr>
                          <m:ctrlPr>
                            <a:rPr lang="en-US" sz="900" i="0">
                              <a:latin typeface="Cambria Math"/>
                            </a:rPr>
                          </m:ctrlPr>
                        </m:fPr>
                        <m:num>
                          <m:r>
                            <m:rPr>
                              <m:nor/>
                            </m:rPr>
                            <a:rPr lang="en-US" sz="900" i="0">
                              <a:latin typeface="Cambria Math"/>
                            </a:rPr>
                            <m:t>1</m:t>
                          </m:r>
                        </m:num>
                        <m:den>
                          <m:r>
                            <a:rPr lang="en-US" sz="900">
                              <a:latin typeface="Cambria Math"/>
                            </a:rPr>
                            <m:t>𝑁</m:t>
                          </m:r>
                        </m:den>
                      </m:f>
                      <m:r>
                        <m:rPr>
                          <m:nor/>
                        </m:rPr>
                        <a:rPr lang="en-US" sz="900" i="0">
                          <a:latin typeface="Cambria Math"/>
                        </a:rPr>
                        <m:t> Σ |Δ</m:t>
                      </m:r>
                      <m:sSub>
                        <m:sSubPr>
                          <m:ctrlPr>
                            <a:rPr lang="en-US" sz="900">
                              <a:latin typeface="Cambria Math"/>
                            </a:rPr>
                          </m:ctrlPr>
                        </m:sSubPr>
                        <m:e>
                          <m:r>
                            <a:rPr lang="en-US" sz="900">
                              <a:latin typeface="Cambria Math"/>
                            </a:rPr>
                            <m:t>𝑎</m:t>
                          </m:r>
                        </m:e>
                        <m:sub>
                          <m:r>
                            <m:rPr>
                              <m:nor/>
                            </m:rPr>
                            <a:rPr lang="en-US" sz="900" i="0">
                              <a:latin typeface="Cambria Math"/>
                            </a:rPr>
                            <m:t>long</m:t>
                          </m:r>
                        </m:sub>
                      </m:sSub>
                      <m:r>
                        <m:rPr>
                          <m:nor/>
                        </m:rPr>
                        <a:rPr lang="en-US" sz="900" i="0">
                          <a:latin typeface="Cambria Math"/>
                        </a:rPr>
                        <m:t>|</m:t>
                      </m:r>
                    </m:oMath>
                  </m:oMathPara>
                </a14:m>
                <a:endParaRPr sz="900"/>
              </a:p>
            </p:txBody>
          </p:sp>
        </mc:Choice>
        <mc:Fallback xmlns:m="http://schemas.openxmlformats.org/officeDocument/2006/math" xmlns="">
          <p:sp>
            <p:nvSpPr>
              <p:cNvPr id="63" name="TextBox 62"/>
              <p:cNvSpPr txBox="1"/>
              <p:nvPr/>
            </p:nvSpPr>
            <p:spPr>
              <a:xfrm>
                <a:off x="804672" y="1920240"/>
                <a:ext cx="4956048" cy="237744"/>
              </a:xfrm>
              <a:prstGeom prst="rect">
                <a:avLst/>
              </a:prstGeom>
              <a:noFill/>
            </p:spPr>
            <p:txBody>
              <a:bodyPr wrap="square" lIns="0" tIns="0" rIns="0" bIns="0"/>
              <a:lstStyle/>
              <a:p>
                <a:r>
                  <a:rPr sz="900" b="0">
                    <a:solidFill>
                      <a:srgbClr val="33424D"/>
                    </a:solidFill>
                    <a:latin typeface="Cambria Math"/>
                  </a:rPr>
                  <a:t>(1/N) Σ |Δa_long|</a:t>
                </a:r>
              </a:p>
            </p:txBody>
          </p:sp>
        </mc:Fallback>
      </mc:AlternateContent>
      <p:sp>
        <p:nvSpPr>
          <p:cNvPr id="64" name="TextBox 64"/>
          <p:cNvSpPr txBox="1"/>
          <p:nvPr/>
        </p:nvSpPr>
        <p:spPr>
          <a:xfrm>
            <a:off x="804672" y="2212848"/>
            <a:ext cx="4956048" cy="201168"/>
          </a:xfrm>
          <a:prstGeom prst="rect">
            <a:avLst/>
          </a:prstGeom>
          <a:noFill/>
        </p:spPr>
        <p:txBody>
          <a:bodyPr wrap="square" lIns="0" tIns="0" rIns="0" bIns="0"/>
          <a:lstStyle/>
          <a:p>
            <a:r>
              <a:rPr sz="850" b="1">
                <a:solidFill>
                  <a:srgbClr val="1C7293"/>
                </a:solidFill>
                <a:latin typeface="Calibri"/>
              </a:rPr>
              <a:t>real bus  8.73</a:t>
            </a:r>
            <a:r>
              <a:rPr sz="850" b="0">
                <a:solidFill>
                  <a:srgbClr val="33424D"/>
                </a:solidFill>
                <a:latin typeface="Calibri"/>
              </a:rPr>
              <a:t>   ·   +27.5σ — the strongest of all 156 features</a:t>
            </a:r>
          </a:p>
        </p:txBody>
      </p:sp>
      <p:sp>
        <p:nvSpPr>
          <p:cNvPr id="65" name="Rounded Rectangle 64"/>
          <p:cNvSpPr/>
          <p:nvPr/>
        </p:nvSpPr>
        <p:spPr>
          <a:xfrm>
            <a:off x="603504" y="2587752"/>
            <a:ext cx="5358384" cy="1207008"/>
          </a:xfrm>
          <a:prstGeom prst="roundRect">
            <a:avLst>
              <a:gd name="adj" fmla="val 6000"/>
            </a:avLst>
          </a:prstGeom>
          <a:solidFill>
            <a:srgbClr val="F1F5F8"/>
          </a:solidFill>
          <a:ln>
            <a:noFill/>
          </a:ln>
          <a:effectLst/>
        </p:spPr>
        <p:txBody>
          <a:bodyPr rtlCol="0" anchor="ctr"/>
          <a:lstStyle/>
          <a:p>
            <a:pPr algn="ctr"/>
            <a:endParaRPr/>
          </a:p>
        </p:txBody>
      </p:sp>
      <p:sp>
        <p:nvSpPr>
          <p:cNvPr id="66" name="TextBox 66"/>
          <p:cNvSpPr txBox="1"/>
          <p:nvPr/>
        </p:nvSpPr>
        <p:spPr>
          <a:xfrm>
            <a:off x="804672" y="2706624"/>
            <a:ext cx="4956048" cy="201168"/>
          </a:xfrm>
          <a:prstGeom prst="rect">
            <a:avLst/>
          </a:prstGeom>
          <a:noFill/>
        </p:spPr>
        <p:txBody>
          <a:bodyPr wrap="square" lIns="0" tIns="0" rIns="0" bIns="0"/>
          <a:lstStyle/>
          <a:p>
            <a:r>
              <a:rPr sz="1050" b="1">
                <a:solidFill>
                  <a:srgbClr val="0B4F6C"/>
                </a:solidFill>
                <a:latin typeface="Calibri"/>
              </a:rPr>
              <a:t>jerk max</a:t>
            </a:r>
            <a:r>
              <a:rPr sz="750" b="0">
                <a:solidFill>
                  <a:srgbClr val="6B7A85"/>
                </a:solidFill>
                <a:latin typeface="Consolas"/>
              </a:rPr>
              <a:t>     kin_jerk_max_mps3</a:t>
            </a:r>
          </a:p>
        </p:txBody>
      </p:sp>
      <p:sp>
        <p:nvSpPr>
          <p:cNvPr id="67" name="TextBox 67"/>
          <p:cNvSpPr txBox="1"/>
          <p:nvPr/>
        </p:nvSpPr>
        <p:spPr>
          <a:xfrm>
            <a:off x="804672" y="2953512"/>
            <a:ext cx="4956048" cy="201168"/>
          </a:xfrm>
          <a:prstGeom prst="rect">
            <a:avLst/>
          </a:prstGeom>
          <a:noFill/>
        </p:spPr>
        <p:txBody>
          <a:bodyPr wrap="square" lIns="0" tIns="0" rIns="0" bIns="0"/>
          <a:lstStyle/>
          <a:p>
            <a:r>
              <a:rPr sz="850" b="0">
                <a:solidFill>
                  <a:srgbClr val="33424D"/>
                </a:solidFill>
                <a:latin typeface="Calibri"/>
              </a:rPr>
              <a:t>The single sharpest change in longitudinal acceleration anywhere in the track</a:t>
            </a:r>
          </a:p>
        </p:txBody>
      </p:sp>
      <mc:AlternateContent xmlns:mc="http://schemas.openxmlformats.org/markup-compatibility/2006" xmlns:a14="http://schemas.microsoft.com/office/drawing/2010/main">
        <mc:Choice Requires="a14">
          <p:sp>
            <p:nvSpPr>
              <p:cNvPr id="68" name="TextBox 67"/>
              <p:cNvSpPr txBox="1"/>
              <p:nvPr/>
            </p:nvSpPr>
            <p:spPr>
              <a:xfrm>
                <a:off x="804672" y="3209544"/>
                <a:ext cx="4956048" cy="237744"/>
              </a:xfrm>
              <a:prstGeom prst="rect">
                <a:avLst/>
              </a:prstGeom>
              <a:noFill/>
            </p:spPr>
            <p:txBody>
              <a:bodyPr wrap="square" lIns="0" tIns="0" rIns="0" bIns="0"/>
              <a:lstStyle/>
              <a:p>
                <a:pPr algn="l"/>
                <a14:m>
                  <m:oMathPara xmlns:m="http://schemas.openxmlformats.org/officeDocument/2006/math">
                    <m:oMath>
                      <m:r>
                        <m:rPr>
                          <m:nor/>
                        </m:rPr>
                        <a:rPr lang="en-US" sz="900" i="0">
                          <a:latin typeface="Cambria Math"/>
                        </a:rPr>
                        <m:t>max |Δ</m:t>
                      </m:r>
                      <m:sSub>
                        <m:sSubPr>
                          <m:ctrlPr>
                            <a:rPr lang="en-US" sz="900">
                              <a:latin typeface="Cambria Math"/>
                            </a:rPr>
                          </m:ctrlPr>
                        </m:sSubPr>
                        <m:e>
                          <m:r>
                            <a:rPr lang="en-US" sz="900">
                              <a:latin typeface="Cambria Math"/>
                            </a:rPr>
                            <m:t>𝑎</m:t>
                          </m:r>
                        </m:e>
                        <m:sub>
                          <m:r>
                            <m:rPr>
                              <m:nor/>
                            </m:rPr>
                            <a:rPr lang="en-US" sz="900" i="0">
                              <a:latin typeface="Cambria Math"/>
                            </a:rPr>
                            <m:t>long</m:t>
                          </m:r>
                        </m:sub>
                      </m:sSub>
                      <m:r>
                        <m:rPr>
                          <m:nor/>
                        </m:rPr>
                        <a:rPr lang="en-US" sz="900" i="0">
                          <a:latin typeface="Cambria Math"/>
                        </a:rPr>
                        <m:t>|</m:t>
                      </m:r>
                    </m:oMath>
                  </m:oMathPara>
                </a14:m>
                <a:endParaRPr sz="900"/>
              </a:p>
            </p:txBody>
          </p:sp>
        </mc:Choice>
        <mc:Fallback xmlns:m="http://schemas.openxmlformats.org/officeDocument/2006/math" xmlns="">
          <p:sp>
            <p:nvSpPr>
              <p:cNvPr id="68" name="TextBox 67"/>
              <p:cNvSpPr txBox="1"/>
              <p:nvPr/>
            </p:nvSpPr>
            <p:spPr>
              <a:xfrm>
                <a:off x="804672" y="3209544"/>
                <a:ext cx="4956048" cy="237744"/>
              </a:xfrm>
              <a:prstGeom prst="rect">
                <a:avLst/>
              </a:prstGeom>
              <a:noFill/>
            </p:spPr>
            <p:txBody>
              <a:bodyPr wrap="square" lIns="0" tIns="0" rIns="0" bIns="0"/>
              <a:lstStyle/>
              <a:p>
                <a:r>
                  <a:rPr sz="900" b="0">
                    <a:solidFill>
                      <a:srgbClr val="33424D"/>
                    </a:solidFill>
                    <a:latin typeface="Cambria Math"/>
                  </a:rPr>
                  <a:t>max |Δa_long|</a:t>
                </a:r>
              </a:p>
            </p:txBody>
          </p:sp>
        </mc:Fallback>
      </mc:AlternateContent>
      <p:sp>
        <p:nvSpPr>
          <p:cNvPr id="69" name="TextBox 69"/>
          <p:cNvSpPr txBox="1"/>
          <p:nvPr/>
        </p:nvSpPr>
        <p:spPr>
          <a:xfrm>
            <a:off x="804672" y="3502152"/>
            <a:ext cx="4956048" cy="201168"/>
          </a:xfrm>
          <a:prstGeom prst="rect">
            <a:avLst/>
          </a:prstGeom>
          <a:noFill/>
        </p:spPr>
        <p:txBody>
          <a:bodyPr wrap="square" lIns="0" tIns="0" rIns="0" bIns="0"/>
          <a:lstStyle/>
          <a:p>
            <a:r>
              <a:rPr sz="850" b="1">
                <a:solidFill>
                  <a:srgbClr val="1C7293"/>
                </a:solidFill>
                <a:latin typeface="Calibri"/>
              </a:rPr>
              <a:t>real bus  188.08</a:t>
            </a:r>
            <a:r>
              <a:rPr sz="850" b="0">
                <a:solidFill>
                  <a:srgbClr val="33424D"/>
                </a:solidFill>
                <a:latin typeface="Calibri"/>
              </a:rPr>
              <a:t>   ·   +16.6σ</a:t>
            </a:r>
          </a:p>
        </p:txBody>
      </p:sp>
      <p:sp>
        <p:nvSpPr>
          <p:cNvPr id="70" name="Rounded Rectangle 69"/>
          <p:cNvSpPr/>
          <p:nvPr/>
        </p:nvSpPr>
        <p:spPr>
          <a:xfrm>
            <a:off x="603504" y="3877056"/>
            <a:ext cx="5358384" cy="1207008"/>
          </a:xfrm>
          <a:prstGeom prst="roundRect">
            <a:avLst>
              <a:gd name="adj" fmla="val 6000"/>
            </a:avLst>
          </a:prstGeom>
          <a:solidFill>
            <a:srgbClr val="F1F5F8"/>
          </a:solidFill>
          <a:ln>
            <a:noFill/>
          </a:ln>
          <a:effectLst/>
        </p:spPr>
        <p:txBody>
          <a:bodyPr rtlCol="0" anchor="ctr"/>
          <a:lstStyle/>
          <a:p>
            <a:pPr algn="ctr"/>
            <a:endParaRPr/>
          </a:p>
        </p:txBody>
      </p:sp>
      <p:sp>
        <p:nvSpPr>
          <p:cNvPr id="71" name="TextBox 71"/>
          <p:cNvSpPr txBox="1"/>
          <p:nvPr/>
        </p:nvSpPr>
        <p:spPr>
          <a:xfrm>
            <a:off x="804672" y="3995928"/>
            <a:ext cx="4956048" cy="201168"/>
          </a:xfrm>
          <a:prstGeom prst="rect">
            <a:avLst/>
          </a:prstGeom>
          <a:noFill/>
        </p:spPr>
        <p:txBody>
          <a:bodyPr wrap="square" lIns="0" tIns="0" rIns="0" bIns="0"/>
          <a:lstStyle/>
          <a:p>
            <a:r>
              <a:rPr sz="1050" b="1">
                <a:solidFill>
                  <a:srgbClr val="0B4F6C"/>
                </a:solidFill>
                <a:latin typeface="Calibri"/>
              </a:rPr>
              <a:t>decel max</a:t>
            </a:r>
            <a:r>
              <a:rPr sz="750" b="0">
                <a:solidFill>
                  <a:srgbClr val="6B7A85"/>
                </a:solidFill>
                <a:latin typeface="Consolas"/>
              </a:rPr>
              <a:t>     kin_decel_max_mps2</a:t>
            </a:r>
          </a:p>
        </p:txBody>
      </p:sp>
      <p:sp>
        <p:nvSpPr>
          <p:cNvPr id="72" name="TextBox 72"/>
          <p:cNvSpPr txBox="1"/>
          <p:nvPr/>
        </p:nvSpPr>
        <p:spPr>
          <a:xfrm>
            <a:off x="804672" y="4242816"/>
            <a:ext cx="4956048" cy="201168"/>
          </a:xfrm>
          <a:prstGeom prst="rect">
            <a:avLst/>
          </a:prstGeom>
          <a:noFill/>
        </p:spPr>
        <p:txBody>
          <a:bodyPr wrap="square" lIns="0" tIns="0" rIns="0" bIns="0"/>
          <a:lstStyle/>
          <a:p>
            <a:r>
              <a:rPr sz="850" b="0">
                <a:solidFill>
                  <a:srgbClr val="33424D"/>
                </a:solidFill>
                <a:latin typeface="Calibri"/>
              </a:rPr>
              <a:t>The hardest braking in the track — read from the Kalman acceleration, not from differentiated speed</a:t>
            </a:r>
          </a:p>
        </p:txBody>
      </p:sp>
      <mc:AlternateContent xmlns:mc="http://schemas.openxmlformats.org/markup-compatibility/2006" xmlns:a14="http://schemas.microsoft.com/office/drawing/2010/main">
        <mc:Choice Requires="a14">
          <p:sp>
            <p:nvSpPr>
              <p:cNvPr id="73" name="TextBox 72"/>
              <p:cNvSpPr txBox="1"/>
              <p:nvPr/>
            </p:nvSpPr>
            <p:spPr>
              <a:xfrm>
                <a:off x="804672" y="4498848"/>
                <a:ext cx="4956048" cy="237744"/>
              </a:xfrm>
              <a:prstGeom prst="rect">
                <a:avLst/>
              </a:prstGeom>
              <a:noFill/>
            </p:spPr>
            <p:txBody>
              <a:bodyPr wrap="square" lIns="0" tIns="0" rIns="0" bIns="0"/>
              <a:lstStyle/>
              <a:p>
                <a:pPr algn="l"/>
                <a14:m>
                  <m:oMathPara xmlns:m="http://schemas.openxmlformats.org/officeDocument/2006/math">
                    <m:oMath>
                      <m:r>
                        <m:rPr>
                          <m:nor/>
                        </m:rPr>
                        <a:rPr lang="en-US" sz="900" i="0">
                          <a:latin typeface="Cambria Math"/>
                        </a:rPr>
                        <m:t>max ( −</m:t>
                      </m:r>
                      <m:sSub>
                        <m:sSubPr>
                          <m:ctrlPr>
                            <a:rPr lang="en-US" sz="900">
                              <a:latin typeface="Cambria Math"/>
                            </a:rPr>
                          </m:ctrlPr>
                        </m:sSubPr>
                        <m:e>
                          <m:r>
                            <a:rPr lang="en-US" sz="900">
                              <a:latin typeface="Cambria Math"/>
                            </a:rPr>
                            <m:t>𝑎</m:t>
                          </m:r>
                        </m:e>
                        <m:sub>
                          <m:r>
                            <m:rPr>
                              <m:nor/>
                            </m:rPr>
                            <a:rPr lang="en-US" sz="900" i="0">
                              <a:latin typeface="Cambria Math"/>
                            </a:rPr>
                            <m:t>long</m:t>
                          </m:r>
                        </m:sub>
                      </m:sSub>
                      <m:r>
                        <m:rPr>
                          <m:nor/>
                        </m:rPr>
                        <a:rPr lang="en-US" sz="900" i="0">
                          <a:latin typeface="Cambria Math"/>
                        </a:rPr>
                        <m:t> )</m:t>
                      </m:r>
                    </m:oMath>
                  </m:oMathPara>
                </a14:m>
                <a:endParaRPr sz="900"/>
              </a:p>
            </p:txBody>
          </p:sp>
        </mc:Choice>
        <mc:Fallback xmlns:m="http://schemas.openxmlformats.org/officeDocument/2006/math" xmlns="">
          <p:sp>
            <p:nvSpPr>
              <p:cNvPr id="73" name="TextBox 72"/>
              <p:cNvSpPr txBox="1"/>
              <p:nvPr/>
            </p:nvSpPr>
            <p:spPr>
              <a:xfrm>
                <a:off x="804672" y="4498848"/>
                <a:ext cx="4956048" cy="237744"/>
              </a:xfrm>
              <a:prstGeom prst="rect">
                <a:avLst/>
              </a:prstGeom>
              <a:noFill/>
            </p:spPr>
            <p:txBody>
              <a:bodyPr wrap="square" lIns="0" tIns="0" rIns="0" bIns="0"/>
              <a:lstStyle/>
              <a:p>
                <a:r>
                  <a:rPr sz="900" b="0">
                    <a:solidFill>
                      <a:srgbClr val="33424D"/>
                    </a:solidFill>
                    <a:latin typeface="Cambria Math"/>
                  </a:rPr>
                  <a:t>max ( −a_long )</a:t>
                </a:r>
              </a:p>
            </p:txBody>
          </p:sp>
        </mc:Fallback>
      </mc:AlternateContent>
      <p:sp>
        <p:nvSpPr>
          <p:cNvPr id="74" name="TextBox 74"/>
          <p:cNvSpPr txBox="1"/>
          <p:nvPr/>
        </p:nvSpPr>
        <p:spPr>
          <a:xfrm>
            <a:off x="804672" y="4791456"/>
            <a:ext cx="4956048" cy="201168"/>
          </a:xfrm>
          <a:prstGeom prst="rect">
            <a:avLst/>
          </a:prstGeom>
          <a:noFill/>
        </p:spPr>
        <p:txBody>
          <a:bodyPr wrap="square" lIns="0" tIns="0" rIns="0" bIns="0"/>
          <a:lstStyle/>
          <a:p>
            <a:r>
              <a:rPr sz="850" b="1">
                <a:solidFill>
                  <a:srgbClr val="1C7293"/>
                </a:solidFill>
                <a:latin typeface="Calibri"/>
              </a:rPr>
              <a:t>real bus  62.04 m/s²</a:t>
            </a:r>
            <a:r>
              <a:rPr sz="850" b="0">
                <a:solidFill>
                  <a:srgbClr val="33424D"/>
                </a:solidFill>
                <a:latin typeface="Calibri"/>
              </a:rPr>
              <a:t>   ·   +10.9σ</a:t>
            </a:r>
          </a:p>
        </p:txBody>
      </p:sp>
      <p:sp>
        <p:nvSpPr>
          <p:cNvPr id="75" name="Rounded Rectangle 74"/>
          <p:cNvSpPr/>
          <p:nvPr/>
        </p:nvSpPr>
        <p:spPr>
          <a:xfrm>
            <a:off x="6163056" y="1298448"/>
            <a:ext cx="5358384" cy="1207008"/>
          </a:xfrm>
          <a:prstGeom prst="roundRect">
            <a:avLst>
              <a:gd name="adj" fmla="val 6000"/>
            </a:avLst>
          </a:prstGeom>
          <a:solidFill>
            <a:srgbClr val="F1F5F8"/>
          </a:solidFill>
          <a:ln>
            <a:noFill/>
          </a:ln>
          <a:effectLst/>
        </p:spPr>
        <p:txBody>
          <a:bodyPr rtlCol="0" anchor="ctr"/>
          <a:lstStyle/>
          <a:p>
            <a:pPr algn="ctr"/>
            <a:endParaRPr/>
          </a:p>
        </p:txBody>
      </p:sp>
      <p:sp>
        <p:nvSpPr>
          <p:cNvPr id="76" name="TextBox 76"/>
          <p:cNvSpPr txBox="1"/>
          <p:nvPr/>
        </p:nvSpPr>
        <p:spPr>
          <a:xfrm>
            <a:off x="6364224" y="1417320"/>
            <a:ext cx="4956048" cy="201168"/>
          </a:xfrm>
          <a:prstGeom prst="rect">
            <a:avLst/>
          </a:prstGeom>
          <a:noFill/>
        </p:spPr>
        <p:txBody>
          <a:bodyPr wrap="square" lIns="0" tIns="0" rIns="0" bIns="0"/>
          <a:lstStyle/>
          <a:p>
            <a:r>
              <a:rPr sz="1050" b="1">
                <a:solidFill>
                  <a:srgbClr val="0B4F6C"/>
                </a:solidFill>
                <a:latin typeface="Calibri"/>
              </a:rPr>
              <a:t>stopped frac</a:t>
            </a:r>
            <a:r>
              <a:rPr sz="750" b="0">
                <a:solidFill>
                  <a:srgbClr val="6B7A85"/>
                </a:solidFill>
                <a:latin typeface="Consolas"/>
              </a:rPr>
              <a:t>     kin_stopped_frac</a:t>
            </a:r>
          </a:p>
        </p:txBody>
      </p:sp>
      <p:sp>
        <p:nvSpPr>
          <p:cNvPr id="77" name="TextBox 77"/>
          <p:cNvSpPr txBox="1"/>
          <p:nvPr/>
        </p:nvSpPr>
        <p:spPr>
          <a:xfrm>
            <a:off x="6364224" y="1664208"/>
            <a:ext cx="4956048" cy="201168"/>
          </a:xfrm>
          <a:prstGeom prst="rect">
            <a:avLst/>
          </a:prstGeom>
          <a:noFill/>
        </p:spPr>
        <p:txBody>
          <a:bodyPr wrap="square" lIns="0" tIns="0" rIns="0" bIns="0"/>
          <a:lstStyle/>
          <a:p>
            <a:r>
              <a:rPr sz="850" b="0">
                <a:solidFill>
                  <a:srgbClr val="33424D"/>
                </a:solidFill>
                <a:latin typeface="Calibri"/>
              </a:rPr>
              <a:t>The share of filter steps in which the bus was effectively standing still</a:t>
            </a:r>
          </a:p>
        </p:txBody>
      </p:sp>
      <mc:AlternateContent xmlns:mc="http://schemas.openxmlformats.org/markup-compatibility/2006" xmlns:a14="http://schemas.microsoft.com/office/drawing/2010/main">
        <mc:Choice Requires="a14">
          <p:sp>
            <p:nvSpPr>
              <p:cNvPr id="78" name="TextBox 77"/>
              <p:cNvSpPr txBox="1"/>
              <p:nvPr/>
            </p:nvSpPr>
            <p:spPr>
              <a:xfrm>
                <a:off x="6364224" y="1920240"/>
                <a:ext cx="4956048" cy="237744"/>
              </a:xfrm>
              <a:prstGeom prst="rect">
                <a:avLst/>
              </a:prstGeom>
              <a:noFill/>
            </p:spPr>
            <p:txBody>
              <a:bodyPr wrap="square" lIns="0" tIns="0" rIns="0" bIns="0"/>
              <a:lstStyle/>
              <a:p>
                <a:pPr algn="l"/>
                <a14:m>
                  <m:oMathPara xmlns:m="http://schemas.openxmlformats.org/officeDocument/2006/math">
                    <m:oMath>
                      <m:f>
                        <m:fPr>
                          <m:ctrlPr>
                            <a:rPr lang="en-US" sz="900" i="0">
                              <a:latin typeface="Cambria Math"/>
                            </a:rPr>
                          </m:ctrlPr>
                        </m:fPr>
                        <m:num>
                          <m:r>
                            <m:rPr>
                              <m:nor/>
                            </m:rPr>
                            <a:rPr lang="en-US" sz="900" i="0">
                              <a:latin typeface="Cambria Math"/>
                            </a:rPr>
                            <m:t>#{ </m:t>
                          </m:r>
                          <m:r>
                            <a:rPr lang="en-US" sz="900">
                              <a:latin typeface="Cambria Math"/>
                            </a:rPr>
                            <m:t>𝑣</m:t>
                          </m:r>
                          <m:r>
                            <m:rPr>
                              <m:nor/>
                            </m:rPr>
                            <a:rPr lang="en-US" sz="900" i="0">
                              <a:latin typeface="Cambria Math"/>
                            </a:rPr>
                            <m:t> &lt; 0.5 m/s }</m:t>
                          </m:r>
                        </m:num>
                        <m:den>
                          <m:r>
                            <a:rPr lang="en-US" sz="900">
                              <a:latin typeface="Cambria Math"/>
                            </a:rPr>
                            <m:t>𝑁</m:t>
                          </m:r>
                        </m:den>
                      </m:f>
                    </m:oMath>
                  </m:oMathPara>
                </a14:m>
                <a:endParaRPr sz="900"/>
              </a:p>
            </p:txBody>
          </p:sp>
        </mc:Choice>
        <mc:Fallback xmlns:m="http://schemas.openxmlformats.org/officeDocument/2006/math" xmlns="">
          <p:sp>
            <p:nvSpPr>
              <p:cNvPr id="78" name="TextBox 77"/>
              <p:cNvSpPr txBox="1"/>
              <p:nvPr/>
            </p:nvSpPr>
            <p:spPr>
              <a:xfrm>
                <a:off x="6364224" y="1920240"/>
                <a:ext cx="4956048" cy="237744"/>
              </a:xfrm>
              <a:prstGeom prst="rect">
                <a:avLst/>
              </a:prstGeom>
              <a:noFill/>
            </p:spPr>
            <p:txBody>
              <a:bodyPr wrap="square" lIns="0" tIns="0" rIns="0" bIns="0"/>
              <a:lstStyle/>
              <a:p>
                <a:r>
                  <a:rPr sz="900" b="0">
                    <a:solidFill>
                      <a:srgbClr val="33424D"/>
                    </a:solidFill>
                    <a:latin typeface="Cambria Math"/>
                  </a:rPr>
                  <a:t>#{ v &lt; 0.5 m/s } / N</a:t>
                </a:r>
              </a:p>
            </p:txBody>
          </p:sp>
        </mc:Fallback>
      </mc:AlternateContent>
      <p:sp>
        <p:nvSpPr>
          <p:cNvPr id="79" name="TextBox 79"/>
          <p:cNvSpPr txBox="1"/>
          <p:nvPr/>
        </p:nvSpPr>
        <p:spPr>
          <a:xfrm>
            <a:off x="6364224" y="2212848"/>
            <a:ext cx="4956048" cy="201168"/>
          </a:xfrm>
          <a:prstGeom prst="rect">
            <a:avLst/>
          </a:prstGeom>
          <a:noFill/>
        </p:spPr>
        <p:txBody>
          <a:bodyPr wrap="square" lIns="0" tIns="0" rIns="0" bIns="0"/>
          <a:lstStyle/>
          <a:p>
            <a:r>
              <a:rPr sz="850" b="1">
                <a:solidFill>
                  <a:srgbClr val="1C7293"/>
                </a:solidFill>
                <a:latin typeface="Calibri"/>
              </a:rPr>
              <a:t>real bus  0.41</a:t>
            </a:r>
            <a:r>
              <a:rPr sz="850" b="0">
                <a:solidFill>
                  <a:srgbClr val="33424D"/>
                </a:solidFill>
                <a:latin typeface="Calibri"/>
              </a:rPr>
              <a:t>   ·   +16.9σ — 41% of the run</a:t>
            </a:r>
          </a:p>
        </p:txBody>
      </p:sp>
      <p:sp>
        <p:nvSpPr>
          <p:cNvPr id="80" name="Rounded Rectangle 79"/>
          <p:cNvSpPr/>
          <p:nvPr/>
        </p:nvSpPr>
        <p:spPr>
          <a:xfrm>
            <a:off x="6163056" y="2587752"/>
            <a:ext cx="5358384" cy="1207008"/>
          </a:xfrm>
          <a:prstGeom prst="roundRect">
            <a:avLst>
              <a:gd name="adj" fmla="val 6000"/>
            </a:avLst>
          </a:prstGeom>
          <a:solidFill>
            <a:srgbClr val="F1F5F8"/>
          </a:solidFill>
          <a:ln>
            <a:noFill/>
          </a:ln>
          <a:effectLst/>
        </p:spPr>
        <p:txBody>
          <a:bodyPr rtlCol="0" anchor="ctr"/>
          <a:lstStyle/>
          <a:p>
            <a:pPr algn="ctr"/>
            <a:endParaRPr/>
          </a:p>
        </p:txBody>
      </p:sp>
      <p:sp>
        <p:nvSpPr>
          <p:cNvPr id="81" name="TextBox 81"/>
          <p:cNvSpPr txBox="1"/>
          <p:nvPr/>
        </p:nvSpPr>
        <p:spPr>
          <a:xfrm>
            <a:off x="6364224" y="2706624"/>
            <a:ext cx="4956048" cy="201168"/>
          </a:xfrm>
          <a:prstGeom prst="rect">
            <a:avLst/>
          </a:prstGeom>
          <a:noFill/>
        </p:spPr>
        <p:txBody>
          <a:bodyPr wrap="square" lIns="0" tIns="0" rIns="0" bIns="0"/>
          <a:lstStyle/>
          <a:p>
            <a:r>
              <a:rPr sz="1050" b="1">
                <a:solidFill>
                  <a:srgbClr val="0B4F6C"/>
                </a:solidFill>
                <a:latin typeface="Calibri"/>
              </a:rPr>
              <a:t>max stopped duration</a:t>
            </a:r>
            <a:r>
              <a:rPr sz="750" b="0">
                <a:solidFill>
                  <a:srgbClr val="6B7A85"/>
                </a:solidFill>
                <a:latin typeface="Consolas"/>
              </a:rPr>
              <a:t>     kin_max_stopped_duration_s</a:t>
            </a:r>
          </a:p>
        </p:txBody>
      </p:sp>
      <p:sp>
        <p:nvSpPr>
          <p:cNvPr id="82" name="TextBox 82"/>
          <p:cNvSpPr txBox="1"/>
          <p:nvPr/>
        </p:nvSpPr>
        <p:spPr>
          <a:xfrm>
            <a:off x="6364224" y="2953512"/>
            <a:ext cx="4956048" cy="201168"/>
          </a:xfrm>
          <a:prstGeom prst="rect">
            <a:avLst/>
          </a:prstGeom>
          <a:noFill/>
        </p:spPr>
        <p:txBody>
          <a:bodyPr wrap="square" lIns="0" tIns="0" rIns="0" bIns="0"/>
          <a:lstStyle/>
          <a:p>
            <a:r>
              <a:rPr sz="850" b="0">
                <a:solidFill>
                  <a:srgbClr val="33424D"/>
                </a:solidFill>
                <a:latin typeface="Calibri"/>
              </a:rPr>
              <a:t>The longest single stop — the longest run of consecutive stopped steps, converted to seconds</a:t>
            </a:r>
          </a:p>
        </p:txBody>
      </p:sp>
      <mc:AlternateContent xmlns:mc="http://schemas.openxmlformats.org/markup-compatibility/2006" xmlns:a14="http://schemas.microsoft.com/office/drawing/2010/main">
        <mc:Choice Requires="a14">
          <p:sp>
            <p:nvSpPr>
              <p:cNvPr id="83" name="TextBox 82"/>
              <p:cNvSpPr txBox="1"/>
              <p:nvPr/>
            </p:nvSpPr>
            <p:spPr>
              <a:xfrm>
                <a:off x="6364224" y="3209544"/>
                <a:ext cx="4956048" cy="237744"/>
              </a:xfrm>
              <a:prstGeom prst="rect">
                <a:avLst/>
              </a:prstGeom>
              <a:noFill/>
            </p:spPr>
            <p:txBody>
              <a:bodyPr wrap="square" lIns="0" tIns="0" rIns="0" bIns="0"/>
              <a:lstStyle/>
              <a:p>
                <a:pPr algn="l"/>
                <a14:m>
                  <m:oMathPara xmlns:m="http://schemas.openxmlformats.org/officeDocument/2006/math">
                    <m:oMath>
                      <m:sSub>
                        <m:sSubPr>
                          <m:ctrlPr>
                            <a:rPr lang="en-US" sz="900">
                              <a:latin typeface="Cambria Math"/>
                            </a:rPr>
                          </m:ctrlPr>
                        </m:sSubPr>
                        <m:e>
                          <m:r>
                            <a:rPr lang="en-US" sz="900">
                              <a:latin typeface="Cambria Math"/>
                            </a:rPr>
                            <m:t>𝐿</m:t>
                          </m:r>
                        </m:e>
                        <m:sub>
                          <m:r>
                            <m:rPr>
                              <m:nor/>
                            </m:rPr>
                            <a:rPr lang="en-US" sz="900" i="0">
                              <a:latin typeface="Cambria Math"/>
                            </a:rPr>
                            <m:t>max</m:t>
                          </m:r>
                        </m:sub>
                      </m:sSub>
                      <m:r>
                        <m:rPr>
                          <m:nor/>
                        </m:rPr>
                        <a:rPr lang="en-US" sz="900" i="0">
                          <a:latin typeface="Cambria Math"/>
                        </a:rPr>
                        <m:t> · Δ</m:t>
                      </m:r>
                      <m:sSub>
                        <m:sSubPr>
                          <m:ctrlPr>
                            <a:rPr lang="en-US" sz="900">
                              <a:latin typeface="Cambria Math"/>
                            </a:rPr>
                          </m:ctrlPr>
                        </m:sSubPr>
                        <m:e>
                          <m:r>
                            <a:rPr lang="en-US" sz="900">
                              <a:latin typeface="Cambria Math"/>
                            </a:rPr>
                            <m:t>𝑡</m:t>
                          </m:r>
                        </m:e>
                        <m:sub>
                          <m:r>
                            <m:rPr>
                              <m:nor/>
                            </m:rPr>
                            <a:rPr lang="en-US" sz="900" i="0">
                              <a:latin typeface="Cambria Math"/>
                            </a:rPr>
                            <m:t>median</m:t>
                          </m:r>
                        </m:sub>
                      </m:sSub>
                    </m:oMath>
                  </m:oMathPara>
                </a14:m>
                <a:endParaRPr sz="900"/>
              </a:p>
            </p:txBody>
          </p:sp>
        </mc:Choice>
        <mc:Fallback xmlns:m="http://schemas.openxmlformats.org/officeDocument/2006/math" xmlns="">
          <p:sp>
            <p:nvSpPr>
              <p:cNvPr id="83" name="TextBox 82"/>
              <p:cNvSpPr txBox="1"/>
              <p:nvPr/>
            </p:nvSpPr>
            <p:spPr>
              <a:xfrm>
                <a:off x="6364224" y="3209544"/>
                <a:ext cx="4956048" cy="237744"/>
              </a:xfrm>
              <a:prstGeom prst="rect">
                <a:avLst/>
              </a:prstGeom>
              <a:noFill/>
            </p:spPr>
            <p:txBody>
              <a:bodyPr wrap="square" lIns="0" tIns="0" rIns="0" bIns="0"/>
              <a:lstStyle/>
              <a:p>
                <a:r>
                  <a:rPr sz="900" b="0">
                    <a:solidFill>
                      <a:srgbClr val="33424D"/>
                    </a:solidFill>
                    <a:latin typeface="Cambria Math"/>
                  </a:rPr>
                  <a:t>L_max · Δt_median</a:t>
                </a:r>
              </a:p>
            </p:txBody>
          </p:sp>
        </mc:Fallback>
      </mc:AlternateContent>
      <p:sp>
        <p:nvSpPr>
          <p:cNvPr id="84" name="TextBox 84"/>
          <p:cNvSpPr txBox="1"/>
          <p:nvPr/>
        </p:nvSpPr>
        <p:spPr>
          <a:xfrm>
            <a:off x="6364224" y="3502152"/>
            <a:ext cx="4956048" cy="201168"/>
          </a:xfrm>
          <a:prstGeom prst="rect">
            <a:avLst/>
          </a:prstGeom>
          <a:noFill/>
        </p:spPr>
        <p:txBody>
          <a:bodyPr wrap="square" lIns="0" tIns="0" rIns="0" bIns="0"/>
          <a:lstStyle/>
          <a:p>
            <a:r>
              <a:rPr sz="850" b="1">
                <a:solidFill>
                  <a:srgbClr val="1C7293"/>
                </a:solidFill>
                <a:latin typeface="Calibri"/>
              </a:rPr>
              <a:t>real bus  7.87 s</a:t>
            </a:r>
            <a:r>
              <a:rPr sz="850" b="0">
                <a:solidFill>
                  <a:srgbClr val="33424D"/>
                </a:solidFill>
                <a:latin typeface="Calibri"/>
              </a:rPr>
              <a:t>   ·   +15.1σ  (34 steps × 0.2315 s)</a:t>
            </a:r>
          </a:p>
        </p:txBody>
      </p:sp>
      <p:sp>
        <p:nvSpPr>
          <p:cNvPr id="85" name="Rounded Rectangle 84"/>
          <p:cNvSpPr/>
          <p:nvPr/>
        </p:nvSpPr>
        <p:spPr>
          <a:xfrm>
            <a:off x="6163056" y="3877056"/>
            <a:ext cx="5358384" cy="1207008"/>
          </a:xfrm>
          <a:prstGeom prst="roundRect">
            <a:avLst>
              <a:gd name="adj" fmla="val 6000"/>
            </a:avLst>
          </a:prstGeom>
          <a:solidFill>
            <a:srgbClr val="F1F5F8"/>
          </a:solidFill>
          <a:ln>
            <a:noFill/>
          </a:ln>
          <a:effectLst/>
        </p:spPr>
        <p:txBody>
          <a:bodyPr rtlCol="0" anchor="ctr"/>
          <a:lstStyle/>
          <a:p>
            <a:pPr algn="ctr"/>
            <a:endParaRPr/>
          </a:p>
        </p:txBody>
      </p:sp>
      <p:sp>
        <p:nvSpPr>
          <p:cNvPr id="86" name="TextBox 86"/>
          <p:cNvSpPr txBox="1"/>
          <p:nvPr/>
        </p:nvSpPr>
        <p:spPr>
          <a:xfrm>
            <a:off x="6364224" y="3995928"/>
            <a:ext cx="4956048" cy="201168"/>
          </a:xfrm>
          <a:prstGeom prst="rect">
            <a:avLst/>
          </a:prstGeom>
          <a:noFill/>
        </p:spPr>
        <p:txBody>
          <a:bodyPr wrap="square" lIns="0" tIns="0" rIns="0" bIns="0"/>
          <a:lstStyle/>
          <a:p>
            <a:r>
              <a:rPr sz="1050" b="1">
                <a:solidFill>
                  <a:srgbClr val="0B4F6C"/>
                </a:solidFill>
                <a:latin typeface="Calibri"/>
              </a:rPr>
              <a:t>stop event count</a:t>
            </a:r>
            <a:r>
              <a:rPr sz="750" b="0">
                <a:solidFill>
                  <a:srgbClr val="6B7A85"/>
                </a:solidFill>
                <a:latin typeface="Consolas"/>
              </a:rPr>
              <a:t>     kin_stop_event_count</a:t>
            </a:r>
          </a:p>
        </p:txBody>
      </p:sp>
      <p:sp>
        <p:nvSpPr>
          <p:cNvPr id="87" name="TextBox 87"/>
          <p:cNvSpPr txBox="1"/>
          <p:nvPr/>
        </p:nvSpPr>
        <p:spPr>
          <a:xfrm>
            <a:off x="6364224" y="4242816"/>
            <a:ext cx="4956048" cy="201168"/>
          </a:xfrm>
          <a:prstGeom prst="rect">
            <a:avLst/>
          </a:prstGeom>
          <a:noFill/>
        </p:spPr>
        <p:txBody>
          <a:bodyPr wrap="square" lIns="0" tIns="0" rIns="0" bIns="0"/>
          <a:lstStyle/>
          <a:p>
            <a:r>
              <a:rPr sz="850" b="0">
                <a:solidFill>
                  <a:srgbClr val="33424D"/>
                </a:solidFill>
                <a:latin typeface="Calibri"/>
              </a:rPr>
              <a:t>How many separate stops there were — every maximal run of stopped steps counts once</a:t>
            </a:r>
          </a:p>
        </p:txBody>
      </p:sp>
      <mc:AlternateContent xmlns:mc="http://schemas.openxmlformats.org/markup-compatibility/2006" xmlns:a14="http://schemas.microsoft.com/office/drawing/2010/main">
        <mc:Choice Requires="a14">
          <p:sp>
            <p:nvSpPr>
              <p:cNvPr id="88" name="TextBox 87"/>
              <p:cNvSpPr txBox="1"/>
              <p:nvPr/>
            </p:nvSpPr>
            <p:spPr>
              <a:xfrm>
                <a:off x="6364224" y="4498848"/>
                <a:ext cx="4956048" cy="237744"/>
              </a:xfrm>
              <a:prstGeom prst="rect">
                <a:avLst/>
              </a:prstGeom>
              <a:noFill/>
            </p:spPr>
            <p:txBody>
              <a:bodyPr wrap="square" lIns="0" tIns="0" rIns="0" bIns="0"/>
              <a:lstStyle/>
              <a:p>
                <a:pPr algn="l"/>
                <a14:m>
                  <m:oMathPara xmlns:m="http://schemas.openxmlformats.org/officeDocument/2006/math">
                    <m:oMath>
                      <m:r>
                        <m:rPr>
                          <m:nor/>
                        </m:rPr>
                        <a:rPr lang="en-US" sz="900" i="0">
                          <a:latin typeface="Cambria Math"/>
                        </a:rPr>
                        <m:t>#{ maximal runs of </m:t>
                      </m:r>
                      <m:r>
                        <a:rPr lang="en-US" sz="900">
                          <a:latin typeface="Cambria Math"/>
                        </a:rPr>
                        <m:t>𝑣</m:t>
                      </m:r>
                      <m:r>
                        <m:rPr>
                          <m:nor/>
                        </m:rPr>
                        <a:rPr lang="en-US" sz="900" i="0">
                          <a:latin typeface="Cambria Math"/>
                        </a:rPr>
                        <m:t> &lt; 0.5 m/s }</m:t>
                      </m:r>
                    </m:oMath>
                  </m:oMathPara>
                </a14:m>
                <a:endParaRPr sz="900"/>
              </a:p>
            </p:txBody>
          </p:sp>
        </mc:Choice>
        <mc:Fallback xmlns:m="http://schemas.openxmlformats.org/officeDocument/2006/math" xmlns="">
          <p:sp>
            <p:nvSpPr>
              <p:cNvPr id="88" name="TextBox 87"/>
              <p:cNvSpPr txBox="1"/>
              <p:nvPr/>
            </p:nvSpPr>
            <p:spPr>
              <a:xfrm>
                <a:off x="6364224" y="4498848"/>
                <a:ext cx="4956048" cy="237744"/>
              </a:xfrm>
              <a:prstGeom prst="rect">
                <a:avLst/>
              </a:prstGeom>
              <a:noFill/>
            </p:spPr>
            <p:txBody>
              <a:bodyPr wrap="square" lIns="0" tIns="0" rIns="0" bIns="0"/>
              <a:lstStyle/>
              <a:p>
                <a:r>
                  <a:rPr sz="900" b="0">
                    <a:solidFill>
                      <a:srgbClr val="33424D"/>
                    </a:solidFill>
                    <a:latin typeface="Cambria Math"/>
                  </a:rPr>
                  <a:t>#{ maximal runs of v &lt; 0.5 m/s }</a:t>
                </a:r>
              </a:p>
            </p:txBody>
          </p:sp>
        </mc:Fallback>
      </mc:AlternateContent>
      <p:sp>
        <p:nvSpPr>
          <p:cNvPr id="89" name="TextBox 89"/>
          <p:cNvSpPr txBox="1"/>
          <p:nvPr/>
        </p:nvSpPr>
        <p:spPr>
          <a:xfrm>
            <a:off x="6364224" y="4791456"/>
            <a:ext cx="4956048" cy="201168"/>
          </a:xfrm>
          <a:prstGeom prst="rect">
            <a:avLst/>
          </a:prstGeom>
          <a:noFill/>
        </p:spPr>
        <p:txBody>
          <a:bodyPr wrap="square" lIns="0" tIns="0" rIns="0" bIns="0"/>
          <a:lstStyle/>
          <a:p>
            <a:r>
              <a:rPr sz="850" b="1">
                <a:solidFill>
                  <a:srgbClr val="1C7293"/>
                </a:solidFill>
                <a:latin typeface="Calibri"/>
              </a:rPr>
              <a:t>real bus  6</a:t>
            </a:r>
            <a:r>
              <a:rPr sz="850" b="0">
                <a:solidFill>
                  <a:srgbClr val="33424D"/>
                </a:solidFill>
                <a:latin typeface="Calibri"/>
              </a:rPr>
              <a:t>   ·   +8.3σ</a:t>
            </a:r>
          </a:p>
        </p:txBody>
      </p:sp>
      <p:sp>
        <p:nvSpPr>
          <p:cNvPr id="90" name="Rounded Rectangle 89"/>
          <p:cNvSpPr/>
          <p:nvPr/>
        </p:nvSpPr>
        <p:spPr>
          <a:xfrm>
            <a:off x="603504" y="5102352"/>
            <a:ext cx="6400800" cy="822960"/>
          </a:xfrm>
          <a:prstGeom prst="roundRect">
            <a:avLst>
              <a:gd name="adj" fmla="val 6000"/>
            </a:avLst>
          </a:prstGeom>
          <a:solidFill>
            <a:srgbClr val="F1F5F8"/>
          </a:solidFill>
          <a:ln>
            <a:noFill/>
          </a:ln>
          <a:effectLst/>
        </p:spPr>
        <p:txBody>
          <a:bodyPr rtlCol="0" anchor="ctr"/>
          <a:lstStyle/>
          <a:p>
            <a:pPr algn="ctr"/>
            <a:endParaRPr/>
          </a:p>
        </p:txBody>
      </p:sp>
      <p:sp>
        <p:nvSpPr>
          <p:cNvPr id="91" name="TextBox 91"/>
          <p:cNvSpPr txBox="1"/>
          <p:nvPr/>
        </p:nvSpPr>
        <p:spPr>
          <a:xfrm>
            <a:off x="768096" y="5175504"/>
            <a:ext cx="6071616" cy="731520"/>
          </a:xfrm>
          <a:prstGeom prst="rect">
            <a:avLst/>
          </a:prstGeom>
          <a:noFill/>
        </p:spPr>
        <p:txBody>
          <a:bodyPr wrap="square" lIns="0" tIns="0" rIns="0" bIns="0"/>
          <a:lstStyle/>
          <a:p>
            <a:pPr>
              <a:spcAft>
                <a:spcPts val="100"/>
              </a:spcAft>
            </a:pPr>
            <a:r>
              <a:rPr sz="750" b="1">
                <a:solidFill>
                  <a:srgbClr val="0B4F6C"/>
                </a:solidFill>
                <a:latin typeface="Calibri"/>
              </a:rPr>
              <a:t>Shared definitions.  </a:t>
            </a:r>
            <a:r>
              <a:rPr sz="750" b="0">
                <a:solidFill>
                  <a:srgbClr val="33424D"/>
                </a:solidFill>
                <a:latin typeface="Calibri"/>
              </a:rPr>
              <a:t>v is the fused Kalman speed;  a_long is the Kalman acceleration projected on the direction of travel, so a_long &lt; 0 is braking;  Δ is the change between consecutive filter steps;  N is the number of steps.  Each feature is scored as z = (x − μ) / σ against 13,333 simulated normal tracks, and the vehicle is flagged when max |z| &gt; 15.4.</a:t>
            </a:r>
          </a:p>
          <a:p>
            <a:pPr>
              <a:spcAft>
                <a:spcPts val="100"/>
              </a:spcAft>
            </a:pPr>
            <a:r>
              <a:rPr sz="750" b="1">
                <a:solidFill>
                  <a:srgbClr val="0B4F6C"/>
                </a:solidFill>
                <a:latin typeface="Calibri"/>
              </a:rPr>
              <a:t>The two jerk rows are per-step differences, not divided by Δt</a:t>
            </a:r>
            <a:r>
              <a:rPr sz="750" b="0">
                <a:solidFill>
                  <a:srgbClr val="33424D"/>
                </a:solidFill>
                <a:latin typeface="Calibri"/>
              </a:rPr>
              <a:t> — and Δt is 0.02 s in simulation against 0.23 s at Klausner, so they are the least comparable of the six. The stopping and braking rows do not depend on Δt.</a:t>
            </a:r>
          </a:p>
          <a:p>
            <a:pPr>
              <a:spcAft>
                <a:spcPts val="100"/>
              </a:spcAft>
            </a:pPr>
            <a:r>
              <a:rPr sz="750" b="1">
                <a:solidFill>
                  <a:srgbClr val="1C7293"/>
                </a:solidFill>
                <a:latin typeface="Calibri"/>
              </a:rPr>
              <a:t>Code:  </a:t>
            </a:r>
            <a:r>
              <a:rPr sz="750" b="0">
                <a:solidFill>
                  <a:srgbClr val="6B7A85"/>
                </a:solidFill>
                <a:latin typeface="Consolas"/>
              </a:rPr>
              <a:t>anomaly_model/scripts/feature_extractor.py  ·  lines 554–573</a:t>
            </a:r>
          </a:p>
        </p:txBody>
      </p:sp>
      <p:sp>
        <p:nvSpPr>
          <p:cNvPr id="16" name="Rounded Rectangle 15">
            <a:hlinkClick r:id="rId5"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6"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11</a:t>
            </a:r>
          </a:p>
        </p:txBody>
      </p:sp>
      <p:sp>
        <p:nvSpPr>
          <p:cNvPr id="150" name="Rounded Rectangle 149">
            <a:hlinkClick r:id="rId7"/>
          </p:cNvPr>
          <p:cNvSpPr/>
          <p:nvPr/>
        </p:nvSpPr>
        <p:spPr>
          <a:xfrm>
            <a:off x="7132320"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CODE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How We Validated the Simulator Itself</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37</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E1   ·   </a:t>
            </a:r>
            <a:r>
              <a:rPr sz="1100" b="1">
                <a:solidFill>
                  <a:srgbClr val="1C7293"/>
                </a:solidFill>
                <a:latin typeface="Calibri"/>
              </a:rPr>
              <a:t>A SEPARATE PROTOCOL, BEFORE ANY RESULT</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Seven isolated scenarios</a:t>
            </a:r>
            <a:r>
              <a:rPr sz="1050" b="0">
                <a:solidFill>
                  <a:srgbClr val="33424D"/>
                </a:solidFill>
                <a:latin typeface="Calibri"/>
              </a:rPr>
              <a:t>, each changing one variable at a time.</a:t>
            </a:r>
          </a:p>
          <a:p>
            <a:pPr marL="201168" indent="-201168">
              <a:spcAft>
                <a:spcPts val="600"/>
              </a:spcAft>
            </a:pPr>
            <a:r>
              <a:rPr sz="1050" b="1">
                <a:solidFill>
                  <a:srgbClr val="1C7293"/>
                </a:solidFill>
                <a:latin typeface="Calibri"/>
              </a:rPr>
              <a:t>▪   </a:t>
            </a:r>
            <a:r>
              <a:rPr sz="1050" b="0">
                <a:solidFill>
                  <a:srgbClr val="33424D"/>
                </a:solidFill>
                <a:latin typeface="Calibri"/>
              </a:rPr>
              <a:t>The protocol explicitly separates </a:t>
            </a:r>
            <a:r>
              <a:rPr sz="1050" b="1">
                <a:solidFill>
                  <a:srgbClr val="33424D"/>
                </a:solidFill>
                <a:latin typeface="Calibri"/>
              </a:rPr>
              <a:t>internal consistency</a:t>
            </a:r>
            <a:r>
              <a:rPr sz="1050" b="0">
                <a:solidFill>
                  <a:srgbClr val="33424D"/>
                </a:solidFill>
                <a:latin typeface="Calibri"/>
              </a:rPr>
              <a:t> from </a:t>
            </a:r>
            <a:r>
              <a:rPr sz="1050" b="1">
                <a:solidFill>
                  <a:srgbClr val="33424D"/>
                </a:solidFill>
                <a:latin typeface="Calibri"/>
              </a:rPr>
              <a:t>physical fidelity</a:t>
            </a:r>
            <a:r>
              <a:rPr sz="1050" b="0">
                <a:solidFill>
                  <a:srgbClr val="33424D"/>
                </a:solidFill>
                <a:latin typeface="Calibri"/>
              </a:rPr>
              <a:t> — a simulator can be self-consistent and still wrong.</a:t>
            </a:r>
          </a:p>
          <a:p>
            <a:pPr marL="201168" indent="-201168">
              <a:spcAft>
                <a:spcPts val="600"/>
              </a:spcAft>
            </a:pPr>
            <a:r>
              <a:rPr sz="1050" b="1">
                <a:solidFill>
                  <a:srgbClr val="1C7293"/>
                </a:solidFill>
                <a:latin typeface="Calibri"/>
              </a:rPr>
              <a:t>▪   </a:t>
            </a:r>
            <a:r>
              <a:rPr sz="1050" b="0">
                <a:solidFill>
                  <a:srgbClr val="33424D"/>
                </a:solidFill>
                <a:latin typeface="Calibri"/>
              </a:rPr>
              <a:t>It insists on DAS-appropriate metrics rather than 2-D position error.</a:t>
            </a:r>
          </a:p>
          <a:p>
            <a:pPr marL="201168" indent="-201168">
              <a:spcAft>
                <a:spcPts val="600"/>
              </a:spcAft>
            </a:pPr>
            <a:r>
              <a:rPr sz="1050" b="1">
                <a:solidFill>
                  <a:srgbClr val="1C7293"/>
                </a:solidFill>
                <a:latin typeface="Calibri"/>
              </a:rPr>
              <a:t>▪   </a:t>
            </a:r>
            <a:r>
              <a:rPr sz="1050" b="1">
                <a:solidFill>
                  <a:srgbClr val="33424D"/>
                </a:solidFill>
                <a:latin typeface="Calibri"/>
              </a:rPr>
              <a:t>Scenario 1 worked example:</a:t>
            </a:r>
            <a:r>
              <a:rPr sz="1050" b="0">
                <a:solidFill>
                  <a:srgbClr val="33424D"/>
                </a:solidFill>
                <a:latin typeface="Calibri"/>
              </a:rPr>
              <a:t> one vehicle, 1500 kg, 13.9 m/s, fiber offset 2.0 m, d₀ 1.0 m → expect a single diagonal stripe, slope 13.9 ± 0.3 m/s, peak amplitude A ≈ 167.</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internal consistency  —  </a:t>
            </a:r>
            <a:r>
              <a:rPr sz="850">
                <a:solidFill>
                  <a:srgbClr val="33424D"/>
                </a:solidFill>
                <a:latin typeface="Calibri"/>
              </a:rPr>
              <a:t>the simulator agrees with itself — necessary but not sufficient</a:t>
            </a:r>
          </a:p>
          <a:p>
            <a:pPr marL="128016" indent="-128016">
              <a:spcAft>
                <a:spcPts val="200"/>
              </a:spcAft>
            </a:pPr>
            <a:r>
              <a:rPr sz="850" b="1">
                <a:solidFill>
                  <a:srgbClr val="1C7293"/>
                </a:solidFill>
                <a:latin typeface="Calibri"/>
              </a:rPr>
              <a:t>physical fidelity  —  </a:t>
            </a:r>
            <a:r>
              <a:rPr sz="850">
                <a:solidFill>
                  <a:srgbClr val="33424D"/>
                </a:solidFill>
                <a:latin typeface="Calibri"/>
              </a:rPr>
              <a:t>the simulator agrees with physics and with real recordings</a:t>
            </a:r>
          </a:p>
          <a:p>
            <a:pPr marL="128016" indent="-128016">
              <a:spcAft>
                <a:spcPts val="200"/>
              </a:spcAft>
            </a:pPr>
            <a:r>
              <a:rPr sz="850" b="1">
                <a:solidFill>
                  <a:srgbClr val="1C7293"/>
                </a:solidFill>
                <a:latin typeface="Calibri"/>
              </a:rPr>
              <a:t>isolated scenario  —  </a:t>
            </a:r>
            <a:r>
              <a:rPr sz="850">
                <a:solidFill>
                  <a:srgbClr val="33424D"/>
                </a:solidFill>
                <a:latin typeface="Calibri"/>
              </a:rPr>
              <a:t>one variable changed, everything else held fixed</a:t>
            </a:r>
          </a:p>
          <a:p>
            <a:pPr marL="128016" indent="-128016">
              <a:spcAft>
                <a:spcPts val="200"/>
              </a:spcAft>
            </a:pPr>
            <a:r>
              <a:rPr sz="850" b="1">
                <a:solidFill>
                  <a:srgbClr val="1C7293"/>
                </a:solidFill>
                <a:latin typeface="Calibri"/>
              </a:rPr>
              <a:t>time of closest approach  —  </a:t>
            </a:r>
            <a:r>
              <a:rPr sz="850">
                <a:solidFill>
                  <a:srgbClr val="33424D"/>
                </a:solidFill>
                <a:latin typeface="Calibri"/>
              </a:rPr>
              <a:t>when a vehicle passes nearest a given channel</a:t>
            </a:r>
          </a:p>
        </p:txBody>
      </p:sp>
      <p:pic>
        <p:nvPicPr>
          <p:cNvPr id="12" name="Picture 11" descr="E1.png"/>
          <p:cNvPicPr>
            <a:picLocks noChangeAspect="1"/>
          </p:cNvPicPr>
          <p:nvPr/>
        </p:nvPicPr>
        <p:blipFill>
          <a:blip r:embed="rId5"/>
          <a:stretch>
            <a:fillRect/>
          </a:stretch>
        </p:blipFill>
        <p:spPr>
          <a:xfrm>
            <a:off x="6181524" y="1316736"/>
            <a:ext cx="5376312" cy="2432303"/>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THE RIGHT METRIC FOR DAS</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Wrong  </a:t>
            </a:r>
            <a:r>
              <a:rPr sz="850" b="0">
                <a:solidFill>
                  <a:srgbClr val="33424D"/>
                </a:solidFill>
                <a:latin typeface="Calibri"/>
              </a:rPr>
              <a:t>2-D RMSE_x / RMSE_y  ·  comparing measured y to true vehicle y</a:t>
            </a:r>
          </a:p>
          <a:p>
            <a:pPr marL="128016" indent="-128016">
              <a:spcAft>
                <a:spcPts val="200"/>
              </a:spcAft>
            </a:pPr>
            <a:r>
              <a:rPr sz="850" b="1">
                <a:solidFill>
                  <a:srgbClr val="0B4F6C"/>
                </a:solidFill>
                <a:latin typeface="Calibri"/>
              </a:rPr>
              <a:t>Right  </a:t>
            </a:r>
            <a:r>
              <a:rPr sz="850" b="0">
                <a:solidFill>
                  <a:srgbClr val="33424D"/>
                </a:solidFill>
                <a:latin typeface="Calibri"/>
              </a:rPr>
              <a:t>along-fiber position only</a:t>
            </a:r>
          </a:p>
          <a:p>
            <a:pPr marL="128016" indent="-128016">
              <a:spcAft>
                <a:spcPts val="200"/>
              </a:spcAft>
            </a:pPr>
            <a:r>
              <a:rPr sz="850" b="1">
                <a:solidFill>
                  <a:srgbClr val="0B4F6C"/>
                </a:solidFill>
                <a:latin typeface="Calibri"/>
              </a:rPr>
              <a:t>Right  </a:t>
            </a:r>
            <a:r>
              <a:rPr sz="850" b="0">
                <a:solidFill>
                  <a:srgbClr val="33424D"/>
                </a:solidFill>
                <a:latin typeface="Calibri"/>
              </a:rPr>
              <a:t>waterfall slope   Δchannel / Δtime = v</a:t>
            </a:r>
          </a:p>
          <a:p>
            <a:pPr marL="128016" indent="-128016">
              <a:spcAft>
                <a:spcPts val="200"/>
              </a:spcAft>
            </a:pPr>
            <a:r>
              <a:rPr sz="850" b="1">
                <a:solidFill>
                  <a:srgbClr val="0B4F6C"/>
                </a:solidFill>
                <a:latin typeface="Calibri"/>
              </a:rPr>
              <a:t>Right  </a:t>
            </a:r>
            <a:r>
              <a:rPr sz="850" b="0">
                <a:solidFill>
                  <a:srgbClr val="33424D"/>
                </a:solidFill>
                <a:latin typeface="Calibri"/>
              </a:rPr>
              <a:t>time of closest approach to a channel</a:t>
            </a:r>
          </a:p>
          <a:p>
            <a:pPr marL="128016" indent="-128016">
              <a:spcAft>
                <a:spcPts val="200"/>
              </a:spcAft>
            </a:pPr>
            <a:r>
              <a:rPr sz="850" b="1">
                <a:solidFill>
                  <a:srgbClr val="0B4F6C"/>
                </a:solidFill>
                <a:latin typeface="Calibri"/>
              </a:rPr>
              <a:t>Right  </a:t>
            </a:r>
            <a:r>
              <a:rPr sz="850" b="0">
                <a:solidFill>
                  <a:srgbClr val="33424D"/>
                </a:solidFill>
                <a:latin typeface="Calibri"/>
              </a:rPr>
              <a:t>peak amplitude A = W/(r+d₀)²   ·   SNR = A / σ_th</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9</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Tracking Accuracy in Detail</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38</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E2   ·   </a:t>
            </a:r>
            <a:r>
              <a:rPr sz="1100" b="1">
                <a:solidFill>
                  <a:srgbClr val="1C7293"/>
                </a:solidFill>
                <a:latin typeface="Calibri"/>
              </a:rPr>
              <a:t>WHAT THE NUMBERS ON SLIDE 9 MEAN</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Mean 0.35 m</a:t>
            </a:r>
            <a:r>
              <a:rPr sz="1050" b="0">
                <a:solidFill>
                  <a:srgbClr val="33424D"/>
                </a:solidFill>
                <a:latin typeface="Calibri"/>
              </a:rPr>
              <a:t> per-track RMSE across the nine evaluation scenarios — best 0.19 m, worst 0.45 m.</a:t>
            </a:r>
          </a:p>
          <a:p>
            <a:pPr marL="201168" indent="-201168">
              <a:spcAft>
                <a:spcPts val="600"/>
              </a:spcAft>
            </a:pPr>
            <a:r>
              <a:rPr sz="1050" b="1">
                <a:solidFill>
                  <a:srgbClr val="1C7293"/>
                </a:solidFill>
                <a:latin typeface="Calibri"/>
              </a:rPr>
              <a:t>▪   </a:t>
            </a:r>
            <a:r>
              <a:rPr sz="1050" b="1">
                <a:solidFill>
                  <a:srgbClr val="33424D"/>
                </a:solidFill>
                <a:latin typeface="Calibri"/>
              </a:rPr>
              <a:t>Cross-segment showcase:</a:t>
            </a:r>
            <a:r>
              <a:rPr sz="1050" b="0">
                <a:solidFill>
                  <a:srgbClr val="33424D"/>
                </a:solidFill>
                <a:latin typeface="Calibri"/>
              </a:rPr>
              <a:t> 0.49 m RMSE, maximum instantaneous error 1.52 m, identity preserved through the boundary.</a:t>
            </a:r>
          </a:p>
          <a:p>
            <a:pPr marL="201168" indent="-201168">
              <a:spcAft>
                <a:spcPts val="600"/>
              </a:spcAft>
            </a:pPr>
            <a:r>
              <a:rPr sz="1050" b="1">
                <a:solidFill>
                  <a:srgbClr val="1C7293"/>
                </a:solidFill>
                <a:latin typeface="Calibri"/>
              </a:rPr>
              <a:t>▪   </a:t>
            </a:r>
            <a:r>
              <a:rPr sz="1050" b="1">
                <a:solidFill>
                  <a:srgbClr val="33424D"/>
                </a:solidFill>
                <a:latin typeface="Calibri"/>
              </a:rPr>
              <a:t>Four connected segments</a:t>
            </a:r>
            <a:r>
              <a:rPr sz="1050" b="0">
                <a:solidFill>
                  <a:srgbClr val="33424D"/>
                </a:solidFill>
                <a:latin typeface="Calibri"/>
              </a:rPr>
              <a:t> (over-speeding scenario): 0.37 m RMSE, max 1.11 m, three transitions, no fragmentation.</a:t>
            </a:r>
          </a:p>
          <a:p>
            <a:pPr marL="201168" indent="-201168">
              <a:spcAft>
                <a:spcPts val="600"/>
              </a:spcAft>
            </a:pPr>
            <a:r>
              <a:rPr sz="1050" b="1">
                <a:solidFill>
                  <a:srgbClr val="1C7293"/>
                </a:solidFill>
                <a:latin typeface="Calibri"/>
              </a:rPr>
              <a:t>▪   </a:t>
            </a:r>
            <a:r>
              <a:rPr sz="1050" b="0">
                <a:solidFill>
                  <a:srgbClr val="33424D"/>
                </a:solidFill>
                <a:latin typeface="Calibri"/>
              </a:rPr>
              <a:t>Sensor roles: DAS is the dense high-rate backbone; the camera adds accurate fixes at intersections; GPS supplies low-rate absolute correction that bounds drift between DAS zones.</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RMSE  —  </a:t>
            </a:r>
            <a:r>
              <a:rPr sz="850">
                <a:solidFill>
                  <a:srgbClr val="33424D"/>
                </a:solidFill>
                <a:latin typeface="Calibri"/>
              </a:rPr>
              <a:t>root-mean-square error — the typical distance between estimate and truth</a:t>
            </a:r>
          </a:p>
          <a:p>
            <a:pPr marL="128016" indent="-128016">
              <a:spcAft>
                <a:spcPts val="200"/>
              </a:spcAft>
            </a:pPr>
            <a:r>
              <a:rPr sz="850" b="1">
                <a:solidFill>
                  <a:srgbClr val="1C7293"/>
                </a:solidFill>
                <a:latin typeface="Calibri"/>
              </a:rPr>
              <a:t>cross-segment  —  </a:t>
            </a:r>
            <a:r>
              <a:rPr sz="850">
                <a:solidFill>
                  <a:srgbClr val="33424D"/>
                </a:solidFill>
                <a:latin typeface="Calibri"/>
              </a:rPr>
              <a:t>a vehicle handed from one road segment to the next</a:t>
            </a:r>
          </a:p>
          <a:p>
            <a:pPr marL="128016" indent="-128016">
              <a:spcAft>
                <a:spcPts val="200"/>
              </a:spcAft>
            </a:pPr>
            <a:r>
              <a:rPr sz="850" b="1">
                <a:solidFill>
                  <a:srgbClr val="1C7293"/>
                </a:solidFill>
                <a:latin typeface="Calibri"/>
              </a:rPr>
              <a:t>identity swap  —  </a:t>
            </a:r>
            <a:r>
              <a:rPr sz="850">
                <a:solidFill>
                  <a:srgbClr val="33424D"/>
                </a:solidFill>
                <a:latin typeface="Calibri"/>
              </a:rPr>
              <a:t>the tracker confusing two vehicles — never observed in our runs</a:t>
            </a:r>
          </a:p>
          <a:p>
            <a:pPr marL="128016" indent="-128016">
              <a:spcAft>
                <a:spcPts val="200"/>
              </a:spcAft>
            </a:pPr>
            <a:r>
              <a:rPr sz="850" b="1">
                <a:solidFill>
                  <a:srgbClr val="1C7293"/>
                </a:solidFill>
                <a:latin typeface="Calibri"/>
              </a:rPr>
              <a:t>evaluation scenario  —  </a:t>
            </a:r>
            <a:r>
              <a:rPr sz="850">
                <a:solidFill>
                  <a:srgbClr val="33424D"/>
                </a:solidFill>
                <a:latin typeface="Calibri"/>
              </a:rPr>
              <a:t>one of the nine runs with an injected anomalous vehicle</a:t>
            </a:r>
          </a:p>
        </p:txBody>
      </p:sp>
      <p:pic>
        <p:nvPicPr>
          <p:cNvPr id="12" name="Picture 11" descr="E2.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“ISN’T THIS CIRCULAR?”</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Error is measured against the simulator's oracle — but the </a:t>
            </a:r>
            <a:r>
              <a:rPr sz="850" b="1">
                <a:solidFill>
                  <a:srgbClr val="33424D"/>
                </a:solidFill>
                <a:latin typeface="Calibri"/>
              </a:rPr>
              <a:t>tracker never sees it</a:t>
            </a:r>
            <a:r>
              <a:rPr sz="850" b="0">
                <a:solidFill>
                  <a:srgbClr val="33424D"/>
                </a:solidFill>
                <a:latin typeface="Calibri"/>
              </a:rPr>
              <a:t> (B3)</a:t>
            </a:r>
          </a:p>
          <a:p>
            <a:pPr marL="128016" indent="-128016">
              <a:spcAft>
                <a:spcPts val="200"/>
              </a:spcAft>
            </a:pPr>
            <a:r>
              <a:rPr sz="850" b="1">
                <a:solidFill>
                  <a:srgbClr val="1C7293"/>
                </a:solidFill>
                <a:latin typeface="Calibri"/>
              </a:rPr>
              <a:t>–  </a:t>
            </a:r>
            <a:r>
              <a:rPr sz="850" b="0">
                <a:solidFill>
                  <a:srgbClr val="33424D"/>
                </a:solidFill>
                <a:latin typeface="Calibri"/>
              </a:rPr>
              <a:t>Before anything reaches the filter, the sensor layer injects per-measurement noise, ghost candidates and real coverage gaps</a:t>
            </a:r>
          </a:p>
          <a:p>
            <a:pPr marL="128016" indent="-128016">
              <a:spcAft>
                <a:spcPts val="200"/>
              </a:spcAft>
            </a:pPr>
            <a:r>
              <a:rPr sz="850" b="1">
                <a:solidFill>
                  <a:srgbClr val="1C7293"/>
                </a:solidFill>
                <a:latin typeface="Calibri"/>
              </a:rPr>
              <a:t>–  </a:t>
            </a:r>
            <a:r>
              <a:rPr sz="850" b="0">
                <a:solidFill>
                  <a:srgbClr val="33424D"/>
                </a:solidFill>
                <a:latin typeface="Calibri"/>
              </a:rPr>
              <a:t>So the question being answered is: </a:t>
            </a:r>
            <a:r>
              <a:rPr sz="850" b="1">
                <a:solidFill>
                  <a:srgbClr val="33424D"/>
                </a:solidFill>
                <a:latin typeface="Calibri"/>
              </a:rPr>
              <a:t>can the estimator recover truth from degraded observations</a:t>
            </a:r>
            <a:r>
              <a:rPr sz="850" b="0">
                <a:solidFill>
                  <a:srgbClr val="33424D"/>
                </a:solidFill>
                <a:latin typeface="Calibri"/>
              </a:rPr>
              <a:t> — which is the right question</a:t>
            </a:r>
          </a:p>
          <a:p>
            <a:pPr marL="128016" indent="-128016">
              <a:spcAft>
                <a:spcPts val="200"/>
              </a:spcAft>
            </a:pPr>
            <a:r>
              <a:rPr sz="850" b="1">
                <a:solidFill>
                  <a:srgbClr val="1C7293"/>
                </a:solidFill>
                <a:latin typeface="Calibri"/>
              </a:rPr>
              <a:t>–  </a:t>
            </a:r>
            <a:r>
              <a:rPr sz="850" b="0">
                <a:solidFill>
                  <a:srgbClr val="33424D"/>
                </a:solidFill>
                <a:latin typeface="Calibri"/>
              </a:rPr>
              <a:t>The nine scenarios are a small sample; the ≈150 normal runs were used for the anomaly baseline, not for RMSE</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Klausner Street — The Real Recording</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39</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E3   ·   </a:t>
            </a:r>
            <a:r>
              <a:rPr sz="1100" b="1">
                <a:solidFill>
                  <a:srgbClr val="1C7293"/>
                </a:solidFill>
                <a:latin typeface="Calibri"/>
              </a:rPr>
              <a:t>THE ONE PLACE WE LEFT SIMULATION</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A real DAS channel and a camera operating on an </a:t>
            </a:r>
            <a:r>
              <a:rPr sz="1050" b="1">
                <a:solidFill>
                  <a:srgbClr val="33424D"/>
                </a:solidFill>
                <a:latin typeface="Calibri"/>
              </a:rPr>
              <a:t>existing telecom fiber</a:t>
            </a:r>
            <a:r>
              <a:rPr sz="1050" b="0">
                <a:solidFill>
                  <a:srgbClr val="33424D"/>
                </a:solidFill>
                <a:latin typeface="Calibri"/>
              </a:rPr>
              <a:t> beside the TAU campus. A city bus decelerating into a stop, isolated from the trace as event #4.</a:t>
            </a:r>
          </a:p>
          <a:p>
            <a:pPr marL="201168" indent="-201168">
              <a:spcAft>
                <a:spcPts val="600"/>
              </a:spcAft>
            </a:pPr>
            <a:r>
              <a:rPr sz="1050" b="1">
                <a:solidFill>
                  <a:srgbClr val="1C7293"/>
                </a:solidFill>
                <a:latin typeface="Calibri"/>
              </a:rPr>
              <a:t>▪   </a:t>
            </a:r>
            <a:r>
              <a:rPr sz="1050" b="0">
                <a:solidFill>
                  <a:srgbClr val="33424D"/>
                </a:solidFill>
                <a:latin typeface="Calibri"/>
              </a:rPr>
              <a:t>Replayed through the </a:t>
            </a:r>
            <a:r>
              <a:rPr sz="1050" b="1">
                <a:solidFill>
                  <a:srgbClr val="33424D"/>
                </a:solidFill>
                <a:latin typeface="Calibri"/>
              </a:rPr>
              <a:t>unchanged</a:t>
            </a:r>
            <a:r>
              <a:rPr sz="1050" b="0">
                <a:solidFill>
                  <a:srgbClr val="33424D"/>
                </a:solidFill>
                <a:latin typeface="Calibri"/>
              </a:rPr>
              <a:t> pipeline on the true OSM street geometry.</a:t>
            </a:r>
          </a:p>
          <a:p>
            <a:pPr marL="201168" indent="-201168">
              <a:spcAft>
                <a:spcPts val="600"/>
              </a:spcAft>
            </a:pPr>
            <a:r>
              <a:rPr sz="1050" b="1">
                <a:solidFill>
                  <a:srgbClr val="1C7293"/>
                </a:solidFill>
                <a:latin typeface="Calibri"/>
              </a:rPr>
              <a:t>▪   </a:t>
            </a:r>
            <a:r>
              <a:rPr sz="1050" b="0">
                <a:solidFill>
                  <a:srgbClr val="33424D"/>
                </a:solidFill>
                <a:latin typeface="Calibri"/>
              </a:rPr>
              <a:t>Fused over </a:t>
            </a:r>
            <a:r>
              <a:rPr sz="1050" b="1">
                <a:solidFill>
                  <a:srgbClr val="33424D"/>
                </a:solidFill>
                <a:latin typeface="Calibri"/>
              </a:rPr>
              <a:t>41.8 s</a:t>
            </a:r>
            <a:r>
              <a:rPr sz="1050" b="0">
                <a:solidFill>
                  <a:srgbClr val="33424D"/>
                </a:solidFill>
                <a:latin typeface="Calibri"/>
              </a:rPr>
              <a:t>; ran on </a:t>
            </a:r>
            <a:r>
              <a:rPr sz="1050" b="1">
                <a:solidFill>
                  <a:srgbClr val="33424D"/>
                </a:solidFill>
                <a:latin typeface="Calibri"/>
              </a:rPr>
              <a:t>prediction alone for 42%</a:t>
            </a:r>
            <a:r>
              <a:rPr sz="1050" b="0">
                <a:solidFill>
                  <a:srgbClr val="33424D"/>
                </a:solidFill>
                <a:latin typeface="Calibri"/>
              </a:rPr>
              <a:t> of the run, longest gap 3.98 s — and never lost the track through a complete stop, the situation where DAS naturally goes blind.</a:t>
            </a:r>
          </a:p>
          <a:p>
            <a:pPr marL="201168" indent="-201168">
              <a:spcAft>
                <a:spcPts val="600"/>
              </a:spcAft>
            </a:pPr>
            <a:r>
              <a:rPr sz="1050" b="1">
                <a:solidFill>
                  <a:srgbClr val="1C7293"/>
                </a:solidFill>
                <a:latin typeface="Calibri"/>
              </a:rPr>
              <a:t>▪   </a:t>
            </a:r>
            <a:r>
              <a:rPr sz="1050" b="0">
                <a:solidFill>
                  <a:srgbClr val="33424D"/>
                </a:solidFill>
                <a:latin typeface="Calibri"/>
              </a:rPr>
              <a:t>The camera's measured error far exceeded its declared σ = 0.2 m — exactly the failure mode the design anticipates. </a:t>
            </a:r>
            <a:r>
              <a:rPr sz="1050" b="1">
                <a:solidFill>
                  <a:srgbClr val="33424D"/>
                </a:solidFill>
                <a:latin typeface="Calibri"/>
              </a:rPr>
              <a:t>Per-site camera calibration is required before any wider deployment.</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along-track  —  </a:t>
            </a:r>
            <a:r>
              <a:rPr sz="850">
                <a:solidFill>
                  <a:srgbClr val="33424D"/>
                </a:solidFill>
                <a:latin typeface="Calibri"/>
              </a:rPr>
              <a:t>error measured along the direction of travel — the axis DAS measures</a:t>
            </a:r>
          </a:p>
          <a:p>
            <a:pPr marL="128016" indent="-128016">
              <a:spcAft>
                <a:spcPts val="200"/>
              </a:spcAft>
            </a:pPr>
            <a:r>
              <a:rPr sz="850" b="1">
                <a:solidFill>
                  <a:srgbClr val="1C7293"/>
                </a:solidFill>
                <a:latin typeface="Calibri"/>
              </a:rPr>
              <a:t>cross-track  —  </a:t>
            </a:r>
            <a:r>
              <a:rPr sz="850">
                <a:solidFill>
                  <a:srgbClr val="33424D"/>
                </a:solidFill>
                <a:latin typeface="Calibri"/>
              </a:rPr>
              <a:t>sideways error — not observable here, no independent lateral reference</a:t>
            </a:r>
          </a:p>
          <a:p>
            <a:pPr marL="128016" indent="-128016">
              <a:spcAft>
                <a:spcPts val="200"/>
              </a:spcAft>
            </a:pPr>
            <a:r>
              <a:rPr sz="850" b="1">
                <a:solidFill>
                  <a:srgbClr val="1C7293"/>
                </a:solidFill>
                <a:latin typeface="Calibri"/>
              </a:rPr>
              <a:t>prediction-only  —  </a:t>
            </a:r>
            <a:r>
              <a:rPr sz="850">
                <a:solidFill>
                  <a:srgbClr val="33424D"/>
                </a:solidFill>
                <a:latin typeface="Calibri"/>
              </a:rPr>
              <a:t>filter steps where no measurement arrived and the model carried the track</a:t>
            </a:r>
          </a:p>
          <a:p>
            <a:pPr marL="128016" indent="-128016">
              <a:spcAft>
                <a:spcPts val="200"/>
              </a:spcAft>
            </a:pPr>
            <a:r>
              <a:rPr sz="850" b="1">
                <a:solidFill>
                  <a:srgbClr val="1C7293"/>
                </a:solidFill>
                <a:latin typeface="Calibri"/>
              </a:rPr>
              <a:t>event #4  —  </a:t>
            </a:r>
            <a:r>
              <a:rPr sz="850">
                <a:solidFill>
                  <a:srgbClr val="33424D"/>
                </a:solidFill>
                <a:latin typeface="Calibri"/>
              </a:rPr>
              <a:t>the bus-stop deceleration isolated from the raw Klausner trace</a:t>
            </a:r>
          </a:p>
        </p:txBody>
      </p:sp>
      <p:pic>
        <p:nvPicPr>
          <p:cNvPr id="12" name="Picture 11" descr="E3.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WHAT “GROUND TRUTH” MEANS HERE</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Truth is the </a:t>
            </a:r>
            <a:r>
              <a:rPr sz="850" b="1">
                <a:solidFill>
                  <a:srgbClr val="33424D"/>
                </a:solidFill>
                <a:latin typeface="Calibri"/>
              </a:rPr>
              <a:t>mapped lane centreline</a:t>
            </a:r>
            <a:r>
              <a:rPr sz="850" b="0">
                <a:solidFill>
                  <a:srgbClr val="33424D"/>
                </a:solidFill>
                <a:latin typeface="Calibri"/>
              </a:rPr>
              <a:t>; the bus is placed on the lane centre</a:t>
            </a:r>
          </a:p>
          <a:p>
            <a:pPr marL="128016" indent="-128016">
              <a:spcAft>
                <a:spcPts val="200"/>
              </a:spcAft>
            </a:pPr>
            <a:r>
              <a:rPr sz="850" b="1">
                <a:solidFill>
                  <a:srgbClr val="1C7293"/>
                </a:solidFill>
                <a:latin typeface="Calibri"/>
              </a:rPr>
              <a:t>–  </a:t>
            </a:r>
            <a:r>
              <a:rPr sz="850" b="0">
                <a:solidFill>
                  <a:srgbClr val="33424D"/>
                </a:solidFill>
                <a:latin typeface="Calibri"/>
              </a:rPr>
              <a:t>Therefore all three figures are </a:t>
            </a:r>
            <a:r>
              <a:rPr sz="850" b="1">
                <a:solidFill>
                  <a:srgbClr val="33424D"/>
                </a:solidFill>
                <a:latin typeface="Calibri"/>
              </a:rPr>
              <a:t>along-track</a:t>
            </a:r>
            <a:r>
              <a:rPr sz="850" b="0">
                <a:solidFill>
                  <a:srgbClr val="33424D"/>
                </a:solidFill>
                <a:latin typeface="Calibri"/>
              </a:rPr>
              <a:t>:  fused </a:t>
            </a:r>
            <a:r>
              <a:rPr sz="850" b="1">
                <a:solidFill>
                  <a:srgbClr val="33424D"/>
                </a:solidFill>
                <a:latin typeface="Calibri"/>
              </a:rPr>
              <a:t>1.17 m</a:t>
            </a:r>
            <a:r>
              <a:rPr sz="850" b="0">
                <a:solidFill>
                  <a:srgbClr val="33424D"/>
                </a:solidFill>
                <a:latin typeface="Calibri"/>
              </a:rPr>
              <a:t> · DAS </a:t>
            </a:r>
            <a:r>
              <a:rPr sz="850" b="1">
                <a:solidFill>
                  <a:srgbClr val="33424D"/>
                </a:solidFill>
                <a:latin typeface="Calibri"/>
              </a:rPr>
              <a:t>0.33 m</a:t>
            </a:r>
            <a:r>
              <a:rPr sz="850" b="0">
                <a:solidFill>
                  <a:srgbClr val="33424D"/>
                </a:solidFill>
                <a:latin typeface="Calibri"/>
              </a:rPr>
              <a:t> · camera </a:t>
            </a:r>
            <a:r>
              <a:rPr sz="850" b="1">
                <a:solidFill>
                  <a:srgbClr val="33424D"/>
                </a:solidFill>
                <a:latin typeface="Calibri"/>
              </a:rPr>
              <a:t>2.49 m</a:t>
            </a:r>
          </a:p>
          <a:p>
            <a:pPr marL="128016" indent="-128016">
              <a:spcAft>
                <a:spcPts val="200"/>
              </a:spcAft>
            </a:pPr>
            <a:r>
              <a:rPr sz="850" b="1">
                <a:solidFill>
                  <a:srgbClr val="1C7293"/>
                </a:solidFill>
                <a:latin typeface="Calibri"/>
              </a:rPr>
              <a:t>–  </a:t>
            </a:r>
            <a:r>
              <a:rPr sz="850" b="0">
                <a:solidFill>
                  <a:srgbClr val="33424D"/>
                </a:solidFill>
                <a:latin typeface="Calibri"/>
              </a:rPr>
              <a:t>Cross-track is not independently observable — there is no lateral reference for a real vehicle. This is the correct axis: DAS measures along the fiber (see E1)</a:t>
            </a:r>
          </a:p>
          <a:p>
            <a:pPr marL="128016" indent="-128016">
              <a:spcAft>
                <a:spcPts val="200"/>
              </a:spcAft>
            </a:pPr>
            <a:r>
              <a:rPr sz="850" b="1">
                <a:solidFill>
                  <a:srgbClr val="1C7293"/>
                </a:solidFill>
                <a:latin typeface="Calibri"/>
              </a:rPr>
              <a:t>–  </a:t>
            </a:r>
            <a:r>
              <a:rPr sz="850" b="0">
                <a:solidFill>
                  <a:srgbClr val="33424D"/>
                </a:solidFill>
                <a:latin typeface="Calibri"/>
              </a:rPr>
              <a:t>Coverage sheet: 86 DAS + 39 camera measurements generated and all accepted. The track table holds 84 and 30 rows because measurements on the same filter timestep merge</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11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Klausner — The Synthetic Twin</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40</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E4   ·   </a:t>
            </a:r>
            <a:r>
              <a:rPr sz="1100" b="1">
                <a:solidFill>
                  <a:srgbClr val="1C7293"/>
                </a:solidFill>
                <a:latin typeface="Calibri"/>
              </a:rPr>
              <a:t>VALIDATING THE SIMULATOR AGAINST REALITY</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Beyond replaying the recording, we </a:t>
            </a:r>
            <a:r>
              <a:rPr sz="1050" b="1">
                <a:solidFill>
                  <a:srgbClr val="33424D"/>
                </a:solidFill>
                <a:latin typeface="Calibri"/>
              </a:rPr>
              <a:t>rebuilt the same event inside the simulator</a:t>
            </a:r>
            <a:r>
              <a:rPr sz="1050" b="0">
                <a:solidFill>
                  <a:srgbClr val="33424D"/>
                </a:solidFill>
                <a:latin typeface="Calibri"/>
              </a:rPr>
              <a:t> and matched it to the real data.</a:t>
            </a:r>
          </a:p>
          <a:p>
            <a:pPr marL="201168" indent="-201168">
              <a:spcAft>
                <a:spcPts val="600"/>
              </a:spcAft>
            </a:pPr>
            <a:r>
              <a:rPr sz="1050" b="1">
                <a:solidFill>
                  <a:srgbClr val="1C7293"/>
                </a:solidFill>
                <a:latin typeface="Calibri"/>
              </a:rPr>
              <a:t>▪   </a:t>
            </a:r>
            <a:r>
              <a:rPr sz="1050" b="0">
                <a:solidFill>
                  <a:srgbClr val="33424D"/>
                </a:solidFill>
                <a:latin typeface="Calibri"/>
              </a:rPr>
              <a:t>This is a stronger claim than “the code ran on real data”: it says the simulator </a:t>
            </a:r>
            <a:r>
              <a:rPr sz="1050" b="1">
                <a:solidFill>
                  <a:srgbClr val="33424D"/>
                </a:solidFill>
                <a:latin typeface="Calibri"/>
              </a:rPr>
              <a:t>reproduces the real measurement statistics</a:t>
            </a:r>
            <a:r>
              <a:rPr sz="1050" b="0">
                <a:solidFill>
                  <a:srgbClr val="33424D"/>
                </a:solidFill>
                <a:latin typeface="Calibri"/>
              </a:rPr>
              <a:t>.</a:t>
            </a:r>
          </a:p>
          <a:p>
            <a:pPr marL="201168" indent="-201168">
              <a:spcAft>
                <a:spcPts val="600"/>
              </a:spcAft>
            </a:pPr>
            <a:r>
              <a:rPr sz="1050" b="1">
                <a:solidFill>
                  <a:srgbClr val="1C7293"/>
                </a:solidFill>
                <a:latin typeface="Calibri"/>
              </a:rPr>
              <a:t>▪   </a:t>
            </a:r>
            <a:r>
              <a:rPr sz="1050" b="0">
                <a:solidFill>
                  <a:srgbClr val="33424D"/>
                </a:solidFill>
                <a:latin typeface="Calibri"/>
              </a:rPr>
              <a:t>It required a fiber-coupling calibration (</a:t>
            </a:r>
            <a:r>
              <a:rPr sz="1050" b="1">
                <a:solidFill>
                  <a:srgbClr val="33424D"/>
                </a:solidFill>
                <a:latin typeface="Calibri"/>
              </a:rPr>
              <a:t>c = 0.029</a:t>
            </a:r>
            <a:r>
              <a:rPr sz="1050" b="0">
                <a:solidFill>
                  <a:srgbClr val="33424D"/>
                </a:solidFill>
                <a:latin typeface="Calibri"/>
              </a:rPr>
              <a:t>), sensor rates matched to the recording (DAS 2.2 Hz, camera 1.3 Hz), and a zero-velocity update in the tracker.</a:t>
            </a:r>
          </a:p>
          <a:p>
            <a:pPr marL="201168" indent="-201168">
              <a:spcAft>
                <a:spcPts val="600"/>
              </a:spcAft>
            </a:pPr>
            <a:r>
              <a:rPr sz="1050" b="1">
                <a:solidFill>
                  <a:srgbClr val="1C7293"/>
                </a:solidFill>
                <a:latin typeface="Calibri"/>
              </a:rPr>
              <a:t>▪   </a:t>
            </a:r>
            <a:r>
              <a:rPr sz="1050" b="0">
                <a:solidFill>
                  <a:srgbClr val="33424D"/>
                </a:solidFill>
                <a:latin typeface="Calibri"/>
              </a:rPr>
              <a:t>Differences that remain are explained: the synthetic ticks faster, so it has more prediction-only rows; and with ZUPT it resolves the full 25.6 s stop as one clean event where the real trace fragmented it.</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synthetic twin  —  </a:t>
            </a:r>
            <a:r>
              <a:rPr sz="850">
                <a:solidFill>
                  <a:srgbClr val="33424D"/>
                </a:solidFill>
                <a:latin typeface="Calibri"/>
              </a:rPr>
              <a:t>the same real event rebuilt inside the simulator and matched to it</a:t>
            </a:r>
          </a:p>
          <a:p>
            <a:pPr marL="128016" indent="-128016">
              <a:spcAft>
                <a:spcPts val="200"/>
              </a:spcAft>
            </a:pPr>
            <a:r>
              <a:rPr sz="850" b="1">
                <a:solidFill>
                  <a:srgbClr val="1C7293"/>
                </a:solidFill>
                <a:latin typeface="Calibri"/>
              </a:rPr>
              <a:t>coupling calibration  —  </a:t>
            </a:r>
            <a:r>
              <a:rPr sz="850">
                <a:solidFill>
                  <a:srgbClr val="33424D"/>
                </a:solidFill>
                <a:latin typeface="Calibri"/>
              </a:rPr>
              <a:t>fitting k so simulated amplitude matches the real recording — c = 0.029</a:t>
            </a:r>
          </a:p>
          <a:p>
            <a:pPr marL="128016" indent="-128016">
              <a:spcAft>
                <a:spcPts val="200"/>
              </a:spcAft>
            </a:pPr>
            <a:r>
              <a:rPr sz="850" b="1">
                <a:solidFill>
                  <a:srgbClr val="1C7293"/>
                </a:solidFill>
                <a:latin typeface="Calibri"/>
              </a:rPr>
              <a:t>ZUPT  —  </a:t>
            </a:r>
            <a:r>
              <a:rPr sz="850">
                <a:solidFill>
                  <a:srgbClr val="33424D"/>
                </a:solidFill>
                <a:latin typeface="Calibri"/>
              </a:rPr>
              <a:t>zero-velocity update — telling the filter a stopped vehicle is genuinely stopped</a:t>
            </a:r>
          </a:p>
          <a:p>
            <a:pPr marL="128016" indent="-128016">
              <a:spcAft>
                <a:spcPts val="200"/>
              </a:spcAft>
            </a:pPr>
            <a:r>
              <a:rPr sz="850" b="1">
                <a:solidFill>
                  <a:srgbClr val="1C7293"/>
                </a:solidFill>
                <a:latin typeface="Calibri"/>
              </a:rPr>
              <a:t>weight class  —  </a:t>
            </a:r>
            <a:r>
              <a:rPr sz="850">
                <a:solidFill>
                  <a:srgbClr val="33424D"/>
                </a:solidFill>
                <a:latin typeface="Calibri"/>
              </a:rPr>
              <a:t>the vehicle category inferred from estimated weight</a:t>
            </a:r>
          </a:p>
        </p:txBody>
      </p:sp>
      <p:pic>
        <p:nvPicPr>
          <p:cNvPr id="12" name="Picture 11" descr="E4.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REAL vs SYNTHETIC</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DAS SNR (mean)  </a:t>
            </a:r>
            <a:r>
              <a:rPr sz="850" b="0">
                <a:solidFill>
                  <a:srgbClr val="33424D"/>
                </a:solidFill>
                <a:latin typeface="Calibri"/>
              </a:rPr>
              <a:t>6.94     →     6.96</a:t>
            </a:r>
          </a:p>
          <a:p>
            <a:pPr marL="128016" indent="-128016">
              <a:spcAft>
                <a:spcPts val="200"/>
              </a:spcAft>
            </a:pPr>
            <a:r>
              <a:rPr sz="850" b="1">
                <a:solidFill>
                  <a:srgbClr val="0B4F6C"/>
                </a:solidFill>
                <a:latin typeface="Calibri"/>
              </a:rPr>
              <a:t>DAS position σ  </a:t>
            </a:r>
            <a:r>
              <a:rPr sz="850" b="0">
                <a:solidFill>
                  <a:srgbClr val="33424D"/>
                </a:solidFill>
                <a:latin typeface="Calibri"/>
              </a:rPr>
              <a:t>0.85 m   →     0.76 m</a:t>
            </a:r>
          </a:p>
          <a:p>
            <a:pPr marL="128016" indent="-128016">
              <a:spcAft>
                <a:spcPts val="200"/>
              </a:spcAft>
            </a:pPr>
            <a:r>
              <a:rPr sz="850" b="1">
                <a:solidFill>
                  <a:srgbClr val="0B4F6C"/>
                </a:solidFill>
                <a:latin typeface="Calibri"/>
              </a:rPr>
              <a:t>Estimated weight  </a:t>
            </a:r>
            <a:r>
              <a:rPr sz="850" b="0">
                <a:solidFill>
                  <a:srgbClr val="33424D"/>
                </a:solidFill>
                <a:latin typeface="Calibri"/>
              </a:rPr>
              <a:t>347 kg   →     348 kg</a:t>
            </a:r>
          </a:p>
          <a:p>
            <a:pPr marL="128016" indent="-128016">
              <a:spcAft>
                <a:spcPts val="200"/>
              </a:spcAft>
            </a:pPr>
            <a:r>
              <a:rPr sz="850" b="1">
                <a:solidFill>
                  <a:srgbClr val="0B4F6C"/>
                </a:solidFill>
                <a:latin typeface="Calibri"/>
              </a:rPr>
              <a:t>Measurements  DAS / camera  </a:t>
            </a:r>
            <a:r>
              <a:rPr sz="850" b="0">
                <a:solidFill>
                  <a:srgbClr val="33424D"/>
                </a:solidFill>
                <a:latin typeface="Calibri"/>
              </a:rPr>
              <a:t>86 / 39  →     81 / 36</a:t>
            </a:r>
          </a:p>
          <a:p>
            <a:pPr marL="128016" indent="-128016">
              <a:spcAft>
                <a:spcPts val="200"/>
              </a:spcAft>
            </a:pPr>
            <a:r>
              <a:rPr sz="850" b="1">
                <a:solidFill>
                  <a:srgbClr val="0B4F6C"/>
                </a:solidFill>
                <a:latin typeface="Calibri"/>
              </a:rPr>
              <a:t>Fiber distance  </a:t>
            </a:r>
            <a:r>
              <a:rPr sz="850" b="0">
                <a:solidFill>
                  <a:srgbClr val="33424D"/>
                </a:solidFill>
                <a:latin typeface="Calibri"/>
              </a:rPr>
              <a:t>1.80 m   →     1.80 m</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11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Targets vs Achieved — Exact Definitions</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41</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E5   ·   </a:t>
            </a:r>
            <a:r>
              <a:rPr sz="1100" b="1">
                <a:solidFill>
                  <a:srgbClr val="1C7293"/>
                </a:solidFill>
                <a:latin typeface="Calibri"/>
              </a:rPr>
              <a:t>INCLUDING THE ONE WE DID NOT MEET</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Cross-street tracking ≥ 90%</a:t>
            </a:r>
            <a:r>
              <a:rPr sz="1050" b="0">
                <a:solidFill>
                  <a:srgbClr val="33424D"/>
                </a:solidFill>
                <a:latin typeface="Calibri"/>
              </a:rPr>
              <a:t> — read as the fraction of tracks maintained with correct identity across segment boundaries. Held on every evaluation run; positional accuracy is reported separately as 0.35 m mean RMSE.</a:t>
            </a:r>
          </a:p>
          <a:p>
            <a:pPr marL="201168" indent="-201168">
              <a:spcAft>
                <a:spcPts val="600"/>
              </a:spcAft>
            </a:pPr>
            <a:r>
              <a:rPr sz="1050" b="1">
                <a:solidFill>
                  <a:srgbClr val="1C7293"/>
                </a:solidFill>
                <a:latin typeface="Calibri"/>
              </a:rPr>
              <a:t>▪   </a:t>
            </a:r>
            <a:r>
              <a:rPr sz="1050" b="1">
                <a:solidFill>
                  <a:srgbClr val="33424D"/>
                </a:solidFill>
                <a:latin typeface="Calibri"/>
              </a:rPr>
              <a:t>Position / speed tolerance ≤ ±5 m</a:t>
            </a:r>
            <a:r>
              <a:rPr sz="1050" b="0">
                <a:solidFill>
                  <a:srgbClr val="33424D"/>
                </a:solidFill>
                <a:latin typeface="Calibri"/>
              </a:rPr>
              <a:t> — maximum instantaneous error 1.52 m.</a:t>
            </a:r>
          </a:p>
          <a:p>
            <a:pPr marL="201168" indent="-201168">
              <a:spcAft>
                <a:spcPts val="600"/>
              </a:spcAft>
            </a:pPr>
            <a:r>
              <a:rPr sz="1050" b="1">
                <a:solidFill>
                  <a:srgbClr val="1C7293"/>
                </a:solidFill>
                <a:latin typeface="Calibri"/>
              </a:rPr>
              <a:t>▪   </a:t>
            </a:r>
            <a:r>
              <a:rPr sz="1050" b="1">
                <a:solidFill>
                  <a:srgbClr val="33424D"/>
                </a:solidFill>
                <a:latin typeface="Calibri"/>
              </a:rPr>
              <a:t>Anomaly detection ≥ 5 / 10</a:t>
            </a:r>
            <a:r>
              <a:rPr sz="1050" b="0">
                <a:solidFill>
                  <a:srgbClr val="33424D"/>
                </a:solidFill>
                <a:latin typeface="Calibri"/>
              </a:rPr>
              <a:t> — 6 of 9 scenarios detected; the work plan was written for ten categories and nine scenarios were run.</a:t>
            </a:r>
          </a:p>
          <a:p>
            <a:pPr marL="201168" indent="-201168">
              <a:spcAft>
                <a:spcPts val="600"/>
              </a:spcAft>
            </a:pPr>
            <a:r>
              <a:rPr sz="1050" b="1">
                <a:solidFill>
                  <a:srgbClr val="1C7293"/>
                </a:solidFill>
                <a:latin typeface="Calibri"/>
              </a:rPr>
              <a:t>▪   </a:t>
            </a:r>
            <a:r>
              <a:rPr sz="1050" b="1">
                <a:solidFill>
                  <a:srgbClr val="33424D"/>
                </a:solidFill>
                <a:latin typeface="Calibri"/>
              </a:rPr>
              <a:t>Kalman fusion success ≥ 90%</a:t>
            </a:r>
            <a:r>
              <a:rPr sz="1050" b="0">
                <a:solidFill>
                  <a:srgbClr val="33424D"/>
                </a:solidFill>
                <a:latin typeface="Calibri"/>
              </a:rPr>
              <a:t> — all three modalities fused through identity-aware association.</a:t>
            </a:r>
          </a:p>
          <a:p>
            <a:pPr marL="201168" indent="-201168">
              <a:spcAft>
                <a:spcPts val="600"/>
              </a:spcAft>
            </a:pPr>
            <a:r>
              <a:rPr sz="1050" b="1">
                <a:solidFill>
                  <a:srgbClr val="1C7293"/>
                </a:solidFill>
                <a:latin typeface="Calibri"/>
              </a:rPr>
              <a:t>▪   </a:t>
            </a:r>
            <a:r>
              <a:rPr sz="1050" b="1">
                <a:solidFill>
                  <a:srgbClr val="33424D"/>
                </a:solidFill>
                <a:latin typeface="Calibri"/>
              </a:rPr>
              <a:t>Simultaneous vehicles ≤ 10, segments ≤ 5</a:t>
            </a:r>
            <a:r>
              <a:rPr sz="1050" b="0">
                <a:solidFill>
                  <a:srgbClr val="33424D"/>
                </a:solidFill>
                <a:latin typeface="Calibri"/>
              </a:rPr>
              <a:t> — run routinely.</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work plan  —  </a:t>
            </a:r>
            <a:r>
              <a:rPr sz="850">
                <a:solidFill>
                  <a:srgbClr val="33424D"/>
                </a:solidFill>
                <a:latin typeface="Calibri"/>
              </a:rPr>
              <a:t>the targets fixed at the start of the project</a:t>
            </a:r>
          </a:p>
          <a:p>
            <a:pPr marL="128016" indent="-128016">
              <a:spcAft>
                <a:spcPts val="200"/>
              </a:spcAft>
            </a:pPr>
            <a:r>
              <a:rPr sz="850" b="1">
                <a:solidFill>
                  <a:srgbClr val="1C7293"/>
                </a:solidFill>
                <a:latin typeface="Calibri"/>
              </a:rPr>
              <a:t>tolerance  —  </a:t>
            </a:r>
            <a:r>
              <a:rPr sz="850">
                <a:solidFill>
                  <a:srgbClr val="33424D"/>
                </a:solidFill>
                <a:latin typeface="Calibri"/>
              </a:rPr>
              <a:t>the allowed error band — ±5 m for position and speed</a:t>
            </a:r>
          </a:p>
          <a:p>
            <a:pPr marL="128016" indent="-128016">
              <a:spcAft>
                <a:spcPts val="200"/>
              </a:spcAft>
            </a:pPr>
            <a:r>
              <a:rPr sz="850" b="1">
                <a:solidFill>
                  <a:srgbClr val="1C7293"/>
                </a:solidFill>
                <a:latin typeface="Calibri"/>
              </a:rPr>
              <a:t>streaming configuration  —  </a:t>
            </a:r>
            <a:r>
              <a:rPr sz="850">
                <a:solidFill>
                  <a:srgbClr val="33424D"/>
                </a:solidFill>
                <a:latin typeface="Calibri"/>
              </a:rPr>
              <a:t>running the pipeline live rather than in offline batches</a:t>
            </a:r>
          </a:p>
          <a:p>
            <a:pPr marL="128016" indent="-128016">
              <a:spcAft>
                <a:spcPts val="200"/>
              </a:spcAft>
            </a:pPr>
            <a:r>
              <a:rPr sz="850" b="1">
                <a:solidFill>
                  <a:srgbClr val="1C7293"/>
                </a:solidFill>
                <a:latin typeface="Calibri"/>
              </a:rPr>
              <a:t>profiling  —  </a:t>
            </a:r>
            <a:r>
              <a:rPr sz="850">
                <a:solidFill>
                  <a:srgbClr val="33424D"/>
                </a:solidFill>
                <a:latin typeface="Calibri"/>
              </a:rPr>
              <a:t>measuring where time is spent under realistic load</a:t>
            </a:r>
          </a:p>
        </p:txBody>
      </p:sp>
      <p:pic>
        <p:nvPicPr>
          <p:cNvPr id="12" name="Picture 11" descr="E5.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THE ONE WE DID NOT MEET</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1">
                <a:solidFill>
                  <a:srgbClr val="33424D"/>
                </a:solidFill>
                <a:latin typeface="Calibri"/>
              </a:rPr>
              <a:t>End-to-end latency ≤ 60 s — not met.</a:t>
            </a:r>
            <a:r>
              <a:rPr sz="850" b="0">
                <a:solidFill>
                  <a:srgbClr val="33424D"/>
                </a:solidFill>
                <a:latin typeface="Calibri"/>
              </a:rPr>
              <a:t> Evaluation ran in an offline batch configuration built for algorithm development, not for streaming</a:t>
            </a:r>
          </a:p>
          <a:p>
            <a:pPr marL="128016" indent="-128016">
              <a:spcAft>
                <a:spcPts val="200"/>
              </a:spcAft>
            </a:pPr>
            <a:r>
              <a:rPr sz="850" b="1">
                <a:solidFill>
                  <a:srgbClr val="1C7293"/>
                </a:solidFill>
                <a:latin typeface="Calibri"/>
              </a:rPr>
              <a:t>–  </a:t>
            </a:r>
            <a:r>
              <a:rPr sz="850" b="0">
                <a:solidFill>
                  <a:srgbClr val="33424D"/>
                </a:solidFill>
                <a:latin typeface="Calibri"/>
              </a:rPr>
              <a:t>No latency measurement exists yet; profiling under load is the </a:t>
            </a:r>
            <a:r>
              <a:rPr sz="850" b="1">
                <a:solidFill>
                  <a:srgbClr val="33424D"/>
                </a:solidFill>
                <a:latin typeface="Calibri"/>
              </a:rPr>
              <a:t>first item</a:t>
            </a:r>
            <a:r>
              <a:rPr sz="850" b="0">
                <a:solidFill>
                  <a:srgbClr val="33424D"/>
                </a:solidFill>
                <a:latin typeface="Calibri"/>
              </a:rPr>
              <a:t> of the hardware agenda</a:t>
            </a:r>
          </a:p>
          <a:p>
            <a:pPr marL="128016" indent="-128016">
              <a:spcAft>
                <a:spcPts val="200"/>
              </a:spcAft>
            </a:pPr>
            <a:r>
              <a:rPr sz="850" b="1">
                <a:solidFill>
                  <a:srgbClr val="1C7293"/>
                </a:solidFill>
                <a:latin typeface="Calibri"/>
              </a:rPr>
              <a:t>–  </a:t>
            </a:r>
            <a:r>
              <a:rPr sz="850" b="0">
                <a:solidFill>
                  <a:srgbClr val="33424D"/>
                </a:solidFill>
                <a:latin typeface="Calibri"/>
              </a:rPr>
              <a:t>Say this before being asked. A target openly reported as unmet reads as rigour; the same target discovered by the examiner reads as a gap</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4</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What the AI Did — and What We Did</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42</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F1   ·   </a:t>
            </a:r>
            <a:r>
              <a:rPr sz="1100" b="1">
                <a:solidFill>
                  <a:srgbClr val="1C7293"/>
                </a:solidFill>
                <a:latin typeface="Calibri"/>
              </a:rPr>
              <a:t>ASKED IN EVERY DEFENSE THIS YEAR</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We designed:</a:t>
            </a:r>
            <a:r>
              <a:rPr sz="1050" b="0">
                <a:solidFill>
                  <a:srgbClr val="33424D"/>
                </a:solidFill>
                <a:latin typeface="Calibri"/>
              </a:rPr>
              <a:t> the physics chain, the system architecture, the fusion strategy, the feature taxonomy, and the validation protocol.</a:t>
            </a:r>
          </a:p>
          <a:p>
            <a:pPr marL="201168" indent="-201168">
              <a:spcAft>
                <a:spcPts val="600"/>
              </a:spcAft>
            </a:pPr>
            <a:r>
              <a:rPr sz="1050" b="1">
                <a:solidFill>
                  <a:srgbClr val="1C7293"/>
                </a:solidFill>
                <a:latin typeface="Calibri"/>
              </a:rPr>
              <a:t>▪   </a:t>
            </a:r>
            <a:r>
              <a:rPr sz="1050" b="1">
                <a:solidFill>
                  <a:srgbClr val="33424D"/>
                </a:solidFill>
                <a:latin typeface="Calibri"/>
              </a:rPr>
              <a:t>AI assisted with:</a:t>
            </a:r>
            <a:r>
              <a:rPr sz="1050" b="0">
                <a:solidFill>
                  <a:srgbClr val="33424D"/>
                </a:solidFill>
                <a:latin typeface="Calibri"/>
              </a:rPr>
              <a:t> boilerplate and refactors, export and report-generation code, documentation drafts, and the production of this presentation.</a:t>
            </a:r>
          </a:p>
          <a:p>
            <a:pPr marL="201168" indent="-201168">
              <a:spcAft>
                <a:spcPts val="600"/>
              </a:spcAft>
            </a:pPr>
            <a:r>
              <a:rPr sz="1050" b="1">
                <a:solidFill>
                  <a:srgbClr val="1C7293"/>
                </a:solidFill>
                <a:latin typeface="Calibri"/>
              </a:rPr>
              <a:t>▪   </a:t>
            </a:r>
            <a:r>
              <a:rPr sz="1050" b="1">
                <a:solidFill>
                  <a:srgbClr val="33424D"/>
                </a:solidFill>
                <a:latin typeface="Calibri"/>
              </a:rPr>
              <a:t>Every AI-drafted change had to pass the existing 134-test suite.</a:t>
            </a:r>
            <a:r>
              <a:rPr sz="1050" b="0">
                <a:solidFill>
                  <a:srgbClr val="33424D"/>
                </a:solidFill>
                <a:latin typeface="Calibri"/>
              </a:rPr>
              <a:t> Anything touching the physics or the filter was additionally checked against hand-derived expectations.</a:t>
            </a:r>
          </a:p>
          <a:p>
            <a:pPr marL="201168" indent="-201168">
              <a:spcAft>
                <a:spcPts val="600"/>
              </a:spcAft>
            </a:pPr>
            <a:r>
              <a:rPr sz="1050" b="1">
                <a:solidFill>
                  <a:srgbClr val="1C7293"/>
                </a:solidFill>
                <a:latin typeface="Calibri"/>
              </a:rPr>
              <a:t>▪   </a:t>
            </a:r>
            <a:r>
              <a:rPr sz="1050" b="0">
                <a:solidFill>
                  <a:srgbClr val="33424D"/>
                </a:solidFill>
                <a:latin typeface="Calibri"/>
              </a:rPr>
              <a:t>The ghost-track bug (C5) and the Klausner coupling calibration (E4) were found by us, by running the system — not by a model.</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boilerplate  —  </a:t>
            </a:r>
            <a:r>
              <a:rPr sz="850">
                <a:solidFill>
                  <a:srgbClr val="33424D"/>
                </a:solidFill>
                <a:latin typeface="Calibri"/>
              </a:rPr>
              <a:t>repetitive code with no design content</a:t>
            </a:r>
          </a:p>
          <a:p>
            <a:pPr marL="128016" indent="-128016">
              <a:spcAft>
                <a:spcPts val="200"/>
              </a:spcAft>
            </a:pPr>
            <a:r>
              <a:rPr sz="850" b="1">
                <a:solidFill>
                  <a:srgbClr val="1C7293"/>
                </a:solidFill>
                <a:latin typeface="Calibri"/>
              </a:rPr>
              <a:t>refactor  —  </a:t>
            </a:r>
            <a:r>
              <a:rPr sz="850">
                <a:solidFill>
                  <a:srgbClr val="33424D"/>
                </a:solidFill>
                <a:latin typeface="Calibri"/>
              </a:rPr>
              <a:t>restructuring code without changing what it does</a:t>
            </a:r>
          </a:p>
          <a:p>
            <a:pPr marL="128016" indent="-128016">
              <a:spcAft>
                <a:spcPts val="200"/>
              </a:spcAft>
            </a:pPr>
            <a:r>
              <a:rPr sz="850" b="1">
                <a:solidFill>
                  <a:srgbClr val="1C7293"/>
                </a:solidFill>
                <a:latin typeface="Calibri"/>
              </a:rPr>
              <a:t>hand-derived expectation  —  </a:t>
            </a:r>
            <a:r>
              <a:rPr sz="850">
                <a:solidFill>
                  <a:srgbClr val="33424D"/>
                </a:solidFill>
                <a:latin typeface="Calibri"/>
              </a:rPr>
              <a:t>a value computed on paper and checked against the code</a:t>
            </a:r>
          </a:p>
          <a:p>
            <a:pPr marL="128016" indent="-128016">
              <a:spcAft>
                <a:spcPts val="200"/>
              </a:spcAft>
            </a:pPr>
            <a:r>
              <a:rPr sz="850" b="1">
                <a:solidFill>
                  <a:srgbClr val="1C7293"/>
                </a:solidFill>
                <a:latin typeface="Calibri"/>
              </a:rPr>
              <a:t>test gate  —  </a:t>
            </a:r>
            <a:r>
              <a:rPr sz="850">
                <a:solidFill>
                  <a:srgbClr val="33424D"/>
                </a:solidFill>
                <a:latin typeface="Calibri"/>
              </a:rPr>
              <a:t>nothing merges unless the whole suite still passes</a:t>
            </a:r>
          </a:p>
        </p:txBody>
      </p:sp>
      <p:pic>
        <p:nvPicPr>
          <p:cNvPr id="12" name="Picture 11" descr="F1.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HOW WE VERIFIED AI OUTPUT</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The test suite as a hard gate — nothing merged that broke a boundary test</a:t>
            </a:r>
          </a:p>
          <a:p>
            <a:pPr marL="128016" indent="-128016">
              <a:spcAft>
                <a:spcPts val="200"/>
              </a:spcAft>
            </a:pPr>
            <a:r>
              <a:rPr sz="850" b="1">
                <a:solidFill>
                  <a:srgbClr val="1C7293"/>
                </a:solidFill>
                <a:latin typeface="Calibri"/>
              </a:rPr>
              <a:t>–  </a:t>
            </a:r>
            <a:r>
              <a:rPr sz="850" b="0">
                <a:solidFill>
                  <a:srgbClr val="33424D"/>
                </a:solidFill>
                <a:latin typeface="Calibri"/>
              </a:rPr>
              <a:t>Byte-identical regression on stored scenarios whenever a refactor touched the estimator</a:t>
            </a:r>
          </a:p>
          <a:p>
            <a:pPr marL="128016" indent="-128016">
              <a:spcAft>
                <a:spcPts val="200"/>
              </a:spcAft>
            </a:pPr>
            <a:r>
              <a:rPr sz="850" b="1">
                <a:solidFill>
                  <a:srgbClr val="1C7293"/>
                </a:solidFill>
                <a:latin typeface="Calibri"/>
              </a:rPr>
              <a:t>–  </a:t>
            </a:r>
            <a:r>
              <a:rPr sz="850" b="0">
                <a:solidFill>
                  <a:srgbClr val="33424D"/>
                </a:solidFill>
                <a:latin typeface="Calibri"/>
              </a:rPr>
              <a:t>Physical sanity checks from the validation protocol: </a:t>
            </a:r>
            <a:r>
              <a:rPr sz="850" b="1">
                <a:solidFill>
                  <a:srgbClr val="33424D"/>
                </a:solidFill>
                <a:latin typeface="Calibri"/>
              </a:rPr>
              <a:t>slope = speed</a:t>
            </a:r>
            <a:r>
              <a:rPr sz="850" b="0">
                <a:solidFill>
                  <a:srgbClr val="33424D"/>
                </a:solidFill>
                <a:latin typeface="Calibri"/>
              </a:rPr>
              <a:t>, </a:t>
            </a:r>
            <a:r>
              <a:rPr sz="850" b="1">
                <a:solidFill>
                  <a:srgbClr val="33424D"/>
                </a:solidFill>
                <a:latin typeface="Calibri"/>
              </a:rPr>
              <a:t>A_peak = W/(r+d₀)²</a:t>
            </a:r>
          </a:p>
          <a:p>
            <a:pPr marL="128016" indent="-128016">
              <a:spcAft>
                <a:spcPts val="200"/>
              </a:spcAft>
            </a:pPr>
            <a:r>
              <a:rPr sz="850" b="1">
                <a:solidFill>
                  <a:srgbClr val="1C7293"/>
                </a:solidFill>
                <a:latin typeface="Calibri"/>
              </a:rPr>
              <a:t>–  </a:t>
            </a:r>
            <a:r>
              <a:rPr sz="850" b="0">
                <a:solidFill>
                  <a:srgbClr val="33424D"/>
                </a:solidFill>
                <a:latin typeface="Calibri"/>
              </a:rPr>
              <a:t>There is nothing in the report we cannot reproduce from the code and explain line by line</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12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Division of Work</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43</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F2   ·   </a:t>
            </a:r>
            <a:r>
              <a:rPr sz="1100" b="1">
                <a:solidFill>
                  <a:srgbClr val="1C7293"/>
                </a:solidFill>
                <a:latin typeface="Calibri"/>
              </a:rPr>
              <a:t>HOW TWO PEOPLE BUILT ONE PIPELINE</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1">
                <a:solidFill>
                  <a:srgbClr val="33424D"/>
                </a:solidFill>
                <a:latin typeface="Calibri"/>
              </a:rPr>
              <a:t>Noa</a:t>
            </a:r>
            <a:r>
              <a:rPr sz="1050" b="0">
                <a:solidFill>
                  <a:srgbClr val="33424D"/>
                </a:solidFill>
                <a:latin typeface="Calibri"/>
              </a:rPr>
              <a:t> — DAS physics and theoretical background, the anomaly model and feature engineering, results analysis, and the Klausner experiment.</a:t>
            </a:r>
          </a:p>
          <a:p>
            <a:pPr marL="201168" indent="-201168">
              <a:spcAft>
                <a:spcPts val="600"/>
              </a:spcAft>
            </a:pPr>
            <a:r>
              <a:rPr sz="1050" b="1">
                <a:solidFill>
                  <a:srgbClr val="1C7293"/>
                </a:solidFill>
                <a:latin typeface="Calibri"/>
              </a:rPr>
              <a:t>▪   </a:t>
            </a:r>
            <a:r>
              <a:rPr sz="1050" b="1">
                <a:solidFill>
                  <a:srgbClr val="33424D"/>
                </a:solidFill>
                <a:latin typeface="Calibri"/>
              </a:rPr>
              <a:t>Nitai</a:t>
            </a:r>
            <a:r>
              <a:rPr sz="1050" b="0">
                <a:solidFill>
                  <a:srgbClr val="33424D"/>
                </a:solidFill>
                <a:latin typeface="Calibri"/>
              </a:rPr>
              <a:t> — system architecture, the event bus, the tracker and Kalman fusion, the export and audit pipeline, and the desktop editor.</a:t>
            </a:r>
          </a:p>
          <a:p>
            <a:pPr marL="201168" indent="-201168">
              <a:spcAft>
                <a:spcPts val="600"/>
              </a:spcAft>
            </a:pPr>
            <a:r>
              <a:rPr sz="1050" b="1">
                <a:solidFill>
                  <a:srgbClr val="1C7293"/>
                </a:solidFill>
                <a:latin typeface="Calibri"/>
              </a:rPr>
              <a:t>▪   </a:t>
            </a:r>
            <a:r>
              <a:rPr sz="1050" b="1">
                <a:solidFill>
                  <a:srgbClr val="33424D"/>
                </a:solidFill>
                <a:latin typeface="Calibri"/>
              </a:rPr>
              <a:t>Shared</a:t>
            </a:r>
            <a:r>
              <a:rPr sz="1050" b="0">
                <a:solidFill>
                  <a:srgbClr val="33424D"/>
                </a:solidFill>
                <a:latin typeface="Calibri"/>
              </a:rPr>
              <a:t> — scenario design, the validation protocol, the report, and the ≈150-scenario batch campaign.</a:t>
            </a:r>
          </a:p>
          <a:p>
            <a:pPr marL="201168" indent="-201168">
              <a:spcAft>
                <a:spcPts val="600"/>
              </a:spcAft>
            </a:pPr>
            <a:r>
              <a:rPr sz="1050" b="1">
                <a:solidFill>
                  <a:srgbClr val="1C7293"/>
                </a:solidFill>
                <a:latin typeface="Calibri"/>
              </a:rPr>
              <a:t>▪   </a:t>
            </a:r>
            <a:r>
              <a:rPr sz="1050" b="1">
                <a:solidFill>
                  <a:srgbClr val="33424D"/>
                </a:solidFill>
                <a:latin typeface="Calibri"/>
              </a:rPr>
              <a:t>Working method:</a:t>
            </a:r>
            <a:r>
              <a:rPr sz="1050" b="0">
                <a:solidFill>
                  <a:srgbClr val="33424D"/>
                </a:solidFill>
                <a:latin typeface="Calibri"/>
              </a:rPr>
              <a:t> one owner per module, with the test suite acting as the contract between them. That is why a change on either side could not silently break the other.</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module ownership  —  </a:t>
            </a:r>
            <a:r>
              <a:rPr sz="850">
                <a:solidFill>
                  <a:srgbClr val="33424D"/>
                </a:solidFill>
                <a:latin typeface="Calibri"/>
              </a:rPr>
              <a:t>one person responsible for each component</a:t>
            </a:r>
          </a:p>
          <a:p>
            <a:pPr marL="128016" indent="-128016">
              <a:spcAft>
                <a:spcPts val="200"/>
              </a:spcAft>
            </a:pPr>
            <a:r>
              <a:rPr sz="850" b="1">
                <a:solidFill>
                  <a:srgbClr val="1C7293"/>
                </a:solidFill>
                <a:latin typeface="Calibri"/>
              </a:rPr>
              <a:t>interface  —  </a:t>
            </a:r>
            <a:r>
              <a:rPr sz="850">
                <a:solidFill>
                  <a:srgbClr val="33424D"/>
                </a:solidFill>
                <a:latin typeface="Calibri"/>
              </a:rPr>
              <a:t>the exported files — the only thing the two halves share</a:t>
            </a:r>
          </a:p>
          <a:p>
            <a:pPr marL="128016" indent="-128016">
              <a:spcAft>
                <a:spcPts val="200"/>
              </a:spcAft>
            </a:pPr>
            <a:r>
              <a:rPr sz="850" b="1">
                <a:solidFill>
                  <a:srgbClr val="1C7293"/>
                </a:solidFill>
                <a:latin typeface="Calibri"/>
              </a:rPr>
              <a:t>parallel development  —  </a:t>
            </a:r>
            <a:r>
              <a:rPr sz="850">
                <a:solidFill>
                  <a:srgbClr val="33424D"/>
                </a:solidFill>
                <a:latin typeface="Calibri"/>
              </a:rPr>
              <a:t>both sides progressing without waiting on each other</a:t>
            </a:r>
          </a:p>
          <a:p>
            <a:pPr marL="128016" indent="-128016">
              <a:spcAft>
                <a:spcPts val="200"/>
              </a:spcAft>
            </a:pPr>
            <a:r>
              <a:rPr sz="850" b="1">
                <a:solidFill>
                  <a:srgbClr val="1C7293"/>
                </a:solidFill>
                <a:latin typeface="Calibri"/>
              </a:rPr>
              <a:t>contract  —  </a:t>
            </a:r>
            <a:r>
              <a:rPr sz="850">
                <a:solidFill>
                  <a:srgbClr val="33424D"/>
                </a:solidFill>
                <a:latin typeface="Calibri"/>
              </a:rPr>
              <a:t>the tests that define what each side may rely on</a:t>
            </a:r>
          </a:p>
        </p:txBody>
      </p:sp>
      <p:pic>
        <p:nvPicPr>
          <p:cNvPr id="12" name="Picture 11" descr="F2.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WHERE THE SEAM WAS</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  </a:t>
            </a:r>
            <a:r>
              <a:rPr sz="850" b="0">
                <a:solidFill>
                  <a:srgbClr val="33424D"/>
                </a:solidFill>
                <a:latin typeface="Calibri"/>
              </a:rPr>
              <a:t>The exported files are the interface: Nitai's pipeline writes them, Noa's analytics reads them</a:t>
            </a:r>
          </a:p>
          <a:p>
            <a:pPr marL="128016" indent="-128016">
              <a:spcAft>
                <a:spcPts val="200"/>
              </a:spcAft>
            </a:pPr>
            <a:r>
              <a:rPr sz="850" b="1">
                <a:solidFill>
                  <a:srgbClr val="1C7293"/>
                </a:solidFill>
                <a:latin typeface="Calibri"/>
              </a:rPr>
              <a:t>–  </a:t>
            </a:r>
            <a:r>
              <a:rPr sz="850" b="0">
                <a:solidFill>
                  <a:srgbClr val="33424D"/>
                </a:solidFill>
                <a:latin typeface="Calibri"/>
              </a:rPr>
              <a:t>Because the analytics layer never imports the simulator, the two halves could be developed </a:t>
            </a:r>
            <a:r>
              <a:rPr sz="850" b="1">
                <a:solidFill>
                  <a:srgbClr val="33424D"/>
                </a:solidFill>
                <a:latin typeface="Calibri"/>
              </a:rPr>
              <a:t>and tested</a:t>
            </a:r>
            <a:r>
              <a:rPr sz="850" b="0">
                <a:solidFill>
                  <a:srgbClr val="33424D"/>
                </a:solidFill>
                <a:latin typeface="Calibri"/>
              </a:rPr>
              <a:t> in parallel</a:t>
            </a:r>
          </a:p>
          <a:p>
            <a:pPr marL="128016" indent="-128016">
              <a:spcAft>
                <a:spcPts val="200"/>
              </a:spcAft>
            </a:pPr>
            <a:r>
              <a:rPr sz="850" b="1">
                <a:solidFill>
                  <a:srgbClr val="1C7293"/>
                </a:solidFill>
                <a:latin typeface="Calibri"/>
              </a:rPr>
              <a:t>–  </a:t>
            </a:r>
            <a:r>
              <a:rPr sz="850" b="0">
                <a:solidFill>
                  <a:srgbClr val="33424D"/>
                </a:solidFill>
                <a:latin typeface="Calibri"/>
              </a:rPr>
              <a:t>The ghost-track bug was found on the analytics side and fixed on the tracking side — the clearest example of the seam working</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12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spAutoFit/>
          </a:bodyPr>
          <a:lstStyle/>
          <a:p>
            <a:pPr algn="ctr"/>
            <a:r>
              <a:rPr sz="2100" b="1">
                <a:solidFill>
                  <a:srgbClr val="0B4F6C"/>
                </a:solidFill>
                <a:latin typeface="Cambria"/>
              </a:rPr>
              <a:t>Alternatives Considered and Rejected</a:t>
            </a:r>
          </a:p>
        </p:txBody>
      </p:sp>
      <p:sp>
        <p:nvSpPr>
          <p:cNvPr id="5" name="TextBox 4"/>
          <p:cNvSpPr txBox="1"/>
          <p:nvPr/>
        </p:nvSpPr>
        <p:spPr>
          <a:xfrm>
            <a:off x="320040" y="6455664"/>
            <a:ext cx="5486400" cy="274320"/>
          </a:xfrm>
          <a:prstGeom prst="rect">
            <a:avLst/>
          </a:prstGeom>
          <a:noFill/>
        </p:spPr>
        <p:txBody>
          <a:bodyPr wrap="square" lIns="0" tIns="0" rIns="0" bIns="0">
            <a:spAutoFit/>
          </a:bodyPr>
          <a:lstStyle/>
          <a:p>
            <a:r>
              <a:rPr sz="900">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spAutoFit/>
          </a:bodyPr>
          <a:lstStyle/>
          <a:p>
            <a:pPr algn="r"/>
            <a:r>
              <a:rPr sz="1000">
                <a:solidFill>
                  <a:srgbClr val="6B7A85"/>
                </a:solidFill>
                <a:latin typeface="Calibri"/>
              </a:rPr>
              <a:t>44</a:t>
            </a:r>
          </a:p>
        </p:txBody>
      </p:sp>
      <p:sp>
        <p:nvSpPr>
          <p:cNvPr id="7" name="TextBox 6"/>
          <p:cNvSpPr txBox="1"/>
          <p:nvPr/>
        </p:nvSpPr>
        <p:spPr>
          <a:xfrm>
            <a:off x="603504" y="932688"/>
            <a:ext cx="10881360" cy="256032"/>
          </a:xfrm>
          <a:prstGeom prst="rect">
            <a:avLst/>
          </a:prstGeom>
          <a:noFill/>
        </p:spPr>
        <p:txBody>
          <a:bodyPr wrap="square" lIns="0" tIns="0" rIns="0" bIns="0">
            <a:spAutoFit/>
          </a:bodyPr>
          <a:lstStyle/>
          <a:p>
            <a:r>
              <a:rPr sz="1100" b="1">
                <a:solidFill>
                  <a:srgbClr val="0B4F6C"/>
                </a:solidFill>
                <a:latin typeface="Calibri"/>
              </a:rPr>
              <a:t>F3   ·   </a:t>
            </a:r>
            <a:r>
              <a:rPr sz="1100" b="1">
                <a:solidFill>
                  <a:srgbClr val="1C7293"/>
                </a:solidFill>
                <a:latin typeface="Calibri"/>
              </a:rPr>
              <a:t>EVERY CHOICE HAD A RUNNER-UP</a:t>
            </a:r>
          </a:p>
        </p:txBody>
      </p:sp>
      <p:sp>
        <p:nvSpPr>
          <p:cNvPr id="8" name="TextBox 7"/>
          <p:cNvSpPr txBox="1"/>
          <p:nvPr/>
        </p:nvSpPr>
        <p:spPr>
          <a:xfrm>
            <a:off x="603504" y="1353312"/>
            <a:ext cx="5358384" cy="2788920"/>
          </a:xfrm>
          <a:prstGeom prst="rect">
            <a:avLst/>
          </a:prstGeom>
          <a:noFill/>
        </p:spPr>
        <p:txBody>
          <a:bodyPr wrap="square" lIns="0" tIns="0" rIns="0" bIns="0">
            <a:spAutoFit/>
          </a:bodyPr>
          <a:lstStyle/>
          <a:p>
            <a:pPr marL="201168" indent="-201168">
              <a:spcAft>
                <a:spcPts val="600"/>
              </a:spcAft>
            </a:pPr>
            <a:r>
              <a:rPr sz="1050" b="1">
                <a:solidFill>
                  <a:srgbClr val="1C7293"/>
                </a:solidFill>
                <a:latin typeface="Calibri"/>
              </a:rPr>
              <a:t>▪   </a:t>
            </a:r>
            <a:r>
              <a:rPr sz="1050" b="0">
                <a:solidFill>
                  <a:srgbClr val="33424D"/>
                </a:solidFill>
                <a:latin typeface="Calibri"/>
              </a:rPr>
              <a:t>The design is a set of decisions, not defaults. Each row below was evaluated before the final architecture was fixed.</a:t>
            </a:r>
          </a:p>
          <a:p>
            <a:pPr marL="201168" indent="-201168">
              <a:spcAft>
                <a:spcPts val="600"/>
              </a:spcAft>
            </a:pPr>
            <a:r>
              <a:rPr sz="1050" b="1">
                <a:solidFill>
                  <a:srgbClr val="1C7293"/>
                </a:solidFill>
                <a:latin typeface="Calibri"/>
              </a:rPr>
              <a:t>▪   </a:t>
            </a:r>
            <a:r>
              <a:rPr sz="1050" b="0">
                <a:solidFill>
                  <a:srgbClr val="33424D"/>
                </a:solidFill>
                <a:latin typeface="Calibri"/>
              </a:rPr>
              <a:t>Two of them — Isolation Forest and a supervised Random Forest — were </a:t>
            </a:r>
            <a:r>
              <a:rPr sz="1050" b="1">
                <a:solidFill>
                  <a:srgbClr val="33424D"/>
                </a:solidFill>
                <a:latin typeface="Calibri"/>
              </a:rPr>
              <a:t>actually trained</a:t>
            </a:r>
            <a:r>
              <a:rPr sz="1050" b="0">
                <a:solidFill>
                  <a:srgbClr val="33424D"/>
                </a:solidFill>
                <a:latin typeface="Calibri"/>
              </a:rPr>
              <a:t>, not merely considered.</a:t>
            </a:r>
          </a:p>
        </p:txBody>
      </p:sp>
      <p:sp>
        <p:nvSpPr>
          <p:cNvPr id="9" name="Rounded Rectangle 8"/>
          <p:cNvSpPr/>
          <p:nvPr/>
        </p:nvSpPr>
        <p:spPr>
          <a:xfrm>
            <a:off x="603504" y="4224528"/>
            <a:ext cx="5358384" cy="13167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4370832"/>
            <a:ext cx="4956048" cy="219456"/>
          </a:xfrm>
          <a:prstGeom prst="rect">
            <a:avLst/>
          </a:prstGeom>
          <a:noFill/>
        </p:spPr>
        <p:txBody>
          <a:bodyPr wrap="square" lIns="0" tIns="0" rIns="0" bIns="0">
            <a:spAutoFit/>
          </a:bodyPr>
          <a:lstStyle/>
          <a:p>
            <a:r>
              <a:rPr sz="900" b="1">
                <a:solidFill>
                  <a:srgbClr val="0B4F6C"/>
                </a:solidFill>
                <a:latin typeface="Calibri"/>
              </a:rPr>
              <a:t>KEY TERMS</a:t>
            </a:r>
          </a:p>
        </p:txBody>
      </p:sp>
      <p:sp>
        <p:nvSpPr>
          <p:cNvPr id="11" name="TextBox 10"/>
          <p:cNvSpPr txBox="1"/>
          <p:nvPr/>
        </p:nvSpPr>
        <p:spPr>
          <a:xfrm>
            <a:off x="804672" y="4617720"/>
            <a:ext cx="4956048" cy="868680"/>
          </a:xfrm>
          <a:prstGeom prst="rect">
            <a:avLst/>
          </a:prstGeom>
          <a:noFill/>
        </p:spPr>
        <p:txBody>
          <a:bodyPr wrap="square" lIns="0" tIns="0" rIns="0" bIns="0">
            <a:spAutoFit/>
          </a:bodyPr>
          <a:lstStyle/>
          <a:p>
            <a:pPr marL="128016" indent="-128016">
              <a:spcAft>
                <a:spcPts val="200"/>
              </a:spcAft>
            </a:pPr>
            <a:r>
              <a:rPr sz="850" b="1">
                <a:solidFill>
                  <a:srgbClr val="1C7293"/>
                </a:solidFill>
                <a:latin typeface="Calibri"/>
              </a:rPr>
              <a:t>EKF / UKF  —  </a:t>
            </a:r>
            <a:r>
              <a:rPr sz="850">
                <a:solidFill>
                  <a:srgbClr val="33424D"/>
                </a:solidFill>
                <a:latin typeface="Calibri"/>
              </a:rPr>
              <a:t>Kalman variants for non-linear systems — unnecessary for a linear model</a:t>
            </a:r>
          </a:p>
          <a:p>
            <a:pPr marL="128016" indent="-128016">
              <a:spcAft>
                <a:spcPts val="200"/>
              </a:spcAft>
            </a:pPr>
            <a:r>
              <a:rPr sz="850" b="1">
                <a:solidFill>
                  <a:srgbClr val="1C7293"/>
                </a:solidFill>
                <a:latin typeface="Calibri"/>
              </a:rPr>
              <a:t>JPDA / MHT  —  </a:t>
            </a:r>
            <a:r>
              <a:rPr sz="850">
                <a:solidFill>
                  <a:srgbClr val="33424D"/>
                </a:solidFill>
                <a:latin typeface="Calibri"/>
              </a:rPr>
              <a:t>association methods that keep multiple hypotheses alive in dense traffic</a:t>
            </a:r>
          </a:p>
          <a:p>
            <a:pPr marL="128016" indent="-128016">
              <a:spcAft>
                <a:spcPts val="200"/>
              </a:spcAft>
            </a:pPr>
            <a:r>
              <a:rPr sz="850" b="1">
                <a:solidFill>
                  <a:srgbClr val="1C7293"/>
                </a:solidFill>
                <a:latin typeface="Calibri"/>
              </a:rPr>
              <a:t>Isolation Forest  —  </a:t>
            </a:r>
            <a:r>
              <a:rPr sz="850">
                <a:solidFill>
                  <a:srgbClr val="33424D"/>
                </a:solidFill>
                <a:latin typeface="Calibri"/>
              </a:rPr>
              <a:t>an unsupervised detector that scores but cannot name a cause</a:t>
            </a:r>
          </a:p>
          <a:p>
            <a:pPr marL="128016" indent="-128016">
              <a:spcAft>
                <a:spcPts val="200"/>
              </a:spcAft>
            </a:pPr>
            <a:r>
              <a:rPr sz="850" b="1">
                <a:solidFill>
                  <a:srgbClr val="1C7293"/>
                </a:solidFill>
                <a:latin typeface="Calibri"/>
              </a:rPr>
              <a:t>overfitting  —  </a:t>
            </a:r>
            <a:r>
              <a:rPr sz="850">
                <a:solidFill>
                  <a:srgbClr val="33424D"/>
                </a:solidFill>
                <a:latin typeface="Calibri"/>
              </a:rPr>
              <a:t>a model that memorises its training set — AUC 1.0 on 36 positives</a:t>
            </a:r>
          </a:p>
        </p:txBody>
      </p:sp>
      <p:pic>
        <p:nvPicPr>
          <p:cNvPr id="12" name="Picture 11" descr="F3.png"/>
          <p:cNvPicPr>
            <a:picLocks noChangeAspect="1"/>
          </p:cNvPicPr>
          <p:nvPr/>
        </p:nvPicPr>
        <p:blipFill>
          <a:blip r:embed="rId5"/>
          <a:stretch>
            <a:fillRect/>
          </a:stretch>
        </p:blipFill>
        <p:spPr>
          <a:xfrm>
            <a:off x="6163056" y="1316736"/>
            <a:ext cx="5413248" cy="2432304"/>
          </a:xfrm>
          <a:prstGeom prst="rect">
            <a:avLst/>
          </a:prstGeom>
        </p:spPr>
      </p:pic>
      <p:sp>
        <p:nvSpPr>
          <p:cNvPr id="13" name="Rounded Rectangle 12"/>
          <p:cNvSpPr/>
          <p:nvPr/>
        </p:nvSpPr>
        <p:spPr>
          <a:xfrm>
            <a:off x="6163056" y="3858768"/>
            <a:ext cx="5413248" cy="168249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005072"/>
            <a:ext cx="5010912" cy="219456"/>
          </a:xfrm>
          <a:prstGeom prst="rect">
            <a:avLst/>
          </a:prstGeom>
          <a:noFill/>
        </p:spPr>
        <p:txBody>
          <a:bodyPr wrap="square" lIns="0" tIns="0" rIns="0" bIns="0">
            <a:spAutoFit/>
          </a:bodyPr>
          <a:lstStyle/>
          <a:p>
            <a:r>
              <a:rPr sz="900" b="1">
                <a:solidFill>
                  <a:srgbClr val="0B4F6C"/>
                </a:solidFill>
                <a:latin typeface="Calibri"/>
              </a:rPr>
              <a:t>WHY NOT</a:t>
            </a:r>
          </a:p>
        </p:txBody>
      </p:sp>
      <p:sp>
        <p:nvSpPr>
          <p:cNvPr id="15" name="TextBox 14"/>
          <p:cNvSpPr txBox="1"/>
          <p:nvPr/>
        </p:nvSpPr>
        <p:spPr>
          <a:xfrm>
            <a:off x="6364224" y="4261104"/>
            <a:ext cx="5010912" cy="1225296"/>
          </a:xfrm>
          <a:prstGeom prst="rect">
            <a:avLst/>
          </a:prstGeom>
          <a:noFill/>
        </p:spPr>
        <p:txBody>
          <a:bodyPr wrap="square" lIns="0" tIns="0" rIns="0" bIns="0">
            <a:spAutoFit/>
          </a:bodyPr>
          <a:lstStyle/>
          <a:p>
            <a:pPr marL="128016" indent="-128016">
              <a:spcAft>
                <a:spcPts val="200"/>
              </a:spcAft>
            </a:pPr>
            <a:r>
              <a:rPr sz="850" b="1">
                <a:solidFill>
                  <a:srgbClr val="0B4F6C"/>
                </a:solidFill>
                <a:latin typeface="Calibri"/>
              </a:rPr>
              <a:t>EKF / UKF / particle filter  </a:t>
            </a:r>
            <a:r>
              <a:rPr sz="850" b="0">
                <a:solidFill>
                  <a:srgbClr val="33424D"/>
                </a:solidFill>
                <a:latin typeface="Calibri"/>
              </a:rPr>
              <a:t>motion and measurements adequately linear; noise near-Gaussian</a:t>
            </a:r>
          </a:p>
          <a:p>
            <a:pPr marL="128016" indent="-128016">
              <a:spcAft>
                <a:spcPts val="200"/>
              </a:spcAft>
            </a:pPr>
            <a:r>
              <a:rPr sz="850" b="1">
                <a:solidFill>
                  <a:srgbClr val="0B4F6C"/>
                </a:solidFill>
                <a:latin typeface="Calibri"/>
              </a:rPr>
              <a:t>JPDA / MHT  </a:t>
            </a:r>
            <a:r>
              <a:rPr sz="850" b="0">
                <a:solidFill>
                  <a:srgbClr val="33424D"/>
                </a:solidFill>
                <a:latin typeface="Calibri"/>
              </a:rPr>
              <a:t>valuable in dense traffic; NN + M-of-N sufficient and easier to verify</a:t>
            </a:r>
          </a:p>
          <a:p>
            <a:pPr marL="128016" indent="-128016">
              <a:spcAft>
                <a:spcPts val="200"/>
              </a:spcAft>
            </a:pPr>
            <a:r>
              <a:rPr sz="850" b="1">
                <a:solidFill>
                  <a:srgbClr val="0B4F6C"/>
                </a:solidFill>
                <a:latin typeface="Calibri"/>
              </a:rPr>
              <a:t>Isolation Forest  </a:t>
            </a:r>
            <a:r>
              <a:rPr sz="850" b="0">
                <a:solidFill>
                  <a:srgbClr val="33424D"/>
                </a:solidFill>
                <a:latin typeface="Calibri"/>
              </a:rPr>
              <a:t>trained and evaluated — scores well but cannot name the feature that drove a flag</a:t>
            </a:r>
          </a:p>
          <a:p>
            <a:pPr marL="128016" indent="-128016">
              <a:spcAft>
                <a:spcPts val="200"/>
              </a:spcAft>
            </a:pPr>
            <a:r>
              <a:rPr sz="850" b="1">
                <a:solidFill>
                  <a:srgbClr val="0B4F6C"/>
                </a:solidFill>
                <a:latin typeface="Calibri"/>
              </a:rPr>
              <a:t>Random Forest (supervised)  </a:t>
            </a:r>
            <a:r>
              <a:rPr sz="850" b="0">
                <a:solidFill>
                  <a:srgbClr val="33424D"/>
                </a:solidFill>
                <a:latin typeface="Calibri"/>
              </a:rPr>
              <a:t>trained; in-sample AUC 1.0 on 36 positives — a textbook overfit, so not reported</a:t>
            </a:r>
          </a:p>
          <a:p>
            <a:pPr marL="128016" indent="-128016">
              <a:spcAft>
                <a:spcPts val="200"/>
              </a:spcAft>
            </a:pPr>
            <a:r>
              <a:rPr sz="850" b="1">
                <a:solidFill>
                  <a:srgbClr val="0B4F6C"/>
                </a:solidFill>
                <a:latin typeface="Calibri"/>
              </a:rPr>
              <a:t>Deep learning on raw waterfalls  </a:t>
            </a:r>
            <a:r>
              <a:rPr sz="850" b="0">
                <a:solidFill>
                  <a:srgbClr val="33424D"/>
                </a:solidFill>
                <a:latin typeface="Calibri"/>
              </a:rPr>
              <a:t>needs large labelled real data; sacrifices interpretability</a:t>
            </a:r>
          </a:p>
          <a:p>
            <a:pPr marL="128016" indent="-128016">
              <a:spcAft>
                <a:spcPts val="200"/>
              </a:spcAft>
            </a:pPr>
            <a:r>
              <a:rPr sz="850" b="1">
                <a:solidFill>
                  <a:srgbClr val="0B4F6C"/>
                </a:solidFill>
                <a:latin typeface="Calibri"/>
              </a:rPr>
              <a:t>Rule-based thresholds  </a:t>
            </a:r>
            <a:r>
              <a:rPr sz="850" b="0">
                <a:solidFill>
                  <a:srgbClr val="33424D"/>
                </a:solidFill>
                <a:latin typeface="Calibri"/>
              </a:rPr>
              <a:t>generalise poorly across traffic densities and sensor layouts</a:t>
            </a:r>
          </a:p>
        </p:txBody>
      </p:sp>
      <p:sp>
        <p:nvSpPr>
          <p:cNvPr id="16" name="Rounded Rectangle 15">
            <a:hlinkClick r:id="rId6" action="ppaction://hlinksldjump"/>
          </p:cNvPr>
          <p:cNvSpPr/>
          <p:nvPr/>
        </p:nvSpPr>
        <p:spPr>
          <a:xfrm>
            <a:off x="8613648"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INDEX</a:t>
            </a:r>
          </a:p>
        </p:txBody>
      </p:sp>
      <p:sp>
        <p:nvSpPr>
          <p:cNvPr id="17" name="Rounded Rectangle 16">
            <a:hlinkClick r:id="rId7" action="ppaction://hlinksldjump"/>
          </p:cNvPr>
          <p:cNvSpPr/>
          <p:nvPr/>
        </p:nvSpPr>
        <p:spPr>
          <a:xfrm>
            <a:off x="10094976" y="5669280"/>
            <a:ext cx="1481328" cy="329184"/>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a:solidFill>
                  <a:srgbClr val="FFFFFF"/>
                </a:solidFill>
                <a:latin typeface="Calibri"/>
              </a:rPr>
              <a:t>◀  SLIDE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1459</TotalTime>
  <Words>15048</Words>
  <Application>Microsoft Macintosh PowerPoint</Application>
  <PresentationFormat>Widescreen</PresentationFormat>
  <Paragraphs>1295</Paragraphs>
  <Slides>44</Slides>
  <Notes>43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Calibri</vt:lpstr>
      <vt:lpstr>Cambria</vt:lpstr>
      <vt:lpstr>Cambria Math</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Noa Sapir</cp:lastModifiedBy>
  <cp:revision>13</cp:revision>
  <dcterms:created xsi:type="dcterms:W3CDTF">2013-01-27T09:14:16Z</dcterms:created>
  <dcterms:modified xsi:type="dcterms:W3CDTF">2026-09-09T11:29:20Z</dcterms:modified>
  <cp:category/>
</cp:coreProperties>
</file>