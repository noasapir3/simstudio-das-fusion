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65" r:id="rId3"/>
    <p:sldId id="257" r:id="rId4"/>
    <p:sldId id="276" r:id="rId5"/>
    <p:sldId id="267" r:id="rId6"/>
    <p:sldId id="268" r:id="rId7"/>
    <p:sldId id="269" r:id="rId8"/>
    <p:sldId id="271" r:id="rId9"/>
    <p:sldId id="273" r:id="rId10"/>
    <p:sldId id="27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B6E2"/>
    <a:srgbClr val="283A96"/>
    <a:srgbClr val="D8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5"/>
    <p:restoredTop sz="94568"/>
  </p:normalViewPr>
  <p:slideViewPr>
    <p:cSldViewPr snapToGrid="0" snapToObjects="1">
      <p:cViewPr>
        <p:scale>
          <a:sx n="157" d="100"/>
          <a:sy n="157" d="100"/>
        </p:scale>
        <p:origin x="191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BED5C-A3E4-1C47-8949-6EBB5B225C12}" type="datetimeFigureOut">
              <a:rPr lang="en-IL" smtClean="0"/>
              <a:t>13/12/2025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9E29FF-5E48-6340-85C0-35CFE72B4DD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05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E29FF-5E48-6340-85C0-35CFE72B4DD4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7951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E29FF-5E48-6340-85C0-35CFE72B4DD4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2451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2E89F-E197-3CAD-C74C-94A096F6D9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33863" y="6657340"/>
            <a:ext cx="700087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939345-0E59-6CC1-7012-E4CBBA5AC20F}"/>
              </a:ext>
            </a:extLst>
          </p:cNvPr>
          <p:cNvSpPr txBox="1"/>
          <p:nvPr/>
        </p:nvSpPr>
        <p:spPr>
          <a:xfrm>
            <a:off x="0" y="0"/>
            <a:ext cx="612865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cs typeface="+mj-cs"/>
              </a:rPr>
              <a:t>Project Work Plan</a:t>
            </a:r>
          </a:p>
          <a:p>
            <a:pPr algn="ctr"/>
            <a:endParaRPr lang="en-IL" sz="2400" b="1" dirty="0">
              <a:cs typeface="+mj-cs"/>
            </a:endParaRPr>
          </a:p>
          <a:p>
            <a:r>
              <a:rPr lang="en-US" sz="2400" b="1" u="sng" dirty="0">
                <a:cs typeface="+mj-cs"/>
              </a:rPr>
              <a:t>Project Number:</a:t>
            </a:r>
            <a:r>
              <a:rPr lang="en-US" sz="2400" b="1" dirty="0">
                <a:cs typeface="+mj-cs"/>
              </a:rPr>
              <a:t>3221</a:t>
            </a:r>
            <a:endParaRPr lang="he-IL" sz="2400" b="1" dirty="0">
              <a:cs typeface="+mj-cs"/>
            </a:endParaRPr>
          </a:p>
          <a:p>
            <a:r>
              <a:rPr lang="en-US" sz="2400" b="1" u="sng" dirty="0">
                <a:cs typeface="+mj-cs"/>
              </a:rPr>
              <a:t>Project Name</a:t>
            </a:r>
            <a:r>
              <a:rPr lang="en-IL" sz="2400" b="1" u="sng" dirty="0">
                <a:cs typeface="+mj-cs"/>
              </a:rPr>
              <a:t>:</a:t>
            </a:r>
            <a:r>
              <a:rPr lang="en-US" sz="2400" b="1" dirty="0">
                <a:cs typeface="+mj-cs"/>
              </a:rPr>
              <a:t>Optical Fibers for Smart Cities</a:t>
            </a:r>
            <a:endParaRPr lang="he-IL" sz="2400" b="1" dirty="0">
              <a:cs typeface="+mj-cs"/>
            </a:endParaRPr>
          </a:p>
          <a:p>
            <a:endParaRPr lang="en-US" sz="3600" b="1" dirty="0"/>
          </a:p>
          <a:p>
            <a:r>
              <a:rPr lang="en-US" dirty="0"/>
              <a:t>IoT-enabled fiber optic sensing for real-time road anomaly detection and urban monitoring (2025–2026)</a:t>
            </a:r>
            <a:endParaRPr lang="he-IL" dirty="0"/>
          </a:p>
          <a:p>
            <a:endParaRPr lang="en-US" dirty="0"/>
          </a:p>
          <a:p>
            <a:r>
              <a:rPr lang="en-US" sz="2000" dirty="0"/>
              <a:t>Students:</a:t>
            </a:r>
          </a:p>
          <a:p>
            <a:r>
              <a:rPr lang="en-US" sz="2000" dirty="0"/>
              <a:t>Noa Sapir- 208744086</a:t>
            </a:r>
          </a:p>
          <a:p>
            <a:r>
              <a:rPr lang="en-US" sz="2000" dirty="0"/>
              <a:t>Nitai </a:t>
            </a:r>
            <a:r>
              <a:rPr lang="en-US" sz="2000" dirty="0" err="1"/>
              <a:t>Dobrecki</a:t>
            </a:r>
            <a:r>
              <a:rPr lang="en-US" sz="2000" dirty="0"/>
              <a:t>- </a:t>
            </a:r>
          </a:p>
          <a:p>
            <a:pPr rtl="1"/>
            <a:r>
              <a:rPr lang="en-US" dirty="0"/>
              <a:t>Project carried out </a:t>
            </a:r>
            <a:r>
              <a:rPr lang="en-US" dirty="0" err="1"/>
              <a:t>at:Faculty</a:t>
            </a:r>
            <a:r>
              <a:rPr lang="en-US" dirty="0"/>
              <a:t> of Electrical Engineering, Tel Aviv University</a:t>
            </a:r>
          </a:p>
          <a:p>
            <a:pPr rtl="1"/>
            <a:r>
              <a:rPr lang="en-US" dirty="0"/>
              <a:t> </a:t>
            </a:r>
            <a:r>
              <a:rPr lang="he-IL" dirty="0"/>
              <a:t> </a:t>
            </a:r>
            <a:endParaRPr lang="en-IL" dirty="0"/>
          </a:p>
          <a:p>
            <a:r>
              <a:rPr lang="en-US" b="1" i="1" dirty="0"/>
              <a:t>For the project instructor:</a:t>
            </a:r>
            <a:endParaRPr lang="en-IL" dirty="0"/>
          </a:p>
          <a:p>
            <a:r>
              <a:rPr lang="en-US" i="1" dirty="0"/>
              <a:t>I approve the submission of the following report</a:t>
            </a:r>
            <a:endParaRPr lang="en-IL" dirty="0"/>
          </a:p>
          <a:p>
            <a:pPr rtl="1">
              <a:lnSpc>
                <a:spcPct val="150000"/>
              </a:lnSpc>
            </a:pPr>
            <a:r>
              <a:rPr lang="he-IL" dirty="0"/>
              <a:t>_____________ </a:t>
            </a:r>
            <a:r>
              <a:rPr lang="en-US" dirty="0"/>
              <a:t>Signature:</a:t>
            </a:r>
          </a:p>
          <a:p>
            <a:pPr rtl="1">
              <a:lnSpc>
                <a:spcPct val="150000"/>
              </a:lnSpc>
            </a:pPr>
            <a:r>
              <a:rPr lang="en-US" u="sng" dirty="0"/>
              <a:t>Khen Cohen____</a:t>
            </a:r>
            <a:r>
              <a:rPr lang="he-IL" dirty="0"/>
              <a:t>___</a:t>
            </a:r>
            <a:r>
              <a:rPr lang="en-US" dirty="0"/>
              <a:t>Name</a:t>
            </a:r>
            <a:r>
              <a:rPr lang="en-IL" dirty="0"/>
              <a:t> : </a:t>
            </a:r>
            <a:r>
              <a:rPr lang="he-IL"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3BDAE-BB42-CBB0-F240-5FF99C6F9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3000"/>
          </a:blip>
          <a:srcRect l="34083" r="-23771" b="4218"/>
          <a:stretch>
            <a:fillRect/>
          </a:stretch>
        </p:blipFill>
        <p:spPr>
          <a:xfrm>
            <a:off x="5997571" y="1"/>
            <a:ext cx="4281077" cy="6857999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1063C78B-6A13-7AB3-BEB6-9251F485A6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8" b="21145"/>
          <a:stretch>
            <a:fillRect/>
          </a:stretch>
        </p:blipFill>
        <p:spPr bwMode="auto">
          <a:xfrm>
            <a:off x="2311638" y="6010507"/>
            <a:ext cx="1505379" cy="84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white image of a musical note&#10;&#10;AI-generated content may be incorrect.">
            <a:extLst>
              <a:ext uri="{FF2B5EF4-FFF2-40B4-BE49-F238E27FC236}">
                <a16:creationId xmlns:a16="http://schemas.microsoft.com/office/drawing/2014/main" id="{509ED079-045F-6656-6F76-D04AB0B70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785" y="5112538"/>
            <a:ext cx="644853" cy="35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5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FDD058D-9482-CE71-ADAA-C7B1C9B19CE2}"/>
              </a:ext>
            </a:extLst>
          </p:cNvPr>
          <p:cNvSpPr txBox="1"/>
          <p:nvPr/>
        </p:nvSpPr>
        <p:spPr>
          <a:xfrm>
            <a:off x="3761012" y="205150"/>
            <a:ext cx="1621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283A96"/>
                </a:solidFill>
              </a:rPr>
              <a:t>Abstract</a:t>
            </a:r>
            <a:endParaRPr lang="he-IL" sz="1800" dirty="0">
              <a:solidFill>
                <a:srgbClr val="283A96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315393-4CC6-F064-1FDA-2A0A1D145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306" y="1811345"/>
            <a:ext cx="2995386" cy="297797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B41673-182F-7E12-5E93-C5FAA005F806}"/>
              </a:ext>
            </a:extLst>
          </p:cNvPr>
          <p:cNvSpPr txBox="1"/>
          <p:nvPr/>
        </p:nvSpPr>
        <p:spPr>
          <a:xfrm>
            <a:off x="586900" y="5668248"/>
            <a:ext cx="1017613" cy="307777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pPr marL="0" algn="l" defTabSz="457200" rtl="0" eaLnBrk="1" latinLnBrk="0" hangingPunct="1"/>
            <a:r>
              <a:rPr lang="en-US" sz="1400" dirty="0"/>
              <a:t>Simulation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14D33B9A-EF70-1992-D0BE-FB5A62DCAC01}"/>
              </a:ext>
            </a:extLst>
          </p:cNvPr>
          <p:cNvSpPr/>
          <p:nvPr/>
        </p:nvSpPr>
        <p:spPr>
          <a:xfrm>
            <a:off x="1526876" y="5656848"/>
            <a:ext cx="733246" cy="319177"/>
          </a:xfrm>
          <a:prstGeom prst="rightArrow">
            <a:avLst/>
          </a:prstGeom>
          <a:solidFill>
            <a:srgbClr val="65B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I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548E22-423A-E9C4-3F51-1FA3413E0B8D}"/>
              </a:ext>
            </a:extLst>
          </p:cNvPr>
          <p:cNvSpPr txBox="1"/>
          <p:nvPr/>
        </p:nvSpPr>
        <p:spPr>
          <a:xfrm>
            <a:off x="2294629" y="5664712"/>
            <a:ext cx="1017613" cy="307777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pPr marL="0" algn="l" defTabSz="457200" rtl="0" eaLnBrk="1" latinLnBrk="0" hangingPunct="1"/>
            <a:r>
              <a:rPr lang="en-US" sz="1400" dirty="0"/>
              <a:t>Detection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0990F99D-34C7-5118-699A-CE554A374B8E}"/>
              </a:ext>
            </a:extLst>
          </p:cNvPr>
          <p:cNvSpPr/>
          <p:nvPr/>
        </p:nvSpPr>
        <p:spPr>
          <a:xfrm>
            <a:off x="3234605" y="5653312"/>
            <a:ext cx="733246" cy="319177"/>
          </a:xfrm>
          <a:prstGeom prst="rightArrow">
            <a:avLst/>
          </a:prstGeom>
          <a:solidFill>
            <a:srgbClr val="65B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92CC39-87AA-270F-0215-0E0B226586B0}"/>
              </a:ext>
            </a:extLst>
          </p:cNvPr>
          <p:cNvSpPr txBox="1"/>
          <p:nvPr/>
        </p:nvSpPr>
        <p:spPr>
          <a:xfrm>
            <a:off x="4002956" y="5656848"/>
            <a:ext cx="1017613" cy="307777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pPr marL="0" algn="l" defTabSz="457200" rtl="0" eaLnBrk="1" latinLnBrk="0" hangingPunct="1"/>
            <a:r>
              <a:rPr lang="en-US" sz="1400" dirty="0"/>
              <a:t>Matching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01E26478-9B07-7DA7-476C-D5B06B2010D2}"/>
              </a:ext>
            </a:extLst>
          </p:cNvPr>
          <p:cNvSpPr/>
          <p:nvPr/>
        </p:nvSpPr>
        <p:spPr>
          <a:xfrm>
            <a:off x="4942932" y="5645448"/>
            <a:ext cx="733246" cy="319177"/>
          </a:xfrm>
          <a:prstGeom prst="rightArrow">
            <a:avLst/>
          </a:prstGeom>
          <a:solidFill>
            <a:srgbClr val="65B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F2EB62-870F-8A5B-4DF4-C6293A723E8A}"/>
              </a:ext>
            </a:extLst>
          </p:cNvPr>
          <p:cNvSpPr txBox="1"/>
          <p:nvPr/>
        </p:nvSpPr>
        <p:spPr>
          <a:xfrm>
            <a:off x="5710685" y="5653312"/>
            <a:ext cx="1017613" cy="307777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pPr marL="0" algn="l" defTabSz="457200" rtl="0" eaLnBrk="1" latinLnBrk="0" hangingPunct="1"/>
            <a:r>
              <a:rPr lang="en-US" sz="1400" dirty="0"/>
              <a:t>Fusion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894413DA-782F-0E84-DFE7-11FEE06C309F}"/>
              </a:ext>
            </a:extLst>
          </p:cNvPr>
          <p:cNvSpPr/>
          <p:nvPr/>
        </p:nvSpPr>
        <p:spPr>
          <a:xfrm>
            <a:off x="6650661" y="5641912"/>
            <a:ext cx="733246" cy="319177"/>
          </a:xfrm>
          <a:prstGeom prst="rightArrow">
            <a:avLst/>
          </a:prstGeom>
          <a:solidFill>
            <a:srgbClr val="65B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F822E9-09A7-58B5-21D3-B4D4990B5C80}"/>
              </a:ext>
            </a:extLst>
          </p:cNvPr>
          <p:cNvSpPr txBox="1"/>
          <p:nvPr/>
        </p:nvSpPr>
        <p:spPr>
          <a:xfrm>
            <a:off x="7425906" y="5656847"/>
            <a:ext cx="1088365" cy="307777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pPr marL="0" algn="l" defTabSz="457200" rtl="0" eaLnBrk="1" latinLnBrk="0" hangingPunct="1"/>
            <a:r>
              <a:rPr lang="en-US" sz="1400" dirty="0"/>
              <a:t>Deliverables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58ED1-7BC4-5FB8-1FCB-182D1F0D3027}"/>
              </a:ext>
            </a:extLst>
          </p:cNvPr>
          <p:cNvSpPr txBox="1"/>
          <p:nvPr/>
        </p:nvSpPr>
        <p:spPr>
          <a:xfrm>
            <a:off x="230927" y="1749959"/>
            <a:ext cx="2687444" cy="1384995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400" dirty="0"/>
              <a:t>The project aims to track vehicles across multiple streets, estimate speed, and identify abnormal driving events in real time by developing a multi-sensor traffic-monitoring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FD81D-6A2F-A3F5-090D-D72F75327966}"/>
              </a:ext>
            </a:extLst>
          </p:cNvPr>
          <p:cNvSpPr txBox="1"/>
          <p:nvPr/>
        </p:nvSpPr>
        <p:spPr>
          <a:xfrm>
            <a:off x="650358" y="1351708"/>
            <a:ext cx="19083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83A96"/>
                </a:solidFill>
              </a:rPr>
              <a:t>Project Background</a:t>
            </a:r>
          </a:p>
          <a:p>
            <a:pPr algn="ctr"/>
            <a:endParaRPr lang="he-IL" sz="800" dirty="0">
              <a:solidFill>
                <a:srgbClr val="283A9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01C07-174C-DE3B-C0AB-559AA5FFD476}"/>
              </a:ext>
            </a:extLst>
          </p:cNvPr>
          <p:cNvSpPr txBox="1"/>
          <p:nvPr/>
        </p:nvSpPr>
        <p:spPr>
          <a:xfrm>
            <a:off x="6219491" y="1756484"/>
            <a:ext cx="2762437" cy="1600438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The system integrates optical-fiber vibration sensing (DAS), computer-vision detections, and satellite-based GPS timing, which enables traffic monitoring under different weather, visibility, and environmental conditions.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DB762-CD87-06DB-A3C6-37E24B4311EE}"/>
              </a:ext>
            </a:extLst>
          </p:cNvPr>
          <p:cNvSpPr txBox="1"/>
          <p:nvPr/>
        </p:nvSpPr>
        <p:spPr>
          <a:xfrm>
            <a:off x="6646171" y="1291449"/>
            <a:ext cx="1765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83A96"/>
                </a:solidFill>
              </a:rPr>
              <a:t>Technologies Used</a:t>
            </a:r>
          </a:p>
          <a:p>
            <a:pPr algn="ctr"/>
            <a:endParaRPr lang="he-IL" sz="800" dirty="0">
              <a:solidFill>
                <a:srgbClr val="283A9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20004-A9E1-7085-FE82-910D65FC3313}"/>
              </a:ext>
            </a:extLst>
          </p:cNvPr>
          <p:cNvSpPr txBox="1"/>
          <p:nvPr/>
        </p:nvSpPr>
        <p:spPr>
          <a:xfrm>
            <a:off x="206103" y="3705999"/>
            <a:ext cx="2687443" cy="1169551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400" dirty="0"/>
              <a:t>By leveraging existing communication fibers, the system can provide continuous coverage without adding roadside hardware.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A9F38C-BBFB-7497-5763-1EE5AC6C2616}"/>
              </a:ext>
            </a:extLst>
          </p:cNvPr>
          <p:cNvSpPr txBox="1"/>
          <p:nvPr/>
        </p:nvSpPr>
        <p:spPr>
          <a:xfrm>
            <a:off x="854128" y="3377334"/>
            <a:ext cx="15007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83A96"/>
                </a:solidFill>
              </a:rPr>
              <a:t>Relevance</a:t>
            </a:r>
            <a:endParaRPr lang="he-IL" sz="800" b="1" dirty="0">
              <a:solidFill>
                <a:srgbClr val="283A9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1EBE3-082A-B92A-8923-C745617CE1C6}"/>
              </a:ext>
            </a:extLst>
          </p:cNvPr>
          <p:cNvSpPr txBox="1"/>
          <p:nvPr/>
        </p:nvSpPr>
        <p:spPr>
          <a:xfrm>
            <a:off x="6381563" y="3699689"/>
            <a:ext cx="2294561" cy="1200329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sz="1200" dirty="0"/>
              <a:t>The project includes multi-street simulation, DAS signal preprocessing, feature extraction, cross-street event matching, Kalman-based sensor fusion, and anomaly detection.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9C1E5-AADA-4277-6C5A-7A99407D3346}"/>
              </a:ext>
            </a:extLst>
          </p:cNvPr>
          <p:cNvSpPr txBox="1"/>
          <p:nvPr/>
        </p:nvSpPr>
        <p:spPr>
          <a:xfrm>
            <a:off x="6789105" y="3429000"/>
            <a:ext cx="1500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283A96"/>
                </a:solidFill>
              </a:rPr>
              <a:t>Overview</a:t>
            </a:r>
            <a:endParaRPr lang="he-IL" sz="788" b="1" dirty="0">
              <a:solidFill>
                <a:srgbClr val="283A96"/>
              </a:solidFill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DA85531-C573-E02C-A229-CA89B105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312" y="6525850"/>
            <a:ext cx="850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6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1EE777-D0D2-A150-8EB4-C9C40840646B}"/>
              </a:ext>
            </a:extLst>
          </p:cNvPr>
          <p:cNvSpPr txBox="1"/>
          <p:nvPr/>
        </p:nvSpPr>
        <p:spPr>
          <a:xfrm>
            <a:off x="425301" y="315299"/>
            <a:ext cx="81626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283A96"/>
                </a:solidFill>
              </a:rPr>
              <a:t>System Overview – Block Diagram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932667-EA59-09B4-0438-37A7DB8E2AB3}"/>
                  </a:ext>
                </a:extLst>
              </p:cNvPr>
              <p:cNvSpPr txBox="1"/>
              <p:nvPr/>
            </p:nvSpPr>
            <p:spPr>
              <a:xfrm>
                <a:off x="369460" y="862030"/>
                <a:ext cx="1711842" cy="1220527"/>
              </a:xfrm>
              <a:prstGeom prst="rect">
                <a:avLst/>
              </a:prstGeom>
              <a:solidFill>
                <a:srgbClr val="D8F1FF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Input: Camera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932667-EA59-09B4-0438-37A7DB8E2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60" y="862030"/>
                <a:ext cx="1711842" cy="1220527"/>
              </a:xfrm>
              <a:prstGeom prst="rect">
                <a:avLst/>
              </a:prstGeom>
              <a:blipFill>
                <a:blip r:embed="rId3"/>
                <a:stretch>
                  <a:fillRect t="-4082" b="-510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517B07-9F09-75B4-9D22-8D397C3E6C71}"/>
                  </a:ext>
                </a:extLst>
              </p:cNvPr>
              <p:cNvSpPr txBox="1"/>
              <p:nvPr/>
            </p:nvSpPr>
            <p:spPr>
              <a:xfrm>
                <a:off x="374791" y="2670650"/>
                <a:ext cx="1711842" cy="1220527"/>
              </a:xfrm>
              <a:prstGeom prst="rect">
                <a:avLst/>
              </a:prstGeom>
              <a:solidFill>
                <a:srgbClr val="D8F1FF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Input:</a:t>
                </a:r>
              </a:p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Fiber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517B07-9F09-75B4-9D22-8D397C3E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91" y="2670650"/>
                <a:ext cx="1711842" cy="1220527"/>
              </a:xfrm>
              <a:prstGeom prst="rect">
                <a:avLst/>
              </a:prstGeom>
              <a:blipFill>
                <a:blip r:embed="rId4"/>
                <a:stretch>
                  <a:fillRect t="-3061" b="-510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8CD73C-15B9-B019-2888-612833207A8F}"/>
                  </a:ext>
                </a:extLst>
              </p:cNvPr>
              <p:cNvSpPr txBox="1"/>
              <p:nvPr/>
            </p:nvSpPr>
            <p:spPr>
              <a:xfrm>
                <a:off x="364078" y="4443852"/>
                <a:ext cx="1711842" cy="1220527"/>
              </a:xfrm>
              <a:prstGeom prst="rect">
                <a:avLst/>
              </a:prstGeom>
              <a:solidFill>
                <a:srgbClr val="D8F1FF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Input: </a:t>
                </a:r>
              </a:p>
              <a:p>
                <a:pPr algn="ctr"/>
                <a:r>
                  <a:rPr lang="en-US" sz="2400" dirty="0"/>
                  <a:t>GPS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8CD73C-15B9-B019-2888-612833207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78" y="4443852"/>
                <a:ext cx="1711842" cy="1220527"/>
              </a:xfrm>
              <a:prstGeom prst="rect">
                <a:avLst/>
              </a:prstGeom>
              <a:blipFill>
                <a:blip r:embed="rId5"/>
                <a:stretch>
                  <a:fillRect t="-3061" b="-510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4287D7BF-DF62-7021-8475-BF8DEEA1F684}"/>
              </a:ext>
            </a:extLst>
          </p:cNvPr>
          <p:cNvCxnSpPr>
            <a:cxnSpLocks/>
            <a:stCxn id="10" idx="3"/>
            <a:endCxn id="21" idx="0"/>
          </p:cNvCxnSpPr>
          <p:nvPr/>
        </p:nvCxnSpPr>
        <p:spPr>
          <a:xfrm>
            <a:off x="2081301" y="1747086"/>
            <a:ext cx="1287447" cy="1302996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64EDA04-1854-5771-9F38-58C17C01BA73}"/>
              </a:ext>
            </a:extLst>
          </p:cNvPr>
          <p:cNvSpPr txBox="1"/>
          <p:nvPr/>
        </p:nvSpPr>
        <p:spPr>
          <a:xfrm>
            <a:off x="2512827" y="3050082"/>
            <a:ext cx="1711842" cy="461665"/>
          </a:xfrm>
          <a:prstGeom prst="rect">
            <a:avLst/>
          </a:prstGeom>
          <a:solidFill>
            <a:srgbClr val="D8F1FF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Merging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05AF7F-AAAD-0269-A78C-D8B78CB06342}"/>
              </a:ext>
            </a:extLst>
          </p:cNvPr>
          <p:cNvSpPr txBox="1"/>
          <p:nvPr/>
        </p:nvSpPr>
        <p:spPr>
          <a:xfrm>
            <a:off x="4600353" y="2295545"/>
            <a:ext cx="1711842" cy="1938992"/>
          </a:xfrm>
          <a:prstGeom prst="rect">
            <a:avLst/>
          </a:prstGeom>
          <a:solidFill>
            <a:srgbClr val="D8F1FF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 Data Accuracy</a:t>
            </a:r>
          </a:p>
          <a:p>
            <a:pPr algn="ctr"/>
            <a:r>
              <a:rPr lang="en-US" sz="2400" dirty="0"/>
              <a:t>&amp;</a:t>
            </a:r>
          </a:p>
          <a:p>
            <a:pPr algn="ctr"/>
            <a:r>
              <a:rPr lang="en-US" sz="2400" dirty="0"/>
              <a:t>Kalman Filter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10EF99-2EF0-34BA-27C9-D9218D17E625}"/>
              </a:ext>
            </a:extLst>
          </p:cNvPr>
          <p:cNvSpPr txBox="1"/>
          <p:nvPr/>
        </p:nvSpPr>
        <p:spPr>
          <a:xfrm>
            <a:off x="7223152" y="2383886"/>
            <a:ext cx="1711842" cy="1938992"/>
          </a:xfrm>
          <a:prstGeom prst="rect">
            <a:avLst/>
          </a:prstGeom>
          <a:solidFill>
            <a:srgbClr val="D8F1FF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Data Processing and Analysis Module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08CD94-C7E4-986D-A049-22BEA66FD32F}"/>
              </a:ext>
            </a:extLst>
          </p:cNvPr>
          <p:cNvSpPr txBox="1"/>
          <p:nvPr/>
        </p:nvSpPr>
        <p:spPr>
          <a:xfrm>
            <a:off x="7223152" y="5016660"/>
            <a:ext cx="1711842" cy="830997"/>
          </a:xfrm>
          <a:prstGeom prst="rect">
            <a:avLst/>
          </a:prstGeom>
          <a:solidFill>
            <a:srgbClr val="D8F1FF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Analytics Outputs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0169B2-EF89-A280-2B88-A4DDD9FE9246}"/>
              </a:ext>
            </a:extLst>
          </p:cNvPr>
          <p:cNvSpPr txBox="1"/>
          <p:nvPr/>
        </p:nvSpPr>
        <p:spPr>
          <a:xfrm>
            <a:off x="4600351" y="4763759"/>
            <a:ext cx="1711843" cy="461665"/>
          </a:xfrm>
          <a:prstGeom prst="rect">
            <a:avLst/>
          </a:prstGeom>
          <a:solidFill>
            <a:srgbClr val="D8F1FF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Geophysics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18FD01B4-F2AF-4578-6B61-EA9C4EADF77B}"/>
              </a:ext>
            </a:extLst>
          </p:cNvPr>
          <p:cNvCxnSpPr>
            <a:cxnSpLocks/>
            <a:stCxn id="12" idx="3"/>
            <a:endCxn id="21" idx="2"/>
          </p:cNvCxnSpPr>
          <p:nvPr/>
        </p:nvCxnSpPr>
        <p:spPr>
          <a:xfrm flipV="1">
            <a:off x="2075919" y="3511747"/>
            <a:ext cx="1292829" cy="1817161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F07FCD-12FA-B235-8FC8-D37363F0C849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>
            <a:off x="2086633" y="3280914"/>
            <a:ext cx="426194" cy="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4FD014-B0DD-5949-4921-F3D4585E76B1}"/>
              </a:ext>
            </a:extLst>
          </p:cNvPr>
          <p:cNvCxnSpPr/>
          <p:nvPr/>
        </p:nvCxnSpPr>
        <p:spPr>
          <a:xfrm>
            <a:off x="4224669" y="3270881"/>
            <a:ext cx="375684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0782C6-23BC-8271-5AD9-742F3FB58D76}"/>
              </a:ext>
            </a:extLst>
          </p:cNvPr>
          <p:cNvCxnSpPr>
            <a:cxnSpLocks/>
          </p:cNvCxnSpPr>
          <p:nvPr/>
        </p:nvCxnSpPr>
        <p:spPr>
          <a:xfrm>
            <a:off x="8079073" y="4322878"/>
            <a:ext cx="0" cy="69378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271B3A7E-F6F6-8195-080A-BAC45F0A68E1}"/>
              </a:ext>
            </a:extLst>
          </p:cNvPr>
          <p:cNvCxnSpPr>
            <a:cxnSpLocks/>
          </p:cNvCxnSpPr>
          <p:nvPr/>
        </p:nvCxnSpPr>
        <p:spPr>
          <a:xfrm flipV="1">
            <a:off x="6312193" y="3265041"/>
            <a:ext cx="910958" cy="164121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D2BAC49-D6DB-8F76-1B4C-CC251BBEB2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6845" y="6542701"/>
            <a:ext cx="1145154" cy="295524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43A820-4C14-DEFE-8E98-783CF60868B9}"/>
              </a:ext>
            </a:extLst>
          </p:cNvPr>
          <p:cNvCxnSpPr>
            <a:cxnSpLocks/>
          </p:cNvCxnSpPr>
          <p:nvPr/>
        </p:nvCxnSpPr>
        <p:spPr>
          <a:xfrm>
            <a:off x="6312193" y="2903070"/>
            <a:ext cx="910958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6484B6-7F48-D085-0A2A-847EBB17E9A8}"/>
              </a:ext>
            </a:extLst>
          </p:cNvPr>
          <p:cNvSpPr txBox="1"/>
          <p:nvPr/>
        </p:nvSpPr>
        <p:spPr>
          <a:xfrm>
            <a:off x="280922" y="777311"/>
            <a:ext cx="81626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– Block Diagram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ED5B68-9044-0CA6-AF95-C454906FC12C}"/>
                  </a:ext>
                </a:extLst>
              </p:cNvPr>
              <p:cNvSpPr txBox="1"/>
              <p:nvPr/>
            </p:nvSpPr>
            <p:spPr>
              <a:xfrm>
                <a:off x="225081" y="1324042"/>
                <a:ext cx="1336158" cy="938462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Input:</a:t>
                </a:r>
                <a:endParaRPr lang="he-IL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Camera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ED5B68-9044-0CA6-AF95-C454906F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81" y="1324042"/>
                <a:ext cx="1336158" cy="938462"/>
              </a:xfrm>
              <a:prstGeom prst="rect">
                <a:avLst/>
              </a:prstGeom>
              <a:blipFill>
                <a:blip r:embed="rId3"/>
                <a:stretch>
                  <a:fillRect t="-2597" b="-2597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59E0BA-5F6E-680D-C1CD-BB4A6C9F89A3}"/>
                  </a:ext>
                </a:extLst>
              </p:cNvPr>
              <p:cNvSpPr txBox="1"/>
              <p:nvPr/>
            </p:nvSpPr>
            <p:spPr>
              <a:xfrm>
                <a:off x="230412" y="3132662"/>
                <a:ext cx="1325445" cy="938462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Input: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Fiber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59E0BA-5F6E-680D-C1CD-BB4A6C9F8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12" y="3132662"/>
                <a:ext cx="1325445" cy="938462"/>
              </a:xfrm>
              <a:prstGeom prst="rect">
                <a:avLst/>
              </a:prstGeom>
              <a:blipFill>
                <a:blip r:embed="rId4"/>
                <a:stretch>
                  <a:fillRect t="-1299" b="-2597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DA0420-6F69-A04F-E117-C8F99EBC0A68}"/>
                  </a:ext>
                </a:extLst>
              </p:cNvPr>
              <p:cNvSpPr txBox="1"/>
              <p:nvPr/>
            </p:nvSpPr>
            <p:spPr>
              <a:xfrm>
                <a:off x="219699" y="4905864"/>
                <a:ext cx="1336158" cy="938462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Input: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GPS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DA0420-6F69-A04F-E117-C8F99EBC0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99" y="4905864"/>
                <a:ext cx="1336158" cy="938462"/>
              </a:xfrm>
              <a:prstGeom prst="rect">
                <a:avLst/>
              </a:prstGeom>
              <a:blipFill>
                <a:blip r:embed="rId5"/>
                <a:stretch>
                  <a:fillRect t="-1299" b="-2597"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6A2ED9A6-6068-B5D3-CA85-A6A4CA3B3BF1}"/>
              </a:ext>
            </a:extLst>
          </p:cNvPr>
          <p:cNvCxnSpPr>
            <a:cxnSpLocks/>
            <a:stCxn id="3" idx="3"/>
            <a:endCxn id="7" idx="0"/>
          </p:cNvCxnSpPr>
          <p:nvPr/>
        </p:nvCxnSpPr>
        <p:spPr>
          <a:xfrm>
            <a:off x="1561239" y="1793273"/>
            <a:ext cx="1190513" cy="1573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38C6D9-FB49-C905-57B3-C8F490C481B8}"/>
              </a:ext>
            </a:extLst>
          </p:cNvPr>
          <p:cNvSpPr txBox="1"/>
          <p:nvPr/>
        </p:nvSpPr>
        <p:spPr>
          <a:xfrm>
            <a:off x="2089029" y="3367177"/>
            <a:ext cx="1325445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D</a:t>
            </a:r>
            <a:r>
              <a:rPr lang="he-IL" dirty="0"/>
              <a:t>ata </a:t>
            </a:r>
            <a:r>
              <a:rPr lang="en-US" dirty="0"/>
              <a:t>Merging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E5FC0-6082-9856-1162-AE671DEBEF02}"/>
              </a:ext>
            </a:extLst>
          </p:cNvPr>
          <p:cNvSpPr txBox="1"/>
          <p:nvPr/>
        </p:nvSpPr>
        <p:spPr>
          <a:xfrm>
            <a:off x="3806429" y="3219222"/>
            <a:ext cx="1711842" cy="92333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 Data Accuracy</a:t>
            </a:r>
          </a:p>
          <a:p>
            <a:pPr algn="ctr"/>
            <a:r>
              <a:rPr lang="en-US" dirty="0"/>
              <a:t>&amp;</a:t>
            </a:r>
          </a:p>
          <a:p>
            <a:pPr algn="ctr"/>
            <a:r>
              <a:rPr lang="en-US" dirty="0"/>
              <a:t>Kalman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9BE7A-F7FD-9A90-F65C-693C9072CD00}"/>
              </a:ext>
            </a:extLst>
          </p:cNvPr>
          <p:cNvSpPr txBox="1"/>
          <p:nvPr/>
        </p:nvSpPr>
        <p:spPr>
          <a:xfrm>
            <a:off x="6207613" y="3169510"/>
            <a:ext cx="1195895" cy="1477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Data Processing and Analysis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44D930-98A0-4EA3-418F-D7E0657D8DF8}"/>
              </a:ext>
            </a:extLst>
          </p:cNvPr>
          <p:cNvSpPr txBox="1"/>
          <p:nvPr/>
        </p:nvSpPr>
        <p:spPr>
          <a:xfrm>
            <a:off x="7889144" y="3223278"/>
            <a:ext cx="1084988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Analytics</a:t>
            </a:r>
            <a:r>
              <a:rPr lang="he-IL" dirty="0"/>
              <a:t> </a:t>
            </a:r>
            <a:r>
              <a:rPr lang="en-US" dirty="0"/>
              <a:t>&amp;</a:t>
            </a:r>
          </a:p>
          <a:p>
            <a:pPr algn="ctr"/>
            <a:r>
              <a:rPr lang="en-US" dirty="0"/>
              <a:t>Statistics Outputs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D17E50-BFBD-454D-EA0C-097AA7A7F0E6}"/>
              </a:ext>
            </a:extLst>
          </p:cNvPr>
          <p:cNvSpPr txBox="1"/>
          <p:nvPr/>
        </p:nvSpPr>
        <p:spPr>
          <a:xfrm>
            <a:off x="3806429" y="4732775"/>
            <a:ext cx="1711843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Geophysics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FD667C30-A5BD-3441-5ED0-EAA358531411}"/>
              </a:ext>
            </a:extLst>
          </p:cNvPr>
          <p:cNvCxnSpPr>
            <a:cxnSpLocks/>
            <a:stCxn id="5" idx="3"/>
            <a:endCxn id="7" idx="2"/>
          </p:cNvCxnSpPr>
          <p:nvPr/>
        </p:nvCxnSpPr>
        <p:spPr>
          <a:xfrm flipV="1">
            <a:off x="1555857" y="4013508"/>
            <a:ext cx="1195895" cy="13615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11C420-152E-5029-B7A7-990CBD795C22}"/>
              </a:ext>
            </a:extLst>
          </p:cNvPr>
          <p:cNvCxnSpPr/>
          <p:nvPr/>
        </p:nvCxnSpPr>
        <p:spPr>
          <a:xfrm>
            <a:off x="3415506" y="3690343"/>
            <a:ext cx="375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FC374F-7E81-9768-5A9E-81B7B8BE18D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403508" y="3823443"/>
            <a:ext cx="485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562FB0C-CDE9-527D-C38F-066456779752}"/>
              </a:ext>
            </a:extLst>
          </p:cNvPr>
          <p:cNvCxnSpPr>
            <a:cxnSpLocks/>
          </p:cNvCxnSpPr>
          <p:nvPr/>
        </p:nvCxnSpPr>
        <p:spPr>
          <a:xfrm flipV="1">
            <a:off x="5518271" y="4423607"/>
            <a:ext cx="689342" cy="4938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E7B3AC-2954-5765-FE60-0F940DCD992A}"/>
              </a:ext>
            </a:extLst>
          </p:cNvPr>
          <p:cNvCxnSpPr>
            <a:cxnSpLocks/>
          </p:cNvCxnSpPr>
          <p:nvPr/>
        </p:nvCxnSpPr>
        <p:spPr>
          <a:xfrm>
            <a:off x="1555857" y="3680887"/>
            <a:ext cx="5331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7AD2769-BDAC-CC2E-FD9E-21A9D74ABC62}"/>
              </a:ext>
            </a:extLst>
          </p:cNvPr>
          <p:cNvCxnSpPr>
            <a:cxnSpLocks/>
          </p:cNvCxnSpPr>
          <p:nvPr/>
        </p:nvCxnSpPr>
        <p:spPr>
          <a:xfrm>
            <a:off x="5518271" y="3635027"/>
            <a:ext cx="6893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05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52BF-6144-F83E-FAFA-17C354907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848FC3-10C2-368F-1E74-AFD32ECFB0AB}"/>
              </a:ext>
            </a:extLst>
          </p:cNvPr>
          <p:cNvSpPr txBox="1"/>
          <p:nvPr/>
        </p:nvSpPr>
        <p:spPr>
          <a:xfrm>
            <a:off x="228599" y="507520"/>
            <a:ext cx="5442859" cy="1754326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400" dirty="0">
                <a:solidFill>
                  <a:srgbClr val="283A96"/>
                </a:solidFill>
              </a:rPr>
              <a:t>motivation</a:t>
            </a:r>
            <a:endParaRPr lang="he-IL" sz="2400" dirty="0">
              <a:solidFill>
                <a:srgbClr val="283A96"/>
              </a:solidFill>
            </a:endParaRPr>
          </a:p>
          <a:p>
            <a:r>
              <a:rPr lang="en-US" sz="1400" dirty="0"/>
              <a:t>The rapid rise of smart cities demands advanced sensing systems to improve traffic management and emergency response. This project integrates fiber-optic sensing, visual data, and GPS into a unified framework to estimate traffic speed and density and uses neural networks to detect anomalies like sudden stops, wrong-way driving, and accidents in real time.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1FF8F-6911-B276-C54E-C9280A54BED4}"/>
              </a:ext>
            </a:extLst>
          </p:cNvPr>
          <p:cNvSpPr txBox="1"/>
          <p:nvPr/>
        </p:nvSpPr>
        <p:spPr>
          <a:xfrm>
            <a:off x="228598" y="2631178"/>
            <a:ext cx="5442859" cy="1323439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400" dirty="0">
                <a:solidFill>
                  <a:srgbClr val="283A96"/>
                </a:solidFill>
              </a:rPr>
              <a:t>scientific and engineering reasonings</a:t>
            </a:r>
            <a:endParaRPr lang="he-IL" sz="2400" dirty="0">
              <a:solidFill>
                <a:srgbClr val="283A96"/>
              </a:solidFill>
            </a:endParaRPr>
          </a:p>
          <a:p>
            <a:r>
              <a:rPr lang="en-US" sz="1400" dirty="0"/>
              <a:t>Scientifically, the project advances multi-sensor fusion for spatiotemporal signal analysis, while engineering-wise, it showcases a scalable way to turn communication networks into intelligent urban sensors.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B1462-7CCA-ECD5-FAB9-FF8B952797F1}"/>
              </a:ext>
            </a:extLst>
          </p:cNvPr>
          <p:cNvSpPr txBox="1"/>
          <p:nvPr/>
        </p:nvSpPr>
        <p:spPr>
          <a:xfrm>
            <a:off x="5910943" y="399799"/>
            <a:ext cx="2917370" cy="5786199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400" dirty="0">
                <a:solidFill>
                  <a:srgbClr val="283A96"/>
                </a:solidFill>
              </a:rPr>
              <a:t>comparison to existing alternatives</a:t>
            </a:r>
          </a:p>
          <a:p>
            <a:endParaRPr lang="en-US" sz="1400" dirty="0"/>
          </a:p>
          <a:p>
            <a:r>
              <a:rPr lang="en-US" sz="1400" b="1" dirty="0" err="1"/>
              <a:t>OptaSense</a:t>
            </a:r>
            <a:r>
              <a:rPr lang="en-US" sz="1400" dirty="0"/>
              <a:t> (UK): </a:t>
            </a:r>
            <a:br>
              <a:rPr lang="en-US" sz="1400" dirty="0"/>
            </a:br>
            <a:r>
              <a:rPr lang="en-US" sz="1400" dirty="0"/>
              <a:t>Uses Distributed Acoustic Sensing (DAS) along fiber cables to detect and classify vehicles on single road segments. However, it lacks multi-sensor integration and cross-street tracking. Our system extends this by fusing DAS with GPS and cameras for multi-segment tracking and real-time anomaly detection. 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 err="1"/>
              <a:t>Miovision</a:t>
            </a:r>
            <a:r>
              <a:rPr lang="en-US" sz="1400" dirty="0"/>
              <a:t> (Canada): </a:t>
            </a:r>
            <a:br>
              <a:rPr lang="en-US" sz="1400" dirty="0"/>
            </a:br>
            <a:r>
              <a:rPr lang="en-US" sz="1400" dirty="0"/>
              <a:t>Provides AI-based traffic monitoring through smart cameras that manage flow and intersections but is limited by weather and lighting conditions. Our approach combines fiber-optic sensing with vision and GPS for continuous, weather-independent monitoring and enhanced reliability across wider urban areas.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54D8D-9D63-3FBB-9975-0E1294B42D9D}"/>
              </a:ext>
            </a:extLst>
          </p:cNvPr>
          <p:cNvSpPr txBox="1"/>
          <p:nvPr/>
        </p:nvSpPr>
        <p:spPr>
          <a:xfrm>
            <a:off x="228598" y="4322375"/>
            <a:ext cx="5442859" cy="1754326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400" dirty="0">
                <a:solidFill>
                  <a:srgbClr val="283A96"/>
                </a:solidFill>
              </a:rPr>
              <a:t>importance &amp; contribution</a:t>
            </a:r>
          </a:p>
          <a:p>
            <a:r>
              <a:rPr lang="en-US" sz="1400" dirty="0"/>
              <a:t>Traditional monitoring tools like cameras and GPS offer useful data but are constrained by visibility, coverage, and reliability under changing conditions. In contrast, fiber-optic systems deliver continuous spatial coverage over long distances without extra roadside equipment, reducing maintenance costs and enabling scalable city-wide deployment.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E4E799-7A60-F075-4388-1B9C5381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83403" b="-8486"/>
          <a:stretch>
            <a:fillRect/>
          </a:stretch>
        </p:blipFill>
        <p:spPr>
          <a:xfrm>
            <a:off x="5205630" y="553964"/>
            <a:ext cx="465827" cy="4546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82C65A-81D4-253E-5E17-2F5402051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04" t="-644" r="41599"/>
          <a:stretch>
            <a:fillRect/>
          </a:stretch>
        </p:blipFill>
        <p:spPr>
          <a:xfrm>
            <a:off x="5205630" y="2677554"/>
            <a:ext cx="465827" cy="421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F2B767-66CB-5F61-E32F-42BDEC8F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94" b="16"/>
          <a:stretch>
            <a:fillRect/>
          </a:stretch>
        </p:blipFill>
        <p:spPr>
          <a:xfrm>
            <a:off x="8398721" y="462485"/>
            <a:ext cx="429592" cy="4190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CA4ACD4-AB05-14C5-A2D0-917E1F2911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899"/>
          <a:stretch>
            <a:fillRect/>
          </a:stretch>
        </p:blipFill>
        <p:spPr>
          <a:xfrm>
            <a:off x="5138057" y="4322375"/>
            <a:ext cx="533400" cy="4221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8A775E-63E1-6513-4276-52719AF39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312" y="6525850"/>
            <a:ext cx="850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6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2AA6-9DEF-B060-1BDE-DB118211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4C192B-5F5E-DEF1-8E47-1B97D02893F7}"/>
                  </a:ext>
                </a:extLst>
              </p:cNvPr>
              <p:cNvSpPr txBox="1"/>
              <p:nvPr/>
            </p:nvSpPr>
            <p:spPr>
              <a:xfrm>
                <a:off x="234504" y="1370482"/>
                <a:ext cx="8723569" cy="2669257"/>
              </a:xfrm>
              <a:prstGeom prst="rect">
                <a:avLst/>
              </a:prstGeom>
              <a:solidFill>
                <a:srgbClr val="D8F1FF"/>
              </a:solidFill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sz="2400" dirty="0">
                    <a:solidFill>
                      <a:srgbClr val="283A96"/>
                    </a:solidFill>
                  </a:rPr>
                  <a:t>Distributed Acoustic Sensing (DAS)</a:t>
                </a:r>
                <a:br>
                  <a:rPr lang="en-US" sz="1400" dirty="0"/>
                </a:br>
                <a:r>
                  <a:rPr lang="en-US" sz="1400" dirty="0"/>
                  <a:t>The system’s design is grounded in prior DAS research at TAU and in academic foundations from optical physics, digital signal processing, multi-sensor fusion, and introductory neural-network methodologies,</a:t>
                </a:r>
                <a:endParaRPr lang="he-IL" sz="1400" dirty="0"/>
              </a:p>
              <a:p>
                <a:r>
                  <a:rPr lang="en-US" sz="1400" dirty="0"/>
                  <a:t>It uses DAS technology, which turns telecommunication optical fibers into continuous vibration sensors by analyzing </a:t>
                </a:r>
                <a:r>
                  <a:rPr lang="en-US" sz="1400" b="1" dirty="0"/>
                  <a:t>Rayleigh backscattered</a:t>
                </a:r>
                <a:r>
                  <a:rPr lang="en-US" sz="1400" dirty="0"/>
                  <a:t> laser pulses. Ground motion produces phase shifts modeled as a </a:t>
                </a:r>
                <a:r>
                  <a:rPr lang="en-US" sz="1400" b="1" dirty="0"/>
                  <a:t>strain-rate measurement</a:t>
                </a:r>
                <a:r>
                  <a:rPr lang="en-US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l-GR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sz="1400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400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 dirty="0" err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num>
                            <m:den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Where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sz="1400" dirty="0"/>
                  <a:t>is ground displacement and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is the gauge length.</a:t>
                </a:r>
                <a:br>
                  <a:rPr lang="en-US" sz="1400" dirty="0"/>
                </a:br>
                <a:r>
                  <a:rPr lang="en-US" sz="1400" dirty="0"/>
                  <a:t>This formula links optical signals directly to vehicle-induced vibrations.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4C192B-5F5E-DEF1-8E47-1B97D0289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04" y="1370482"/>
                <a:ext cx="8723569" cy="2669257"/>
              </a:xfrm>
              <a:prstGeom prst="rect">
                <a:avLst/>
              </a:prstGeom>
              <a:blipFill>
                <a:blip r:embed="rId2"/>
                <a:stretch>
                  <a:fillRect l="-1017" t="-1422" r="-2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7F04D60-C94D-C4BE-AF14-6C0A8553884F}"/>
              </a:ext>
            </a:extLst>
          </p:cNvPr>
          <p:cNvSpPr txBox="1"/>
          <p:nvPr/>
        </p:nvSpPr>
        <p:spPr>
          <a:xfrm>
            <a:off x="234504" y="4140440"/>
            <a:ext cx="8723568" cy="892552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400" dirty="0">
                <a:solidFill>
                  <a:srgbClr val="283A96"/>
                </a:solidFill>
              </a:rPr>
              <a:t>Signal Processing &amp; Event Detection</a:t>
            </a:r>
            <a:br>
              <a:rPr lang="en-US" sz="1400" dirty="0"/>
            </a:br>
            <a:r>
              <a:rPr lang="en-US" sz="1400" dirty="0"/>
              <a:t>Raw DAS channels undergo filtering, noise suppression, envelope extraction, and feature-based event detection to isolate vehicle signatures from ambient vibrations.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C20C4-96F2-541A-A17D-BA40B8F65197}"/>
              </a:ext>
            </a:extLst>
          </p:cNvPr>
          <p:cNvSpPr txBox="1"/>
          <p:nvPr/>
        </p:nvSpPr>
        <p:spPr>
          <a:xfrm>
            <a:off x="2652570" y="334546"/>
            <a:ext cx="38388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283A96"/>
                </a:solidFill>
              </a:rPr>
              <a:t>Statement Of Work</a:t>
            </a:r>
            <a:endParaRPr lang="he-IL" sz="1800" dirty="0">
              <a:solidFill>
                <a:srgbClr val="283A9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2405C-DDC0-BA37-B709-6D90DCF3D615}"/>
              </a:ext>
            </a:extLst>
          </p:cNvPr>
          <p:cNvSpPr txBox="1"/>
          <p:nvPr/>
        </p:nvSpPr>
        <p:spPr>
          <a:xfrm>
            <a:off x="234504" y="5170531"/>
            <a:ext cx="8723568" cy="892552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283A96"/>
                </a:solidFill>
              </a:rPr>
              <a:t>Geophysical Modeling</a:t>
            </a:r>
            <a:br>
              <a:rPr lang="en-US" sz="2400" dirty="0"/>
            </a:br>
            <a:r>
              <a:rPr lang="en-US" sz="1400" dirty="0"/>
              <a:t>Vehicle movement generates surface waves that propagate through asphalt and soil. Modeling these patterns enables realistic multi-street simulations and speed estimation via inter-channel delays.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762834-51A1-D01B-B83D-99FC2D866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312" y="6525850"/>
            <a:ext cx="850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0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62DC-76BD-B1C4-BB9F-F7A8DA17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65B95C-6886-36ED-3FE3-B88F9A363503}"/>
              </a:ext>
            </a:extLst>
          </p:cNvPr>
          <p:cNvSpPr txBox="1"/>
          <p:nvPr/>
        </p:nvSpPr>
        <p:spPr>
          <a:xfrm>
            <a:off x="185924" y="2982724"/>
            <a:ext cx="8723568" cy="892552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400" dirty="0">
                <a:solidFill>
                  <a:srgbClr val="283A96"/>
                </a:solidFill>
              </a:rPr>
              <a:t>Sensor Fusion</a:t>
            </a:r>
            <a:br>
              <a:rPr lang="en-US" sz="2400" dirty="0"/>
            </a:br>
            <a:r>
              <a:rPr lang="en-US" sz="1400" dirty="0"/>
              <a:t>A Kalman filter fuses the measurements into a unified state, enabling consistent cross-street tracking and trajectory reconstruction.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CD29C-30C9-384D-A7BB-E04213182EA4}"/>
              </a:ext>
            </a:extLst>
          </p:cNvPr>
          <p:cNvSpPr txBox="1"/>
          <p:nvPr/>
        </p:nvSpPr>
        <p:spPr>
          <a:xfrm>
            <a:off x="210214" y="1420085"/>
            <a:ext cx="8723568" cy="1323439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283A96"/>
                </a:solidFill>
              </a:rPr>
              <a:t>Multi-Sensor Hardware Integration</a:t>
            </a:r>
            <a:br>
              <a:rPr lang="en-US" sz="2400" dirty="0"/>
            </a:br>
            <a:r>
              <a:rPr lang="en-US" sz="1400" dirty="0"/>
              <a:t>The system combines three sensing modalities: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Fiber-optic DAS for vibration sensing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Cameras for visual detection and ground truth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GPS for timing alignment and speed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982F00-7ACF-AE7A-B688-CB22A0A664DE}"/>
              </a:ext>
            </a:extLst>
          </p:cNvPr>
          <p:cNvSpPr txBox="1"/>
          <p:nvPr/>
        </p:nvSpPr>
        <p:spPr>
          <a:xfrm>
            <a:off x="2652570" y="334546"/>
            <a:ext cx="38388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283A96"/>
                </a:solidFill>
              </a:rPr>
              <a:t>Statement Of Work</a:t>
            </a:r>
            <a:endParaRPr lang="he-IL" sz="1800" dirty="0">
              <a:solidFill>
                <a:srgbClr val="283A9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3695C-A8ED-F1D8-ED8E-0E701FB84222}"/>
              </a:ext>
            </a:extLst>
          </p:cNvPr>
          <p:cNvSpPr txBox="1"/>
          <p:nvPr/>
        </p:nvSpPr>
        <p:spPr>
          <a:xfrm>
            <a:off x="185924" y="4114476"/>
            <a:ext cx="8723568" cy="1107996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400" dirty="0">
                <a:solidFill>
                  <a:srgbClr val="283A96"/>
                </a:solidFill>
              </a:rPr>
              <a:t>AI Analytics &amp; Monetization Layer</a:t>
            </a:r>
            <a:br>
              <a:rPr lang="en-US" sz="2400" dirty="0"/>
            </a:br>
            <a:r>
              <a:rPr lang="en-US" sz="1400" dirty="0"/>
              <a:t>The system’s fused DAS–camera–GPS data enables an additional ml-based layer for anomaly detection and alerting.</a:t>
            </a:r>
            <a:br>
              <a:rPr lang="en-US" sz="1400" dirty="0"/>
            </a:br>
            <a:r>
              <a:rPr lang="en-US" sz="1400" dirty="0"/>
              <a:t>A model identifies events such as over speeding, sudden stops, and irregular vibration patterns, and visualizes them on a monitoring dashboard.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4A425C-9481-4223-D6F9-374AC35C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312" y="6525850"/>
            <a:ext cx="850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3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5587-A5CC-1727-6B11-406A7ABA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907A07-FBBF-E40E-963C-C8BCD77BCBF4}"/>
              </a:ext>
            </a:extLst>
          </p:cNvPr>
          <p:cNvSpPr txBox="1"/>
          <p:nvPr/>
        </p:nvSpPr>
        <p:spPr>
          <a:xfrm>
            <a:off x="836762" y="393304"/>
            <a:ext cx="7470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283A96"/>
                </a:solidFill>
              </a:rPr>
              <a:t>Quantitative Metrics &amp; Performance Targets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97603-FCBE-ACAE-5B11-D97A6664C01D}"/>
              </a:ext>
            </a:extLst>
          </p:cNvPr>
          <p:cNvSpPr txBox="1"/>
          <p:nvPr/>
        </p:nvSpPr>
        <p:spPr>
          <a:xfrm>
            <a:off x="255866" y="2241025"/>
            <a:ext cx="2068490" cy="4293483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b="1" dirty="0">
                <a:solidFill>
                  <a:srgbClr val="283A96"/>
                </a:solidFill>
              </a:rPr>
              <a:t>Detection &amp; Tracking Accuracy</a:t>
            </a:r>
          </a:p>
          <a:p>
            <a:endParaRPr lang="he-IL" sz="1600" b="1" dirty="0">
              <a:solidFill>
                <a:srgbClr val="283A96"/>
              </a:solidFill>
            </a:endParaRPr>
          </a:p>
          <a:p>
            <a:pPr lvl="1"/>
            <a:r>
              <a:rPr lang="en-US" sz="1200" dirty="0"/>
              <a:t>Achieve </a:t>
            </a:r>
            <a:r>
              <a:rPr lang="en-US" sz="1200" b="1" dirty="0"/>
              <a:t>≥90% accuracy</a:t>
            </a:r>
            <a:r>
              <a:rPr lang="en-US" sz="1200" dirty="0"/>
              <a:t> in matching vehicle events across 2–5 adjacent street segments using fused DAS, GPS, and camera data.</a:t>
            </a:r>
          </a:p>
          <a:p>
            <a:pPr lvl="1"/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Baseline:</a:t>
            </a:r>
            <a:r>
              <a:rPr lang="en-US" sz="1200" dirty="0"/>
              <a:t> ~70% association accuracy (prior single-sensor DAS projects).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Target:</a:t>
            </a:r>
            <a:r>
              <a:rPr lang="en-US" sz="1200" dirty="0"/>
              <a:t> ≥90% after multi-sensor fusion and improved feature extraction.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Validation:</a:t>
            </a:r>
            <a:r>
              <a:rPr lang="en-US" sz="1200" dirty="0"/>
              <a:t> simulation-generated ground truth + camera-based labeling.</a:t>
            </a:r>
          </a:p>
          <a:p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8F677-E6B2-A7DE-241D-30CFA123C02A}"/>
              </a:ext>
            </a:extLst>
          </p:cNvPr>
          <p:cNvSpPr txBox="1"/>
          <p:nvPr/>
        </p:nvSpPr>
        <p:spPr>
          <a:xfrm>
            <a:off x="6914481" y="2241025"/>
            <a:ext cx="2068490" cy="3816429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b="1" dirty="0">
                <a:solidFill>
                  <a:srgbClr val="283A96"/>
                </a:solidFill>
              </a:rPr>
              <a:t>Processing Pipeline Latency</a:t>
            </a:r>
          </a:p>
          <a:p>
            <a:endParaRPr lang="en-US" sz="1600" b="1" dirty="0">
              <a:solidFill>
                <a:srgbClr val="283A96"/>
              </a:solidFill>
            </a:endParaRPr>
          </a:p>
          <a:p>
            <a:pPr lvl="1"/>
            <a:r>
              <a:rPr lang="en-US" sz="1200" dirty="0"/>
              <a:t>Full processing pipeline (simulation → detection → matching → fusion → outputs) completed within </a:t>
            </a:r>
            <a:r>
              <a:rPr lang="en-US" sz="1200" b="1" dirty="0"/>
              <a:t>≤60 seconds</a:t>
            </a:r>
            <a:r>
              <a:rPr lang="en-US" sz="1200" dirty="0"/>
              <a:t>.</a:t>
            </a:r>
          </a:p>
          <a:p>
            <a:pPr lvl="1"/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Per-event processing:</a:t>
            </a:r>
            <a:r>
              <a:rPr lang="en-US" sz="1200" dirty="0"/>
              <a:t> ≤ 3 seconds.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DAS preprocessing (filter + envelope): ≤ 10 seconds per segment.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Scalability:</a:t>
            </a:r>
            <a:r>
              <a:rPr lang="en-US" sz="1200" dirty="0"/>
              <a:t> simulation supports up to 5 connected street segments.</a:t>
            </a:r>
          </a:p>
          <a:p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847FB-50D0-0E7F-8092-2478C651FF10}"/>
              </a:ext>
            </a:extLst>
          </p:cNvPr>
          <p:cNvSpPr txBox="1"/>
          <p:nvPr/>
        </p:nvSpPr>
        <p:spPr>
          <a:xfrm>
            <a:off x="7298383" y="1347942"/>
            <a:ext cx="1300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dirty="0"/>
              <a:t>≤60 sec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52D0A-177B-A6DF-D0B7-412A0150E57A}"/>
              </a:ext>
            </a:extLst>
          </p:cNvPr>
          <p:cNvSpPr txBox="1"/>
          <p:nvPr/>
        </p:nvSpPr>
        <p:spPr>
          <a:xfrm>
            <a:off x="6971990" y="1844513"/>
            <a:ext cx="19534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283A96"/>
                </a:solidFill>
              </a:rPr>
              <a:t>End to End Latency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F6917F-2D88-74F3-2655-DCC1B048A1E9}"/>
              </a:ext>
            </a:extLst>
          </p:cNvPr>
          <p:cNvSpPr txBox="1"/>
          <p:nvPr/>
        </p:nvSpPr>
        <p:spPr>
          <a:xfrm>
            <a:off x="5071648" y="1347942"/>
            <a:ext cx="1300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L" sz="2800" dirty="0"/>
              <a:t>≥90%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E64A4-030E-EAB3-B549-4B8922CD6DB3}"/>
              </a:ext>
            </a:extLst>
          </p:cNvPr>
          <p:cNvSpPr txBox="1"/>
          <p:nvPr/>
        </p:nvSpPr>
        <p:spPr>
          <a:xfrm>
            <a:off x="4745255" y="1844513"/>
            <a:ext cx="19534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283A96"/>
                </a:solidFill>
              </a:rPr>
              <a:t>Kalman Fusion Success Rate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9578DF-6470-7268-A64B-E312F278C797}"/>
              </a:ext>
            </a:extLst>
          </p:cNvPr>
          <p:cNvSpPr txBox="1"/>
          <p:nvPr/>
        </p:nvSpPr>
        <p:spPr>
          <a:xfrm>
            <a:off x="2906759" y="1347942"/>
            <a:ext cx="1300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2800" dirty="0"/>
              <a:t>≥5 / 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41C646-E82A-5C48-C02C-E9BB52848A31}"/>
              </a:ext>
            </a:extLst>
          </p:cNvPr>
          <p:cNvSpPr txBox="1"/>
          <p:nvPr/>
        </p:nvSpPr>
        <p:spPr>
          <a:xfrm>
            <a:off x="2580366" y="1844513"/>
            <a:ext cx="19534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283A96"/>
                </a:solidFill>
              </a:rPr>
              <a:t>Detected Anomalies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A52B10-5F4B-F8F8-C7A8-F65CAB5B47A1}"/>
              </a:ext>
            </a:extLst>
          </p:cNvPr>
          <p:cNvSpPr txBox="1"/>
          <p:nvPr/>
        </p:nvSpPr>
        <p:spPr>
          <a:xfrm>
            <a:off x="680024" y="1347942"/>
            <a:ext cx="1300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L" sz="2800" dirty="0"/>
              <a:t>≥90%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B1752E-F1EF-AA61-CA43-173461111046}"/>
              </a:ext>
            </a:extLst>
          </p:cNvPr>
          <p:cNvSpPr txBox="1"/>
          <p:nvPr/>
        </p:nvSpPr>
        <p:spPr>
          <a:xfrm>
            <a:off x="353631" y="1844513"/>
            <a:ext cx="19534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283A96"/>
                </a:solidFill>
              </a:rPr>
              <a:t>Cross-Street Accuracy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167051-5E00-08EF-32AE-E87FD3F52D8A}"/>
              </a:ext>
            </a:extLst>
          </p:cNvPr>
          <p:cNvCxnSpPr>
            <a:cxnSpLocks/>
          </p:cNvCxnSpPr>
          <p:nvPr/>
        </p:nvCxnSpPr>
        <p:spPr>
          <a:xfrm>
            <a:off x="517244" y="3027872"/>
            <a:ext cx="0" cy="1276709"/>
          </a:xfrm>
          <a:prstGeom prst="line">
            <a:avLst/>
          </a:prstGeom>
          <a:ln>
            <a:solidFill>
              <a:srgbClr val="65B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13E9D91-88A8-DE72-2502-F2148E567636}"/>
              </a:ext>
            </a:extLst>
          </p:cNvPr>
          <p:cNvSpPr txBox="1"/>
          <p:nvPr/>
        </p:nvSpPr>
        <p:spPr>
          <a:xfrm>
            <a:off x="4687746" y="2241025"/>
            <a:ext cx="2068490" cy="3370153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b="1" dirty="0">
                <a:solidFill>
                  <a:srgbClr val="283A96"/>
                </a:solidFill>
              </a:rPr>
              <a:t>Sensor Fusion Performance</a:t>
            </a:r>
          </a:p>
          <a:p>
            <a:endParaRPr lang="he-IL" sz="1600" b="1" dirty="0">
              <a:solidFill>
                <a:srgbClr val="283A96"/>
              </a:solidFill>
            </a:endParaRPr>
          </a:p>
          <a:p>
            <a:pPr lvl="1"/>
            <a:r>
              <a:rPr lang="en-US" sz="1200" dirty="0"/>
              <a:t>Maintain </a:t>
            </a:r>
            <a:r>
              <a:rPr lang="en-US" sz="1200" b="1" dirty="0"/>
              <a:t>≥90% correct sensor association</a:t>
            </a:r>
            <a:r>
              <a:rPr lang="en-US" sz="1200" dirty="0"/>
              <a:t> using Kalman-based fusion.</a:t>
            </a:r>
          </a:p>
          <a:p>
            <a:pPr lvl="1"/>
            <a:endParaRPr lang="en-US" sz="1200" dirty="0"/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b="1" dirty="0"/>
              <a:t>Speed estimation error:</a:t>
            </a:r>
            <a:r>
              <a:rPr lang="en-IL" altLang="en-IL" sz="1200" dirty="0"/>
              <a:t> </a:t>
            </a:r>
            <a:br>
              <a:rPr lang="en-IL" altLang="en-IL" sz="1200" dirty="0"/>
            </a:br>
            <a:r>
              <a:rPr lang="en-IL" altLang="en-IL" sz="1200" dirty="0"/>
              <a:t>≤ ±5 km/h using DAS timing + GPS reference.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Support </a:t>
            </a:r>
            <a:r>
              <a:rPr lang="en-IL" altLang="en-IL" sz="1200" b="1" dirty="0"/>
              <a:t>up to 10 </a:t>
            </a:r>
            <a:r>
              <a:rPr lang="en-IL" altLang="en-IL" sz="1200" dirty="0"/>
              <a:t>simultaneous vehicles across multiple street segments.</a:t>
            </a:r>
          </a:p>
          <a:p>
            <a:pPr lvl="1"/>
            <a:endParaRPr lang="en-US" sz="1200" dirty="0"/>
          </a:p>
          <a:p>
            <a:endParaRPr lang="en-US" sz="9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EF897D-B15A-6936-0C20-6F383F1F5A7D}"/>
              </a:ext>
            </a:extLst>
          </p:cNvPr>
          <p:cNvCxnSpPr>
            <a:cxnSpLocks/>
          </p:cNvCxnSpPr>
          <p:nvPr/>
        </p:nvCxnSpPr>
        <p:spPr>
          <a:xfrm>
            <a:off x="4965939" y="3027872"/>
            <a:ext cx="0" cy="698739"/>
          </a:xfrm>
          <a:prstGeom prst="line">
            <a:avLst/>
          </a:prstGeom>
          <a:ln>
            <a:solidFill>
              <a:srgbClr val="65B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7116CDD-41CB-C8A1-965A-A9F55A061565}"/>
              </a:ext>
            </a:extLst>
          </p:cNvPr>
          <p:cNvSpPr txBox="1"/>
          <p:nvPr/>
        </p:nvSpPr>
        <p:spPr>
          <a:xfrm>
            <a:off x="2480160" y="2241025"/>
            <a:ext cx="2068490" cy="3739485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b="1" dirty="0">
                <a:solidFill>
                  <a:srgbClr val="283A96"/>
                </a:solidFill>
              </a:rPr>
              <a:t>Anomaly Detection Reliability</a:t>
            </a:r>
          </a:p>
          <a:p>
            <a:endParaRPr lang="en-US" sz="1600" b="1" dirty="0">
              <a:solidFill>
                <a:srgbClr val="283A96"/>
              </a:solidFill>
            </a:endParaRPr>
          </a:p>
          <a:p>
            <a:pPr lvl="1"/>
            <a:r>
              <a:rPr lang="en-US" sz="1200" dirty="0"/>
              <a:t>Detect </a:t>
            </a:r>
            <a:r>
              <a:rPr lang="en-US" sz="1200" b="1" dirty="0"/>
              <a:t>≥5 / 10</a:t>
            </a:r>
            <a:r>
              <a:rPr lang="en-US" sz="1200" dirty="0"/>
              <a:t> simulated anomalies in Phase A:</a:t>
            </a:r>
            <a:br>
              <a:rPr lang="en-US" sz="1200" dirty="0"/>
            </a:br>
            <a:r>
              <a:rPr lang="en-US" sz="1200" dirty="0"/>
              <a:t>over speeding, sudden stops, congestion, irregular vibration patterns, and wrong-way driving.</a:t>
            </a:r>
          </a:p>
          <a:p>
            <a:pPr lvl="1"/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Baseline:</a:t>
            </a:r>
            <a:r>
              <a:rPr lang="en-US" sz="1200" dirty="0"/>
              <a:t> no existing anomaly detection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Phase B target:</a:t>
            </a:r>
            <a:r>
              <a:rPr lang="en-US" sz="1200" dirty="0"/>
              <a:t> &gt;80% anomaly-detection accuracy after dataset expansion.</a:t>
            </a:r>
          </a:p>
          <a:p>
            <a:endParaRPr lang="en-US" sz="9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D8555D-6553-583E-CC45-B47AF4C17F06}"/>
              </a:ext>
            </a:extLst>
          </p:cNvPr>
          <p:cNvCxnSpPr>
            <a:cxnSpLocks/>
          </p:cNvCxnSpPr>
          <p:nvPr/>
        </p:nvCxnSpPr>
        <p:spPr>
          <a:xfrm>
            <a:off x="2753477" y="3027872"/>
            <a:ext cx="0" cy="1535502"/>
          </a:xfrm>
          <a:prstGeom prst="line">
            <a:avLst/>
          </a:prstGeom>
          <a:ln>
            <a:solidFill>
              <a:srgbClr val="65B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D158B23-47A2-F698-DD0B-E725363A61AC}"/>
              </a:ext>
            </a:extLst>
          </p:cNvPr>
          <p:cNvCxnSpPr>
            <a:cxnSpLocks/>
          </p:cNvCxnSpPr>
          <p:nvPr/>
        </p:nvCxnSpPr>
        <p:spPr>
          <a:xfrm>
            <a:off x="7180052" y="3027871"/>
            <a:ext cx="0" cy="1121368"/>
          </a:xfrm>
          <a:prstGeom prst="line">
            <a:avLst/>
          </a:prstGeom>
          <a:ln>
            <a:solidFill>
              <a:srgbClr val="65B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F2E668E-3860-8229-476E-6B901715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312" y="6525850"/>
            <a:ext cx="850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55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3C9DD-02E1-9D83-77AD-6F3190DE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237634-4408-A700-1DA6-6AF0C70E82DB}"/>
              </a:ext>
            </a:extLst>
          </p:cNvPr>
          <p:cNvSpPr txBox="1"/>
          <p:nvPr/>
        </p:nvSpPr>
        <p:spPr>
          <a:xfrm>
            <a:off x="146658" y="16781"/>
            <a:ext cx="86856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283A96"/>
                </a:solidFill>
              </a:rPr>
              <a:t>Tools, Environment , Hardware and  Expected Outcomes</a:t>
            </a:r>
          </a:p>
          <a:p>
            <a:pPr algn="ctr"/>
            <a:endParaRPr lang="en-US" sz="2800" dirty="0">
              <a:solidFill>
                <a:srgbClr val="283A9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3F4DE-714A-3115-4288-514664C2330C}"/>
              </a:ext>
            </a:extLst>
          </p:cNvPr>
          <p:cNvSpPr txBox="1"/>
          <p:nvPr/>
        </p:nvSpPr>
        <p:spPr>
          <a:xfrm>
            <a:off x="6357497" y="1245718"/>
            <a:ext cx="2689724" cy="2215991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b="1" dirty="0">
                <a:solidFill>
                  <a:srgbClr val="283A96"/>
                </a:solidFill>
              </a:rPr>
              <a:t>Hardware</a:t>
            </a:r>
            <a:endParaRPr lang="he-IL" sz="1600" b="1" dirty="0">
              <a:solidFill>
                <a:srgbClr val="283A96"/>
              </a:solidFill>
            </a:endParaRPr>
          </a:p>
          <a:p>
            <a:pPr lvl="1"/>
            <a:endParaRPr lang="en-US" sz="1200" dirty="0"/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Fiber-optic DAS interrogator (simulated)</a:t>
            </a:r>
            <a:endParaRPr lang="he-IL" altLang="en-IL" sz="1200" dirty="0"/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b="1" dirty="0"/>
              <a:t>Virtual camera </a:t>
            </a:r>
            <a:r>
              <a:rPr lang="en-IL" altLang="en-IL" sz="1200" dirty="0"/>
              <a:t>nodes for visual ground truth 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b="1" dirty="0"/>
              <a:t>Virtual GPS </a:t>
            </a:r>
            <a:r>
              <a:rPr lang="en-IL" altLang="en-IL" sz="1200" dirty="0"/>
              <a:t>module for speed and timing reference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IL" sz="1200" dirty="0"/>
              <a:t>A</a:t>
            </a:r>
            <a:r>
              <a:rPr lang="en-IL" altLang="en-IL" sz="1200" dirty="0"/>
              <a:t>csses to the students projects manegment servers for GPU training.</a:t>
            </a:r>
          </a:p>
          <a:p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C8ED68-13E0-2BF3-78CC-7AABC45C63A7}"/>
              </a:ext>
            </a:extLst>
          </p:cNvPr>
          <p:cNvSpPr txBox="1"/>
          <p:nvPr/>
        </p:nvSpPr>
        <p:spPr>
          <a:xfrm>
            <a:off x="3018854" y="1245718"/>
            <a:ext cx="3174939" cy="2508379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b="1" dirty="0">
                <a:solidFill>
                  <a:srgbClr val="283A96"/>
                </a:solidFill>
              </a:rPr>
              <a:t>Simulation Environment</a:t>
            </a:r>
          </a:p>
          <a:p>
            <a:r>
              <a:rPr lang="en-IL" altLang="en-IL" sz="1600" b="1" dirty="0">
                <a:solidFill>
                  <a:srgbClr val="283A96"/>
                </a:solidFill>
              </a:rPr>
              <a:t>based on previous TAU DAS research</a:t>
            </a:r>
          </a:p>
          <a:p>
            <a:endParaRPr lang="he-IL" sz="1600" b="1" dirty="0">
              <a:solidFill>
                <a:srgbClr val="283A96"/>
              </a:solidFill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Multi-street traffic simulation 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DAS strain-rate signals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IL" sz="1200" dirty="0"/>
              <a:t>Controller </a:t>
            </a:r>
            <a:r>
              <a:rPr lang="en-IL" altLang="en-IL" sz="1200" dirty="0"/>
              <a:t>for vehicle motion, timing offsets, noise levels, and anomaly injection.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Simulated camera detections and GPS traces for multi-sensor fusion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Ground-truth labeling</a:t>
            </a:r>
            <a:endParaRPr lang="en-US" sz="1200" dirty="0"/>
          </a:p>
          <a:p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16EA7E-639F-CDC3-A617-72975762B3EB}"/>
              </a:ext>
            </a:extLst>
          </p:cNvPr>
          <p:cNvSpPr txBox="1"/>
          <p:nvPr/>
        </p:nvSpPr>
        <p:spPr>
          <a:xfrm>
            <a:off x="51277" y="1245718"/>
            <a:ext cx="2803780" cy="2062103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b="1" dirty="0">
                <a:solidFill>
                  <a:srgbClr val="283A96"/>
                </a:solidFill>
              </a:rPr>
              <a:t>Software &amp; Development Tools</a:t>
            </a:r>
          </a:p>
          <a:p>
            <a:endParaRPr lang="en-US" sz="1600" b="1" dirty="0">
              <a:solidFill>
                <a:srgbClr val="283A96"/>
              </a:solidFill>
            </a:endParaRP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Python for all algorithmic development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NumPy, SciPy for digital signal processing and geophysical modeling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L" altLang="en-IL" sz="1200" dirty="0"/>
              <a:t>Pandas for event tables and dataset generation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IL" sz="1200" dirty="0" err="1"/>
              <a:t>PyTorch</a:t>
            </a:r>
            <a:r>
              <a:rPr lang="en-US" altLang="en-IL" sz="1200" dirty="0"/>
              <a:t> for anomaly detection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IL" sz="1200" dirty="0" err="1"/>
              <a:t>Jupyter</a:t>
            </a:r>
            <a:r>
              <a:rPr lang="en-US" altLang="en-IL" sz="1200" dirty="0"/>
              <a:t> Notebooks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IL" sz="1200" dirty="0"/>
              <a:t>Matplotlib for visualization</a:t>
            </a:r>
            <a:endParaRPr lang="en-IL" altLang="en-IL" sz="1200" dirty="0"/>
          </a:p>
        </p:txBody>
      </p:sp>
      <p:pic>
        <p:nvPicPr>
          <p:cNvPr id="13" name="Graphic 12" descr="Processor with solid fill">
            <a:extLst>
              <a:ext uri="{FF2B5EF4-FFF2-40B4-BE49-F238E27FC236}">
                <a16:creationId xmlns:a16="http://schemas.microsoft.com/office/drawing/2014/main" id="{F60FCF54-B9AC-3729-6AA6-CF446ECB3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3982" y="493834"/>
            <a:ext cx="654270" cy="654270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DF05AF31-5381-92CF-A78E-BD5C8111E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9188" y="493834"/>
            <a:ext cx="654269" cy="654269"/>
          </a:xfrm>
          <a:prstGeom prst="rect">
            <a:avLst/>
          </a:prstGeom>
        </p:spPr>
      </p:pic>
      <p:pic>
        <p:nvPicPr>
          <p:cNvPr id="23" name="Graphic 22" descr="Internet Of Things with solid fill">
            <a:extLst>
              <a:ext uri="{FF2B5EF4-FFF2-40B4-BE49-F238E27FC236}">
                <a16:creationId xmlns:a16="http://schemas.microsoft.com/office/drawing/2014/main" id="{24DF909A-0366-4EC9-3AE5-4FE2FEBB8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8260" y="482609"/>
            <a:ext cx="763109" cy="7631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A0B9A3-C489-BB46-7CBF-7A447F239577}"/>
              </a:ext>
            </a:extLst>
          </p:cNvPr>
          <p:cNvSpPr txBox="1"/>
          <p:nvPr/>
        </p:nvSpPr>
        <p:spPr>
          <a:xfrm>
            <a:off x="5645971" y="4459201"/>
            <a:ext cx="3380186" cy="2277547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dirty="0">
                <a:solidFill>
                  <a:srgbClr val="283A96"/>
                </a:solidFill>
              </a:rPr>
              <a:t>Live dashboard with Emergency alerts outcomes</a:t>
            </a:r>
            <a:endParaRPr lang="he-IL" sz="1600" b="1" dirty="0">
              <a:solidFill>
                <a:srgbClr val="283A96"/>
              </a:solidFill>
            </a:endParaRPr>
          </a:p>
          <a:p>
            <a:pPr lvl="1"/>
            <a:endParaRPr lang="en-US" sz="1200" dirty="0"/>
          </a:p>
          <a:p>
            <a:r>
              <a:rPr lang="en-US" sz="1400" dirty="0"/>
              <a:t>A visualization interface displaying detected events, fused trajectories, and anomaly alerts in real time, supporting rapid situational awareness and potential integration into smart-city monitoring systems.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F4518-44D4-3B8D-25C1-1B2C07D732DD}"/>
              </a:ext>
            </a:extLst>
          </p:cNvPr>
          <p:cNvSpPr txBox="1"/>
          <p:nvPr/>
        </p:nvSpPr>
        <p:spPr>
          <a:xfrm>
            <a:off x="2855057" y="4459201"/>
            <a:ext cx="2645440" cy="2077492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dirty="0">
                <a:solidFill>
                  <a:srgbClr val="283A96"/>
                </a:solidFill>
              </a:rPr>
              <a:t>Neural network anomaly detection outcomes</a:t>
            </a:r>
          </a:p>
          <a:p>
            <a:endParaRPr lang="he-IL" sz="1600" b="1" dirty="0">
              <a:solidFill>
                <a:srgbClr val="283A96"/>
              </a:solidFill>
            </a:endParaRPr>
          </a:p>
          <a:p>
            <a:r>
              <a:rPr lang="en-US" sz="1200" dirty="0"/>
              <a:t>A lightweight model trained on labeled simulated events to identify anomalies such as </a:t>
            </a:r>
            <a:r>
              <a:rPr lang="en-US" sz="1200" dirty="0" err="1"/>
              <a:t>overspeeding</a:t>
            </a:r>
            <a:r>
              <a:rPr lang="en-US" sz="1200" dirty="0"/>
              <a:t>, sudden stops, congestion, and irregular vibration patterns with measurable performance metrics.</a:t>
            </a:r>
          </a:p>
          <a:p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0ADD9-1E44-6B0D-1D0F-C36075DF7023}"/>
              </a:ext>
            </a:extLst>
          </p:cNvPr>
          <p:cNvSpPr txBox="1"/>
          <p:nvPr/>
        </p:nvSpPr>
        <p:spPr>
          <a:xfrm>
            <a:off x="206536" y="4459201"/>
            <a:ext cx="2440780" cy="1692771"/>
          </a:xfrm>
          <a:prstGeom prst="rect">
            <a:avLst/>
          </a:prstGeom>
          <a:solidFill>
            <a:srgbClr val="D8F1FF"/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1600" dirty="0">
                <a:solidFill>
                  <a:srgbClr val="283A96"/>
                </a:solidFill>
              </a:rPr>
              <a:t>Simulation results</a:t>
            </a:r>
          </a:p>
          <a:p>
            <a:endParaRPr lang="en-US" sz="1600" b="1" dirty="0">
              <a:solidFill>
                <a:srgbClr val="283A96"/>
              </a:solidFill>
            </a:endParaRPr>
          </a:p>
          <a:p>
            <a:r>
              <a:rPr lang="en-US" sz="1200" dirty="0"/>
              <a:t>Realistic multi-street simulations generating DAS signals, camera detections, GPS traces, and ground-truth labels, enabling validation of event detection, matching accuracy, and speed estimation.</a:t>
            </a:r>
          </a:p>
        </p:txBody>
      </p:sp>
      <p:pic>
        <p:nvPicPr>
          <p:cNvPr id="8" name="Graphic 7" descr="Gauge with solid fill">
            <a:extLst>
              <a:ext uri="{FF2B5EF4-FFF2-40B4-BE49-F238E27FC236}">
                <a16:creationId xmlns:a16="http://schemas.microsoft.com/office/drawing/2014/main" id="{2972B679-7EC7-B637-62A5-D90513B9FF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6782" y="3614119"/>
            <a:ext cx="914400" cy="914400"/>
          </a:xfrm>
          <a:prstGeom prst="rect">
            <a:avLst/>
          </a:prstGeom>
        </p:spPr>
      </p:pic>
      <p:pic>
        <p:nvPicPr>
          <p:cNvPr id="9" name="Graphic 8" descr="Network with solid fill">
            <a:extLst>
              <a:ext uri="{FF2B5EF4-FFF2-40B4-BE49-F238E27FC236}">
                <a16:creationId xmlns:a16="http://schemas.microsoft.com/office/drawing/2014/main" id="{EBB27B75-C8F8-0FB9-8368-5169C70468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9663" y="3724230"/>
            <a:ext cx="741740" cy="741740"/>
          </a:xfrm>
          <a:prstGeom prst="rect">
            <a:avLst/>
          </a:prstGeom>
        </p:spPr>
      </p:pic>
      <p:pic>
        <p:nvPicPr>
          <p:cNvPr id="10" name="Graphic 9" descr="Presentation with pie chart with solid fill">
            <a:extLst>
              <a:ext uri="{FF2B5EF4-FFF2-40B4-BE49-F238E27FC236}">
                <a16:creationId xmlns:a16="http://schemas.microsoft.com/office/drawing/2014/main" id="{BBEAF79F-0E6E-0B28-497F-6C30B2B171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6056" y="3775628"/>
            <a:ext cx="741740" cy="7417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504CB8-0D61-6B31-B3D7-B1452A2EB0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86312" y="6556672"/>
            <a:ext cx="850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6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85585-A459-A5F6-280F-5426D8D5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53665B-3C57-F362-AD7D-E0D9AC7BB77C}"/>
              </a:ext>
            </a:extLst>
          </p:cNvPr>
          <p:cNvSpPr txBox="1"/>
          <p:nvPr/>
        </p:nvSpPr>
        <p:spPr>
          <a:xfrm>
            <a:off x="0" y="29971"/>
            <a:ext cx="86771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283A96"/>
                </a:solidFill>
              </a:rPr>
              <a:t>Project</a:t>
            </a:r>
            <a:r>
              <a:rPr lang="he-IL" sz="3200" b="1" dirty="0">
                <a:solidFill>
                  <a:srgbClr val="283A96"/>
                </a:solidFill>
              </a:rPr>
              <a:t> </a:t>
            </a:r>
            <a:r>
              <a:rPr lang="en-US" sz="3200" dirty="0">
                <a:solidFill>
                  <a:srgbClr val="283A96"/>
                </a:solidFill>
              </a:rPr>
              <a:t>Schedule</a:t>
            </a:r>
            <a:endParaRPr lang="en-IL" sz="3200" dirty="0">
              <a:solidFill>
                <a:srgbClr val="283A96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602E1F-86D2-8A41-3BA1-6836630B3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085329"/>
              </p:ext>
            </p:extLst>
          </p:nvPr>
        </p:nvGraphicFramePr>
        <p:xfrm>
          <a:off x="355677" y="614746"/>
          <a:ext cx="8432644" cy="55820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9910">
                  <a:extLst>
                    <a:ext uri="{9D8B030D-6E8A-4147-A177-3AD203B41FA5}">
                      <a16:colId xmlns:a16="http://schemas.microsoft.com/office/drawing/2014/main" val="3082259472"/>
                    </a:ext>
                  </a:extLst>
                </a:gridCol>
                <a:gridCol w="4493725">
                  <a:extLst>
                    <a:ext uri="{9D8B030D-6E8A-4147-A177-3AD203B41FA5}">
                      <a16:colId xmlns:a16="http://schemas.microsoft.com/office/drawing/2014/main" val="3702058263"/>
                    </a:ext>
                  </a:extLst>
                </a:gridCol>
                <a:gridCol w="1319009">
                  <a:extLst>
                    <a:ext uri="{9D8B030D-6E8A-4147-A177-3AD203B41FA5}">
                      <a16:colId xmlns:a16="http://schemas.microsoft.com/office/drawing/2014/main" val="3101674958"/>
                    </a:ext>
                  </a:extLst>
                </a:gridCol>
              </a:tblGrid>
              <a:tr h="142384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 dirty="0"/>
                        <a:t>Milestone</a:t>
                      </a:r>
                      <a:endParaRPr lang="en-US" sz="1150" dirty="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One-Line Description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Planned Date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4210342442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Scenario Definition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Define all traffic scenarios (vehicle types, speeds, routes).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Dec 15, 2025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2527454447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Simulation Environment Build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Build multi-street map + sensor placement (DAS + Camera + GPS).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Dec 30, 2025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3316588474"/>
                  </a:ext>
                </a:extLst>
              </a:tr>
              <a:tr h="24917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DAS Signal Pipeline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Filtering, noise modeling, envelope extraction.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Jan 15,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62493422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Simulation of Traffic Events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Generate synthetic DAS signals from the defined scenarios.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Jan 30,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1561097358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Camera + GPS Emulation Layer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Produce synchronized camera/GPS outputs for all scenarios.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Feb 25,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3610390830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Progress Presentation (Semester A)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Submit and present all Semester A simulation results.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Mar 10,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926994750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Event Detection v1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Detect traffic-induced events from simulated DAS signals.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Mar 30,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3172724440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Cross-Street Association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Match detected events across segments using timing/features.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Apr 10,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1191957074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Fusion Model Design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Define Kalman filter structure and sensor measurement models.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Apr 25,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2657648952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Fusion Implementation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dirty="0"/>
                        <a:t>Integrate DAS + camera + GPS into a unified state estimate.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May 15,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4034355794"/>
                  </a:ext>
                </a:extLst>
              </a:tr>
              <a:tr h="24917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Fusion Evaluation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200000"/>
                        </a:lnSpc>
                        <a:buNone/>
                      </a:pPr>
                      <a:r>
                        <a:rPr lang="en-US" sz="1150" kern="1200" dirty="0">
                          <a:solidFill>
                            <a:schemeClr val="dk1"/>
                          </a:solidFill>
                        </a:rPr>
                        <a:t>Compare the estimated vehicle path with the ground-truth GPS path.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June 2,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27244602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Anomaly Dataset Generation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dirty="0"/>
                        <a:t>Create labeled anomalies (</a:t>
                      </a:r>
                      <a:r>
                        <a:rPr lang="en-US" sz="1150" dirty="0" err="1"/>
                        <a:t>overspeeding</a:t>
                      </a:r>
                      <a:r>
                        <a:rPr lang="en-US" sz="1150" dirty="0"/>
                        <a:t>, stops, congestion).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June 17,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2236005908"/>
                  </a:ext>
                </a:extLst>
              </a:tr>
              <a:tr h="35595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Performance Tuning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Optimize latency, accuracy, and fusion/anomaly performance.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June 30,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2179278485"/>
                  </a:ext>
                </a:extLst>
              </a:tr>
              <a:tr h="24917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/>
                        <a:t>Anomaly Detection Algorithm</a:t>
                      </a:r>
                      <a:endParaRPr lang="en-US" sz="115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Train and validate anomaly detection methods.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July 10,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3383780719"/>
                  </a:ext>
                </a:extLst>
              </a:tr>
              <a:tr h="24917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b="1" dirty="0"/>
                        <a:t>Final Deliverables</a:t>
                      </a:r>
                      <a:endParaRPr lang="en-US" sz="1150" dirty="0"/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/>
                        <a:t>Submit final report, code, datasets, and presentation.</a:t>
                      </a:r>
                    </a:p>
                  </a:txBody>
                  <a:tcPr marL="31873" marR="31873" marT="15936" marB="1593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150" dirty="0"/>
                        <a:t>Aug 20, 2026</a:t>
                      </a:r>
                    </a:p>
                  </a:txBody>
                  <a:tcPr marL="31873" marR="31873" marT="15936" marB="15936" anchor="ctr"/>
                </a:tc>
                <a:extLst>
                  <a:ext uri="{0D108BD9-81ED-4DB2-BD59-A6C34878D82A}">
                    <a16:rowId xmlns:a16="http://schemas.microsoft.com/office/drawing/2014/main" val="39470226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51528CC-A194-2318-119F-E755EF80D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312" y="6525850"/>
            <a:ext cx="850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95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1507</Words>
  <Application>Microsoft Macintosh PowerPoint</Application>
  <PresentationFormat>On-screen Show (4:3)</PresentationFormat>
  <Paragraphs>211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Noa Sapir</cp:lastModifiedBy>
  <cp:revision>19</cp:revision>
  <dcterms:created xsi:type="dcterms:W3CDTF">2013-01-27T09:14:16Z</dcterms:created>
  <dcterms:modified xsi:type="dcterms:W3CDTF">2025-12-13T18:53:21Z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[Confidential]</vt:lpwstr>
  </property>
</Properties>
</file>