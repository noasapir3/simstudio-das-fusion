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70" r:id="rId2"/>
    <p:sldId id="257" r:id="rId3"/>
    <p:sldId id="269" r:id="rId4"/>
    <p:sldId id="259" r:id="rId5"/>
    <p:sldId id="260" r:id="rId6"/>
    <p:sldId id="261" r:id="rId7"/>
    <p:sldId id="262" r:id="rId8"/>
    <p:sldId id="263" r:id="rId9"/>
    <p:sldId id="264" r:id="rId10"/>
    <p:sldId id="265" r:id="rId11"/>
    <p:sldId id="266" r:id="rId12"/>
    <p:sldId id="268"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847"/>
    <p:restoredTop sz="92737"/>
  </p:normalViewPr>
  <p:slideViewPr>
    <p:cSldViewPr snapToGrid="0" snapToObjects="1">
      <p:cViewPr>
        <p:scale>
          <a:sx n="114" d="100"/>
          <a:sy n="114" d="100"/>
        </p:scale>
        <p:origin x="544" y="2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97459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t>
            </a:r>
            <a:r>
              <a:rPr dirty="0" err="1"/>
              <a:t>נועה</a:t>
            </a:r>
            <a:r>
              <a:rPr dirty="0"/>
              <a:t>]  — 90 </a:t>
            </a:r>
            <a:r>
              <a:rPr dirty="0" err="1"/>
              <a:t>שניות</a:t>
            </a:r>
            <a:endParaRPr dirty="0"/>
          </a:p>
          <a:p>
            <a:endParaRPr dirty="0"/>
          </a:p>
          <a:p>
            <a:r>
              <a:rPr dirty="0"/>
              <a:t>"</a:t>
            </a:r>
            <a:r>
              <a:rPr dirty="0" err="1"/>
              <a:t>נתחיל</a:t>
            </a:r>
            <a:r>
              <a:rPr dirty="0"/>
              <a:t> </a:t>
            </a:r>
            <a:r>
              <a:rPr dirty="0" err="1"/>
              <a:t>מהנושא</a:t>
            </a:r>
            <a:r>
              <a:rPr dirty="0"/>
              <a:t>. </a:t>
            </a:r>
            <a:r>
              <a:rPr dirty="0" err="1"/>
              <a:t>מתחת</a:t>
            </a:r>
            <a:r>
              <a:rPr dirty="0"/>
              <a:t> </a:t>
            </a:r>
            <a:r>
              <a:rPr dirty="0" err="1"/>
              <a:t>לכל</a:t>
            </a:r>
            <a:r>
              <a:rPr dirty="0"/>
              <a:t> </a:t>
            </a:r>
            <a:r>
              <a:rPr dirty="0" err="1"/>
              <a:t>רחוב</a:t>
            </a:r>
            <a:r>
              <a:rPr dirty="0"/>
              <a:t> </a:t>
            </a:r>
            <a:r>
              <a:rPr dirty="0" err="1"/>
              <a:t>בעיר</a:t>
            </a:r>
            <a:r>
              <a:rPr dirty="0"/>
              <a:t> </a:t>
            </a:r>
            <a:r>
              <a:rPr dirty="0" err="1"/>
              <a:t>כבר</a:t>
            </a:r>
            <a:r>
              <a:rPr dirty="0"/>
              <a:t> </a:t>
            </a:r>
            <a:r>
              <a:rPr dirty="0" err="1"/>
              <a:t>עוברים</a:t>
            </a:r>
            <a:r>
              <a:rPr dirty="0"/>
              <a:t> </a:t>
            </a:r>
            <a:r>
              <a:rPr dirty="0" err="1"/>
              <a:t>אלפי</a:t>
            </a:r>
            <a:r>
              <a:rPr dirty="0"/>
              <a:t> </a:t>
            </a:r>
            <a:r>
              <a:rPr dirty="0" err="1"/>
              <a:t>קילומטרים</a:t>
            </a:r>
            <a:r>
              <a:rPr dirty="0"/>
              <a:t> </a:t>
            </a:r>
            <a:r>
              <a:rPr dirty="0" err="1"/>
              <a:t>של</a:t>
            </a:r>
            <a:r>
              <a:rPr dirty="0"/>
              <a:t> </a:t>
            </a:r>
            <a:r>
              <a:rPr dirty="0" err="1"/>
              <a:t>סיב</a:t>
            </a:r>
            <a:r>
              <a:rPr dirty="0"/>
              <a:t> </a:t>
            </a:r>
            <a:r>
              <a:rPr dirty="0" err="1"/>
              <a:t>אופטי</a:t>
            </a:r>
            <a:r>
              <a:rPr dirty="0"/>
              <a:t> — </a:t>
            </a:r>
            <a:r>
              <a:rPr dirty="0" err="1"/>
              <a:t>תשתית</a:t>
            </a:r>
            <a:r>
              <a:rPr dirty="0"/>
              <a:t> </a:t>
            </a:r>
            <a:r>
              <a:rPr dirty="0" err="1"/>
              <a:t>תקשורת</a:t>
            </a:r>
            <a:r>
              <a:rPr dirty="0"/>
              <a:t> </a:t>
            </a:r>
            <a:r>
              <a:rPr dirty="0" err="1"/>
              <a:t>שכבר</a:t>
            </a:r>
            <a:r>
              <a:rPr dirty="0"/>
              <a:t> </a:t>
            </a:r>
            <a:r>
              <a:rPr dirty="0" err="1"/>
              <a:t>שילמו</a:t>
            </a:r>
            <a:r>
              <a:rPr dirty="0"/>
              <a:t> </a:t>
            </a:r>
            <a:r>
              <a:rPr dirty="0" err="1"/>
              <a:t>עליה</a:t>
            </a:r>
            <a:r>
              <a:rPr dirty="0"/>
              <a:t> </a:t>
            </a:r>
            <a:r>
              <a:rPr dirty="0" err="1"/>
              <a:t>ושכבר</a:t>
            </a:r>
            <a:r>
              <a:rPr dirty="0"/>
              <a:t> </a:t>
            </a:r>
            <a:r>
              <a:rPr dirty="0" err="1"/>
              <a:t>קבורה</a:t>
            </a:r>
            <a:r>
              <a:rPr dirty="0"/>
              <a:t> </a:t>
            </a:r>
            <a:r>
              <a:rPr dirty="0" err="1"/>
              <a:t>באדמה</a:t>
            </a:r>
            <a:r>
              <a:rPr dirty="0"/>
              <a:t>.</a:t>
            </a:r>
          </a:p>
          <a:p>
            <a:endParaRPr dirty="0"/>
          </a:p>
          <a:p>
            <a:r>
              <a:rPr dirty="0" err="1"/>
              <a:t>הטכנולוגיה</a:t>
            </a:r>
            <a:r>
              <a:rPr dirty="0"/>
              <a:t> </a:t>
            </a:r>
            <a:r>
              <a:rPr dirty="0" err="1"/>
              <a:t>שנקראת</a:t>
            </a:r>
            <a:r>
              <a:rPr dirty="0"/>
              <a:t> DAS — </a:t>
            </a:r>
            <a:r>
              <a:rPr dirty="0" err="1"/>
              <a:t>חישה</a:t>
            </a:r>
            <a:r>
              <a:rPr dirty="0"/>
              <a:t> </a:t>
            </a:r>
            <a:r>
              <a:rPr dirty="0" err="1"/>
              <a:t>אקוסטית</a:t>
            </a:r>
            <a:r>
              <a:rPr dirty="0"/>
              <a:t> </a:t>
            </a:r>
            <a:r>
              <a:rPr dirty="0" err="1"/>
              <a:t>מבוזרת</a:t>
            </a:r>
            <a:r>
              <a:rPr dirty="0"/>
              <a:t> — </a:t>
            </a:r>
            <a:r>
              <a:rPr dirty="0" err="1"/>
              <a:t>הופכת</a:t>
            </a:r>
            <a:r>
              <a:rPr dirty="0"/>
              <a:t> </a:t>
            </a:r>
            <a:r>
              <a:rPr dirty="0" err="1"/>
              <a:t>את</a:t>
            </a:r>
            <a:r>
              <a:rPr dirty="0"/>
              <a:t> </a:t>
            </a:r>
            <a:r>
              <a:rPr dirty="0" err="1"/>
              <a:t>הכבל</a:t>
            </a:r>
            <a:r>
              <a:rPr dirty="0"/>
              <a:t> </a:t>
            </a:r>
            <a:r>
              <a:rPr dirty="0" err="1"/>
              <a:t>הזה</a:t>
            </a:r>
            <a:r>
              <a:rPr dirty="0"/>
              <a:t> </a:t>
            </a:r>
            <a:r>
              <a:rPr dirty="0" err="1"/>
              <a:t>למערך</a:t>
            </a:r>
            <a:r>
              <a:rPr dirty="0"/>
              <a:t> </a:t>
            </a:r>
            <a:r>
              <a:rPr dirty="0" err="1"/>
              <a:t>חיישנים</a:t>
            </a:r>
            <a:r>
              <a:rPr dirty="0"/>
              <a:t> </a:t>
            </a:r>
            <a:r>
              <a:rPr dirty="0" err="1"/>
              <a:t>צפוף</a:t>
            </a:r>
            <a:r>
              <a:rPr dirty="0"/>
              <a:t>. </a:t>
            </a:r>
            <a:r>
              <a:rPr dirty="0" err="1"/>
              <a:t>כל</a:t>
            </a:r>
            <a:r>
              <a:rPr dirty="0"/>
              <a:t> </a:t>
            </a:r>
            <a:r>
              <a:rPr dirty="0" err="1"/>
              <a:t>מטר</a:t>
            </a:r>
            <a:r>
              <a:rPr dirty="0"/>
              <a:t> </a:t>
            </a:r>
            <a:r>
              <a:rPr dirty="0" err="1"/>
              <a:t>של</a:t>
            </a:r>
            <a:r>
              <a:rPr dirty="0"/>
              <a:t> </a:t>
            </a:r>
            <a:r>
              <a:rPr dirty="0" err="1"/>
              <a:t>סיב</a:t>
            </a:r>
            <a:r>
              <a:rPr dirty="0"/>
              <a:t> </a:t>
            </a:r>
            <a:r>
              <a:rPr dirty="0" err="1"/>
              <a:t>הוא</a:t>
            </a:r>
            <a:r>
              <a:rPr dirty="0"/>
              <a:t> </a:t>
            </a:r>
            <a:r>
              <a:rPr dirty="0" err="1"/>
              <a:t>ערוץ</a:t>
            </a:r>
            <a:r>
              <a:rPr dirty="0"/>
              <a:t> </a:t>
            </a:r>
            <a:r>
              <a:rPr dirty="0" err="1"/>
              <a:t>מדידה</a:t>
            </a:r>
            <a:r>
              <a:rPr dirty="0"/>
              <a:t> </a:t>
            </a:r>
            <a:r>
              <a:rPr dirty="0" err="1"/>
              <a:t>עצמאי</a:t>
            </a:r>
            <a:r>
              <a:rPr dirty="0"/>
              <a:t>. </a:t>
            </a:r>
            <a:r>
              <a:rPr dirty="0" err="1"/>
              <a:t>רכב</a:t>
            </a:r>
            <a:r>
              <a:rPr dirty="0"/>
              <a:t> </a:t>
            </a:r>
            <a:r>
              <a:rPr dirty="0" err="1"/>
              <a:t>שנוסע</a:t>
            </a:r>
            <a:r>
              <a:rPr dirty="0"/>
              <a:t> </a:t>
            </a:r>
            <a:r>
              <a:rPr dirty="0" err="1"/>
              <a:t>מעל</a:t>
            </a:r>
            <a:r>
              <a:rPr dirty="0"/>
              <a:t> </a:t>
            </a:r>
            <a:r>
              <a:rPr dirty="0" err="1"/>
              <a:t>הכבל</a:t>
            </a:r>
            <a:r>
              <a:rPr dirty="0"/>
              <a:t> </a:t>
            </a:r>
            <a:r>
              <a:rPr dirty="0" err="1"/>
              <a:t>מפעיל</a:t>
            </a:r>
            <a:r>
              <a:rPr dirty="0"/>
              <a:t> </a:t>
            </a:r>
            <a:r>
              <a:rPr dirty="0" err="1"/>
              <a:t>עומס</a:t>
            </a:r>
            <a:r>
              <a:rPr dirty="0"/>
              <a:t> </a:t>
            </a:r>
            <a:r>
              <a:rPr dirty="0" err="1"/>
              <a:t>על</a:t>
            </a:r>
            <a:r>
              <a:rPr dirty="0"/>
              <a:t> </a:t>
            </a:r>
            <a:r>
              <a:rPr dirty="0" err="1"/>
              <a:t>הקרקע</a:t>
            </a:r>
            <a:r>
              <a:rPr dirty="0"/>
              <a:t>, </a:t>
            </a:r>
            <a:r>
              <a:rPr dirty="0" err="1"/>
              <a:t>הקרקע</a:t>
            </a:r>
            <a:r>
              <a:rPr dirty="0"/>
              <a:t> </a:t>
            </a:r>
            <a:r>
              <a:rPr dirty="0" err="1"/>
              <a:t>מתעוותת</a:t>
            </a:r>
            <a:r>
              <a:rPr dirty="0"/>
              <a:t>, </a:t>
            </a:r>
            <a:r>
              <a:rPr dirty="0" err="1"/>
              <a:t>הסיב</a:t>
            </a:r>
            <a:r>
              <a:rPr dirty="0"/>
              <a:t> </a:t>
            </a:r>
            <a:r>
              <a:rPr dirty="0" err="1"/>
              <a:t>נמתח</a:t>
            </a:r>
            <a:r>
              <a:rPr dirty="0"/>
              <a:t> </a:t>
            </a:r>
            <a:r>
              <a:rPr dirty="0" err="1"/>
              <a:t>קלות</a:t>
            </a:r>
            <a:r>
              <a:rPr dirty="0"/>
              <a:t> — </a:t>
            </a:r>
            <a:r>
              <a:rPr dirty="0" err="1"/>
              <a:t>והפאזה</a:t>
            </a:r>
            <a:r>
              <a:rPr dirty="0"/>
              <a:t> </a:t>
            </a:r>
            <a:r>
              <a:rPr dirty="0" err="1"/>
              <a:t>של</a:t>
            </a:r>
            <a:r>
              <a:rPr dirty="0"/>
              <a:t> </a:t>
            </a:r>
            <a:r>
              <a:rPr dirty="0" err="1"/>
              <a:t>האור</a:t>
            </a:r>
            <a:r>
              <a:rPr dirty="0"/>
              <a:t> </a:t>
            </a:r>
            <a:r>
              <a:rPr dirty="0" err="1"/>
              <a:t>שחוזר</a:t>
            </a:r>
            <a:r>
              <a:rPr dirty="0"/>
              <a:t> </a:t>
            </a:r>
            <a:r>
              <a:rPr dirty="0" err="1"/>
              <a:t>מהסיב</a:t>
            </a:r>
            <a:r>
              <a:rPr dirty="0"/>
              <a:t> </a:t>
            </a:r>
            <a:r>
              <a:rPr dirty="0" err="1"/>
              <a:t>משתנה</a:t>
            </a:r>
            <a:r>
              <a:rPr dirty="0"/>
              <a:t>. </a:t>
            </a:r>
            <a:r>
              <a:rPr dirty="0" err="1"/>
              <a:t>מהאות</a:t>
            </a:r>
            <a:r>
              <a:rPr dirty="0"/>
              <a:t> </a:t>
            </a:r>
            <a:r>
              <a:rPr dirty="0" err="1"/>
              <a:t>הזה</a:t>
            </a:r>
            <a:r>
              <a:rPr dirty="0"/>
              <a:t> </a:t>
            </a:r>
            <a:r>
              <a:rPr dirty="0" err="1"/>
              <a:t>אפשר</a:t>
            </a:r>
            <a:r>
              <a:rPr dirty="0"/>
              <a:t> </a:t>
            </a:r>
            <a:r>
              <a:rPr dirty="0" err="1"/>
              <a:t>לחלץ</a:t>
            </a:r>
            <a:r>
              <a:rPr dirty="0"/>
              <a:t> </a:t>
            </a:r>
            <a:r>
              <a:rPr dirty="0" err="1"/>
              <a:t>את</a:t>
            </a:r>
            <a:r>
              <a:rPr dirty="0"/>
              <a:t> </a:t>
            </a:r>
            <a:r>
              <a:rPr dirty="0" err="1"/>
              <a:t>המיקום</a:t>
            </a:r>
            <a:r>
              <a:rPr dirty="0"/>
              <a:t>, </a:t>
            </a:r>
            <a:r>
              <a:rPr dirty="0" err="1"/>
              <a:t>המהירות</a:t>
            </a:r>
            <a:r>
              <a:rPr dirty="0"/>
              <a:t> </a:t>
            </a:r>
            <a:r>
              <a:rPr dirty="0" err="1"/>
              <a:t>ואפילו</a:t>
            </a:r>
            <a:r>
              <a:rPr dirty="0"/>
              <a:t> </a:t>
            </a:r>
            <a:r>
              <a:rPr dirty="0" err="1"/>
              <a:t>המשקל</a:t>
            </a:r>
            <a:r>
              <a:rPr dirty="0"/>
              <a:t> </a:t>
            </a:r>
            <a:r>
              <a:rPr dirty="0" err="1"/>
              <a:t>של</a:t>
            </a:r>
            <a:r>
              <a:rPr dirty="0"/>
              <a:t> </a:t>
            </a:r>
            <a:r>
              <a:rPr dirty="0" err="1"/>
              <a:t>הרכב</a:t>
            </a:r>
            <a:r>
              <a:rPr dirty="0"/>
              <a:t>.</a:t>
            </a:r>
          </a:p>
          <a:p>
            <a:endParaRPr dirty="0"/>
          </a:p>
          <a:p>
            <a:r>
              <a:rPr dirty="0" err="1"/>
              <a:t>מה</a:t>
            </a:r>
            <a:r>
              <a:rPr dirty="0"/>
              <a:t> </a:t>
            </a:r>
            <a:r>
              <a:rPr dirty="0" err="1"/>
              <a:t>שבנינו</a:t>
            </a:r>
            <a:r>
              <a:rPr dirty="0"/>
              <a:t> </a:t>
            </a:r>
            <a:r>
              <a:rPr dirty="0" err="1"/>
              <a:t>נקרא</a:t>
            </a:r>
            <a:r>
              <a:rPr dirty="0"/>
              <a:t> </a:t>
            </a:r>
            <a:r>
              <a:rPr dirty="0" err="1"/>
              <a:t>SimStudio</a:t>
            </a:r>
            <a:r>
              <a:rPr dirty="0"/>
              <a:t>: </a:t>
            </a:r>
            <a:r>
              <a:rPr dirty="0" err="1"/>
              <a:t>סימולטור</a:t>
            </a:r>
            <a:r>
              <a:rPr dirty="0"/>
              <a:t> </a:t>
            </a:r>
            <a:r>
              <a:rPr dirty="0" err="1"/>
              <a:t>מקצה</a:t>
            </a:r>
            <a:r>
              <a:rPr dirty="0"/>
              <a:t> </a:t>
            </a:r>
            <a:r>
              <a:rPr dirty="0" err="1"/>
              <a:t>לקצה</a:t>
            </a:r>
            <a:r>
              <a:rPr dirty="0"/>
              <a:t> </a:t>
            </a:r>
            <a:r>
              <a:rPr dirty="0" err="1"/>
              <a:t>ופייפליין</a:t>
            </a:r>
            <a:r>
              <a:rPr dirty="0"/>
              <a:t> </a:t>
            </a:r>
            <a:r>
              <a:rPr dirty="0" err="1"/>
              <a:t>היתוך</a:t>
            </a:r>
            <a:r>
              <a:rPr dirty="0"/>
              <a:t> </a:t>
            </a:r>
            <a:r>
              <a:rPr dirty="0" err="1"/>
              <a:t>שמקבל</a:t>
            </a:r>
            <a:r>
              <a:rPr dirty="0"/>
              <a:t> DAS, </a:t>
            </a:r>
            <a:r>
              <a:rPr dirty="0" err="1"/>
              <a:t>מצלמה</a:t>
            </a:r>
            <a:r>
              <a:rPr dirty="0"/>
              <a:t> </a:t>
            </a:r>
            <a:r>
              <a:rPr dirty="0" err="1"/>
              <a:t>ו</a:t>
            </a:r>
            <a:r>
              <a:rPr dirty="0"/>
              <a:t>‑GPS, </a:t>
            </a:r>
            <a:r>
              <a:rPr dirty="0" err="1"/>
              <a:t>מייצר</a:t>
            </a:r>
            <a:r>
              <a:rPr dirty="0"/>
              <a:t> </a:t>
            </a:r>
            <a:r>
              <a:rPr dirty="0" err="1"/>
              <a:t>מסלול</a:t>
            </a:r>
            <a:r>
              <a:rPr dirty="0"/>
              <a:t> </a:t>
            </a:r>
            <a:r>
              <a:rPr dirty="0" err="1"/>
              <a:t>אחד</a:t>
            </a:r>
            <a:r>
              <a:rPr dirty="0"/>
              <a:t> </a:t>
            </a:r>
            <a:r>
              <a:rPr dirty="0" err="1"/>
              <a:t>מאוחד</a:t>
            </a:r>
            <a:r>
              <a:rPr dirty="0"/>
              <a:t> </a:t>
            </a:r>
            <a:r>
              <a:rPr dirty="0" err="1"/>
              <a:t>לכל</a:t>
            </a:r>
            <a:r>
              <a:rPr dirty="0"/>
              <a:t> </a:t>
            </a:r>
            <a:r>
              <a:rPr dirty="0" err="1"/>
              <a:t>רכב</a:t>
            </a:r>
            <a:r>
              <a:rPr dirty="0"/>
              <a:t>, </a:t>
            </a:r>
            <a:r>
              <a:rPr dirty="0" err="1"/>
              <a:t>ומעליו</a:t>
            </a:r>
            <a:r>
              <a:rPr dirty="0"/>
              <a:t> </a:t>
            </a:r>
            <a:r>
              <a:rPr dirty="0" err="1"/>
              <a:t>מודל</a:t>
            </a:r>
            <a:r>
              <a:rPr dirty="0"/>
              <a:t> </a:t>
            </a:r>
            <a:r>
              <a:rPr dirty="0" err="1"/>
              <a:t>לזיהוי</a:t>
            </a:r>
            <a:r>
              <a:rPr dirty="0"/>
              <a:t> </a:t>
            </a:r>
            <a:r>
              <a:rPr dirty="0" err="1"/>
              <a:t>חריגות</a:t>
            </a:r>
            <a:r>
              <a:rPr dirty="0"/>
              <a:t>.</a:t>
            </a:r>
          </a:p>
          <a:p>
            <a:endParaRPr dirty="0"/>
          </a:p>
          <a:p>
            <a:r>
              <a:rPr dirty="0" err="1"/>
              <a:t>בתמונה</a:t>
            </a:r>
            <a:r>
              <a:rPr dirty="0"/>
              <a:t> </a:t>
            </a:r>
            <a:r>
              <a:rPr dirty="0" err="1"/>
              <a:t>מימין</a:t>
            </a:r>
            <a:r>
              <a:rPr dirty="0"/>
              <a:t> — </a:t>
            </a:r>
            <a:r>
              <a:rPr dirty="0" err="1"/>
              <a:t>רשת</a:t>
            </a:r>
            <a:r>
              <a:rPr dirty="0"/>
              <a:t> </a:t>
            </a:r>
            <a:r>
              <a:rPr dirty="0" err="1"/>
              <a:t>הכבישים</a:t>
            </a:r>
            <a:r>
              <a:rPr dirty="0"/>
              <a:t> </a:t>
            </a:r>
            <a:r>
              <a:rPr dirty="0" err="1"/>
              <a:t>האמיתית</a:t>
            </a:r>
            <a:r>
              <a:rPr dirty="0"/>
              <a:t> </a:t>
            </a:r>
            <a:r>
              <a:rPr dirty="0" err="1"/>
              <a:t>של</a:t>
            </a:r>
            <a:r>
              <a:rPr dirty="0"/>
              <a:t> </a:t>
            </a:r>
            <a:r>
              <a:rPr dirty="0" err="1"/>
              <a:t>צפון</a:t>
            </a:r>
            <a:r>
              <a:rPr dirty="0"/>
              <a:t> </a:t>
            </a:r>
            <a:r>
              <a:rPr dirty="0" err="1"/>
              <a:t>תל</a:t>
            </a:r>
            <a:r>
              <a:rPr dirty="0"/>
              <a:t> </a:t>
            </a:r>
            <a:r>
              <a:rPr dirty="0" err="1"/>
              <a:t>אביב</a:t>
            </a:r>
            <a:r>
              <a:rPr dirty="0"/>
              <a:t>, </a:t>
            </a:r>
            <a:r>
              <a:rPr dirty="0" err="1"/>
              <a:t>שממנה</a:t>
            </a:r>
            <a:r>
              <a:rPr dirty="0"/>
              <a:t> </a:t>
            </a:r>
            <a:r>
              <a:rPr dirty="0" err="1"/>
              <a:t>שאבנו</a:t>
            </a:r>
            <a:r>
              <a:rPr dirty="0"/>
              <a:t> 144 </a:t>
            </a:r>
            <a:r>
              <a:rPr dirty="0" err="1"/>
              <a:t>אזורי</a:t>
            </a:r>
            <a:r>
              <a:rPr dirty="0"/>
              <a:t> </a:t>
            </a:r>
            <a:r>
              <a:rPr dirty="0" err="1"/>
              <a:t>סימולציה</a:t>
            </a:r>
            <a:r>
              <a:rPr dirty="0"/>
              <a:t> </a:t>
            </a:r>
            <a:r>
              <a:rPr dirty="0" err="1"/>
              <a:t>שמגדירים</a:t>
            </a:r>
            <a:r>
              <a:rPr dirty="0"/>
              <a:t> </a:t>
            </a:r>
            <a:r>
              <a:rPr dirty="0" err="1"/>
              <a:t>את</a:t>
            </a:r>
            <a:r>
              <a:rPr dirty="0"/>
              <a:t> </a:t>
            </a:r>
            <a:r>
              <a:rPr dirty="0" err="1"/>
              <a:t>בסיס</a:t>
            </a:r>
            <a:r>
              <a:rPr dirty="0"/>
              <a:t> </a:t>
            </a:r>
            <a:r>
              <a:rPr dirty="0" err="1"/>
              <a:t>ה'נהיגה</a:t>
            </a:r>
            <a:r>
              <a:rPr dirty="0"/>
              <a:t> </a:t>
            </a:r>
            <a:r>
              <a:rPr dirty="0" err="1"/>
              <a:t>הנורמלית</a:t>
            </a:r>
            <a:r>
              <a:rPr dirty="0"/>
              <a:t>'.</a:t>
            </a:r>
          </a:p>
          <a:p>
            <a:endParaRPr dirty="0"/>
          </a:p>
          <a:p>
            <a:r>
              <a:rPr dirty="0" err="1"/>
              <a:t>היתרונות</a:t>
            </a:r>
            <a:r>
              <a:rPr dirty="0"/>
              <a:t>: </a:t>
            </a:r>
            <a:r>
              <a:rPr dirty="0" err="1"/>
              <a:t>פרטיות</a:t>
            </a:r>
            <a:r>
              <a:rPr dirty="0"/>
              <a:t> — </a:t>
            </a:r>
            <a:r>
              <a:rPr dirty="0" err="1"/>
              <a:t>אין</a:t>
            </a:r>
            <a:r>
              <a:rPr dirty="0"/>
              <a:t> </a:t>
            </a:r>
            <a:r>
              <a:rPr dirty="0" err="1"/>
              <a:t>מצלמות</a:t>
            </a:r>
            <a:r>
              <a:rPr dirty="0"/>
              <a:t>; </a:t>
            </a:r>
            <a:r>
              <a:rPr dirty="0" err="1"/>
              <a:t>עמידות</a:t>
            </a:r>
            <a:r>
              <a:rPr dirty="0"/>
              <a:t> </a:t>
            </a:r>
            <a:r>
              <a:rPr dirty="0" err="1"/>
              <a:t>למזג</a:t>
            </a:r>
            <a:r>
              <a:rPr dirty="0"/>
              <a:t> </a:t>
            </a:r>
            <a:r>
              <a:rPr dirty="0" err="1"/>
              <a:t>אוויר</a:t>
            </a:r>
            <a:r>
              <a:rPr dirty="0"/>
              <a:t> </a:t>
            </a:r>
            <a:r>
              <a:rPr dirty="0" err="1"/>
              <a:t>ותאורה</a:t>
            </a:r>
            <a:r>
              <a:rPr dirty="0"/>
              <a:t>; </a:t>
            </a:r>
            <a:r>
              <a:rPr dirty="0" err="1"/>
              <a:t>ועלות</a:t>
            </a:r>
            <a:r>
              <a:rPr dirty="0"/>
              <a:t> </a:t>
            </a:r>
            <a:r>
              <a:rPr dirty="0" err="1"/>
              <a:t>תוספתית</a:t>
            </a:r>
            <a:r>
              <a:rPr dirty="0"/>
              <a:t> </a:t>
            </a:r>
            <a:r>
              <a:rPr dirty="0" err="1"/>
              <a:t>כמעט</a:t>
            </a:r>
            <a:r>
              <a:rPr dirty="0"/>
              <a:t> </a:t>
            </a:r>
            <a:r>
              <a:rPr dirty="0" err="1"/>
              <a:t>אפסית</a:t>
            </a:r>
            <a:r>
              <a:rPr dirty="0"/>
              <a:t>."</a:t>
            </a:r>
          </a:p>
          <a:p>
            <a:endParaRPr dirty="0"/>
          </a:p>
          <a:p>
            <a:r>
              <a:rPr dirty="0" err="1"/>
              <a:t>מעבר</a:t>
            </a:r>
            <a:r>
              <a:rPr dirty="0"/>
              <a:t>: "</a:t>
            </a:r>
            <a:r>
              <a:rPr dirty="0" err="1"/>
              <a:t>אז</a:t>
            </a:r>
            <a:r>
              <a:rPr dirty="0"/>
              <a:t> </a:t>
            </a:r>
            <a:r>
              <a:rPr dirty="0" err="1"/>
              <a:t>איך</a:t>
            </a:r>
            <a:r>
              <a:rPr dirty="0"/>
              <a:t> </a:t>
            </a:r>
            <a:r>
              <a:rPr dirty="0" err="1"/>
              <a:t>בדיוק</a:t>
            </a:r>
            <a:r>
              <a:rPr dirty="0"/>
              <a:t> </a:t>
            </a:r>
            <a:r>
              <a:rPr dirty="0" err="1"/>
              <a:t>סיב</a:t>
            </a:r>
            <a:r>
              <a:rPr dirty="0"/>
              <a:t> </a:t>
            </a:r>
            <a:r>
              <a:rPr dirty="0" err="1"/>
              <a:t>אחד</a:t>
            </a:r>
            <a:r>
              <a:rPr dirty="0"/>
              <a:t> </a:t>
            </a:r>
            <a:r>
              <a:rPr dirty="0" err="1"/>
              <a:t>הופך</a:t>
            </a:r>
            <a:r>
              <a:rPr dirty="0"/>
              <a:t> </a:t>
            </a:r>
            <a:r>
              <a:rPr dirty="0" err="1"/>
              <a:t>לאלפי</a:t>
            </a:r>
            <a:r>
              <a:rPr dirty="0"/>
              <a:t> </a:t>
            </a:r>
            <a:r>
              <a:rPr dirty="0" err="1"/>
              <a:t>חיישנים</a:t>
            </a:r>
            <a:r>
              <a:rPr dirty="0"/>
              <a:t>? — </a:t>
            </a:r>
            <a:r>
              <a:rPr dirty="0" err="1"/>
              <a:t>זה</a:t>
            </a:r>
            <a:r>
              <a:rPr dirty="0"/>
              <a:t> </a:t>
            </a:r>
            <a:r>
              <a:rPr dirty="0" err="1"/>
              <a:t>השקף</a:t>
            </a:r>
            <a:r>
              <a:rPr dirty="0"/>
              <a:t> </a:t>
            </a:r>
            <a:r>
              <a:rPr dirty="0" err="1"/>
              <a:t>הבא</a:t>
            </a:r>
            <a:r>
              <a:rPr dirty="0"/>
              <a:t>." </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[נועה]  — כ‑200 שניות  (שקף הפיזיקה — הכי חשוב. להסביר לאט, ולהצביע על הפאנלים)</a:t>
            </a:r>
          </a:p>
          <a:p>
            <a:endParaRPr/>
          </a:p>
          <a:p>
            <a:r>
              <a:t>"זה הלב הפיזיקלי של הפרויקט, ואני אקדיש לו רגע.</a:t>
            </a:r>
          </a:p>
          <a:p>
            <a:endParaRPr/>
          </a:p>
          <a:p>
            <a:r>
              <a:t>איך סיב תקשורת רגיל הופך לאלפי חיישנים? בזכות פיזור ריילי. בתוך הזכוכית יש אי‑סדירויות זעירות במקדם השבירה, 'קפואות' עוד מהייצור. כשמזריקים פולס לייזר לתוך הסיב — החץ האדום למעלה — כל נקודה לאורכו מחזירה מעט אור אחורה. אנחנו לא מתקינים שום חיישן; החיישנים הם הזכוכית עצמה.</a:t>
            </a:r>
          </a:p>
          <a:p>
            <a:endParaRPr/>
          </a:p>
          <a:p>
            <a:r>
              <a:t>המכשיר בקצה, ה‑Interrogator, עובד בשיטת φ‑OTDR: זמן ההחזרה נותן את המיקום לאורך הסיב, והפאזה של האור שחזר נותנת את המדידה. הפרש הפאזה בין שתי נקודות שמרוחקות אורך מדידה L — ה‑gauge length — הוא בדיוק המתיחה של קטע הסיב. ככה כל קטע של מטרים בודדים הוא ערוץ עצמאי: בכבל של 10 קילומטר מקבלים בסדר גודל 10,000 ערוצים, והכול מקצה אחד.</a:t>
            </a:r>
          </a:p>
          <a:p>
            <a:endParaRPr/>
          </a:p>
          <a:p>
            <a:r>
              <a:t>עכשיו הרכב. לפי הקירוב של פלמן‑בוסינסק — משוואה 1 מימין — משקל הרכב הוא עומס נקודתי שמעוות את הקרקע, והסיב מודד את ההפרש של העיוות על פני ה‑gauge length, בקצב מתיחה — משוואה 2.</a:t>
            </a:r>
          </a:p>
          <a:p>
            <a:endParaRPr/>
          </a:p>
          <a:p>
            <a:r>
              <a:t>ומכאן — איך מוציאים מזה תכונות של רכב? שלושה דברים.</a:t>
            </a:r>
          </a:p>
          <a:p>
            <a:endParaRPr/>
          </a:p>
          <a:p>
            <a:r>
              <a:t>מיקום: הערוץ שנדלק הוא המיקום. הסיב ממופה גיאוגרפית פעם אחת בהתקנה.</a:t>
            </a:r>
          </a:p>
          <a:p>
            <a:endParaRPr/>
          </a:p>
          <a:p>
            <a:r>
              <a:t>מהירות — פאנל B. הציר האופקי הוא מרחק לאורך הסיב, האנכי הוא זמן, והצבע הוא קצב המתיחה. רכב שנוסע מדליק ערוצים עוקבים בזה אחר זה ולכן מצייר פס אלכסוני. הנקודות הלבנות הן הדטקציות של המערכת שלנו. השיפוע של הפס — דלתא אל חלקי דלתא טי — הוא המהירות, והכיוון של השיפוע נותן את כיוון הנסיעה. שימו לב שיש שם פס שני, של רכב שנוסע בכיוון ההפוך.</a:t>
            </a:r>
          </a:p>
          <a:p>
            <a:endParaRPr/>
          </a:p>
          <a:p>
            <a:r>
              <a:t>משקל — פאנל C. זה מה שכל הערוצים רואים ברגע אחד: כל רכב מדפיס חתימה כמעט‑סטטית, מתחת ל‑1 הרץ. המשרעת פרופורציונית למשקל ודועכת עם המרחק מהסיב. הרכב הכבד בכתום גדול פי כמה מהקל. ומכיוון שאנחנו יודעים את המרחק — כי יש לנו את המיקום — אפשר להפוך את היחס ולהעריך את המשקל. זה מה שמאפשר לסמן רכב עמוס מדי.</a:t>
            </a:r>
          </a:p>
          <a:p>
            <a:endParaRPr/>
          </a:p>
          <a:p>
            <a:r>
              <a:t>ותאוצה — פשוט גזירה של המהירות לאורך המסלול; זה מה שחושף בלימות חירום.</a:t>
            </a:r>
          </a:p>
          <a:p>
            <a:endParaRPr/>
          </a:p>
          <a:p>
            <a:r>
              <a:t>כל אלה יחד הם חומר הגלם של 166 המאפיינים שמודל החריגות יקבל בהמשך."</a:t>
            </a:r>
          </a:p>
          <a:p>
            <a:endParaRPr/>
          </a:p>
          <a:p>
            <a:r>
              <a:t>מעבר: "נתאי — המוטיבציה והיעדים." </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t>
            </a:r>
            <a:r>
              <a:rPr dirty="0" err="1"/>
              <a:t>נתאי</a:t>
            </a:r>
            <a:r>
              <a:rPr dirty="0"/>
              <a:t>]  — 100 </a:t>
            </a:r>
            <a:r>
              <a:rPr dirty="0" err="1"/>
              <a:t>שניות</a:t>
            </a:r>
            <a:endParaRPr dirty="0"/>
          </a:p>
          <a:p>
            <a:endParaRPr dirty="0"/>
          </a:p>
          <a:p>
            <a:r>
              <a:rPr dirty="0"/>
              <a:t>"</a:t>
            </a:r>
            <a:r>
              <a:rPr dirty="0" err="1"/>
              <a:t>תודה</a:t>
            </a:r>
            <a:r>
              <a:rPr dirty="0"/>
              <a:t> </a:t>
            </a:r>
            <a:r>
              <a:rPr dirty="0" err="1"/>
              <a:t>נועה</a:t>
            </a:r>
            <a:r>
              <a:rPr dirty="0"/>
              <a:t>. </a:t>
            </a:r>
            <a:r>
              <a:rPr dirty="0" err="1"/>
              <a:t>אני</a:t>
            </a:r>
            <a:r>
              <a:rPr dirty="0"/>
              <a:t> </a:t>
            </a:r>
            <a:r>
              <a:rPr dirty="0" err="1"/>
              <a:t>אמשיך</a:t>
            </a:r>
            <a:r>
              <a:rPr dirty="0"/>
              <a:t> </a:t>
            </a:r>
            <a:r>
              <a:rPr dirty="0" err="1"/>
              <a:t>למוטיבציה</a:t>
            </a:r>
            <a:r>
              <a:rPr dirty="0"/>
              <a:t> </a:t>
            </a:r>
            <a:r>
              <a:rPr dirty="0" err="1"/>
              <a:t>ההנדסית</a:t>
            </a:r>
            <a:r>
              <a:rPr dirty="0"/>
              <a:t>.</a:t>
            </a:r>
          </a:p>
          <a:p>
            <a:endParaRPr dirty="0"/>
          </a:p>
          <a:p>
            <a:r>
              <a:rPr dirty="0" err="1"/>
              <a:t>שלוש</a:t>
            </a:r>
            <a:r>
              <a:rPr dirty="0"/>
              <a:t> </a:t>
            </a:r>
            <a:r>
              <a:rPr dirty="0" err="1"/>
              <a:t>סיבות</a:t>
            </a:r>
            <a:r>
              <a:rPr dirty="0"/>
              <a:t> </a:t>
            </a:r>
            <a:r>
              <a:rPr dirty="0" err="1"/>
              <a:t>שהופכות</a:t>
            </a:r>
            <a:r>
              <a:rPr dirty="0"/>
              <a:t> </a:t>
            </a:r>
            <a:r>
              <a:rPr dirty="0" err="1"/>
              <a:t>את</a:t>
            </a:r>
            <a:r>
              <a:rPr dirty="0"/>
              <a:t> </a:t>
            </a:r>
            <a:r>
              <a:rPr dirty="0" err="1"/>
              <a:t>הרעיון</a:t>
            </a:r>
            <a:r>
              <a:rPr dirty="0"/>
              <a:t> </a:t>
            </a:r>
            <a:r>
              <a:rPr dirty="0" err="1"/>
              <a:t>לאטרקטיבי</a:t>
            </a:r>
            <a:r>
              <a:rPr dirty="0"/>
              <a:t>: </a:t>
            </a:r>
            <a:r>
              <a:rPr dirty="0" err="1"/>
              <a:t>ראשית</a:t>
            </a:r>
            <a:r>
              <a:rPr dirty="0"/>
              <a:t>, </a:t>
            </a:r>
            <a:r>
              <a:rPr dirty="0" err="1"/>
              <a:t>שימוש</a:t>
            </a:r>
            <a:r>
              <a:rPr dirty="0"/>
              <a:t> </a:t>
            </a:r>
            <a:r>
              <a:rPr dirty="0" err="1"/>
              <a:t>חוזר</a:t>
            </a:r>
            <a:r>
              <a:rPr dirty="0"/>
              <a:t> </a:t>
            </a:r>
            <a:r>
              <a:rPr dirty="0" err="1"/>
              <a:t>בתשתית</a:t>
            </a:r>
            <a:r>
              <a:rPr dirty="0"/>
              <a:t> </a:t>
            </a:r>
            <a:r>
              <a:rPr dirty="0" err="1"/>
              <a:t>קיימת</a:t>
            </a:r>
            <a:r>
              <a:rPr dirty="0"/>
              <a:t> — </a:t>
            </a:r>
            <a:r>
              <a:rPr dirty="0" err="1"/>
              <a:t>הסיב</a:t>
            </a:r>
            <a:r>
              <a:rPr dirty="0"/>
              <a:t> </a:t>
            </a:r>
            <a:r>
              <a:rPr dirty="0" err="1"/>
              <a:t>כבר</a:t>
            </a:r>
            <a:r>
              <a:rPr dirty="0"/>
              <a:t> </a:t>
            </a:r>
            <a:r>
              <a:rPr dirty="0" err="1"/>
              <a:t>באדמה</a:t>
            </a:r>
            <a:r>
              <a:rPr dirty="0"/>
              <a:t>, </a:t>
            </a:r>
            <a:r>
              <a:rPr dirty="0" err="1"/>
              <a:t>אין</a:t>
            </a:r>
            <a:r>
              <a:rPr dirty="0"/>
              <a:t> </a:t>
            </a:r>
            <a:r>
              <a:rPr dirty="0" err="1"/>
              <a:t>צורך</a:t>
            </a:r>
            <a:r>
              <a:rPr dirty="0"/>
              <a:t> </a:t>
            </a:r>
            <a:r>
              <a:rPr dirty="0" err="1"/>
              <a:t>בחומרה</a:t>
            </a:r>
            <a:r>
              <a:rPr dirty="0"/>
              <a:t> </a:t>
            </a:r>
            <a:r>
              <a:rPr dirty="0" err="1"/>
              <a:t>חדשה</a:t>
            </a:r>
            <a:r>
              <a:rPr dirty="0"/>
              <a:t>, </a:t>
            </a:r>
            <a:r>
              <a:rPr dirty="0" err="1"/>
              <a:t>והעלות</a:t>
            </a:r>
            <a:r>
              <a:rPr dirty="0"/>
              <a:t> </a:t>
            </a:r>
            <a:r>
              <a:rPr dirty="0" err="1"/>
              <a:t>התוספתית</a:t>
            </a:r>
            <a:r>
              <a:rPr dirty="0"/>
              <a:t> </a:t>
            </a:r>
            <a:r>
              <a:rPr dirty="0" err="1"/>
              <a:t>שואפת</a:t>
            </a:r>
            <a:r>
              <a:rPr dirty="0"/>
              <a:t> </a:t>
            </a:r>
            <a:r>
              <a:rPr dirty="0" err="1"/>
              <a:t>לאפס</a:t>
            </a:r>
            <a:r>
              <a:rPr dirty="0"/>
              <a:t>. </a:t>
            </a:r>
            <a:r>
              <a:rPr dirty="0" err="1"/>
              <a:t>שנית</a:t>
            </a:r>
            <a:r>
              <a:rPr dirty="0"/>
              <a:t>, </a:t>
            </a:r>
            <a:r>
              <a:rPr dirty="0" err="1"/>
              <a:t>כיסוי</a:t>
            </a:r>
            <a:r>
              <a:rPr dirty="0"/>
              <a:t> </a:t>
            </a:r>
            <a:r>
              <a:rPr dirty="0" err="1"/>
              <a:t>רציף</a:t>
            </a:r>
            <a:r>
              <a:rPr dirty="0"/>
              <a:t> </a:t>
            </a:r>
            <a:r>
              <a:rPr dirty="0" err="1"/>
              <a:t>של</a:t>
            </a:r>
            <a:r>
              <a:rPr dirty="0"/>
              <a:t> </a:t>
            </a:r>
            <a:r>
              <a:rPr dirty="0" err="1"/>
              <a:t>עשרות</a:t>
            </a:r>
            <a:r>
              <a:rPr dirty="0"/>
              <a:t> </a:t>
            </a:r>
            <a:r>
              <a:rPr dirty="0" err="1"/>
              <a:t>קילומטרים</a:t>
            </a:r>
            <a:r>
              <a:rPr dirty="0"/>
              <a:t> </a:t>
            </a:r>
            <a:r>
              <a:rPr dirty="0" err="1"/>
              <a:t>מכבל</a:t>
            </a:r>
            <a:r>
              <a:rPr dirty="0"/>
              <a:t> </a:t>
            </a:r>
            <a:r>
              <a:rPr dirty="0" err="1"/>
              <a:t>בודד</a:t>
            </a:r>
            <a:r>
              <a:rPr dirty="0"/>
              <a:t>, </a:t>
            </a:r>
            <a:r>
              <a:rPr dirty="0" err="1"/>
              <a:t>בלי</a:t>
            </a:r>
            <a:r>
              <a:rPr dirty="0"/>
              <a:t> </a:t>
            </a:r>
            <a:r>
              <a:rPr dirty="0" err="1"/>
              <a:t>תלות</a:t>
            </a:r>
            <a:r>
              <a:rPr dirty="0"/>
              <a:t> </a:t>
            </a:r>
            <a:r>
              <a:rPr dirty="0" err="1"/>
              <a:t>במזג</a:t>
            </a:r>
            <a:r>
              <a:rPr dirty="0"/>
              <a:t> </a:t>
            </a:r>
            <a:r>
              <a:rPr dirty="0" err="1"/>
              <a:t>אוויר</a:t>
            </a:r>
            <a:r>
              <a:rPr dirty="0"/>
              <a:t>, </a:t>
            </a:r>
            <a:r>
              <a:rPr dirty="0" err="1"/>
              <a:t>תאורה</a:t>
            </a:r>
            <a:r>
              <a:rPr dirty="0"/>
              <a:t> </a:t>
            </a:r>
            <a:r>
              <a:rPr dirty="0" err="1"/>
              <a:t>או</a:t>
            </a:r>
            <a:r>
              <a:rPr dirty="0"/>
              <a:t> </a:t>
            </a:r>
            <a:r>
              <a:rPr dirty="0" err="1"/>
              <a:t>הסתרות</a:t>
            </a:r>
            <a:r>
              <a:rPr dirty="0"/>
              <a:t> — </a:t>
            </a:r>
            <a:r>
              <a:rPr dirty="0" err="1"/>
              <a:t>בניגוד</a:t>
            </a:r>
            <a:r>
              <a:rPr dirty="0"/>
              <a:t> </a:t>
            </a:r>
            <a:r>
              <a:rPr dirty="0" err="1"/>
              <a:t>למצלמות</a:t>
            </a:r>
            <a:r>
              <a:rPr dirty="0"/>
              <a:t>. </a:t>
            </a:r>
            <a:r>
              <a:rPr dirty="0" err="1"/>
              <a:t>ושלישית</a:t>
            </a:r>
            <a:r>
              <a:rPr dirty="0"/>
              <a:t>, </a:t>
            </a:r>
            <a:r>
              <a:rPr dirty="0" err="1"/>
              <a:t>הצפיפות</a:t>
            </a:r>
            <a:r>
              <a:rPr dirty="0"/>
              <a:t>: </a:t>
            </a:r>
            <a:r>
              <a:rPr dirty="0" err="1"/>
              <a:t>כל</a:t>
            </a:r>
            <a:r>
              <a:rPr dirty="0"/>
              <a:t> </a:t>
            </a:r>
            <a:r>
              <a:rPr dirty="0" err="1"/>
              <a:t>מטר</a:t>
            </a:r>
            <a:r>
              <a:rPr dirty="0"/>
              <a:t> </a:t>
            </a:r>
            <a:r>
              <a:rPr dirty="0" err="1"/>
              <a:t>הוא</a:t>
            </a:r>
            <a:r>
              <a:rPr dirty="0"/>
              <a:t> </a:t>
            </a:r>
            <a:r>
              <a:rPr dirty="0" err="1"/>
              <a:t>ערוץ</a:t>
            </a:r>
            <a:r>
              <a:rPr dirty="0"/>
              <a:t>, </a:t>
            </a:r>
            <a:r>
              <a:rPr dirty="0" err="1"/>
              <a:t>כך</a:t>
            </a:r>
            <a:r>
              <a:rPr dirty="0"/>
              <a:t> </a:t>
            </a:r>
            <a:r>
              <a:rPr dirty="0" err="1"/>
              <a:t>שרכב</a:t>
            </a:r>
            <a:r>
              <a:rPr dirty="0"/>
              <a:t> </a:t>
            </a:r>
            <a:r>
              <a:rPr dirty="0" err="1"/>
              <a:t>אחד</a:t>
            </a:r>
            <a:r>
              <a:rPr dirty="0"/>
              <a:t> </a:t>
            </a:r>
            <a:r>
              <a:rPr dirty="0" err="1"/>
              <a:t>נמדד</a:t>
            </a:r>
            <a:r>
              <a:rPr dirty="0"/>
              <a:t> </a:t>
            </a:r>
            <a:r>
              <a:rPr dirty="0" err="1"/>
              <a:t>בו</a:t>
            </a:r>
            <a:r>
              <a:rPr dirty="0"/>
              <a:t> </a:t>
            </a:r>
            <a:r>
              <a:rPr dirty="0" err="1"/>
              <a:t>זמנית</a:t>
            </a:r>
            <a:r>
              <a:rPr dirty="0"/>
              <a:t> </a:t>
            </a:r>
            <a:r>
              <a:rPr dirty="0" err="1"/>
              <a:t>בעשרות</a:t>
            </a:r>
            <a:r>
              <a:rPr dirty="0"/>
              <a:t> </a:t>
            </a:r>
            <a:r>
              <a:rPr dirty="0" err="1"/>
              <a:t>ערוצים</a:t>
            </a:r>
            <a:r>
              <a:rPr dirty="0"/>
              <a:t>.</a:t>
            </a:r>
          </a:p>
          <a:p>
            <a:endParaRPr dirty="0"/>
          </a:p>
          <a:p>
            <a:r>
              <a:rPr dirty="0" err="1"/>
              <a:t>שאלת</a:t>
            </a:r>
            <a:r>
              <a:rPr dirty="0"/>
              <a:t> </a:t>
            </a:r>
            <a:r>
              <a:rPr dirty="0" err="1"/>
              <a:t>המחקר</a:t>
            </a:r>
            <a:r>
              <a:rPr dirty="0"/>
              <a:t> </a:t>
            </a:r>
            <a:r>
              <a:rPr dirty="0" err="1"/>
              <a:t>שהגדרנו</a:t>
            </a:r>
            <a:r>
              <a:rPr dirty="0"/>
              <a:t>: </a:t>
            </a:r>
            <a:r>
              <a:rPr dirty="0" err="1"/>
              <a:t>האם</a:t>
            </a:r>
            <a:r>
              <a:rPr dirty="0"/>
              <a:t> </a:t>
            </a:r>
            <a:r>
              <a:rPr dirty="0" err="1"/>
              <a:t>היתוך</a:t>
            </a:r>
            <a:r>
              <a:rPr dirty="0"/>
              <a:t> </a:t>
            </a:r>
            <a:r>
              <a:rPr dirty="0" err="1"/>
              <a:t>של</a:t>
            </a:r>
            <a:r>
              <a:rPr dirty="0"/>
              <a:t> DAS </a:t>
            </a:r>
            <a:r>
              <a:rPr dirty="0" err="1"/>
              <a:t>עם</a:t>
            </a:r>
            <a:r>
              <a:rPr dirty="0"/>
              <a:t> </a:t>
            </a:r>
            <a:r>
              <a:rPr dirty="0" err="1"/>
              <a:t>מצלמה</a:t>
            </a:r>
            <a:r>
              <a:rPr dirty="0"/>
              <a:t> </a:t>
            </a:r>
            <a:r>
              <a:rPr dirty="0" err="1"/>
              <a:t>ו</a:t>
            </a:r>
            <a:r>
              <a:rPr dirty="0"/>
              <a:t>‑GPS </a:t>
            </a:r>
            <a:r>
              <a:rPr dirty="0" err="1"/>
              <a:t>מאפשר</a:t>
            </a:r>
            <a:r>
              <a:rPr dirty="0"/>
              <a:t> </a:t>
            </a:r>
            <a:r>
              <a:rPr dirty="0" err="1"/>
              <a:t>לעקוב</a:t>
            </a:r>
            <a:r>
              <a:rPr dirty="0"/>
              <a:t> </a:t>
            </a:r>
            <a:r>
              <a:rPr dirty="0" err="1"/>
              <a:t>באופן</a:t>
            </a:r>
            <a:r>
              <a:rPr dirty="0"/>
              <a:t> </a:t>
            </a:r>
            <a:r>
              <a:rPr dirty="0" err="1"/>
              <a:t>אמין</a:t>
            </a:r>
            <a:r>
              <a:rPr dirty="0"/>
              <a:t> </a:t>
            </a:r>
            <a:r>
              <a:rPr dirty="0" err="1"/>
              <a:t>אחרי</a:t>
            </a:r>
            <a:r>
              <a:rPr dirty="0"/>
              <a:t> </a:t>
            </a:r>
            <a:r>
              <a:rPr dirty="0" err="1"/>
              <a:t>כלי</a:t>
            </a:r>
            <a:r>
              <a:rPr dirty="0"/>
              <a:t> </a:t>
            </a:r>
            <a:r>
              <a:rPr dirty="0" err="1"/>
              <a:t>רכב</a:t>
            </a:r>
            <a:r>
              <a:rPr dirty="0"/>
              <a:t> </a:t>
            </a:r>
            <a:r>
              <a:rPr dirty="0" err="1"/>
              <a:t>בודדים</a:t>
            </a:r>
            <a:r>
              <a:rPr dirty="0"/>
              <a:t> </a:t>
            </a:r>
            <a:r>
              <a:rPr dirty="0" err="1"/>
              <a:t>לאורך</a:t>
            </a:r>
            <a:r>
              <a:rPr dirty="0"/>
              <a:t> </a:t>
            </a:r>
            <a:r>
              <a:rPr dirty="0" err="1"/>
              <a:t>רשת</a:t>
            </a:r>
            <a:r>
              <a:rPr dirty="0"/>
              <a:t> </a:t>
            </a:r>
            <a:r>
              <a:rPr dirty="0" err="1"/>
              <a:t>כבישים</a:t>
            </a:r>
            <a:r>
              <a:rPr dirty="0"/>
              <a:t> — </a:t>
            </a:r>
            <a:r>
              <a:rPr dirty="0" err="1"/>
              <a:t>ולזהות</a:t>
            </a:r>
            <a:r>
              <a:rPr dirty="0"/>
              <a:t> </a:t>
            </a:r>
            <a:r>
              <a:rPr dirty="0" err="1"/>
              <a:t>התנהגות</a:t>
            </a:r>
            <a:r>
              <a:rPr dirty="0"/>
              <a:t> </a:t>
            </a:r>
            <a:r>
              <a:rPr dirty="0" err="1"/>
              <a:t>חריגה</a:t>
            </a:r>
            <a:r>
              <a:rPr dirty="0"/>
              <a:t> </a:t>
            </a:r>
            <a:r>
              <a:rPr dirty="0" err="1"/>
              <a:t>מתוך</a:t>
            </a:r>
            <a:r>
              <a:rPr dirty="0"/>
              <a:t> </a:t>
            </a:r>
            <a:r>
              <a:rPr dirty="0" err="1"/>
              <a:t>האות</a:t>
            </a:r>
            <a:r>
              <a:rPr dirty="0"/>
              <a:t> </a:t>
            </a:r>
            <a:r>
              <a:rPr dirty="0" err="1"/>
              <a:t>המאוחד</a:t>
            </a:r>
            <a:r>
              <a:rPr dirty="0"/>
              <a:t> </a:t>
            </a:r>
            <a:r>
              <a:rPr dirty="0" err="1"/>
              <a:t>בלבד</a:t>
            </a:r>
            <a:r>
              <a:rPr dirty="0"/>
              <a:t>?</a:t>
            </a:r>
          </a:p>
          <a:p>
            <a:endParaRPr dirty="0"/>
          </a:p>
          <a:p>
            <a:r>
              <a:rPr dirty="0" err="1"/>
              <a:t>מימין</a:t>
            </a:r>
            <a:r>
              <a:rPr dirty="0"/>
              <a:t> </a:t>
            </a:r>
            <a:r>
              <a:rPr dirty="0" err="1"/>
              <a:t>טבלת</a:t>
            </a:r>
            <a:r>
              <a:rPr dirty="0"/>
              <a:t> </a:t>
            </a:r>
            <a:r>
              <a:rPr dirty="0" err="1"/>
              <a:t>היעדים</a:t>
            </a:r>
            <a:r>
              <a:rPr dirty="0"/>
              <a:t> </a:t>
            </a:r>
            <a:r>
              <a:rPr dirty="0" err="1"/>
              <a:t>מול</a:t>
            </a:r>
            <a:r>
              <a:rPr dirty="0"/>
              <a:t> </a:t>
            </a:r>
            <a:r>
              <a:rPr dirty="0" err="1"/>
              <a:t>מה</a:t>
            </a:r>
            <a:r>
              <a:rPr dirty="0"/>
              <a:t> </a:t>
            </a:r>
            <a:r>
              <a:rPr dirty="0" err="1"/>
              <a:t>שהושג</a:t>
            </a:r>
            <a:r>
              <a:rPr dirty="0"/>
              <a:t>. </a:t>
            </a:r>
            <a:r>
              <a:rPr dirty="0" err="1"/>
              <a:t>חמישה</a:t>
            </a:r>
            <a:r>
              <a:rPr dirty="0"/>
              <a:t> </a:t>
            </a:r>
            <a:r>
              <a:rPr dirty="0" err="1"/>
              <a:t>מתוך</a:t>
            </a:r>
            <a:r>
              <a:rPr dirty="0"/>
              <a:t> </a:t>
            </a:r>
            <a:r>
              <a:rPr dirty="0" err="1"/>
              <a:t>שישה</a:t>
            </a:r>
            <a:r>
              <a:rPr dirty="0"/>
              <a:t> </a:t>
            </a:r>
            <a:r>
              <a:rPr dirty="0" err="1"/>
              <a:t>יעדים</a:t>
            </a:r>
            <a:r>
              <a:rPr dirty="0"/>
              <a:t> </a:t>
            </a:r>
            <a:r>
              <a:rPr dirty="0" err="1"/>
              <a:t>הושגו</a:t>
            </a:r>
            <a:r>
              <a:rPr dirty="0"/>
              <a:t>: </a:t>
            </a:r>
            <a:r>
              <a:rPr dirty="0" err="1"/>
              <a:t>דיוק</a:t>
            </a:r>
            <a:r>
              <a:rPr dirty="0"/>
              <a:t> </a:t>
            </a:r>
            <a:r>
              <a:rPr dirty="0" err="1"/>
              <a:t>תת‑מטרי</a:t>
            </a:r>
            <a:r>
              <a:rPr dirty="0"/>
              <a:t> </a:t>
            </a:r>
            <a:r>
              <a:rPr dirty="0" err="1"/>
              <a:t>בעקיבה</a:t>
            </a:r>
            <a:r>
              <a:rPr dirty="0"/>
              <a:t> </a:t>
            </a:r>
            <a:r>
              <a:rPr dirty="0" err="1"/>
              <a:t>מול</a:t>
            </a:r>
            <a:r>
              <a:rPr dirty="0"/>
              <a:t> </a:t>
            </a:r>
            <a:r>
              <a:rPr dirty="0" err="1"/>
              <a:t>יעד</a:t>
            </a:r>
            <a:r>
              <a:rPr dirty="0"/>
              <a:t> </a:t>
            </a:r>
            <a:r>
              <a:rPr dirty="0" err="1"/>
              <a:t>של</a:t>
            </a:r>
            <a:r>
              <a:rPr dirty="0"/>
              <a:t> 90 </a:t>
            </a:r>
            <a:r>
              <a:rPr dirty="0" err="1"/>
              <a:t>אחוז</a:t>
            </a:r>
            <a:r>
              <a:rPr dirty="0"/>
              <a:t>, </a:t>
            </a:r>
            <a:r>
              <a:rPr dirty="0" err="1"/>
              <a:t>שגיאה</a:t>
            </a:r>
            <a:r>
              <a:rPr dirty="0"/>
              <a:t> </a:t>
            </a:r>
            <a:r>
              <a:rPr dirty="0" err="1"/>
              <a:t>מקסימלית</a:t>
            </a:r>
            <a:r>
              <a:rPr dirty="0"/>
              <a:t> </a:t>
            </a:r>
            <a:r>
              <a:rPr dirty="0" err="1"/>
              <a:t>של</a:t>
            </a:r>
            <a:r>
              <a:rPr dirty="0"/>
              <a:t> 1.52 </a:t>
            </a:r>
            <a:r>
              <a:rPr dirty="0" err="1"/>
              <a:t>מטר</a:t>
            </a:r>
            <a:r>
              <a:rPr dirty="0"/>
              <a:t> </a:t>
            </a:r>
            <a:r>
              <a:rPr dirty="0" err="1"/>
              <a:t>מול</a:t>
            </a:r>
            <a:r>
              <a:rPr dirty="0"/>
              <a:t> </a:t>
            </a:r>
            <a:r>
              <a:rPr dirty="0" err="1"/>
              <a:t>סף</a:t>
            </a:r>
            <a:r>
              <a:rPr dirty="0"/>
              <a:t> </a:t>
            </a:r>
            <a:r>
              <a:rPr dirty="0" err="1"/>
              <a:t>של</a:t>
            </a:r>
            <a:r>
              <a:rPr dirty="0"/>
              <a:t> 5 </a:t>
            </a:r>
            <a:r>
              <a:rPr dirty="0" err="1"/>
              <a:t>מטר</a:t>
            </a:r>
            <a:r>
              <a:rPr dirty="0"/>
              <a:t>, </a:t>
            </a:r>
            <a:r>
              <a:rPr dirty="0" err="1"/>
              <a:t>שישה</a:t>
            </a:r>
            <a:r>
              <a:rPr dirty="0"/>
              <a:t> </a:t>
            </a:r>
            <a:r>
              <a:rPr dirty="0" err="1"/>
              <a:t>מתוך</a:t>
            </a:r>
            <a:r>
              <a:rPr dirty="0"/>
              <a:t> </a:t>
            </a:r>
            <a:r>
              <a:rPr dirty="0" err="1"/>
              <a:t>תשעה</a:t>
            </a:r>
            <a:r>
              <a:rPr dirty="0"/>
              <a:t> </a:t>
            </a:r>
            <a:r>
              <a:rPr dirty="0" err="1"/>
              <a:t>תרחישי</a:t>
            </a:r>
            <a:r>
              <a:rPr dirty="0"/>
              <a:t> </a:t>
            </a:r>
            <a:r>
              <a:rPr dirty="0" err="1"/>
              <a:t>חריגה</a:t>
            </a:r>
            <a:r>
              <a:rPr dirty="0"/>
              <a:t> </a:t>
            </a:r>
            <a:r>
              <a:rPr dirty="0" err="1"/>
              <a:t>זוהו</a:t>
            </a:r>
            <a:r>
              <a:rPr dirty="0"/>
              <a:t> </a:t>
            </a:r>
            <a:r>
              <a:rPr dirty="0" err="1"/>
              <a:t>מול</a:t>
            </a:r>
            <a:r>
              <a:rPr dirty="0"/>
              <a:t> </a:t>
            </a:r>
            <a:r>
              <a:rPr dirty="0" err="1"/>
              <a:t>יעד</a:t>
            </a:r>
            <a:r>
              <a:rPr dirty="0"/>
              <a:t> </a:t>
            </a:r>
            <a:r>
              <a:rPr dirty="0" err="1"/>
              <a:t>של</a:t>
            </a:r>
            <a:r>
              <a:rPr dirty="0"/>
              <a:t> </a:t>
            </a:r>
            <a:r>
              <a:rPr dirty="0" err="1"/>
              <a:t>חמישה</a:t>
            </a:r>
            <a:r>
              <a:rPr dirty="0"/>
              <a:t>, </a:t>
            </a:r>
            <a:r>
              <a:rPr dirty="0" err="1"/>
              <a:t>והיתוך</a:t>
            </a:r>
            <a:r>
              <a:rPr dirty="0"/>
              <a:t> </a:t>
            </a:r>
            <a:r>
              <a:rPr dirty="0" err="1"/>
              <a:t>של</a:t>
            </a:r>
            <a:r>
              <a:rPr dirty="0"/>
              <a:t> </a:t>
            </a:r>
            <a:r>
              <a:rPr dirty="0" err="1"/>
              <a:t>שלושת</a:t>
            </a:r>
            <a:r>
              <a:rPr dirty="0"/>
              <a:t> </a:t>
            </a:r>
            <a:r>
              <a:rPr dirty="0" err="1"/>
              <a:t>החיישנים</a:t>
            </a:r>
            <a:r>
              <a:rPr dirty="0"/>
              <a:t> </a:t>
            </a:r>
            <a:r>
              <a:rPr dirty="0" err="1"/>
              <a:t>עובד</a:t>
            </a:r>
            <a:r>
              <a:rPr dirty="0"/>
              <a:t>. </a:t>
            </a:r>
            <a:r>
              <a:rPr dirty="0" err="1"/>
              <a:t>היעד</a:t>
            </a:r>
            <a:r>
              <a:rPr dirty="0"/>
              <a:t> </a:t>
            </a:r>
            <a:r>
              <a:rPr dirty="0" err="1"/>
              <a:t>היחיד</a:t>
            </a:r>
            <a:r>
              <a:rPr dirty="0"/>
              <a:t> </a:t>
            </a:r>
            <a:r>
              <a:rPr dirty="0" err="1"/>
              <a:t>שנשאר</a:t>
            </a:r>
            <a:r>
              <a:rPr dirty="0"/>
              <a:t> </a:t>
            </a:r>
            <a:r>
              <a:rPr dirty="0" err="1"/>
              <a:t>פתוח</a:t>
            </a:r>
            <a:r>
              <a:rPr dirty="0"/>
              <a:t> </a:t>
            </a:r>
            <a:r>
              <a:rPr dirty="0" err="1"/>
              <a:t>הוא</a:t>
            </a:r>
            <a:r>
              <a:rPr dirty="0"/>
              <a:t> </a:t>
            </a:r>
            <a:r>
              <a:rPr dirty="0" err="1"/>
              <a:t>זמן</a:t>
            </a:r>
            <a:r>
              <a:rPr dirty="0"/>
              <a:t> </a:t>
            </a:r>
            <a:r>
              <a:rPr dirty="0" err="1"/>
              <a:t>התגובה</a:t>
            </a:r>
            <a:r>
              <a:rPr dirty="0"/>
              <a:t> </a:t>
            </a:r>
            <a:r>
              <a:rPr dirty="0" err="1"/>
              <a:t>מקצה</a:t>
            </a:r>
            <a:r>
              <a:rPr dirty="0"/>
              <a:t> </a:t>
            </a:r>
            <a:r>
              <a:rPr dirty="0" err="1"/>
              <a:t>לקצה</a:t>
            </a:r>
            <a:r>
              <a:rPr dirty="0"/>
              <a:t> — </a:t>
            </a:r>
            <a:r>
              <a:rPr dirty="0" err="1"/>
              <a:t>המערכת</a:t>
            </a:r>
            <a:r>
              <a:rPr dirty="0"/>
              <a:t> </a:t>
            </a:r>
            <a:r>
              <a:rPr dirty="0" err="1"/>
              <a:t>רצה</a:t>
            </a:r>
            <a:r>
              <a:rPr dirty="0"/>
              <a:t>, </a:t>
            </a:r>
            <a:r>
              <a:rPr dirty="0" err="1"/>
              <a:t>אבל</a:t>
            </a:r>
            <a:r>
              <a:rPr dirty="0"/>
              <a:t> </a:t>
            </a:r>
            <a:r>
              <a:rPr dirty="0" err="1"/>
              <a:t>עוד</a:t>
            </a:r>
            <a:r>
              <a:rPr dirty="0"/>
              <a:t> </a:t>
            </a:r>
            <a:r>
              <a:rPr dirty="0" err="1"/>
              <a:t>לא</a:t>
            </a:r>
            <a:r>
              <a:rPr dirty="0"/>
              <a:t> </a:t>
            </a:r>
            <a:r>
              <a:rPr dirty="0" err="1"/>
              <a:t>פרופלנו</a:t>
            </a:r>
            <a:r>
              <a:rPr dirty="0"/>
              <a:t> </a:t>
            </a:r>
            <a:r>
              <a:rPr dirty="0" err="1"/>
              <a:t>אותה</a:t>
            </a:r>
            <a:r>
              <a:rPr dirty="0"/>
              <a:t> </a:t>
            </a:r>
            <a:r>
              <a:rPr dirty="0" err="1"/>
              <a:t>תחת</a:t>
            </a:r>
            <a:r>
              <a:rPr dirty="0"/>
              <a:t> </a:t>
            </a:r>
            <a:r>
              <a:rPr dirty="0" err="1"/>
              <a:t>עומס</a:t>
            </a:r>
            <a:r>
              <a:rPr dirty="0"/>
              <a:t> </a:t>
            </a:r>
            <a:r>
              <a:rPr dirty="0" err="1"/>
              <a:t>אמיתי</a:t>
            </a:r>
            <a:r>
              <a:rPr dirty="0"/>
              <a:t>, </a:t>
            </a:r>
            <a:r>
              <a:rPr dirty="0" err="1"/>
              <a:t>ולכן</a:t>
            </a:r>
            <a:r>
              <a:rPr dirty="0"/>
              <a:t> </a:t>
            </a:r>
            <a:r>
              <a:rPr dirty="0" err="1"/>
              <a:t>סימנו</a:t>
            </a:r>
            <a:r>
              <a:rPr dirty="0"/>
              <a:t> </a:t>
            </a:r>
            <a:r>
              <a:rPr dirty="0" err="1"/>
              <a:t>אותו</a:t>
            </a:r>
            <a:r>
              <a:rPr dirty="0"/>
              <a:t> </a:t>
            </a:r>
            <a:r>
              <a:rPr dirty="0" err="1"/>
              <a:t>כחלקי</a:t>
            </a:r>
            <a:r>
              <a:rPr dirty="0"/>
              <a:t>."</a:t>
            </a:r>
          </a:p>
          <a:p>
            <a:endParaRPr dirty="0"/>
          </a:p>
          <a:p>
            <a:r>
              <a:rPr dirty="0" err="1"/>
              <a:t>מעבר</a:t>
            </a:r>
            <a:r>
              <a:rPr dirty="0"/>
              <a:t>: "</a:t>
            </a:r>
            <a:r>
              <a:rPr dirty="0" err="1"/>
              <a:t>בואו</a:t>
            </a:r>
            <a:r>
              <a:rPr dirty="0"/>
              <a:t> </a:t>
            </a:r>
            <a:r>
              <a:rPr dirty="0" err="1"/>
              <a:t>נראה</a:t>
            </a:r>
            <a:r>
              <a:rPr dirty="0"/>
              <a:t> </a:t>
            </a:r>
            <a:r>
              <a:rPr dirty="0" err="1"/>
              <a:t>איך</a:t>
            </a:r>
            <a:r>
              <a:rPr dirty="0"/>
              <a:t> </a:t>
            </a:r>
            <a:r>
              <a:rPr dirty="0" err="1"/>
              <a:t>המערכת</a:t>
            </a:r>
            <a:r>
              <a:rPr dirty="0"/>
              <a:t> </a:t>
            </a:r>
            <a:r>
              <a:rPr dirty="0" err="1"/>
              <a:t>בנויה</a:t>
            </a:r>
            <a:r>
              <a:rPr dirty="0"/>
              <a:t>." </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[נתאי]  — 90 שניות</a:t>
            </a:r>
          </a:p>
          <a:p>
            <a:endParaRPr/>
          </a:p>
          <a:p>
            <a:r>
              <a:t>"ארכיטקטורת המערכת בנויה כשרשרת חד‑כיוונית של שבעה שלבים, שרואים למעלה: Simulate — יצירת התרחיש והתנועה; Sense — מודלי החיישנים הפיזיקליים; Publish — פרסום המדידות על אפיק אירועים; Track — שיוך מדידות למסלולים; Fuse — קלמן; Export — ייצוא; ו‑Analyze — מודל החריגות.</a:t>
            </a:r>
          </a:p>
          <a:p>
            <a:endParaRPr/>
          </a:p>
          <a:p>
            <a:r>
              <a:t>שני עקרונות תכנון שחשוב להדגיש. הראשון: כל שלב צורך רק את הפלט של השלב שלפניו, והתלויות אציקליות — אין מעגלים. זה אומר שכל רכיב ניתן לבדיקה עצמאית, ויש לנו חבילת בדיקות pytest ששומרת על כל גבול כזה.</a:t>
            </a:r>
          </a:p>
          <a:p>
            <a:endParaRPr/>
          </a:p>
          <a:p>
            <a:r>
              <a:t>השני, וזה קריטי מבחינה מתודולוגית: מודל החריגות לא מייבא את הסימולטור. הוא לא רואה את ה‑ground truth ולא יודע מי הרכב האמיתי. הוא מקבל בדיוק את מה שפריסה אמיתית בשטח הייתה מקבלת — ולכן התוצאות שנראה בהמשך אינן 'מזוהמות' במידע פנימי.</a:t>
            </a:r>
          </a:p>
          <a:p>
            <a:endParaRPr/>
          </a:p>
          <a:p>
            <a:r>
              <a:t>המנוע רץ ב‑25 הרץ, ויש עורך גרפי ב‑Tkinter שמאפשר לבנות סצנות אינטראקטיבית — את זה תראו בהדגמה."</a:t>
            </a:r>
          </a:p>
          <a:p>
            <a:endParaRPr/>
          </a:p>
          <a:p>
            <a:r>
              <a:t>מעבר: "עכשיו נכנס לתוך שני הבלוקים הכבדים — מודלי החיישנים והיתוך." </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[נתאי]  — 140 שניות</a:t>
            </a:r>
          </a:p>
          <a:p>
            <a:endParaRPr/>
          </a:p>
          <a:p>
            <a:r>
              <a:t>"כאן שני הבלוקים המרכזיים: מודלי החיישנים והיתוך.</a:t>
            </a:r>
          </a:p>
          <a:p>
            <a:endParaRPr/>
          </a:p>
          <a:p>
            <a:r>
              <a:t>למעלה — שלושת החיישנים. DAS הוא החיישן הראשי: המשרעת נגזרת מחוק פלמן‑בוסינסק, כך שהיא פרופורציונית למשקל ודועכת עם המרחק מהסיב. ההסתברות לזיהוי היא סיגמואיד ב‑SNR בריבוע, כל מטר הוא ערוץ, והפלט הוא מיקום ומהירות לאורך הסיב ב‑25 הרץ. המצלמה נותנת מיקום דו‑ממדי מלא בקצב פריימים, עם מודל פינהול ושער ראייה סטוכסטי, ורעש שגדל עם המרחק והזווית. וה‑GPS — מיקום אבסולוטי בקצב נמוך, בערך הרץ אחד, עם סיגמא של כ‑2.5 מטר.</a:t>
            </a:r>
          </a:p>
          <a:p>
            <a:endParaRPr/>
          </a:p>
          <a:p>
            <a:r>
              <a:t>הנקודה החשובה מימין למטה: כל חיישן חושף אי‑ודאות פיזיקלית משלו, שנכנסת ישירות לפילטר קלמן. סיגמא של DAS היא מקסימום בין 0.8 מטר לבין קבוע חלקי ה‑SNR. המשמעות: הפילטר סומך הרבה יותר על רכב כבד וקרוב מאשר על רכב קל ורחוק — אוטומטית, בלי שום כוונון ידני. השונות של DAS יכולה להיות קטנה בסדר גודל מזו של GPS.</a:t>
            </a:r>
          </a:p>
          <a:p>
            <a:endParaRPr/>
          </a:p>
          <a:p>
            <a:r>
              <a:t>בצד ההיתוך: ה‑TrackManager שומר מזהה מסלול גלובלי יציב במעברים בין קטעי כביש ובין חיישנים — ומסתמך רק על קינמטיקה, אף פעם לא על ה‑ID האמיתי מהסימולטור. שיוך מדידות נעשה בתוך שערים מרחביים וזמניים, עם ניקוד לפי מרחק, מהירות, כיוון וסמיכות; מסלול נולד 'טנטטיבי' ומאושר רק אחרי שלוש מדידות מסכימות — ככה נפטרנו מרוחות רפאים של DAS.</a:t>
            </a:r>
          </a:p>
          <a:p>
            <a:endParaRPr/>
          </a:p>
          <a:p>
            <a:r>
              <a:t>הפילטר עצמו הוא קלמן בעל שישה מצבים עם תאוצה קבועה, ציר x ו‑y מופרדים, וקוברייאנס בצורת ג'וזף ליציבות נומרית. ולבסוף — אנחנו מתעדים NIS בכל עדכון; עלייה מתמשכת מעל 1 היא החתימה של חריגה, וזה יהיה הגשר למודל הבא."</a:t>
            </a:r>
          </a:p>
          <a:p>
            <a:endParaRPr/>
          </a:p>
          <a:p>
            <a:r>
              <a:t>מעבר: "נועה תציג את מודל החריגות." </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[נועה]  — 130 שניות</a:t>
            </a:r>
          </a:p>
          <a:p>
            <a:endParaRPr/>
          </a:p>
          <a:p>
            <a:r>
              <a:t>"מודל זיהוי החריגות בנוי משתי שכבות, ויש לו תכונה אחת מהותית: הוא לא‑מפוקח וקורא‑בלבד. הוא לא מקבל תוויות, הוא לא יודע מה זו 'חריגה'. הוא לומד את ההתפלגות של נהיגה נורמלית — מתוך אותם 144 אזורים שראינו — ומדרג כל רכב לפי כמה הוא חורג ממנה.</a:t>
            </a:r>
          </a:p>
          <a:p>
            <a:endParaRPr/>
          </a:p>
          <a:p>
            <a:r>
              <a:t>שכבה ראשונה: כל מסלול של רכב מתורגם ל'טביעת אצבע התנהגותית' של 166 מאפיינים, מחולקים לתשע קבוצות סמנטיות — רואים אותן מימין. הקבוצה הגדולה היא כיסוי ותועלת החיישנים, 54 מאפיינים; אחריה קינמטיקה, 35; אינטראקציה בין רכבים, 20; איכות הקלמן, 13; אי‑הסכמה בין חיישנים, 11; איכות אות ה‑DAS, 11; ועוד. בפועל 156 מאפיינים מנוקדים — השאר הם מזהים ומטא‑דאטה.</a:t>
            </a:r>
          </a:p>
          <a:p>
            <a:endParaRPr/>
          </a:p>
          <a:p>
            <a:r>
              <a:t>שכבה שנייה: לכל מאפיין מחושב ציון Z ביחס לבסיס הנורמלי. רכב מסומן כחריג אם ה‑Z המקסימלי שלו חוצה את הסף. וכאן היתרון הגדול — המודל גם אומר איזה מאפיינים גרמו לסימון. זה לא קופסה שחורה: אפשר להגיד 'הרכב הזה סומן בגלל מהירות יחסית בנקודת ההתקרבות ומהירות רוחבית'.</a:t>
            </a:r>
          </a:p>
          <a:p>
            <a:endParaRPr/>
          </a:p>
          <a:p>
            <a:r>
              <a:t>שני רכיבים משלימים: את המשקל אנחנו משחזרים לאחור מחוק פלמן‑בוסינסק — מה שמאפשר לתפוס רכב עמוס מדי או מסווג שגוי. ו‑CUSUM על ה‑NIS הוא הממד הזמני: ציון ה‑Z אומר אם הרכב חריג, ו‑CUSUM אומר מתי זה התחיל."</a:t>
            </a:r>
          </a:p>
          <a:p>
            <a:endParaRPr/>
          </a:p>
          <a:p>
            <a:r>
              <a:t>מעבר: "ועכשיו — ההדגמה." </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[נועה + נתאי יחד]  — כ‑6 דקות  (זה החלק הארוך — שמרו על הקצב!)</a:t>
            </a:r>
          </a:p>
          <a:p>
            <a:endParaRPr/>
          </a:p>
          <a:p>
            <a:r>
              <a:t>חלוקה: נועה מפעילה את האפליקציה, נתאי מסביר מה קורה מתחת למכסה המנוע. מחליפים תפקידים בשלב 3.</a:t>
            </a:r>
          </a:p>
          <a:p>
            <a:endParaRPr/>
          </a:p>
          <a:p>
            <a:r>
              <a:t>תסריט ההדגמה (לפי ארבעת השלבים בשקף):</a:t>
            </a:r>
          </a:p>
          <a:p>
            <a:endParaRPr/>
          </a:p>
          <a:p>
            <a:r>
              <a:t>1. ייבוא רחובות אמיתיים (נועה, ~1 דק') — "פותחים את SimStudio, מייבאים קטע מרשת הכבישים האמיתית של תל אביב ישירות מ‑OpenStreetMap. הגיאומטריה אמיתית — לא סינתטית."</a:t>
            </a:r>
          </a:p>
          <a:p>
            <a:endParaRPr/>
          </a:p>
          <a:p>
            <a:r>
              <a:t>2. בניית הסצנה ומיקום חיישנים (נועה, ~1 דק') — "מניחים את הסיב לאורך הכביש, מוסיפים מצלמה בצומת ומגדירים כיסוי GPS. כל חיישן מקבל את הפרמטרים הפיזיקליים שהצגנו." (נתאי מוסיף: כאן נקבעים ה‑gauge length ורמת הרעש.)</a:t>
            </a:r>
          </a:p>
          <a:p>
            <a:endParaRPr/>
          </a:p>
          <a:p>
            <a:r>
              <a:t>3. הרצת סימולציה (נתאי מפעיל, ~2 דק') — "מריצים תרחיש ב‑25 הרץ. רואים את הרכבים נעים, ובזמן אמת את מדידות ה‑DAS נדלקות בערוצים שמתחת לרכב. שימו לב לפס האלכסוני — בדיוק מה שראינו בשקף הפיזיקה." הראו גם תרחיש עם חריגה מוזרקת (בלימת חירום / רכב עומד).</a:t>
            </a:r>
          </a:p>
          <a:p>
            <a:endParaRPr/>
          </a:p>
          <a:p>
            <a:r>
              <a:t>4. בחינת הפלטים (נתאי, ~1.5 דק') — "כל ריצה מייצרת מסלולים מאוחדים, חוברת Excel מעוצבת, דוח ביקורת וויזואליזציות לכל מסלול. אותם קבצים בדיוק — בלי שום מידע פנימי מהסימולטור — נכנסים למודל החריגות." הראו את קובץ ה‑Excel ואת ציון החריגה.</a:t>
            </a:r>
          </a:p>
          <a:p>
            <a:endParaRPr/>
          </a:p>
          <a:p>
            <a:r>
              <a:t>סגירה (נועה, 30 שניות) — "זה הכלי שאיתו הפקנו את כל התוצאות שנציג עכשיו."</a:t>
            </a:r>
          </a:p>
          <a:p>
            <a:endParaRPr/>
          </a:p>
          <a:p>
            <a:r>
              <a:t>תוכנית גיבוי: אם האפליקציה לא נפתחת או קורסת — עוברים לצילומי המסך שבשקף ומספרים את אותו תסריט. אין להתעכב על תקלה יותר מ‑20 שניות.</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[נועה]  — 110 שניות</a:t>
            </a:r>
          </a:p>
          <a:p>
            <a:endParaRPr/>
          </a:p>
          <a:p>
            <a:r>
              <a:t>"נעבור לתוצאות. שלושת המספרים למעלה הם הליבה.</a:t>
            </a:r>
          </a:p>
          <a:p>
            <a:endParaRPr/>
          </a:p>
          <a:p>
            <a:r>
              <a:t>השגיאה הממוצעת בעקיבה על פני תשעה תרחישי הערכה היא 0.35 מטר — הטוב ביותר 0.19, הגרוע 0.45. כלומר, דיוק תת‑מטרי באופן עקבי, מול יעד מקורי של 90 אחוזי דיוק.</a:t>
            </a:r>
          </a:p>
          <a:p>
            <a:endParaRPr/>
          </a:p>
          <a:p>
            <a:r>
              <a:t>המקרה המעניין באמת הוא מעבר בין קטעי כביש — הגרף מימין. רכב שעובר מקטע אחד לשני ומועבר בין חיישנים שונים הגיע ל‑RMSE של 0.49 מטר, עם שגיאה מקסימלית של 1.52 מטר — הרבה מתחת לסף של חמישה מטר. הקו הכתום הוא האמת, הכחול הוא המסלול המאוחד; הם כמעט חופפים, וה‑ID של המסלול נשמר לאורך כל המעבר.</a:t>
            </a:r>
          </a:p>
          <a:p>
            <a:endParaRPr/>
          </a:p>
          <a:p>
            <a:r>
              <a:t>למה זה עובד? כי החיישנים משלימים זה את זה: DAS נותן עדכונים בקצב גבוה ובאמון גבוה לאורך הסיב, המצלמה מוסיפה קיבועים מדויקים בצמתים, ו‑GPS מספק תיקון אבסולוטי בקצב נמוך באזורים שבהם אין סיב.</a:t>
            </a:r>
          </a:p>
          <a:p>
            <a:endParaRPr/>
          </a:p>
          <a:p>
            <a:r>
              <a:t>ואנקדוטה הנדסית שאני חושבת ששווה לספר: גילינו באג עדין שבו קיבועי GPS 'התפצלו' למסלולי רפאים במקום להתחבר למסלול המאושר. תיקנו אותו עם מנגנון שמודע לזהות המסלול — וזה שיפר את דיוק ההיתוך משמעותית. זה מסוג הדברים שמופיעים רק כשמריצים את הפייפליין מקצה לקצה."</a:t>
            </a:r>
          </a:p>
          <a:p>
            <a:endParaRPr/>
          </a:p>
          <a:p>
            <a:r>
              <a:t>מעבר: "נתאי — תוצאות זיהוי החריגות." </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[נתאי]  — 110 שניות</a:t>
            </a:r>
          </a:p>
          <a:p>
            <a:endParaRPr/>
          </a:p>
          <a:p>
            <a:r>
              <a:t>"תוצאות מודל החריגות. הזרקנו תשעה תרחישי חריגה — כל אחד עם רכב אחד שמתנהג לא נורמלי — והמודל, שכזכור לא ראה שום תווית, זיהה שישה מהם. היעד היה חמישה מתוך עשרה, אז עמדנו בו.</a:t>
            </a:r>
          </a:p>
          <a:p>
            <a:endParaRPr/>
          </a:p>
          <a:p>
            <a:r>
              <a:t>בגרף מימין: כל עמודה היא תרחיש, הגובה הוא ציון החריגה של הרכב שהוזרק, והקו המקווקו הוא סף ההחלטה השמרני שקבענו (סדר גודל של 15 סיגמא).</a:t>
            </a:r>
          </a:p>
          <a:p>
            <a:endParaRPr/>
          </a:p>
          <a:p>
            <a:r>
              <a:t>מה זוהה: בלימת חירום, רכב תקוע, תאונה, נהיגה פרועה, מהירות מופרזת ורכב עמוס מדי. כל החריגות ה'אורכיות' וברמת החיישן בולטות מעל הסף בבירור.</a:t>
            </a:r>
          </a:p>
          <a:p>
            <a:endParaRPr/>
          </a:p>
          <a:p>
            <a:r>
              <a:t>וחשוב — המודל מפרש את עצמו. בתרחיש המהירות המופרזת, הסימון הונע ממהירות יחסית בנקודת ההתקרבות הקרובה ביותר, ממהירות ממוצעת וממהירות רוחבית. זה מידע שאפשר להציג לרשות תחבורה.</a:t>
            </a:r>
          </a:p>
          <a:p>
            <a:endParaRPr/>
          </a:p>
          <a:p>
            <a:r>
              <a:t>מה פספסנו: נסיעה על קו הפרדה — 6.2 סיגמא; פיתולים בין נתיבים — 5 סיגמא; ונסיעה צמודה מדי — 2.1 סיגמא. שימו לב: כל השלושה כן חורגים מהנורמלי, אבל לא מספיק כדי לחצות את הסף השמרני שבחרנו — סף שנבחר בכוונה גבוה כדי לשמור על אפס כמעט התרעות שווא.</a:t>
            </a:r>
          </a:p>
          <a:p>
            <a:endParaRPr/>
          </a:p>
          <a:p>
            <a:r>
              <a:t>המסקנה: האות המאוחד לבדו נושא מספיק מידע כדי לסמן נהיגה חריגה. הפער שנשאר הוא בעיה של סף ושל מאפיינים — לא בעיה של חישה. וזה בדיוק מה שנציע להמשך."</a:t>
            </a:r>
          </a:p>
          <a:p>
            <a:endParaRPr/>
          </a:p>
          <a:p>
            <a:r>
              <a:t>מעבר: "נועה — האימות בעולם האמיתי." </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[נועה]  — 110 שניות</a:t>
            </a:r>
          </a:p>
          <a:p>
            <a:endParaRPr/>
          </a:p>
          <a:p>
            <a:r>
              <a:t>"השקף הזה הוא בעינינו התוצאה החזקה ביותר, כי הוא היחיד שיצא מהסימולציה אל העולם האמיתי.</a:t>
            </a:r>
          </a:p>
          <a:p>
            <a:endParaRPr/>
          </a:p>
          <a:p>
            <a:r>
              <a:t>ברחוב קלאוזנר, ליד קמפוס האוניברסיטה, פועלת מערכת DAS אמיתית על סיב תקשורת קיים, לצד מצלמה. לקחנו הקלטה אמיתית של אוטובוס עירוני שמאט ונעצר בתחנה, והרצנו אותה דרך הפייפליין שלנו — בלי לשנות שורת קוד אחת, על הגיאומטריה האמיתית של הרחוב.</a:t>
            </a:r>
          </a:p>
          <a:p>
            <a:endParaRPr/>
          </a:p>
          <a:p>
            <a:r>
              <a:t>התוצאה: היתוך של 84 מדידות DAS ו‑30 מדידות מצלמה על פני 41.8 שניות. שימו לב לנתון שאני הכי גאה בו — במשך 42 אחוז מהזמן לא הגיעה שום מדידה, והמערכת רצה על חיזוי בלבד, כשהפער הארוך ביותר היה כמעט 4 שניות. ולמרות זאת המסלול לא אבד, גם לא בעצירה בתחנה — שזה בדיוק המצב שבו DAS 'מאבד' רכב, כי רכב עומד לא מייצר עומס משתנה.</a:t>
            </a:r>
          </a:p>
          <a:p>
            <a:endParaRPr/>
          </a:p>
          <a:p>
            <a:r>
              <a:t>השגיאה של המסלול המאוחד: 1.17 מטר. אבל תסתכלו על הפירוק — DAS לבדו נתן 0.33 מטר, והמצלמה נתנה 2.49 מטר.</a:t>
            </a:r>
          </a:p>
          <a:p>
            <a:endParaRPr/>
          </a:p>
          <a:p>
            <a:r>
              <a:t>וזו התובנה ההנדסית: המצלמה הצהירה על סיגמא של 20 סנטימטר, ובפועל שגתה פי עשר. בדיוק מצב הכשל שהתכנון שלנו צופה — חיישן שמדווח על עצמו יותר מדי בביטחון מושך את ההיתוך לכיוון הלא נכון. המסקנה המעשית: לפני כל פריסה רחבה חייבים לכייל כל מצלמה בנקודה שלה."</a:t>
            </a:r>
          </a:p>
          <a:p>
            <a:endParaRPr/>
          </a:p>
          <a:p>
            <a:r>
              <a:t>מעבר: "נתאי יסכם." </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[נתאי — ובסיום נועה סוגרת]  — 90 שניות</a:t>
            </a:r>
          </a:p>
          <a:p>
            <a:endParaRPr/>
          </a:p>
          <a:p>
            <a:r>
              <a:t>"נסיים בשני דברים: לאן ממשיכים מכאן, ומה מסרנו.</a:t>
            </a:r>
          </a:p>
          <a:p>
            <a:endParaRPr/>
          </a:p>
          <a:p>
            <a:r>
              <a:t>שש הצעות להמשך. ראשית, לתפוס את החריגות הקשות — יש לנו עכשיו דוגמאות מתויגות, ואפשר לאמן עליהן מודל מפוקח שיזהה נסיעה על קו הפרדה, פיתולים ונסיעה צמודה. שנית, מאפיינים טובים יותר — תנועה רוחבית, מרחק מהרכב שלפנים, ושילוב של 'מה קרה' עם 'מתי זה קרה'. שלישית, כיול מצלמות — ראינו בקלאוזנר שהמצלמה שגתה פי עשר ממה שהצהירה, ולכן חייבים לכייל כל מצלמה באתר שלה. רביעית, ניסוי אמיתי ארוך יותר עם מכשיר DAS ברחוב מאובזר. חמישית, לעבוד ישירות על האות הגולמי של הסיב ולא רק על מספרים מזוקקים. ושישית — להריץ את זה חי, ברמת עיר: זמן אמת, מעקב על פני צמתים מרובים, ולוח בקרה עם התרעות.</a:t>
            </a:r>
          </a:p>
          <a:p>
            <a:endParaRPr/>
          </a:p>
          <a:p>
            <a:r>
              <a:t>מבחינת תיעוד — כל מה שבנינו מתועד ופתוח: המנוע ומודלי החיישנים, חבילת מודל החריגות והבדיקות, כ‑150 תרחישי נהיגה נורמלית ותשעה תרחישי חריגה, וכל הקוד, הדוקומנטציה והדוח נמצאים ב‑GitHub בקישור שמופיע כאן. למטה — המקורות המרכזיים, ובראשם המאמר של חן כהן, ליאב הן ואריאל ללוש שעליו התבססנו."</a:t>
            </a:r>
          </a:p>
          <a:p>
            <a:endParaRPr/>
          </a:p>
          <a:p>
            <a:r>
              <a:t>[נועה, סגירה] "תודה רבה — נשמח לשאלות."</a:t>
            </a:r>
          </a:p>
          <a:p>
            <a:endParaRPr/>
          </a:p>
          <a:p>
            <a:r>
              <a:t>תזכורת: השאירו זמן לשאלות. סה"כ מצגת ~20 דקות + הדגמה ~5 דקות = 25 דקות.</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7/12/26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jp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2.png"/><Relationship Id="rId9"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jpg"/><Relationship Id="rId7"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2.png"/><Relationship Id="rId9"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jpg"/><Relationship Id="rId7"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1.jpeg"/>
          <p:cNvPicPr>
            <a:picLocks noChangeAspect="1"/>
          </p:cNvPicPr>
          <p:nvPr/>
        </p:nvPicPr>
        <p:blipFill>
          <a:blip r:embed="rId2"/>
          <a:stretch>
            <a:fillRect/>
          </a:stretch>
        </p:blipFill>
        <p:spPr>
          <a:xfrm>
            <a:off x="292608" y="274320"/>
            <a:ext cx="2490940" cy="566928"/>
          </a:xfrm>
          <a:prstGeom prst="rect">
            <a:avLst/>
          </a:prstGeom>
        </p:spPr>
      </p:pic>
      <p:pic>
        <p:nvPicPr>
          <p:cNvPr id="3" name="Picture 2" descr="fiber_logo.png"/>
          <p:cNvPicPr>
            <a:picLocks noChangeAspect="1"/>
          </p:cNvPicPr>
          <p:nvPr/>
        </p:nvPicPr>
        <p:blipFill>
          <a:blip r:embed="rId3"/>
          <a:stretch>
            <a:fillRect/>
          </a:stretch>
        </p:blipFill>
        <p:spPr>
          <a:xfrm>
            <a:off x="11292840" y="219456"/>
            <a:ext cx="635887" cy="658368"/>
          </a:xfrm>
          <a:prstGeom prst="rect">
            <a:avLst/>
          </a:prstGeom>
        </p:spPr>
      </p:pic>
      <p:sp>
        <p:nvSpPr>
          <p:cNvPr id="4" name="TextBox 3"/>
          <p:cNvSpPr txBox="1"/>
          <p:nvPr/>
        </p:nvSpPr>
        <p:spPr>
          <a:xfrm>
            <a:off x="822960" y="1965960"/>
            <a:ext cx="10515600" cy="200055"/>
          </a:xfrm>
          <a:prstGeom prst="rect">
            <a:avLst/>
          </a:prstGeom>
          <a:noFill/>
        </p:spPr>
        <p:txBody>
          <a:bodyPr wrap="square" lIns="0" tIns="0" rIns="0" bIns="0" anchor="t">
            <a:spAutoFit/>
          </a:bodyPr>
          <a:lstStyle/>
          <a:p>
            <a:pPr algn="ctr">
              <a:lnSpc>
                <a:spcPct val="100000"/>
              </a:lnSpc>
              <a:spcBef>
                <a:spcPts val="0"/>
              </a:spcBef>
              <a:spcAft>
                <a:spcPts val="400"/>
              </a:spcAft>
            </a:pPr>
            <a:r>
              <a:rPr sz="1300" b="1" i="0" dirty="0">
                <a:solidFill>
                  <a:srgbClr val="E08A1E"/>
                </a:solidFill>
                <a:latin typeface="Cambria"/>
              </a:rPr>
              <a:t>FINAL PROJECT · No. 3221</a:t>
            </a:r>
          </a:p>
        </p:txBody>
      </p:sp>
      <p:sp>
        <p:nvSpPr>
          <p:cNvPr id="5" name="TextBox 4"/>
          <p:cNvSpPr txBox="1"/>
          <p:nvPr/>
        </p:nvSpPr>
        <p:spPr>
          <a:xfrm>
            <a:off x="640080" y="2395728"/>
            <a:ext cx="10881360" cy="1097280"/>
          </a:xfrm>
          <a:prstGeom prst="rect">
            <a:avLst/>
          </a:prstGeom>
          <a:noFill/>
        </p:spPr>
        <p:txBody>
          <a:bodyPr wrap="square" lIns="0" tIns="0" rIns="0" bIns="0" anchor="t">
            <a:spAutoFit/>
          </a:bodyPr>
          <a:lstStyle/>
          <a:p>
            <a:pPr algn="ctr">
              <a:lnSpc>
                <a:spcPct val="100000"/>
              </a:lnSpc>
              <a:spcBef>
                <a:spcPts val="0"/>
              </a:spcBef>
              <a:spcAft>
                <a:spcPts val="400"/>
              </a:spcAft>
            </a:pPr>
            <a:r>
              <a:rPr sz="4000" b="1" i="0">
                <a:solidFill>
                  <a:srgbClr val="0B2A45"/>
                </a:solidFill>
                <a:latin typeface="Cambria"/>
              </a:rPr>
              <a:t>Optical Fibers for Smart Cities</a:t>
            </a:r>
          </a:p>
        </p:txBody>
      </p:sp>
      <p:sp>
        <p:nvSpPr>
          <p:cNvPr id="6" name="TextBox 5"/>
          <p:cNvSpPr txBox="1"/>
          <p:nvPr/>
        </p:nvSpPr>
        <p:spPr>
          <a:xfrm>
            <a:off x="1097280" y="3456432"/>
            <a:ext cx="9966960" cy="261610"/>
          </a:xfrm>
          <a:prstGeom prst="rect">
            <a:avLst/>
          </a:prstGeom>
          <a:noFill/>
        </p:spPr>
        <p:txBody>
          <a:bodyPr wrap="square" lIns="0" tIns="0" rIns="0" bIns="0" anchor="t">
            <a:spAutoFit/>
          </a:bodyPr>
          <a:lstStyle/>
          <a:p>
            <a:pPr algn="ctr">
              <a:lnSpc>
                <a:spcPct val="100000"/>
              </a:lnSpc>
              <a:spcBef>
                <a:spcPts val="0"/>
              </a:spcBef>
              <a:spcAft>
                <a:spcPts val="400"/>
              </a:spcAft>
            </a:pPr>
            <a:r>
              <a:rPr sz="1700" b="0" i="1" dirty="0">
                <a:solidFill>
                  <a:srgbClr val="1C7293"/>
                </a:solidFill>
                <a:latin typeface="Calibri"/>
              </a:rPr>
              <a:t>Fiber</a:t>
            </a:r>
            <a:r>
              <a:rPr lang="en-US" sz="1700" b="0" i="1" dirty="0">
                <a:solidFill>
                  <a:srgbClr val="1C7293"/>
                </a:solidFill>
                <a:latin typeface="Calibri"/>
              </a:rPr>
              <a:t> </a:t>
            </a:r>
            <a:r>
              <a:rPr sz="1700" b="0" i="1" dirty="0">
                <a:solidFill>
                  <a:srgbClr val="1C7293"/>
                </a:solidFill>
                <a:latin typeface="Calibri"/>
              </a:rPr>
              <a:t>Optic (DAS) Sensing for Real</a:t>
            </a:r>
            <a:r>
              <a:rPr lang="en-US" sz="1700" b="0" i="1" dirty="0">
                <a:solidFill>
                  <a:srgbClr val="1C7293"/>
                </a:solidFill>
                <a:latin typeface="Calibri"/>
              </a:rPr>
              <a:t> </a:t>
            </a:r>
            <a:r>
              <a:rPr sz="1700" b="0" i="1" dirty="0">
                <a:solidFill>
                  <a:srgbClr val="1C7293"/>
                </a:solidFill>
                <a:latin typeface="Calibri"/>
              </a:rPr>
              <a:t>Time Vehicle Tracking and Road</a:t>
            </a:r>
            <a:r>
              <a:rPr lang="en-US" sz="1700" b="0" i="1" dirty="0">
                <a:solidFill>
                  <a:srgbClr val="1C7293"/>
                </a:solidFill>
                <a:latin typeface="Calibri"/>
              </a:rPr>
              <a:t> </a:t>
            </a:r>
            <a:r>
              <a:rPr sz="1700" b="0" i="1" dirty="0">
                <a:solidFill>
                  <a:srgbClr val="1C7293"/>
                </a:solidFill>
                <a:latin typeface="Calibri"/>
              </a:rPr>
              <a:t>Anomaly Detection</a:t>
            </a:r>
          </a:p>
        </p:txBody>
      </p:sp>
      <p:cxnSp>
        <p:nvCxnSpPr>
          <p:cNvPr id="7" name="Connector 6"/>
          <p:cNvCxnSpPr/>
          <p:nvPr/>
        </p:nvCxnSpPr>
        <p:spPr>
          <a:xfrm>
            <a:off x="4480560" y="4370832"/>
            <a:ext cx="3227832" cy="0"/>
          </a:xfrm>
          <a:prstGeom prst="bentConnector3">
            <a:avLst/>
          </a:prstGeom>
          <a:ln w="15240">
            <a:solidFill>
              <a:srgbClr val="D5DDE3"/>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14400" y="4572000"/>
            <a:ext cx="10332720" cy="822960"/>
          </a:xfrm>
          <a:prstGeom prst="rect">
            <a:avLst/>
          </a:prstGeom>
          <a:noFill/>
        </p:spPr>
        <p:txBody>
          <a:bodyPr wrap="square" lIns="0" tIns="0" rIns="0" bIns="0" anchor="t">
            <a:spAutoFit/>
          </a:bodyPr>
          <a:lstStyle/>
          <a:p>
            <a:pPr algn="ctr">
              <a:lnSpc>
                <a:spcPct val="100000"/>
              </a:lnSpc>
              <a:spcBef>
                <a:spcPts val="0"/>
              </a:spcBef>
              <a:spcAft>
                <a:spcPts val="500"/>
              </a:spcAft>
            </a:pPr>
            <a:r>
              <a:rPr sz="1500" b="1" i="0">
                <a:solidFill>
                  <a:srgbClr val="33373B"/>
                </a:solidFill>
                <a:latin typeface="Calibri"/>
              </a:rPr>
              <a:t>Students:  </a:t>
            </a:r>
            <a:r>
              <a:rPr sz="1500" b="0" i="0">
                <a:solidFill>
                  <a:srgbClr val="33373B"/>
                </a:solidFill>
                <a:latin typeface="Calibri"/>
              </a:rPr>
              <a:t>Noa Sapir  ·  Nitai Dobrecki</a:t>
            </a:r>
          </a:p>
          <a:p>
            <a:pPr algn="ctr">
              <a:lnSpc>
                <a:spcPct val="100000"/>
              </a:lnSpc>
              <a:spcBef>
                <a:spcPts val="0"/>
              </a:spcBef>
              <a:spcAft>
                <a:spcPts val="500"/>
              </a:spcAft>
            </a:pPr>
            <a:r>
              <a:rPr sz="1500" b="1" i="0">
                <a:solidFill>
                  <a:srgbClr val="33373B"/>
                </a:solidFill>
                <a:latin typeface="Calibri"/>
              </a:rPr>
              <a:t>Supervisor:  </a:t>
            </a:r>
            <a:r>
              <a:rPr sz="1500" b="0" i="0">
                <a:solidFill>
                  <a:srgbClr val="33373B"/>
                </a:solidFill>
                <a:latin typeface="Calibri"/>
              </a:rPr>
              <a:t>Khen Cohen</a:t>
            </a:r>
          </a:p>
        </p:txBody>
      </p:sp>
      <p:sp>
        <p:nvSpPr>
          <p:cNvPr id="9" name="TextBox 8"/>
          <p:cNvSpPr txBox="1"/>
          <p:nvPr/>
        </p:nvSpPr>
        <p:spPr>
          <a:xfrm>
            <a:off x="914400" y="5468112"/>
            <a:ext cx="10332720" cy="548640"/>
          </a:xfrm>
          <a:prstGeom prst="rect">
            <a:avLst/>
          </a:prstGeom>
          <a:noFill/>
        </p:spPr>
        <p:txBody>
          <a:bodyPr wrap="square" lIns="0" tIns="0" rIns="0" bIns="0" anchor="t">
            <a:spAutoFit/>
          </a:bodyPr>
          <a:lstStyle/>
          <a:p>
            <a:pPr algn="ctr">
              <a:lnSpc>
                <a:spcPct val="100000"/>
              </a:lnSpc>
              <a:spcBef>
                <a:spcPts val="0"/>
              </a:spcBef>
              <a:spcAft>
                <a:spcPts val="400"/>
              </a:spcAft>
            </a:pPr>
            <a:r>
              <a:rPr sz="1300" b="0" i="0" dirty="0">
                <a:solidFill>
                  <a:srgbClr val="6B7277"/>
                </a:solidFill>
                <a:latin typeface="Calibri"/>
              </a:rPr>
              <a:t>School of Electrical Engineering, Tel Aviv University  ·  2025–2026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1.jpg"/>
          <p:cNvPicPr>
            <a:picLocks noChangeAspect="1"/>
          </p:cNvPicPr>
          <p:nvPr/>
        </p:nvPicPr>
        <p:blipFill>
          <a:blip r:embed="rId3"/>
          <a:stretch>
            <a:fillRect/>
          </a:stretch>
        </p:blipFill>
        <p:spPr>
          <a:xfrm>
            <a:off x="292608" y="274320"/>
            <a:ext cx="2490940" cy="566928"/>
          </a:xfrm>
          <a:prstGeom prst="rect">
            <a:avLst/>
          </a:prstGeom>
        </p:spPr>
      </p:pic>
      <p:pic>
        <p:nvPicPr>
          <p:cNvPr id="3" name="Picture 2" descr="image2.png"/>
          <p:cNvPicPr>
            <a:picLocks noChangeAspect="1"/>
          </p:cNvPicPr>
          <p:nvPr/>
        </p:nvPicPr>
        <p:blipFill>
          <a:blip r:embed="rId4"/>
          <a:stretch>
            <a:fillRect/>
          </a:stretch>
        </p:blipFill>
        <p:spPr>
          <a:xfrm>
            <a:off x="11292840" y="219456"/>
            <a:ext cx="635887" cy="658368"/>
          </a:xfrm>
          <a:prstGeom prst="rect">
            <a:avLst/>
          </a:prstGeom>
        </p:spPr>
      </p:pic>
      <p:sp>
        <p:nvSpPr>
          <p:cNvPr id="4" name="TextBox 3"/>
          <p:cNvSpPr txBox="1"/>
          <p:nvPr/>
        </p:nvSpPr>
        <p:spPr>
          <a:xfrm>
            <a:off x="1752600" y="370156"/>
            <a:ext cx="8686800" cy="566928"/>
          </a:xfrm>
          <a:prstGeom prst="rect">
            <a:avLst/>
          </a:prstGeom>
          <a:noFill/>
        </p:spPr>
        <p:txBody>
          <a:bodyPr wrap="square" lIns="0" tIns="0" rIns="0" bIns="0" anchor="t">
            <a:spAutoFit/>
          </a:bodyPr>
          <a:lstStyle/>
          <a:p>
            <a:pPr algn="ctr">
              <a:lnSpc>
                <a:spcPct val="100000"/>
              </a:lnSpc>
              <a:spcAft>
                <a:spcPts val="0"/>
              </a:spcAft>
            </a:pPr>
            <a:r>
              <a:rPr sz="2500" b="1" i="0">
                <a:solidFill>
                  <a:srgbClr val="0B4F6C"/>
                </a:solidFill>
                <a:latin typeface="Cambria"/>
              </a:rPr>
              <a:t>Project Topic</a:t>
            </a:r>
          </a:p>
        </p:txBody>
      </p:sp>
      <p:sp>
        <p:nvSpPr>
          <p:cNvPr id="5" name="TextBox 4"/>
          <p:cNvSpPr txBox="1"/>
          <p:nvPr/>
        </p:nvSpPr>
        <p:spPr>
          <a:xfrm>
            <a:off x="320040" y="6455664"/>
            <a:ext cx="5486400" cy="274320"/>
          </a:xfrm>
          <a:prstGeom prst="rect">
            <a:avLst/>
          </a:prstGeom>
          <a:noFill/>
        </p:spPr>
        <p:txBody>
          <a:bodyPr wrap="square" lIns="0" tIns="0" rIns="0" bIns="0" anchor="t">
            <a:spAutoFit/>
          </a:bodyPr>
          <a:lstStyle/>
          <a:p>
            <a:pPr algn="l">
              <a:lnSpc>
                <a:spcPct val="100000"/>
              </a:lnSpc>
              <a:spcAft>
                <a:spcPts val="0"/>
              </a:spcAft>
            </a:pPr>
            <a:r>
              <a:rPr sz="900" b="0" i="1">
                <a:solidFill>
                  <a:srgbClr val="6B7A85"/>
                </a:solidFill>
                <a:latin typeface="Calibri"/>
              </a:rPr>
              <a:t>Optical Fibers for Smart Cities · SimStudio</a:t>
            </a:r>
          </a:p>
        </p:txBody>
      </p:sp>
      <p:sp>
        <p:nvSpPr>
          <p:cNvPr id="6" name="TextBox 5"/>
          <p:cNvSpPr txBox="1"/>
          <p:nvPr/>
        </p:nvSpPr>
        <p:spPr>
          <a:xfrm>
            <a:off x="11338560" y="6455664"/>
            <a:ext cx="640080" cy="274320"/>
          </a:xfrm>
          <a:prstGeom prst="rect">
            <a:avLst/>
          </a:prstGeom>
          <a:noFill/>
        </p:spPr>
        <p:txBody>
          <a:bodyPr wrap="square" lIns="0" tIns="0" rIns="0" bIns="0" anchor="t">
            <a:spAutoFit/>
          </a:bodyPr>
          <a:lstStyle/>
          <a:p>
            <a:pPr algn="r">
              <a:lnSpc>
                <a:spcPct val="100000"/>
              </a:lnSpc>
              <a:spcAft>
                <a:spcPts val="0"/>
              </a:spcAft>
            </a:pPr>
            <a:r>
              <a:rPr sz="1000" b="0" i="0">
                <a:solidFill>
                  <a:srgbClr val="6B7A85"/>
                </a:solidFill>
                <a:latin typeface="Calibri"/>
              </a:rPr>
              <a:t>2</a:t>
            </a:r>
          </a:p>
        </p:txBody>
      </p:sp>
      <p:sp>
        <p:nvSpPr>
          <p:cNvPr id="7" name="TextBox 6"/>
          <p:cNvSpPr txBox="1"/>
          <p:nvPr/>
        </p:nvSpPr>
        <p:spPr>
          <a:xfrm>
            <a:off x="594360" y="1234440"/>
            <a:ext cx="5532120" cy="4686476"/>
          </a:xfrm>
          <a:prstGeom prst="rect">
            <a:avLst/>
          </a:prstGeom>
          <a:noFill/>
        </p:spPr>
        <p:txBody>
          <a:bodyPr wrap="square" lIns="0" tIns="0" rIns="0" bIns="0" anchor="t">
            <a:spAutoFit/>
          </a:bodyPr>
          <a:lstStyle/>
          <a:p>
            <a:pPr marL="171450" indent="-171450">
              <a:lnSpc>
                <a:spcPct val="106000"/>
              </a:lnSpc>
              <a:spcAft>
                <a:spcPts val="900"/>
              </a:spcAft>
              <a:buFont typeface="Courier New" panose="02070309020205020404" pitchFamily="49" charset="0"/>
              <a:buChar char="o"/>
            </a:pPr>
            <a:r>
              <a:rPr lang="en-US" sz="1450" dirty="0">
                <a:solidFill>
                  <a:srgbClr val="33373B"/>
                </a:solidFill>
              </a:rPr>
              <a:t>Modern cities are laced with thousands of kilometers of telecommunication optical fiber, already deployed beneath most streets.</a:t>
            </a:r>
          </a:p>
          <a:p>
            <a:pPr marL="171450" indent="-171450">
              <a:lnSpc>
                <a:spcPct val="106000"/>
              </a:lnSpc>
              <a:spcAft>
                <a:spcPts val="900"/>
              </a:spcAft>
              <a:buFont typeface="Courier New" panose="02070309020205020404" pitchFamily="49" charset="0"/>
              <a:buChar char="o"/>
            </a:pPr>
            <a:r>
              <a:rPr lang="en-US" sz="1450" dirty="0">
                <a:solidFill>
                  <a:srgbClr val="33373B"/>
                </a:solidFill>
              </a:rPr>
              <a:t>Distributed Acoustic Sensing (DAS) transforms a standard fiber into a dense array of vibration sensors. each meter of fiber becomes an independent channel.</a:t>
            </a:r>
          </a:p>
          <a:p>
            <a:pPr marL="171450" indent="-171450">
              <a:lnSpc>
                <a:spcPct val="106000"/>
              </a:lnSpc>
              <a:spcAft>
                <a:spcPts val="900"/>
              </a:spcAft>
              <a:buFont typeface="Courier New" panose="02070309020205020404" pitchFamily="49" charset="0"/>
              <a:buChar char="o"/>
            </a:pPr>
            <a:r>
              <a:rPr lang="en-US" sz="1450" dirty="0">
                <a:solidFill>
                  <a:srgbClr val="33373B"/>
                </a:solidFill>
              </a:rPr>
              <a:t>A passing vehicle vibrates the ground and shifts the optical phase of the back-scattered light, giving a strain-rate signal whose amplitude encodes weight and slope encodes speed.</a:t>
            </a:r>
          </a:p>
          <a:p>
            <a:pPr marL="171450" indent="-171450">
              <a:lnSpc>
                <a:spcPct val="106000"/>
              </a:lnSpc>
              <a:spcAft>
                <a:spcPts val="900"/>
              </a:spcAft>
              <a:buFont typeface="Courier New" panose="02070309020205020404" pitchFamily="49" charset="0"/>
              <a:buChar char="o"/>
            </a:pPr>
            <a:r>
              <a:rPr lang="en-US" sz="1450" b="1" dirty="0" err="1">
                <a:solidFill>
                  <a:srgbClr val="33373B"/>
                </a:solidFill>
              </a:rPr>
              <a:t>SimStudio</a:t>
            </a:r>
            <a:r>
              <a:rPr lang="en-US" sz="1450" b="1" dirty="0">
                <a:solidFill>
                  <a:srgbClr val="33373B"/>
                </a:solidFill>
              </a:rPr>
              <a:t> is a complete desktop simulation, sensor-fusion and anomaly detection environment.</a:t>
            </a:r>
          </a:p>
          <a:p>
            <a:pPr lvl="1">
              <a:lnSpc>
                <a:spcPct val="106000"/>
              </a:lnSpc>
              <a:spcAft>
                <a:spcPts val="900"/>
              </a:spcAft>
            </a:pPr>
            <a:r>
              <a:rPr lang="en-US" sz="1250" dirty="0">
                <a:solidFill>
                  <a:srgbClr val="6B7277"/>
                </a:solidFill>
              </a:rPr>
              <a:t>– </a:t>
            </a:r>
            <a:r>
              <a:rPr lang="he-IL" sz="1250" dirty="0">
                <a:solidFill>
                  <a:srgbClr val="6B7277"/>
                </a:solidFill>
              </a:rPr>
              <a:t> </a:t>
            </a:r>
            <a:r>
              <a:rPr lang="en-US" sz="1450" dirty="0">
                <a:solidFill>
                  <a:srgbClr val="33373B"/>
                </a:solidFill>
              </a:rPr>
              <a:t>Imports real OpenStreetMap networks, drives physically grounded vehicles, and synthesizes three modalities: DAS, camera, GPS.</a:t>
            </a:r>
          </a:p>
          <a:p>
            <a:pPr lvl="1">
              <a:lnSpc>
                <a:spcPct val="106000"/>
              </a:lnSpc>
              <a:spcAft>
                <a:spcPts val="900"/>
              </a:spcAft>
            </a:pPr>
            <a:r>
              <a:rPr lang="en-US" sz="1250" dirty="0">
                <a:solidFill>
                  <a:srgbClr val="6B7277"/>
                </a:solidFill>
              </a:rPr>
              <a:t>–  </a:t>
            </a:r>
            <a:r>
              <a:rPr lang="en-US" sz="1450" dirty="0">
                <a:solidFill>
                  <a:srgbClr val="33373B"/>
                </a:solidFill>
              </a:rPr>
              <a:t>Fuses them into stable vehicle tracks and detects anomalies from a read-only analytics layer.</a:t>
            </a:r>
          </a:p>
          <a:p>
            <a:pPr>
              <a:lnSpc>
                <a:spcPct val="105000"/>
              </a:lnSpc>
              <a:spcAft>
                <a:spcPts val="1300"/>
              </a:spcAft>
            </a:pPr>
            <a:endParaRPr sz="1350" b="0" dirty="0">
              <a:solidFill>
                <a:srgbClr val="33424D"/>
              </a:solidFill>
              <a:latin typeface="Calibri"/>
            </a:endParaRPr>
          </a:p>
        </p:txBody>
      </p:sp>
      <p:sp>
        <p:nvSpPr>
          <p:cNvPr id="8" name="Rounded Rectangle 7"/>
          <p:cNvSpPr/>
          <p:nvPr/>
        </p:nvSpPr>
        <p:spPr>
          <a:xfrm>
            <a:off x="6446520" y="1170432"/>
            <a:ext cx="5074920" cy="461772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pic>
        <p:nvPicPr>
          <p:cNvPr id="9" name="Picture 8" descr="image3.png"/>
          <p:cNvPicPr>
            <a:picLocks noChangeAspect="1"/>
          </p:cNvPicPr>
          <p:nvPr/>
        </p:nvPicPr>
        <p:blipFill>
          <a:blip r:embed="rId5"/>
          <a:stretch>
            <a:fillRect/>
          </a:stretch>
        </p:blipFill>
        <p:spPr>
          <a:xfrm>
            <a:off x="6629400" y="1600200"/>
            <a:ext cx="4709160" cy="3164017"/>
          </a:xfrm>
          <a:prstGeom prst="rect">
            <a:avLst/>
          </a:prstGeom>
        </p:spPr>
      </p:pic>
      <p:sp>
        <p:nvSpPr>
          <p:cNvPr id="10" name="TextBox 9"/>
          <p:cNvSpPr txBox="1"/>
          <p:nvPr/>
        </p:nvSpPr>
        <p:spPr>
          <a:xfrm>
            <a:off x="6629400" y="5257800"/>
            <a:ext cx="4709160" cy="457200"/>
          </a:xfrm>
          <a:prstGeom prst="rect">
            <a:avLst/>
          </a:prstGeom>
          <a:noFill/>
        </p:spPr>
        <p:txBody>
          <a:bodyPr wrap="square" lIns="0" tIns="0" rIns="0" bIns="0" anchor="t">
            <a:spAutoFit/>
          </a:bodyPr>
          <a:lstStyle/>
          <a:p>
            <a:pPr algn="ctr">
              <a:lnSpc>
                <a:spcPct val="110000"/>
              </a:lnSpc>
              <a:spcAft>
                <a:spcPts val="0"/>
              </a:spcAft>
            </a:pPr>
            <a:r>
              <a:rPr sz="1050" b="0" i="0">
                <a:solidFill>
                  <a:srgbClr val="6B7A85"/>
                </a:solidFill>
                <a:latin typeface="Calibri"/>
              </a:rPr>
              <a:t>Real North Tel-Aviv road network — 144 simulation regions seed the normal-driving baseline.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1.jpg"/>
          <p:cNvPicPr>
            <a:picLocks noChangeAspect="1"/>
          </p:cNvPicPr>
          <p:nvPr/>
        </p:nvPicPr>
        <p:blipFill>
          <a:blip r:embed="rId3"/>
          <a:stretch>
            <a:fillRect/>
          </a:stretch>
        </p:blipFill>
        <p:spPr>
          <a:xfrm>
            <a:off x="292608" y="274320"/>
            <a:ext cx="2490940" cy="566928"/>
          </a:xfrm>
          <a:prstGeom prst="rect">
            <a:avLst/>
          </a:prstGeom>
        </p:spPr>
      </p:pic>
      <p:pic>
        <p:nvPicPr>
          <p:cNvPr id="3" name="Picture 2" descr="image2.png"/>
          <p:cNvPicPr>
            <a:picLocks noChangeAspect="1"/>
          </p:cNvPicPr>
          <p:nvPr/>
        </p:nvPicPr>
        <p:blipFill>
          <a:blip r:embed="rId4"/>
          <a:stretch>
            <a:fillRect/>
          </a:stretch>
        </p:blipFill>
        <p:spPr>
          <a:xfrm>
            <a:off x="11292840" y="219456"/>
            <a:ext cx="635887" cy="658368"/>
          </a:xfrm>
          <a:prstGeom prst="rect">
            <a:avLst/>
          </a:prstGeom>
        </p:spPr>
      </p:pic>
      <p:sp>
        <p:nvSpPr>
          <p:cNvPr id="4" name="TextBox 3"/>
          <p:cNvSpPr txBox="1"/>
          <p:nvPr/>
        </p:nvSpPr>
        <p:spPr>
          <a:xfrm>
            <a:off x="1737360" y="301752"/>
            <a:ext cx="8686800" cy="566928"/>
          </a:xfrm>
          <a:prstGeom prst="rect">
            <a:avLst/>
          </a:prstGeom>
          <a:noFill/>
        </p:spPr>
        <p:txBody>
          <a:bodyPr wrap="square" lIns="0" tIns="0" rIns="0" bIns="0" anchor="t">
            <a:spAutoFit/>
          </a:bodyPr>
          <a:lstStyle/>
          <a:p>
            <a:pPr algn="ctr">
              <a:lnSpc>
                <a:spcPct val="100000"/>
              </a:lnSpc>
              <a:spcAft>
                <a:spcPts val="0"/>
              </a:spcAft>
            </a:pPr>
            <a:r>
              <a:rPr sz="2400" b="1" i="0">
                <a:solidFill>
                  <a:srgbClr val="0B4F6C"/>
                </a:solidFill>
                <a:latin typeface="Cambria"/>
              </a:rPr>
              <a:t>How One Fiber Becomes Thousands of Sensors</a:t>
            </a:r>
          </a:p>
        </p:txBody>
      </p:sp>
      <p:sp>
        <p:nvSpPr>
          <p:cNvPr id="5" name="TextBox 4"/>
          <p:cNvSpPr txBox="1"/>
          <p:nvPr/>
        </p:nvSpPr>
        <p:spPr>
          <a:xfrm>
            <a:off x="320040" y="6455664"/>
            <a:ext cx="5486400" cy="274320"/>
          </a:xfrm>
          <a:prstGeom prst="rect">
            <a:avLst/>
          </a:prstGeom>
          <a:noFill/>
        </p:spPr>
        <p:txBody>
          <a:bodyPr wrap="square" lIns="0" tIns="0" rIns="0" bIns="0" anchor="t">
            <a:spAutoFit/>
          </a:bodyPr>
          <a:lstStyle/>
          <a:p>
            <a:pPr algn="l">
              <a:lnSpc>
                <a:spcPct val="100000"/>
              </a:lnSpc>
              <a:spcAft>
                <a:spcPts val="0"/>
              </a:spcAft>
            </a:pPr>
            <a:r>
              <a:rPr sz="900" b="0" i="1">
                <a:solidFill>
                  <a:srgbClr val="6B7A85"/>
                </a:solidFill>
                <a:latin typeface="Calibri"/>
              </a:rPr>
              <a:t>Optical Fibers for Smart Cities · SimStudio</a:t>
            </a:r>
          </a:p>
        </p:txBody>
      </p:sp>
      <p:sp>
        <p:nvSpPr>
          <p:cNvPr id="6" name="TextBox 5"/>
          <p:cNvSpPr txBox="1"/>
          <p:nvPr/>
        </p:nvSpPr>
        <p:spPr>
          <a:xfrm>
            <a:off x="11338560" y="6455664"/>
            <a:ext cx="640080" cy="274320"/>
          </a:xfrm>
          <a:prstGeom prst="rect">
            <a:avLst/>
          </a:prstGeom>
          <a:noFill/>
        </p:spPr>
        <p:txBody>
          <a:bodyPr wrap="square" lIns="0" tIns="0" rIns="0" bIns="0" anchor="t">
            <a:spAutoFit/>
          </a:bodyPr>
          <a:lstStyle/>
          <a:p>
            <a:pPr algn="r">
              <a:lnSpc>
                <a:spcPct val="100000"/>
              </a:lnSpc>
              <a:spcAft>
                <a:spcPts val="0"/>
              </a:spcAft>
            </a:pPr>
            <a:r>
              <a:rPr sz="1000" b="0" i="0">
                <a:solidFill>
                  <a:srgbClr val="6B7A85"/>
                </a:solidFill>
                <a:latin typeface="Calibri"/>
              </a:rPr>
              <a:t>3</a:t>
            </a:r>
          </a:p>
        </p:txBody>
      </p:sp>
      <p:pic>
        <p:nvPicPr>
          <p:cNvPr id="7" name="Picture 6" descr="das_combined.png"/>
          <p:cNvPicPr>
            <a:picLocks noChangeAspect="1"/>
          </p:cNvPicPr>
          <p:nvPr/>
        </p:nvPicPr>
        <p:blipFill>
          <a:blip r:embed="rId5"/>
          <a:stretch>
            <a:fillRect/>
          </a:stretch>
        </p:blipFill>
        <p:spPr>
          <a:xfrm>
            <a:off x="256032" y="950976"/>
            <a:ext cx="8275320" cy="4846320"/>
          </a:xfrm>
          <a:prstGeom prst="rect">
            <a:avLst/>
          </a:prstGeom>
        </p:spPr>
      </p:pic>
      <p:sp>
        <p:nvSpPr>
          <p:cNvPr id="8" name="TextBox 7"/>
          <p:cNvSpPr txBox="1"/>
          <p:nvPr/>
        </p:nvSpPr>
        <p:spPr>
          <a:xfrm>
            <a:off x="3758969" y="1152007"/>
            <a:ext cx="1110721" cy="237744"/>
          </a:xfrm>
          <a:prstGeom prst="rect">
            <a:avLst/>
          </a:prstGeom>
          <a:noFill/>
        </p:spPr>
        <p:txBody>
          <a:bodyPr wrap="none" lIns="0" tIns="0" rIns="0" bIns="0" anchor="ctr">
            <a:spAutoFit/>
          </a:bodyPr>
          <a:lstStyle/>
          <a:p>
            <a:pPr algn="ctr"/>
            <a:r>
              <a:rPr sz="1050" b="1" i="0">
                <a:solidFill>
                  <a:srgbClr val="0B4F6C"/>
                </a:solidFill>
                <a:latin typeface="Calibri"/>
              </a:rPr>
              <a:t>light vehicle</a:t>
            </a:r>
          </a:p>
        </p:txBody>
      </p:sp>
      <p:sp>
        <p:nvSpPr>
          <p:cNvPr id="9" name="TextBox 8"/>
          <p:cNvSpPr txBox="1"/>
          <p:nvPr/>
        </p:nvSpPr>
        <p:spPr>
          <a:xfrm>
            <a:off x="4430964" y="1782495"/>
            <a:ext cx="822960" cy="237744"/>
          </a:xfrm>
          <a:prstGeom prst="rect">
            <a:avLst/>
          </a:prstGeom>
          <a:noFill/>
        </p:spPr>
        <p:txBody>
          <a:bodyPr wrap="none" lIns="0" tIns="0" rIns="0" bIns="0" anchor="ctr">
            <a:spAutoFit/>
          </a:bodyPr>
          <a:lstStyle/>
          <a:p>
            <a:pPr algn="l"/>
            <a:r>
              <a:rPr sz="1050" b="1" i="1">
                <a:solidFill>
                  <a:srgbClr val="0B4F6C"/>
                </a:solidFill>
                <a:latin typeface="Calibri"/>
              </a:rPr>
              <a:t>F</a:t>
            </a:r>
          </a:p>
        </p:txBody>
      </p:sp>
      <p:sp>
        <p:nvSpPr>
          <p:cNvPr id="10" name="TextBox 9"/>
          <p:cNvSpPr txBox="1"/>
          <p:nvPr/>
        </p:nvSpPr>
        <p:spPr>
          <a:xfrm>
            <a:off x="5968886" y="1152007"/>
            <a:ext cx="1110721" cy="237744"/>
          </a:xfrm>
          <a:prstGeom prst="rect">
            <a:avLst/>
          </a:prstGeom>
          <a:noFill/>
        </p:spPr>
        <p:txBody>
          <a:bodyPr wrap="none" lIns="0" tIns="0" rIns="0" bIns="0" anchor="ctr">
            <a:spAutoFit/>
          </a:bodyPr>
          <a:lstStyle/>
          <a:p>
            <a:pPr algn="ctr"/>
            <a:r>
              <a:rPr sz="1050" b="1" i="0">
                <a:solidFill>
                  <a:srgbClr val="C97B2C"/>
                </a:solidFill>
                <a:latin typeface="Calibri"/>
              </a:rPr>
              <a:t>heavy vehicle</a:t>
            </a:r>
          </a:p>
        </p:txBody>
      </p:sp>
      <p:sp>
        <p:nvSpPr>
          <p:cNvPr id="11" name="TextBox 10"/>
          <p:cNvSpPr txBox="1"/>
          <p:nvPr/>
        </p:nvSpPr>
        <p:spPr>
          <a:xfrm>
            <a:off x="6640882" y="1782495"/>
            <a:ext cx="822960" cy="237744"/>
          </a:xfrm>
          <a:prstGeom prst="rect">
            <a:avLst/>
          </a:prstGeom>
          <a:noFill/>
        </p:spPr>
        <p:txBody>
          <a:bodyPr wrap="none" lIns="0" tIns="0" rIns="0" bIns="0" anchor="ctr">
            <a:spAutoFit/>
          </a:bodyPr>
          <a:lstStyle/>
          <a:p>
            <a:pPr algn="l"/>
            <a:r>
              <a:rPr sz="1050" b="1" i="1">
                <a:solidFill>
                  <a:srgbClr val="C97B2C"/>
                </a:solidFill>
                <a:latin typeface="Calibri"/>
              </a:rPr>
              <a:t>F</a:t>
            </a:r>
          </a:p>
        </p:txBody>
      </p:sp>
      <p:sp>
        <p:nvSpPr>
          <p:cNvPr id="12" name="TextBox 11"/>
          <p:cNvSpPr txBox="1"/>
          <p:nvPr/>
        </p:nvSpPr>
        <p:spPr>
          <a:xfrm>
            <a:off x="4193219" y="2266789"/>
            <a:ext cx="2360422" cy="146194"/>
          </a:xfrm>
          <a:prstGeom prst="rect">
            <a:avLst/>
          </a:prstGeom>
          <a:noFill/>
        </p:spPr>
        <p:txBody>
          <a:bodyPr wrap="square" lIns="0" tIns="0" rIns="0" bIns="0" anchor="ctr">
            <a:spAutoFit/>
          </a:bodyPr>
          <a:lstStyle/>
          <a:p>
            <a:pPr algn="r"/>
            <a:r>
              <a:rPr sz="950" b="0" i="1" dirty="0">
                <a:solidFill>
                  <a:srgbClr val="1C7293"/>
                </a:solidFill>
                <a:latin typeface="Calibri"/>
              </a:rPr>
              <a:t>buried telecom fiber every meter is one channel</a:t>
            </a:r>
          </a:p>
        </p:txBody>
      </p:sp>
      <p:sp>
        <p:nvSpPr>
          <p:cNvPr id="13" name="TextBox 12"/>
          <p:cNvSpPr txBox="1"/>
          <p:nvPr/>
        </p:nvSpPr>
        <p:spPr>
          <a:xfrm>
            <a:off x="1015248" y="1928583"/>
            <a:ext cx="864656" cy="237744"/>
          </a:xfrm>
          <a:prstGeom prst="rect">
            <a:avLst/>
          </a:prstGeom>
          <a:noFill/>
        </p:spPr>
        <p:txBody>
          <a:bodyPr wrap="none" lIns="0" tIns="0" rIns="0" bIns="0" anchor="ctr">
            <a:spAutoFit/>
          </a:bodyPr>
          <a:lstStyle/>
          <a:p>
            <a:pPr algn="ctr"/>
            <a:r>
              <a:rPr sz="850" b="1" i="0">
                <a:solidFill>
                  <a:srgbClr val="FFFFFF"/>
                </a:solidFill>
                <a:latin typeface="Calibri"/>
              </a:rPr>
              <a:t>INTERROGATOR</a:t>
            </a:r>
          </a:p>
        </p:txBody>
      </p:sp>
      <p:sp>
        <p:nvSpPr>
          <p:cNvPr id="14" name="TextBox 13"/>
          <p:cNvSpPr txBox="1"/>
          <p:nvPr/>
        </p:nvSpPr>
        <p:spPr>
          <a:xfrm>
            <a:off x="1036096" y="2097739"/>
            <a:ext cx="822960" cy="237744"/>
          </a:xfrm>
          <a:prstGeom prst="rect">
            <a:avLst/>
          </a:prstGeom>
          <a:noFill/>
        </p:spPr>
        <p:txBody>
          <a:bodyPr wrap="none" lIns="0" tIns="0" rIns="0" bIns="0" anchor="ctr">
            <a:spAutoFit/>
          </a:bodyPr>
          <a:lstStyle/>
          <a:p>
            <a:pPr algn="ctr"/>
            <a:r>
              <a:rPr sz="1300" b="1" i="0">
                <a:solidFill>
                  <a:srgbClr val="FFFFFF"/>
                </a:solidFill>
                <a:latin typeface="Calibri"/>
              </a:rPr>
              <a:t>φ-OTDR</a:t>
            </a:r>
          </a:p>
        </p:txBody>
      </p:sp>
      <p:sp>
        <p:nvSpPr>
          <p:cNvPr id="15" name="TextBox 14"/>
          <p:cNvSpPr txBox="1"/>
          <p:nvPr/>
        </p:nvSpPr>
        <p:spPr>
          <a:xfrm>
            <a:off x="2461194" y="1705606"/>
            <a:ext cx="882487" cy="237744"/>
          </a:xfrm>
          <a:prstGeom prst="rect">
            <a:avLst/>
          </a:prstGeom>
          <a:noFill/>
        </p:spPr>
        <p:txBody>
          <a:bodyPr wrap="none" lIns="0" tIns="0" rIns="0" bIns="0" anchor="ctr">
            <a:spAutoFit/>
          </a:bodyPr>
          <a:lstStyle/>
          <a:p>
            <a:pPr algn="ctr"/>
            <a:r>
              <a:rPr sz="950" b="1" i="0">
                <a:solidFill>
                  <a:srgbClr val="C0392B"/>
                </a:solidFill>
                <a:latin typeface="Calibri"/>
              </a:rPr>
              <a:t>laser pulse</a:t>
            </a:r>
          </a:p>
        </p:txBody>
      </p:sp>
      <mc:AlternateContent xmlns:mc="http://schemas.openxmlformats.org/markup-compatibility/2006">
        <mc:Choice xmlns:a14="http://schemas.microsoft.com/office/drawing/2010/main" Requires="a14">
          <p:sp>
            <p:nvSpPr>
              <p:cNvPr id="16" name="TextBox 15"/>
              <p:cNvSpPr txBox="1"/>
              <p:nvPr/>
            </p:nvSpPr>
            <p:spPr>
              <a:xfrm>
                <a:off x="2276170" y="2444393"/>
                <a:ext cx="1737655" cy="146194"/>
              </a:xfrm>
              <a:prstGeom prst="rect">
                <a:avLst/>
              </a:prstGeom>
              <a:noFill/>
            </p:spPr>
            <p:txBody>
              <a:bodyPr wrap="none" lIns="0" tIns="0" rIns="0" bIns="0" anchor="ctr">
                <a:spAutoFit/>
              </a:bodyPr>
              <a:lstStyle/>
              <a:p>
                <a:pPr algn="ctr"/>
                <a:r>
                  <a:rPr sz="950" b="1" i="0" dirty="0">
                    <a:solidFill>
                      <a:srgbClr val="1C7293"/>
                    </a:solidFill>
                    <a:latin typeface="Calibri"/>
                  </a:rPr>
                  <a:t>back-scattered light</a:t>
                </a:r>
                <a:r>
                  <a:rPr lang="en-US" sz="950" b="1" i="0" dirty="0">
                    <a:solidFill>
                      <a:srgbClr val="1C7293"/>
                    </a:solidFill>
                    <a:latin typeface="Calibri"/>
                  </a:rPr>
                  <a:t>, </a:t>
                </a:r>
                <a:r>
                  <a:rPr sz="950" b="1" i="0" dirty="0">
                    <a:solidFill>
                      <a:srgbClr val="1C7293"/>
                    </a:solidFill>
                    <a:latin typeface="Calibri"/>
                  </a:rPr>
                  <a:t>phase </a:t>
                </a:r>
                <a14:m>
                  <m:oMath xmlns:m="http://schemas.openxmlformats.org/officeDocument/2006/math">
                    <m:r>
                      <a:rPr lang="en-IL" sz="950" b="1" i="1" dirty="0" smtClean="0">
                        <a:solidFill>
                          <a:srgbClr val="1C7293"/>
                        </a:solidFill>
                        <a:latin typeface="Cambria Math" panose="02040503050406030204" pitchFamily="18" charset="0"/>
                      </a:rPr>
                      <m:t>𝝋</m:t>
                    </m:r>
                    <m:r>
                      <a:rPr lang="en-IL" sz="950" b="1" i="1" dirty="0">
                        <a:solidFill>
                          <a:srgbClr val="1C7293"/>
                        </a:solidFill>
                        <a:latin typeface="Cambria Math" panose="02040503050406030204" pitchFamily="18" charset="0"/>
                      </a:rPr>
                      <m:t>(</m:t>
                    </m:r>
                    <m:r>
                      <a:rPr lang="en-IL" sz="950" b="1" i="1" dirty="0">
                        <a:solidFill>
                          <a:srgbClr val="1C7293"/>
                        </a:solidFill>
                        <a:latin typeface="Cambria Math" panose="02040503050406030204" pitchFamily="18" charset="0"/>
                      </a:rPr>
                      <m:t>𝒕</m:t>
                    </m:r>
                    <m:r>
                      <a:rPr lang="en-IL" sz="950" b="1" i="1" dirty="0">
                        <a:solidFill>
                          <a:srgbClr val="1C7293"/>
                        </a:solidFill>
                        <a:latin typeface="Cambria Math" panose="02040503050406030204" pitchFamily="18" charset="0"/>
                      </a:rPr>
                      <m:t>, ℓ)</m:t>
                    </m:r>
                  </m:oMath>
                </a14:m>
                <a:endParaRPr sz="950" b="1" i="0" dirty="0">
                  <a:solidFill>
                    <a:srgbClr val="1C7293"/>
                  </a:solidFill>
                  <a:latin typeface="Calibri"/>
                </a:endParaRPr>
              </a:p>
            </p:txBody>
          </p:sp>
        </mc:Choice>
        <mc:Fallback>
          <p:sp>
            <p:nvSpPr>
              <p:cNvPr id="16" name="TextBox 15"/>
              <p:cNvSpPr txBox="1">
                <a:spLocks noRot="1" noChangeAspect="1" noMove="1" noResize="1" noEditPoints="1" noAdjustHandles="1" noChangeArrowheads="1" noChangeShapeType="1" noTextEdit="1"/>
              </p:cNvSpPr>
              <p:nvPr/>
            </p:nvSpPr>
            <p:spPr>
              <a:xfrm>
                <a:off x="2276170" y="2444393"/>
                <a:ext cx="1737655" cy="146194"/>
              </a:xfrm>
              <a:prstGeom prst="rect">
                <a:avLst/>
              </a:prstGeom>
              <a:blipFill>
                <a:blip r:embed="rId6"/>
                <a:stretch>
                  <a:fillRect l="-4380" t="-23077" r="-3650" b="-46154"/>
                </a:stretch>
              </a:blipFill>
            </p:spPr>
            <p:txBody>
              <a:bodyPr/>
              <a:lstStyle/>
              <a:p>
                <a:r>
                  <a:rPr lang="en-IL">
                    <a:noFill/>
                  </a:rPr>
                  <a:t> </a:t>
                </a:r>
              </a:p>
            </p:txBody>
          </p:sp>
        </mc:Fallback>
      </mc:AlternateContent>
      <p:sp>
        <p:nvSpPr>
          <p:cNvPr id="17" name="TextBox 16"/>
          <p:cNvSpPr txBox="1"/>
          <p:nvPr/>
        </p:nvSpPr>
        <p:spPr>
          <a:xfrm>
            <a:off x="876680" y="1032469"/>
            <a:ext cx="2434962" cy="153888"/>
          </a:xfrm>
          <a:prstGeom prst="rect">
            <a:avLst/>
          </a:prstGeom>
          <a:noFill/>
        </p:spPr>
        <p:txBody>
          <a:bodyPr wrap="none" lIns="0" tIns="0" rIns="0" bIns="0" anchor="ctr">
            <a:spAutoFit/>
          </a:bodyPr>
          <a:lstStyle/>
          <a:p>
            <a:pPr algn="l"/>
            <a:r>
              <a:rPr sz="1000" b="1" i="0" dirty="0">
                <a:solidFill>
                  <a:srgbClr val="0B4F6C"/>
                </a:solidFill>
                <a:latin typeface="Calibri"/>
              </a:rPr>
              <a:t>A   One laser pulse in, back-scattered light out</a:t>
            </a:r>
          </a:p>
        </p:txBody>
      </p:sp>
      <p:sp>
        <p:nvSpPr>
          <p:cNvPr id="18" name="TextBox 17"/>
          <p:cNvSpPr txBox="1"/>
          <p:nvPr/>
        </p:nvSpPr>
        <p:spPr>
          <a:xfrm>
            <a:off x="876680" y="2715077"/>
            <a:ext cx="1910779" cy="153888"/>
          </a:xfrm>
          <a:prstGeom prst="rect">
            <a:avLst/>
          </a:prstGeom>
          <a:noFill/>
        </p:spPr>
        <p:txBody>
          <a:bodyPr wrap="none" lIns="0" tIns="0" rIns="0" bIns="0" anchor="ctr">
            <a:spAutoFit/>
          </a:bodyPr>
          <a:lstStyle/>
          <a:p>
            <a:pPr algn="l"/>
            <a:r>
              <a:rPr sz="1000" b="1" i="0" dirty="0">
                <a:solidFill>
                  <a:srgbClr val="0B4F6C"/>
                </a:solidFill>
                <a:latin typeface="Calibri"/>
              </a:rPr>
              <a:t>B   What every channel reads at one</a:t>
            </a:r>
          </a:p>
        </p:txBody>
      </p:sp>
      <p:sp>
        <p:nvSpPr>
          <p:cNvPr id="19" name="TextBox 18"/>
          <p:cNvSpPr txBox="1"/>
          <p:nvPr/>
        </p:nvSpPr>
        <p:spPr>
          <a:xfrm>
            <a:off x="5968886" y="2722771"/>
            <a:ext cx="1078573" cy="146194"/>
          </a:xfrm>
          <a:prstGeom prst="rect">
            <a:avLst/>
          </a:prstGeom>
          <a:noFill/>
        </p:spPr>
        <p:txBody>
          <a:bodyPr wrap="square" lIns="0" tIns="0" rIns="0" bIns="0" anchor="ctr">
            <a:spAutoFit/>
          </a:bodyPr>
          <a:lstStyle/>
          <a:p>
            <a:pPr algn="l"/>
            <a:r>
              <a:rPr sz="950" b="1" i="0" dirty="0">
                <a:solidFill>
                  <a:srgbClr val="C97B2C"/>
                </a:solidFill>
                <a:latin typeface="Calibri"/>
              </a:rPr>
              <a:t>amplitude  ∝  weight</a:t>
            </a:r>
          </a:p>
        </p:txBody>
      </p:sp>
      <p:sp>
        <p:nvSpPr>
          <p:cNvPr id="20" name="TextBox 19"/>
          <p:cNvSpPr txBox="1"/>
          <p:nvPr/>
        </p:nvSpPr>
        <p:spPr>
          <a:xfrm>
            <a:off x="3793561" y="2644696"/>
            <a:ext cx="985906" cy="237744"/>
          </a:xfrm>
          <a:prstGeom prst="rect">
            <a:avLst/>
          </a:prstGeom>
          <a:noFill/>
        </p:spPr>
        <p:txBody>
          <a:bodyPr wrap="none" lIns="0" tIns="0" rIns="0" bIns="0" anchor="ctr">
            <a:spAutoFit/>
          </a:bodyPr>
          <a:lstStyle/>
          <a:p>
            <a:pPr algn="ctr"/>
            <a:r>
              <a:rPr sz="850" b="0" i="0" dirty="0">
                <a:solidFill>
                  <a:srgbClr val="0B4F6C"/>
                </a:solidFill>
                <a:latin typeface="Calibri"/>
              </a:rPr>
              <a:t>weak signature</a:t>
            </a:r>
          </a:p>
        </p:txBody>
      </p:sp>
      <p:sp>
        <p:nvSpPr>
          <p:cNvPr id="21" name="TextBox 20"/>
          <p:cNvSpPr txBox="1"/>
          <p:nvPr/>
        </p:nvSpPr>
        <p:spPr>
          <a:xfrm>
            <a:off x="1061200" y="3033669"/>
            <a:ext cx="843259" cy="237744"/>
          </a:xfrm>
          <a:prstGeom prst="rect">
            <a:avLst/>
          </a:prstGeom>
          <a:noFill/>
        </p:spPr>
        <p:txBody>
          <a:bodyPr wrap="none" lIns="0" tIns="0" rIns="0" bIns="0" anchor="ctr">
            <a:spAutoFit/>
          </a:bodyPr>
          <a:lstStyle/>
          <a:p>
            <a:pPr algn="ctr"/>
            <a:r>
              <a:rPr sz="900" b="0" i="0" dirty="0">
                <a:solidFill>
                  <a:srgbClr val="5A6B78"/>
                </a:solidFill>
                <a:latin typeface="Calibri"/>
              </a:rPr>
              <a:t>strain rate</a:t>
            </a:r>
          </a:p>
        </p:txBody>
      </p:sp>
      <p:sp>
        <p:nvSpPr>
          <p:cNvPr id="22" name="TextBox 21"/>
          <p:cNvSpPr txBox="1"/>
          <p:nvPr/>
        </p:nvSpPr>
        <p:spPr>
          <a:xfrm>
            <a:off x="473847" y="3510921"/>
            <a:ext cx="1556453" cy="138499"/>
          </a:xfrm>
          <a:prstGeom prst="rect">
            <a:avLst/>
          </a:prstGeom>
          <a:noFill/>
        </p:spPr>
        <p:txBody>
          <a:bodyPr wrap="square" lIns="0" tIns="0" rIns="0" bIns="0" anchor="ctr">
            <a:spAutoFit/>
          </a:bodyPr>
          <a:lstStyle/>
          <a:p>
            <a:pPr algn="r"/>
            <a:r>
              <a:rPr sz="900" b="0" i="0" dirty="0">
                <a:solidFill>
                  <a:srgbClr val="5A6B78"/>
                </a:solidFill>
                <a:latin typeface="Calibri"/>
              </a:rPr>
              <a:t>distance along the fiber,  ℓ   [m]</a:t>
            </a:r>
          </a:p>
        </p:txBody>
      </p:sp>
      <p:sp>
        <p:nvSpPr>
          <p:cNvPr id="23" name="TextBox 22"/>
          <p:cNvSpPr txBox="1"/>
          <p:nvPr/>
        </p:nvSpPr>
        <p:spPr>
          <a:xfrm>
            <a:off x="959434" y="4089323"/>
            <a:ext cx="1732847" cy="153888"/>
          </a:xfrm>
          <a:prstGeom prst="rect">
            <a:avLst/>
          </a:prstGeom>
          <a:noFill/>
        </p:spPr>
        <p:txBody>
          <a:bodyPr wrap="none" lIns="0" tIns="0" rIns="0" bIns="0" anchor="ctr">
            <a:spAutoFit/>
          </a:bodyPr>
          <a:lstStyle/>
          <a:p>
            <a:pPr algn="l"/>
            <a:r>
              <a:rPr sz="1000" b="1" i="0" dirty="0">
                <a:solidFill>
                  <a:srgbClr val="0B4F6C"/>
                </a:solidFill>
                <a:latin typeface="Calibri"/>
              </a:rPr>
              <a:t>C   Speed</a:t>
            </a:r>
            <a:r>
              <a:rPr lang="en-US" sz="1000" b="1" i="0" dirty="0">
                <a:solidFill>
                  <a:srgbClr val="0B4F6C"/>
                </a:solidFill>
                <a:latin typeface="Calibri"/>
              </a:rPr>
              <a:t>,</a:t>
            </a:r>
            <a:r>
              <a:rPr sz="1000" b="1" i="0" dirty="0">
                <a:solidFill>
                  <a:srgbClr val="0B4F6C"/>
                </a:solidFill>
                <a:latin typeface="Calibri"/>
              </a:rPr>
              <a:t> the slope of the streak</a:t>
            </a:r>
          </a:p>
        </p:txBody>
      </p:sp>
      <p:sp>
        <p:nvSpPr>
          <p:cNvPr id="24" name="TextBox 23"/>
          <p:cNvSpPr txBox="1"/>
          <p:nvPr/>
        </p:nvSpPr>
        <p:spPr>
          <a:xfrm>
            <a:off x="2172813" y="5063304"/>
            <a:ext cx="822960" cy="237744"/>
          </a:xfrm>
          <a:prstGeom prst="rect">
            <a:avLst/>
          </a:prstGeom>
          <a:noFill/>
        </p:spPr>
        <p:txBody>
          <a:bodyPr wrap="none" lIns="0" tIns="0" rIns="0" bIns="0" anchor="ctr">
            <a:spAutoFit/>
          </a:bodyPr>
          <a:lstStyle/>
          <a:p>
            <a:pPr algn="ctr"/>
            <a:r>
              <a:rPr sz="1000" b="1" i="0">
                <a:solidFill>
                  <a:srgbClr val="2E7D5B"/>
                </a:solidFill>
                <a:latin typeface="Calibri"/>
              </a:rPr>
              <a:t>Δℓ</a:t>
            </a:r>
          </a:p>
        </p:txBody>
      </p:sp>
      <p:sp>
        <p:nvSpPr>
          <p:cNvPr id="25" name="TextBox 24"/>
          <p:cNvSpPr txBox="1"/>
          <p:nvPr/>
        </p:nvSpPr>
        <p:spPr>
          <a:xfrm>
            <a:off x="3221492" y="4771556"/>
            <a:ext cx="822960" cy="237744"/>
          </a:xfrm>
          <a:prstGeom prst="rect">
            <a:avLst/>
          </a:prstGeom>
          <a:noFill/>
        </p:spPr>
        <p:txBody>
          <a:bodyPr wrap="none" lIns="0" tIns="0" rIns="0" bIns="0" anchor="ctr">
            <a:spAutoFit/>
          </a:bodyPr>
          <a:lstStyle/>
          <a:p>
            <a:pPr algn="l"/>
            <a:r>
              <a:rPr sz="1000" b="1" i="0">
                <a:solidFill>
                  <a:srgbClr val="2E7D5B"/>
                </a:solidFill>
                <a:latin typeface="Calibri"/>
              </a:rPr>
              <a:t>Δt</a:t>
            </a:r>
          </a:p>
        </p:txBody>
      </p:sp>
      <p:sp>
        <p:nvSpPr>
          <p:cNvPr id="26" name="TextBox 25"/>
          <p:cNvSpPr txBox="1"/>
          <p:nvPr/>
        </p:nvSpPr>
        <p:spPr>
          <a:xfrm>
            <a:off x="1863141" y="5597437"/>
            <a:ext cx="1378583" cy="138499"/>
          </a:xfrm>
          <a:prstGeom prst="rect">
            <a:avLst/>
          </a:prstGeom>
          <a:noFill/>
        </p:spPr>
        <p:txBody>
          <a:bodyPr wrap="none" lIns="0" tIns="0" rIns="0" bIns="0" anchor="ctr">
            <a:spAutoFit/>
          </a:bodyPr>
          <a:lstStyle/>
          <a:p>
            <a:pPr algn="ctr"/>
            <a:r>
              <a:rPr sz="900" b="0" i="0" dirty="0">
                <a:solidFill>
                  <a:srgbClr val="5A6B78"/>
                </a:solidFill>
                <a:latin typeface="Calibri"/>
              </a:rPr>
              <a:t>distance along the fiber  ℓ[m]</a:t>
            </a:r>
          </a:p>
        </p:txBody>
      </p:sp>
      <p:sp>
        <p:nvSpPr>
          <p:cNvPr id="27" name="TextBox 26"/>
          <p:cNvSpPr txBox="1"/>
          <p:nvPr/>
        </p:nvSpPr>
        <p:spPr>
          <a:xfrm>
            <a:off x="-4285" y="4745507"/>
            <a:ext cx="822960" cy="237744"/>
          </a:xfrm>
          <a:prstGeom prst="rect">
            <a:avLst/>
          </a:prstGeom>
          <a:noFill/>
        </p:spPr>
        <p:txBody>
          <a:bodyPr wrap="none" lIns="0" tIns="0" rIns="0" bIns="0" anchor="ctr">
            <a:spAutoFit/>
          </a:bodyPr>
          <a:lstStyle/>
          <a:p>
            <a:pPr algn="ctr"/>
            <a:r>
              <a:rPr sz="900" b="0" i="0">
                <a:solidFill>
                  <a:srgbClr val="5A6B78"/>
                </a:solidFill>
                <a:latin typeface="Calibri"/>
              </a:rPr>
              <a:t>time  [s]</a:t>
            </a:r>
          </a:p>
        </p:txBody>
      </p:sp>
      <p:sp>
        <p:nvSpPr>
          <p:cNvPr id="28" name="TextBox 27"/>
          <p:cNvSpPr txBox="1"/>
          <p:nvPr/>
        </p:nvSpPr>
        <p:spPr>
          <a:xfrm>
            <a:off x="568247" y="4922640"/>
            <a:ext cx="985906" cy="237744"/>
          </a:xfrm>
          <a:prstGeom prst="rect">
            <a:avLst/>
          </a:prstGeom>
          <a:noFill/>
        </p:spPr>
        <p:txBody>
          <a:bodyPr wrap="none" lIns="0" tIns="0" rIns="0" bIns="0" anchor="ctr">
            <a:spAutoFit/>
          </a:bodyPr>
          <a:lstStyle/>
          <a:p>
            <a:pPr algn="r"/>
            <a:r>
              <a:rPr sz="850" b="1" i="0">
                <a:solidFill>
                  <a:srgbClr val="111111"/>
                </a:solidFill>
                <a:latin typeface="Calibri"/>
              </a:rPr>
              <a:t>DAS detections</a:t>
            </a:r>
          </a:p>
        </p:txBody>
      </p:sp>
      <p:sp>
        <p:nvSpPr>
          <p:cNvPr id="29" name="TextBox 28"/>
          <p:cNvSpPr txBox="1"/>
          <p:nvPr/>
        </p:nvSpPr>
        <p:spPr>
          <a:xfrm>
            <a:off x="1044394" y="4313094"/>
            <a:ext cx="985906" cy="237744"/>
          </a:xfrm>
          <a:prstGeom prst="rect">
            <a:avLst/>
          </a:prstGeom>
          <a:noFill/>
        </p:spPr>
        <p:txBody>
          <a:bodyPr wrap="none" lIns="0" tIns="0" rIns="0" bIns="0" anchor="ctr">
            <a:spAutoFit/>
          </a:bodyPr>
          <a:lstStyle/>
          <a:p>
            <a:pPr algn="l"/>
            <a:r>
              <a:rPr sz="850" b="0" i="0">
                <a:solidFill>
                  <a:srgbClr val="5A6B78"/>
                </a:solidFill>
                <a:latin typeface="Calibri"/>
              </a:rPr>
              <a:t>second vehicle</a:t>
            </a:r>
          </a:p>
        </p:txBody>
      </p:sp>
      <p:sp>
        <p:nvSpPr>
          <p:cNvPr id="30" name="TextBox 29"/>
          <p:cNvSpPr txBox="1"/>
          <p:nvPr/>
        </p:nvSpPr>
        <p:spPr>
          <a:xfrm>
            <a:off x="5262600" y="4058064"/>
            <a:ext cx="2048638" cy="153888"/>
          </a:xfrm>
          <a:prstGeom prst="rect">
            <a:avLst/>
          </a:prstGeom>
          <a:noFill/>
        </p:spPr>
        <p:txBody>
          <a:bodyPr wrap="none" lIns="0" tIns="0" rIns="0" bIns="0" anchor="ctr">
            <a:spAutoFit/>
          </a:bodyPr>
          <a:lstStyle/>
          <a:p>
            <a:pPr algn="l"/>
            <a:r>
              <a:rPr sz="1000" b="1" i="0" dirty="0">
                <a:solidFill>
                  <a:srgbClr val="0B4F6C"/>
                </a:solidFill>
                <a:latin typeface="Calibri"/>
              </a:rPr>
              <a:t>D   Weight</a:t>
            </a:r>
            <a:r>
              <a:rPr lang="en-US" sz="1000" b="1" i="0" dirty="0">
                <a:solidFill>
                  <a:srgbClr val="0B4F6C"/>
                </a:solidFill>
                <a:latin typeface="Calibri"/>
              </a:rPr>
              <a:t>,</a:t>
            </a:r>
            <a:r>
              <a:rPr sz="1000" b="1" i="0" dirty="0">
                <a:solidFill>
                  <a:srgbClr val="0B4F6C"/>
                </a:solidFill>
                <a:latin typeface="Calibri"/>
              </a:rPr>
              <a:t> invert the amplitude decay</a:t>
            </a:r>
          </a:p>
        </p:txBody>
      </p:sp>
      <p:sp>
        <p:nvSpPr>
          <p:cNvPr id="31" name="TextBox 30"/>
          <p:cNvSpPr txBox="1"/>
          <p:nvPr/>
        </p:nvSpPr>
        <p:spPr>
          <a:xfrm>
            <a:off x="6343740" y="5597437"/>
            <a:ext cx="940962" cy="138499"/>
          </a:xfrm>
          <a:prstGeom prst="rect">
            <a:avLst/>
          </a:prstGeom>
          <a:noFill/>
        </p:spPr>
        <p:txBody>
          <a:bodyPr wrap="none" lIns="0" tIns="0" rIns="0" bIns="0" anchor="ctr">
            <a:spAutoFit/>
          </a:bodyPr>
          <a:lstStyle/>
          <a:p>
            <a:pPr algn="ctr"/>
            <a:r>
              <a:rPr sz="900" b="0" i="0" dirty="0">
                <a:solidFill>
                  <a:srgbClr val="5A6B78"/>
                </a:solidFill>
                <a:latin typeface="Calibri"/>
              </a:rPr>
              <a:t>vehicle weight  W[t]</a:t>
            </a:r>
          </a:p>
        </p:txBody>
      </p:sp>
      <p:sp>
        <p:nvSpPr>
          <p:cNvPr id="32" name="TextBox 31"/>
          <p:cNvSpPr txBox="1"/>
          <p:nvPr/>
        </p:nvSpPr>
        <p:spPr>
          <a:xfrm>
            <a:off x="4404571" y="4745507"/>
            <a:ext cx="1228404" cy="237744"/>
          </a:xfrm>
          <a:prstGeom prst="rect">
            <a:avLst/>
          </a:prstGeom>
          <a:noFill/>
        </p:spPr>
        <p:txBody>
          <a:bodyPr wrap="none" lIns="0" tIns="0" rIns="0" bIns="0" anchor="ctr">
            <a:spAutoFit/>
          </a:bodyPr>
          <a:lstStyle/>
          <a:p>
            <a:pPr algn="ctr"/>
            <a:r>
              <a:rPr sz="900" b="0" i="0">
                <a:solidFill>
                  <a:srgbClr val="5A6B78"/>
                </a:solidFill>
                <a:latin typeface="Calibri"/>
              </a:rPr>
              <a:t>peak amplitude  A</a:t>
            </a:r>
          </a:p>
        </p:txBody>
      </p:sp>
      <p:sp>
        <p:nvSpPr>
          <p:cNvPr id="33" name="TextBox 32"/>
          <p:cNvSpPr txBox="1"/>
          <p:nvPr/>
        </p:nvSpPr>
        <p:spPr>
          <a:xfrm>
            <a:off x="5816751" y="5265654"/>
            <a:ext cx="925281" cy="237744"/>
          </a:xfrm>
          <a:prstGeom prst="rect">
            <a:avLst/>
          </a:prstGeom>
          <a:noFill/>
        </p:spPr>
        <p:txBody>
          <a:bodyPr wrap="none" lIns="0" tIns="0" rIns="0" bIns="0" anchor="ctr">
            <a:spAutoFit/>
          </a:bodyPr>
          <a:lstStyle/>
          <a:p>
            <a:pPr algn="l"/>
            <a:r>
              <a:rPr sz="850" b="0" i="0">
                <a:solidFill>
                  <a:srgbClr val="0B4F6C"/>
                </a:solidFill>
                <a:latin typeface="Calibri"/>
              </a:rPr>
              <a:t>light vehicle</a:t>
            </a:r>
          </a:p>
        </p:txBody>
      </p:sp>
      <p:sp>
        <p:nvSpPr>
          <p:cNvPr id="34" name="TextBox 33"/>
          <p:cNvSpPr txBox="1"/>
          <p:nvPr/>
        </p:nvSpPr>
        <p:spPr>
          <a:xfrm>
            <a:off x="6420926" y="4510726"/>
            <a:ext cx="925281" cy="237744"/>
          </a:xfrm>
          <a:prstGeom prst="rect">
            <a:avLst/>
          </a:prstGeom>
          <a:noFill/>
        </p:spPr>
        <p:txBody>
          <a:bodyPr wrap="none" lIns="0" tIns="0" rIns="0" bIns="0" anchor="ctr">
            <a:spAutoFit/>
          </a:bodyPr>
          <a:lstStyle/>
          <a:p>
            <a:pPr algn="r"/>
            <a:r>
              <a:rPr sz="850" b="0" i="0">
                <a:solidFill>
                  <a:srgbClr val="C97B2C"/>
                </a:solidFill>
                <a:latin typeface="Calibri"/>
              </a:rPr>
              <a:t>heavy vehicle</a:t>
            </a:r>
          </a:p>
        </p:txBody>
      </p:sp>
      <mc:AlternateContent xmlns:mc="http://schemas.openxmlformats.org/markup-compatibility/2006">
        <mc:Choice xmlns:a14="http://schemas.microsoft.com/office/drawing/2010/main" Requires="a14">
          <p:sp>
            <p:nvSpPr>
              <p:cNvPr id="35" name="TextBox 34"/>
              <p:cNvSpPr txBox="1"/>
              <p:nvPr/>
            </p:nvSpPr>
            <p:spPr>
              <a:xfrm>
                <a:off x="5373430" y="4378345"/>
                <a:ext cx="1267452" cy="138499"/>
              </a:xfrm>
              <a:prstGeom prst="rect">
                <a:avLst/>
              </a:prstGeom>
              <a:noFill/>
            </p:spPr>
            <p:txBody>
              <a:bodyPr wrap="square" lIns="0" tIns="0" rIns="0" bIns="0" anchor="ctr">
                <a:spAutoFit/>
              </a:bodyPr>
              <a:lstStyle/>
              <a:p>
                <a:pPr algn="l"/>
                <a14:m>
                  <m:oMathPara xmlns:m="http://schemas.openxmlformats.org/officeDocument/2006/math">
                    <m:oMathParaPr>
                      <m:jc m:val="centerGroup"/>
                    </m:oMathParaPr>
                    <m:oMath xmlns:m="http://schemas.openxmlformats.org/officeDocument/2006/math">
                      <m:r>
                        <a:rPr lang="en-IL" sz="900" b="1" i="1" dirty="0" smtClean="0">
                          <a:solidFill>
                            <a:srgbClr val="1C7293"/>
                          </a:solidFill>
                          <a:latin typeface="Cambria Math" panose="02040503050406030204" pitchFamily="18" charset="0"/>
                        </a:rPr>
                        <m:t>𝑨</m:t>
                      </m:r>
                      <m:r>
                        <a:rPr lang="en-IL" sz="900" b="1" i="1" dirty="0" smtClean="0">
                          <a:solidFill>
                            <a:srgbClr val="1C7293"/>
                          </a:solidFill>
                          <a:latin typeface="Cambria Math" panose="02040503050406030204" pitchFamily="18" charset="0"/>
                        </a:rPr>
                        <m:t>  =  </m:t>
                      </m:r>
                      <m:r>
                        <a:rPr lang="en-IL" sz="900" b="1" i="1" dirty="0" err="1">
                          <a:solidFill>
                            <a:srgbClr val="1C7293"/>
                          </a:solidFill>
                          <a:latin typeface="Cambria Math" panose="02040503050406030204" pitchFamily="18" charset="0"/>
                        </a:rPr>
                        <m:t>𝒌</m:t>
                      </m:r>
                      <m:r>
                        <a:rPr lang="en-IL" sz="900" b="1" i="1" dirty="0" err="1">
                          <a:solidFill>
                            <a:srgbClr val="1C7293"/>
                          </a:solidFill>
                          <a:latin typeface="Cambria Math" panose="02040503050406030204" pitchFamily="18" charset="0"/>
                        </a:rPr>
                        <m:t>·</m:t>
                      </m:r>
                      <m:r>
                        <a:rPr lang="en-IL" sz="900" b="1" i="1" dirty="0" err="1">
                          <a:solidFill>
                            <a:srgbClr val="1C7293"/>
                          </a:solidFill>
                          <a:latin typeface="Cambria Math" panose="02040503050406030204" pitchFamily="18" charset="0"/>
                        </a:rPr>
                        <m:t>𝑾</m:t>
                      </m:r>
                      <m:r>
                        <a:rPr lang="en-IL" sz="900" b="1" i="1" dirty="0">
                          <a:solidFill>
                            <a:srgbClr val="1C7293"/>
                          </a:solidFill>
                          <a:latin typeface="Cambria Math" panose="02040503050406030204" pitchFamily="18" charset="0"/>
                        </a:rPr>
                        <m:t> / (</m:t>
                      </m:r>
                      <m:r>
                        <a:rPr lang="en-IL" sz="900" b="1" i="1" dirty="0">
                          <a:solidFill>
                            <a:srgbClr val="1C7293"/>
                          </a:solidFill>
                          <a:latin typeface="Cambria Math" panose="02040503050406030204" pitchFamily="18" charset="0"/>
                        </a:rPr>
                        <m:t>𝒓</m:t>
                      </m:r>
                      <m:r>
                        <a:rPr lang="en-IL" sz="900" b="1" i="1" dirty="0">
                          <a:solidFill>
                            <a:srgbClr val="1C7293"/>
                          </a:solidFill>
                          <a:latin typeface="Cambria Math" panose="02040503050406030204" pitchFamily="18" charset="0"/>
                        </a:rPr>
                        <m:t> + </m:t>
                      </m:r>
                      <m:r>
                        <a:rPr lang="en-IL" sz="900" b="1" i="1" dirty="0">
                          <a:solidFill>
                            <a:srgbClr val="1C7293"/>
                          </a:solidFill>
                          <a:latin typeface="Cambria Math" panose="02040503050406030204" pitchFamily="18" charset="0"/>
                        </a:rPr>
                        <m:t>𝒅</m:t>
                      </m:r>
                      <m:r>
                        <a:rPr lang="en-IL" sz="900" b="1" i="1" dirty="0">
                          <a:solidFill>
                            <a:srgbClr val="1C7293"/>
                          </a:solidFill>
                          <a:latin typeface="Cambria Math" panose="02040503050406030204" pitchFamily="18" charset="0"/>
                        </a:rPr>
                        <m:t>₀)²</m:t>
                      </m:r>
                    </m:oMath>
                  </m:oMathPara>
                </a14:m>
              </a:p>
            </p:txBody>
          </p:sp>
        </mc:Choice>
        <mc:Fallback>
          <p:sp>
            <p:nvSpPr>
              <p:cNvPr id="35" name="TextBox 34"/>
              <p:cNvSpPr txBox="1">
                <a:spLocks noRot="1" noChangeAspect="1" noMove="1" noResize="1" noEditPoints="1" noAdjustHandles="1" noChangeArrowheads="1" noChangeShapeType="1" noTextEdit="1"/>
              </p:cNvSpPr>
              <p:nvPr/>
            </p:nvSpPr>
            <p:spPr>
              <a:xfrm>
                <a:off x="5373430" y="4378345"/>
                <a:ext cx="1267452" cy="138499"/>
              </a:xfrm>
              <a:prstGeom prst="rect">
                <a:avLst/>
              </a:prstGeom>
              <a:blipFill>
                <a:blip r:embed="rId7"/>
                <a:stretch>
                  <a:fillRect t="-25000" r="-5941" b="-41667"/>
                </a:stretch>
              </a:blipFill>
            </p:spPr>
            <p:txBody>
              <a:bodyPr/>
              <a:lstStyle/>
              <a:p>
                <a:r>
                  <a:rPr lang="en-IL">
                    <a:noFill/>
                  </a:rPr>
                  <a:t> </a:t>
                </a:r>
              </a:p>
            </p:txBody>
          </p:sp>
        </mc:Fallback>
      </mc:AlternateContent>
      <p:sp>
        <p:nvSpPr>
          <p:cNvPr id="37" name="Rounded Rectangle 36"/>
          <p:cNvSpPr/>
          <p:nvPr/>
        </p:nvSpPr>
        <p:spPr>
          <a:xfrm>
            <a:off x="8732520" y="987552"/>
            <a:ext cx="3154680" cy="534924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8" name="TextBox 37"/>
          <p:cNvSpPr txBox="1"/>
          <p:nvPr/>
        </p:nvSpPr>
        <p:spPr>
          <a:xfrm>
            <a:off x="8915400" y="1106424"/>
            <a:ext cx="2788920" cy="237744"/>
          </a:xfrm>
          <a:prstGeom prst="rect">
            <a:avLst/>
          </a:prstGeom>
          <a:noFill/>
        </p:spPr>
        <p:txBody>
          <a:bodyPr wrap="square" lIns="0" tIns="0" rIns="0" bIns="0" anchor="t">
            <a:spAutoFit/>
          </a:bodyPr>
          <a:lstStyle/>
          <a:p>
            <a:pPr algn="l">
              <a:lnSpc>
                <a:spcPct val="100000"/>
              </a:lnSpc>
              <a:spcAft>
                <a:spcPts val="0"/>
              </a:spcAft>
            </a:pPr>
            <a:r>
              <a:rPr sz="1100" b="1" i="0">
                <a:solidFill>
                  <a:srgbClr val="0B4F6C"/>
                </a:solidFill>
                <a:latin typeface="Cambria"/>
              </a:rPr>
              <a:t>THE FORMAL MODEL</a:t>
            </a:r>
          </a:p>
        </p:txBody>
      </p:sp>
      <p:sp>
        <p:nvSpPr>
          <p:cNvPr id="39" name="Rectangle 38"/>
          <p:cNvSpPr/>
          <p:nvPr/>
        </p:nvSpPr>
        <p:spPr>
          <a:xfrm>
            <a:off x="8915400" y="1371600"/>
            <a:ext cx="2788920" cy="9525"/>
          </a:xfrm>
          <a:prstGeom prst="rect">
            <a:avLst/>
          </a:prstGeom>
          <a:solidFill>
            <a:srgbClr val="D5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915400" y="1499616"/>
            <a:ext cx="2788920" cy="365760"/>
          </a:xfrm>
          <a:prstGeom prst="rect">
            <a:avLst/>
          </a:prstGeom>
          <a:noFill/>
        </p:spPr>
        <p:txBody>
          <a:bodyPr wrap="square" lIns="0" tIns="0" rIns="0" bIns="0" anchor="t">
            <a:spAutoFit/>
          </a:bodyPr>
          <a:lstStyle/>
          <a:p>
            <a:pPr algn="l">
              <a:lnSpc>
                <a:spcPct val="115000"/>
              </a:lnSpc>
              <a:spcAft>
                <a:spcPts val="0"/>
              </a:spcAft>
            </a:pPr>
            <a:r>
              <a:rPr sz="900" b="0" i="0">
                <a:solidFill>
                  <a:srgbClr val="6B7A85"/>
                </a:solidFill>
                <a:latin typeface="Calibri"/>
              </a:rPr>
              <a:t>①  Quasi-static ground displacement under a point load F  (Flamant–Boussinesq):</a:t>
            </a:r>
          </a:p>
        </p:txBody>
      </p:sp>
      <mc:AlternateContent xmlns:mc="http://schemas.openxmlformats.org/markup-compatibility/2006">
        <mc:Choice xmlns:a14="http://schemas.microsoft.com/office/drawing/2010/main" Requires="a14">
          <p:sp>
            <p:nvSpPr>
              <p:cNvPr id="41" name="TextBox 40"/>
              <p:cNvSpPr txBox="1"/>
              <p:nvPr/>
            </p:nvSpPr>
            <p:spPr>
              <a:xfrm>
                <a:off x="9257840" y="1819656"/>
                <a:ext cx="2104038" cy="424155"/>
              </a:xfrm>
              <a:prstGeom prst="rect">
                <a:avLst/>
              </a:prstGeom>
              <a:noFill/>
            </p:spPr>
            <p:txBody>
              <a:bodyPr wrap="none" lIns="0" tIns="0" rIns="0" bIns="0">
                <a:spAutoFit/>
              </a:bodyPr>
              <a:lstStyle/>
              <a:p>
                <a:pPr algn="ctr"/>
                <a14:m>
                  <m:oMathPara xmlns:m="http://schemas.openxmlformats.org/officeDocument/2006/math">
                    <m:oMathParaPr>
                      <m:jc m:val="center"/>
                    </m:oMathParaPr>
                    <m:oMath xmlns:m="http://schemas.openxmlformats.org/officeDocument/2006/math">
                      <m:sSub>
                        <m:sSubPr>
                          <m:ctrlPr>
                            <a:rPr lang="en-US" sz="1100" b="0" i="1" dirty="0">
                              <a:solidFill>
                                <a:srgbClr val="0B4F6C"/>
                              </a:solidFill>
                              <a:latin typeface="Cambria Math" panose="02040503050406030204" pitchFamily="18" charset="0"/>
                            </a:rPr>
                          </m:ctrlPr>
                        </m:sSubPr>
                        <m:e>
                          <m:r>
                            <a:rPr lang="en-US" sz="1100" b="0" i="1" dirty="0">
                              <a:solidFill>
                                <a:srgbClr val="0B4F6C"/>
                              </a:solidFill>
                              <a:latin typeface="Cambria Math"/>
                            </a:rPr>
                            <m:t>𝑢</m:t>
                          </m:r>
                        </m:e>
                        <m:sub>
                          <m:r>
                            <m:rPr>
                              <m:sty m:val="p"/>
                            </m:rPr>
                            <a:rPr lang="en-US" sz="1100" b="0" i="0" dirty="0">
                              <a:solidFill>
                                <a:srgbClr val="0B4F6C"/>
                              </a:solidFill>
                              <a:latin typeface="Cambria Math"/>
                            </a:rPr>
                            <m:t>x</m:t>
                          </m:r>
                        </m:sub>
                      </m:sSub>
                      <m:d>
                        <m:dPr>
                          <m:ctrlPr>
                            <a:rPr lang="en-US" sz="1100" b="0" i="1" dirty="0">
                              <a:solidFill>
                                <a:srgbClr val="0B4F6C"/>
                              </a:solidFill>
                              <a:latin typeface="Cambria Math" panose="02040503050406030204" pitchFamily="18" charset="0"/>
                            </a:rPr>
                          </m:ctrlPr>
                        </m:dPr>
                        <m:e>
                          <m:r>
                            <a:rPr lang="en-US" sz="1100" b="0" i="1" dirty="0">
                              <a:solidFill>
                                <a:srgbClr val="0B4F6C"/>
                              </a:solidFill>
                              <a:latin typeface="Cambria Math"/>
                            </a:rPr>
                            <m:t>𝑥</m:t>
                          </m:r>
                          <m:r>
                            <a:rPr lang="en-US" sz="1100" b="0" i="0" dirty="0">
                              <a:solidFill>
                                <a:srgbClr val="0B4F6C"/>
                              </a:solidFill>
                              <a:latin typeface="Cambria Math"/>
                            </a:rPr>
                            <m:t>, </m:t>
                          </m:r>
                          <m:r>
                            <a:rPr lang="en-US" sz="1100" b="0" i="1" dirty="0">
                              <a:solidFill>
                                <a:srgbClr val="0B4F6C"/>
                              </a:solidFill>
                              <a:latin typeface="Cambria Math"/>
                            </a:rPr>
                            <m:t>𝑦</m:t>
                          </m:r>
                          <m:r>
                            <a:rPr lang="en-US" sz="1100" b="0" i="0" dirty="0">
                              <a:solidFill>
                                <a:srgbClr val="0B4F6C"/>
                              </a:solidFill>
                              <a:latin typeface="Cambria Math"/>
                            </a:rPr>
                            <m:t>, </m:t>
                          </m:r>
                          <m:r>
                            <a:rPr lang="en-US" sz="1100" b="0" i="1" dirty="0">
                              <a:solidFill>
                                <a:srgbClr val="0B4F6C"/>
                              </a:solidFill>
                              <a:latin typeface="Cambria Math"/>
                            </a:rPr>
                            <m:t>𝑧</m:t>
                          </m:r>
                        </m:e>
                      </m:d>
                      <m:r>
                        <a:rPr lang="en-US" sz="1100" b="0" i="0" dirty="0">
                          <a:solidFill>
                            <a:srgbClr val="0B4F6C"/>
                          </a:solidFill>
                          <a:latin typeface="Cambria Math"/>
                        </a:rPr>
                        <m:t>=</m:t>
                      </m:r>
                      <m:f>
                        <m:fPr>
                          <m:ctrlPr>
                            <a:rPr lang="en-US" sz="1100" b="0" i="1" dirty="0">
                              <a:solidFill>
                                <a:srgbClr val="0B4F6C"/>
                              </a:solidFill>
                              <a:latin typeface="Cambria Math" panose="02040503050406030204" pitchFamily="18" charset="0"/>
                            </a:rPr>
                          </m:ctrlPr>
                        </m:fPr>
                        <m:num>
                          <m:r>
                            <a:rPr lang="en-US" sz="1100" b="0" i="1" dirty="0">
                              <a:solidFill>
                                <a:srgbClr val="0B4F6C"/>
                              </a:solidFill>
                              <a:latin typeface="Cambria Math"/>
                            </a:rPr>
                            <m:t>𝐹</m:t>
                          </m:r>
                        </m:num>
                        <m:den>
                          <m:r>
                            <a:rPr lang="en-US" sz="1100" b="0" i="0" dirty="0">
                              <a:solidFill>
                                <a:srgbClr val="0B4F6C"/>
                              </a:solidFill>
                              <a:latin typeface="Cambria Math"/>
                            </a:rPr>
                            <m:t>4</m:t>
                          </m:r>
                          <m:r>
                            <a:rPr lang="en-US" sz="1100" b="0" i="1" dirty="0">
                              <a:solidFill>
                                <a:srgbClr val="0B4F6C"/>
                              </a:solidFill>
                              <a:latin typeface="Cambria Math"/>
                            </a:rPr>
                            <m:t>𝜋</m:t>
                          </m:r>
                          <m:r>
                            <a:rPr lang="en-US" sz="1100" b="0" i="1" dirty="0">
                              <a:solidFill>
                                <a:srgbClr val="0B4F6C"/>
                              </a:solidFill>
                              <a:latin typeface="Cambria Math"/>
                            </a:rPr>
                            <m:t>𝐺</m:t>
                          </m:r>
                          <m:sSup>
                            <m:sSupPr>
                              <m:ctrlPr>
                                <a:rPr lang="en-US" sz="1100" b="0" i="1" dirty="0">
                                  <a:solidFill>
                                    <a:srgbClr val="0B4F6C"/>
                                  </a:solidFill>
                                  <a:latin typeface="Cambria Math" panose="02040503050406030204" pitchFamily="18" charset="0"/>
                                </a:rPr>
                              </m:ctrlPr>
                            </m:sSupPr>
                            <m:e>
                              <m:r>
                                <a:rPr lang="en-US" sz="1100" b="0" i="1" dirty="0">
                                  <a:solidFill>
                                    <a:srgbClr val="0B4F6C"/>
                                  </a:solidFill>
                                  <a:latin typeface="Cambria Math"/>
                                </a:rPr>
                                <m:t>𝑟</m:t>
                              </m:r>
                            </m:e>
                            <m:sup>
                              <m:r>
                                <a:rPr lang="en-US" sz="1100" b="0" i="0" dirty="0">
                                  <a:solidFill>
                                    <a:srgbClr val="0B4F6C"/>
                                  </a:solidFill>
                                  <a:latin typeface="Cambria Math"/>
                                </a:rPr>
                                <m:t>2</m:t>
                              </m:r>
                            </m:sup>
                          </m:sSup>
                        </m:den>
                      </m:f>
                      <m:d>
                        <m:dPr>
                          <m:ctrlPr>
                            <a:rPr lang="en-US" sz="1100" b="0" i="1" dirty="0">
                              <a:solidFill>
                                <a:srgbClr val="0B4F6C"/>
                              </a:solidFill>
                              <a:latin typeface="Cambria Math" panose="02040503050406030204" pitchFamily="18" charset="0"/>
                            </a:rPr>
                          </m:ctrlPr>
                        </m:dPr>
                        <m:e>
                          <m:f>
                            <m:fPr>
                              <m:ctrlPr>
                                <a:rPr lang="en-US" sz="1100" b="0" i="1" dirty="0">
                                  <a:solidFill>
                                    <a:srgbClr val="0B4F6C"/>
                                  </a:solidFill>
                                  <a:latin typeface="Cambria Math" panose="02040503050406030204" pitchFamily="18" charset="0"/>
                                </a:rPr>
                              </m:ctrlPr>
                            </m:fPr>
                            <m:num>
                              <m:r>
                                <a:rPr lang="en-US" sz="1100" b="0" i="1" dirty="0">
                                  <a:solidFill>
                                    <a:srgbClr val="0B4F6C"/>
                                  </a:solidFill>
                                  <a:latin typeface="Cambria Math"/>
                                </a:rPr>
                                <m:t>𝑥</m:t>
                              </m:r>
                            </m:num>
                            <m:den>
                              <m:r>
                                <a:rPr lang="en-US" sz="1100" b="0" i="1" dirty="0">
                                  <a:solidFill>
                                    <a:srgbClr val="0B4F6C"/>
                                  </a:solidFill>
                                  <a:latin typeface="Cambria Math"/>
                                </a:rPr>
                                <m:t>𝑟</m:t>
                              </m:r>
                            </m:den>
                          </m:f>
                          <m:r>
                            <a:rPr lang="en-US" sz="1100" b="0" i="0" dirty="0">
                              <a:solidFill>
                                <a:srgbClr val="0B4F6C"/>
                              </a:solidFill>
                              <a:latin typeface="Cambria Math"/>
                            </a:rPr>
                            <m:t>+</m:t>
                          </m:r>
                          <m:f>
                            <m:fPr>
                              <m:ctrlPr>
                                <a:rPr lang="en-US" sz="1100" b="0" i="1" dirty="0">
                                  <a:solidFill>
                                    <a:srgbClr val="0B4F6C"/>
                                  </a:solidFill>
                                  <a:latin typeface="Cambria Math" panose="02040503050406030204" pitchFamily="18" charset="0"/>
                                </a:rPr>
                              </m:ctrlPr>
                            </m:fPr>
                            <m:num>
                              <m:r>
                                <a:rPr lang="en-US" sz="1100" b="0" i="0" dirty="0">
                                  <a:solidFill>
                                    <a:srgbClr val="0B4F6C"/>
                                  </a:solidFill>
                                  <a:latin typeface="Cambria Math"/>
                                </a:rPr>
                                <m:t>2</m:t>
                              </m:r>
                              <m:r>
                                <a:rPr lang="en-US" sz="1100" b="0" i="1" dirty="0">
                                  <a:solidFill>
                                    <a:srgbClr val="0B4F6C"/>
                                  </a:solidFill>
                                  <a:latin typeface="Cambria Math"/>
                                </a:rPr>
                                <m:t>𝜈</m:t>
                              </m:r>
                              <m:r>
                                <a:rPr lang="en-US" sz="1100" b="0" i="0" dirty="0">
                                  <a:solidFill>
                                    <a:srgbClr val="0B4F6C"/>
                                  </a:solidFill>
                                  <a:latin typeface="Cambria Math"/>
                                </a:rPr>
                                <m:t>−1</m:t>
                              </m:r>
                            </m:num>
                            <m:den>
                              <m:r>
                                <a:rPr lang="en-US" sz="1100" b="0" i="0" dirty="0">
                                  <a:solidFill>
                                    <a:srgbClr val="0B4F6C"/>
                                  </a:solidFill>
                                  <a:latin typeface="Cambria Math"/>
                                </a:rPr>
                                <m:t>1+</m:t>
                              </m:r>
                              <m:f>
                                <m:fPr>
                                  <m:ctrlPr>
                                    <a:rPr lang="en-US" sz="1100" b="0" i="1" dirty="0">
                                      <a:solidFill>
                                        <a:srgbClr val="0B4F6C"/>
                                      </a:solidFill>
                                      <a:latin typeface="Cambria Math" panose="02040503050406030204" pitchFamily="18" charset="0"/>
                                    </a:rPr>
                                  </m:ctrlPr>
                                </m:fPr>
                                <m:num>
                                  <m:r>
                                    <a:rPr lang="en-US" sz="1100" b="0" i="1" dirty="0">
                                      <a:solidFill>
                                        <a:srgbClr val="0B4F6C"/>
                                      </a:solidFill>
                                      <a:latin typeface="Cambria Math"/>
                                    </a:rPr>
                                    <m:t>𝑧</m:t>
                                  </m:r>
                                </m:num>
                                <m:den>
                                  <m:r>
                                    <a:rPr lang="en-US" sz="1100" b="0" i="1" dirty="0">
                                      <a:solidFill>
                                        <a:srgbClr val="0B4F6C"/>
                                      </a:solidFill>
                                      <a:latin typeface="Cambria Math"/>
                                    </a:rPr>
                                    <m:t>𝑟</m:t>
                                  </m:r>
                                </m:den>
                              </m:f>
                            </m:den>
                          </m:f>
                        </m:e>
                      </m:d>
                    </m:oMath>
                  </m:oMathPara>
                </a14:m>
                <a:endParaRPr dirty="0"/>
              </a:p>
            </p:txBody>
          </p:sp>
        </mc:Choice>
        <mc:Fallback>
          <p:sp>
            <p:nvSpPr>
              <p:cNvPr id="41" name="TextBox 40"/>
              <p:cNvSpPr txBox="1">
                <a:spLocks noRot="1" noChangeAspect="1" noMove="1" noResize="1" noEditPoints="1" noAdjustHandles="1" noChangeArrowheads="1" noChangeShapeType="1" noTextEdit="1"/>
              </p:cNvSpPr>
              <p:nvPr/>
            </p:nvSpPr>
            <p:spPr>
              <a:xfrm>
                <a:off x="9257840" y="1819656"/>
                <a:ext cx="2104038" cy="424155"/>
              </a:xfrm>
              <a:prstGeom prst="rect">
                <a:avLst/>
              </a:prstGeom>
              <a:blipFill>
                <a:blip r:embed="rId8"/>
                <a:stretch>
                  <a:fillRect b="-5882"/>
                </a:stretch>
              </a:blipFill>
            </p:spPr>
            <p:txBody>
              <a:bodyPr/>
              <a:lstStyle/>
              <a:p>
                <a:r>
                  <a:rPr lang="en-IL">
                    <a:noFill/>
                  </a:rPr>
                  <a:t> </a:t>
                </a:r>
              </a:p>
            </p:txBody>
          </p:sp>
        </mc:Fallback>
      </mc:AlternateContent>
      <p:sp>
        <p:nvSpPr>
          <p:cNvPr id="42" name="TextBox 41"/>
          <p:cNvSpPr txBox="1"/>
          <p:nvPr/>
        </p:nvSpPr>
        <p:spPr>
          <a:xfrm>
            <a:off x="8915400" y="2386584"/>
            <a:ext cx="2788920" cy="309187"/>
          </a:xfrm>
          <a:prstGeom prst="rect">
            <a:avLst/>
          </a:prstGeom>
          <a:noFill/>
        </p:spPr>
        <p:txBody>
          <a:bodyPr wrap="square" lIns="0" tIns="0" rIns="0" bIns="0" anchor="t">
            <a:spAutoFit/>
          </a:bodyPr>
          <a:lstStyle/>
          <a:p>
            <a:pPr algn="l">
              <a:lnSpc>
                <a:spcPct val="115000"/>
              </a:lnSpc>
              <a:spcAft>
                <a:spcPts val="0"/>
              </a:spcAft>
            </a:pPr>
            <a:r>
              <a:rPr sz="900" b="0" i="0" dirty="0">
                <a:solidFill>
                  <a:srgbClr val="6B7A85"/>
                </a:solidFill>
                <a:latin typeface="Calibri"/>
              </a:rPr>
              <a:t>②  The fiber differences it over the gauge length L and reads the rate</a:t>
            </a:r>
            <a:r>
              <a:rPr lang="en-US" sz="900" dirty="0">
                <a:solidFill>
                  <a:srgbClr val="6B7A85"/>
                </a:solidFill>
                <a:latin typeface="Calibri"/>
              </a:rPr>
              <a:t>,</a:t>
            </a:r>
            <a:r>
              <a:rPr sz="900" b="0" i="0" dirty="0">
                <a:solidFill>
                  <a:srgbClr val="6B7A85"/>
                </a:solidFill>
                <a:latin typeface="Calibri"/>
              </a:rPr>
              <a:t> what a channel records:</a:t>
            </a:r>
          </a:p>
        </p:txBody>
      </p:sp>
      <mc:AlternateContent xmlns:mc="http://schemas.openxmlformats.org/markup-compatibility/2006">
        <mc:Choice xmlns:a14="http://schemas.microsoft.com/office/drawing/2010/main" Requires="a14">
          <p:sp>
            <p:nvSpPr>
              <p:cNvPr id="43" name="TextBox 42"/>
              <p:cNvSpPr txBox="1"/>
              <p:nvPr/>
            </p:nvSpPr>
            <p:spPr>
              <a:xfrm>
                <a:off x="9184038" y="2843784"/>
                <a:ext cx="2251642" cy="322524"/>
              </a:xfrm>
              <a:prstGeom prst="rect">
                <a:avLst/>
              </a:prstGeom>
              <a:noFill/>
            </p:spPr>
            <p:txBody>
              <a:bodyPr wrap="none" lIns="0" tIns="0" rIns="0" bIns="0">
                <a:spAutoFit/>
              </a:bodyPr>
              <a:lstStyle/>
              <a:p>
                <a:pPr algn="ctr"/>
                <a14:m>
                  <m:oMathPara xmlns:m="http://schemas.openxmlformats.org/officeDocument/2006/math">
                    <m:oMathParaPr>
                      <m:jc m:val="center"/>
                    </m:oMathParaPr>
                    <m:oMath xmlns:m="http://schemas.openxmlformats.org/officeDocument/2006/math">
                      <m:sSub>
                        <m:sSubPr>
                          <m:ctrlPr>
                            <a:rPr lang="en-US" sz="1100" b="0" i="1" dirty="0">
                              <a:solidFill>
                                <a:srgbClr val="0B4F6C"/>
                              </a:solidFill>
                              <a:latin typeface="Cambria Math" panose="02040503050406030204" pitchFamily="18" charset="0"/>
                            </a:rPr>
                          </m:ctrlPr>
                        </m:sSubPr>
                        <m:e>
                          <m:acc>
                            <m:accPr>
                              <m:chr m:val="̇"/>
                              <m:ctrlPr>
                                <a:rPr lang="en-US" sz="1100" b="0" i="1" dirty="0">
                                  <a:solidFill>
                                    <a:srgbClr val="0B4F6C"/>
                                  </a:solidFill>
                                  <a:latin typeface="Cambria Math" panose="02040503050406030204" pitchFamily="18" charset="0"/>
                                </a:rPr>
                              </m:ctrlPr>
                            </m:accPr>
                            <m:e>
                              <m:r>
                                <a:rPr lang="en-US" sz="1100" b="0" i="1" dirty="0">
                                  <a:solidFill>
                                    <a:srgbClr val="0B4F6C"/>
                                  </a:solidFill>
                                  <a:latin typeface="Cambria Math"/>
                                </a:rPr>
                                <m:t>𝜀</m:t>
                              </m:r>
                            </m:e>
                          </m:acc>
                        </m:e>
                        <m:sub>
                          <m:r>
                            <m:rPr>
                              <m:sty m:val="p"/>
                            </m:rPr>
                            <a:rPr lang="en-US" sz="1100" b="0" i="0" dirty="0">
                              <a:solidFill>
                                <a:srgbClr val="0B4F6C"/>
                              </a:solidFill>
                              <a:latin typeface="Cambria Math"/>
                            </a:rPr>
                            <m:t>DAS</m:t>
                          </m:r>
                        </m:sub>
                      </m:sSub>
                      <m:r>
                        <a:rPr lang="en-US" sz="1100" b="0" i="0" dirty="0">
                          <a:solidFill>
                            <a:srgbClr val="0B4F6C"/>
                          </a:solidFill>
                          <a:latin typeface="Cambria Math"/>
                        </a:rPr>
                        <m:t>=</m:t>
                      </m:r>
                      <m:f>
                        <m:fPr>
                          <m:ctrlPr>
                            <a:rPr lang="en-US" sz="1100" b="0" i="1" dirty="0">
                              <a:solidFill>
                                <a:srgbClr val="0B4F6C"/>
                              </a:solidFill>
                              <a:latin typeface="Cambria Math" panose="02040503050406030204" pitchFamily="18" charset="0"/>
                            </a:rPr>
                          </m:ctrlPr>
                        </m:fPr>
                        <m:num>
                          <m:r>
                            <a:rPr lang="en-US" sz="1100" b="0" i="0" dirty="0">
                              <a:solidFill>
                                <a:srgbClr val="0B4F6C"/>
                              </a:solidFill>
                              <a:latin typeface="Cambria Math"/>
                            </a:rPr>
                            <m:t>1</m:t>
                          </m:r>
                        </m:num>
                        <m:den>
                          <m:r>
                            <a:rPr lang="en-US" sz="1100" b="0" i="1" dirty="0">
                              <a:solidFill>
                                <a:srgbClr val="0B4F6C"/>
                              </a:solidFill>
                              <a:latin typeface="Cambria Math"/>
                            </a:rPr>
                            <m:t>𝐿</m:t>
                          </m:r>
                        </m:den>
                      </m:f>
                      <m:d>
                        <m:dPr>
                          <m:begChr m:val="["/>
                          <m:endChr m:val="]"/>
                          <m:ctrlPr>
                            <a:rPr lang="en-US" sz="1100" b="0" i="1" dirty="0">
                              <a:solidFill>
                                <a:srgbClr val="0B4F6C"/>
                              </a:solidFill>
                              <a:latin typeface="Cambria Math" panose="02040503050406030204" pitchFamily="18" charset="0"/>
                            </a:rPr>
                          </m:ctrlPr>
                        </m:dPr>
                        <m:e>
                          <m:sSub>
                            <m:sSubPr>
                              <m:ctrlPr>
                                <a:rPr lang="en-US" sz="1100" b="0" i="1" dirty="0">
                                  <a:solidFill>
                                    <a:srgbClr val="0B4F6C"/>
                                  </a:solidFill>
                                  <a:latin typeface="Cambria Math" panose="02040503050406030204" pitchFamily="18" charset="0"/>
                                </a:rPr>
                              </m:ctrlPr>
                            </m:sSubPr>
                            <m:e>
                              <m:acc>
                                <m:accPr>
                                  <m:chr m:val="̇"/>
                                  <m:ctrlPr>
                                    <a:rPr lang="en-US" sz="1100" b="0" i="1" dirty="0">
                                      <a:solidFill>
                                        <a:srgbClr val="0B4F6C"/>
                                      </a:solidFill>
                                      <a:latin typeface="Cambria Math" panose="02040503050406030204" pitchFamily="18" charset="0"/>
                                    </a:rPr>
                                  </m:ctrlPr>
                                </m:accPr>
                                <m:e>
                                  <m:r>
                                    <a:rPr lang="en-US" sz="1100" b="0" i="1" dirty="0">
                                      <a:solidFill>
                                        <a:srgbClr val="0B4F6C"/>
                                      </a:solidFill>
                                      <a:latin typeface="Cambria Math"/>
                                    </a:rPr>
                                    <m:t>𝑢</m:t>
                                  </m:r>
                                </m:e>
                              </m:acc>
                            </m:e>
                            <m:sub>
                              <m:r>
                                <m:rPr>
                                  <m:sty m:val="p"/>
                                </m:rPr>
                                <a:rPr lang="en-US" sz="1100" b="0" i="0" dirty="0">
                                  <a:solidFill>
                                    <a:srgbClr val="0B4F6C"/>
                                  </a:solidFill>
                                  <a:latin typeface="Cambria Math"/>
                                </a:rPr>
                                <m:t>x</m:t>
                              </m:r>
                            </m:sub>
                          </m:sSub>
                          <m:d>
                            <m:dPr>
                              <m:ctrlPr>
                                <a:rPr lang="en-US" sz="1100" b="0" i="1" dirty="0">
                                  <a:solidFill>
                                    <a:srgbClr val="0B4F6C"/>
                                  </a:solidFill>
                                  <a:latin typeface="Cambria Math" panose="02040503050406030204" pitchFamily="18" charset="0"/>
                                </a:rPr>
                              </m:ctrlPr>
                            </m:dPr>
                            <m:e>
                              <m:r>
                                <a:rPr lang="en-US" sz="1100" b="0" i="1" dirty="0">
                                  <a:solidFill>
                                    <a:srgbClr val="0B4F6C"/>
                                  </a:solidFill>
                                  <a:latin typeface="Cambria Math"/>
                                </a:rPr>
                                <m:t>𝑥</m:t>
                              </m:r>
                              <m:r>
                                <a:rPr lang="en-US" sz="1100" b="0" i="0" dirty="0">
                                  <a:solidFill>
                                    <a:srgbClr val="0B4F6C"/>
                                  </a:solidFill>
                                  <a:latin typeface="Cambria Math"/>
                                </a:rPr>
                                <m:t> + </m:t>
                              </m:r>
                              <m:f>
                                <m:fPr>
                                  <m:ctrlPr>
                                    <a:rPr lang="en-US" sz="1100" b="0" i="1" dirty="0">
                                      <a:solidFill>
                                        <a:srgbClr val="0B4F6C"/>
                                      </a:solidFill>
                                      <a:latin typeface="Cambria Math" panose="02040503050406030204" pitchFamily="18" charset="0"/>
                                    </a:rPr>
                                  </m:ctrlPr>
                                </m:fPr>
                                <m:num>
                                  <m:r>
                                    <a:rPr lang="en-US" sz="1100" b="0" i="1" dirty="0">
                                      <a:solidFill>
                                        <a:srgbClr val="0B4F6C"/>
                                      </a:solidFill>
                                      <a:latin typeface="Cambria Math"/>
                                    </a:rPr>
                                    <m:t>𝐿</m:t>
                                  </m:r>
                                </m:num>
                                <m:den>
                                  <m:r>
                                    <a:rPr lang="en-US" sz="1100" b="0" i="0" dirty="0">
                                      <a:solidFill>
                                        <a:srgbClr val="0B4F6C"/>
                                      </a:solidFill>
                                      <a:latin typeface="Cambria Math"/>
                                    </a:rPr>
                                    <m:t>2</m:t>
                                  </m:r>
                                </m:den>
                              </m:f>
                            </m:e>
                          </m:d>
                          <m:r>
                            <a:rPr lang="en-US" sz="1100" b="0" i="0" dirty="0">
                              <a:solidFill>
                                <a:srgbClr val="0B4F6C"/>
                              </a:solidFill>
                              <a:latin typeface="Cambria Math"/>
                            </a:rPr>
                            <m:t>−</m:t>
                          </m:r>
                          <m:sSub>
                            <m:sSubPr>
                              <m:ctrlPr>
                                <a:rPr lang="en-US" sz="1100" b="0" i="1" dirty="0">
                                  <a:solidFill>
                                    <a:srgbClr val="0B4F6C"/>
                                  </a:solidFill>
                                  <a:latin typeface="Cambria Math" panose="02040503050406030204" pitchFamily="18" charset="0"/>
                                </a:rPr>
                              </m:ctrlPr>
                            </m:sSubPr>
                            <m:e>
                              <m:acc>
                                <m:accPr>
                                  <m:chr m:val="̇"/>
                                  <m:ctrlPr>
                                    <a:rPr lang="en-US" sz="1100" b="0" i="1" dirty="0">
                                      <a:solidFill>
                                        <a:srgbClr val="0B4F6C"/>
                                      </a:solidFill>
                                      <a:latin typeface="Cambria Math" panose="02040503050406030204" pitchFamily="18" charset="0"/>
                                    </a:rPr>
                                  </m:ctrlPr>
                                </m:accPr>
                                <m:e>
                                  <m:r>
                                    <a:rPr lang="en-US" sz="1100" b="0" i="1" dirty="0">
                                      <a:solidFill>
                                        <a:srgbClr val="0B4F6C"/>
                                      </a:solidFill>
                                      <a:latin typeface="Cambria Math"/>
                                    </a:rPr>
                                    <m:t>𝑢</m:t>
                                  </m:r>
                                </m:e>
                              </m:acc>
                            </m:e>
                            <m:sub>
                              <m:r>
                                <m:rPr>
                                  <m:sty m:val="p"/>
                                </m:rPr>
                                <a:rPr lang="en-US" sz="1100" b="0" i="0" dirty="0">
                                  <a:solidFill>
                                    <a:srgbClr val="0B4F6C"/>
                                  </a:solidFill>
                                  <a:latin typeface="Cambria Math"/>
                                </a:rPr>
                                <m:t>x</m:t>
                              </m:r>
                            </m:sub>
                          </m:sSub>
                          <m:d>
                            <m:dPr>
                              <m:ctrlPr>
                                <a:rPr lang="en-US" sz="1100" b="0" i="1" dirty="0">
                                  <a:solidFill>
                                    <a:srgbClr val="0B4F6C"/>
                                  </a:solidFill>
                                  <a:latin typeface="Cambria Math" panose="02040503050406030204" pitchFamily="18" charset="0"/>
                                </a:rPr>
                              </m:ctrlPr>
                            </m:dPr>
                            <m:e>
                              <m:r>
                                <a:rPr lang="en-US" sz="1100" b="0" i="1" dirty="0">
                                  <a:solidFill>
                                    <a:srgbClr val="0B4F6C"/>
                                  </a:solidFill>
                                  <a:latin typeface="Cambria Math"/>
                                </a:rPr>
                                <m:t>𝑥</m:t>
                              </m:r>
                              <m:r>
                                <a:rPr lang="en-US" sz="1100" b="0" i="0" dirty="0">
                                  <a:solidFill>
                                    <a:srgbClr val="0B4F6C"/>
                                  </a:solidFill>
                                  <a:latin typeface="Cambria Math"/>
                                </a:rPr>
                                <m:t>−</m:t>
                              </m:r>
                              <m:f>
                                <m:fPr>
                                  <m:ctrlPr>
                                    <a:rPr lang="en-US" sz="1100" b="0" i="1" dirty="0">
                                      <a:solidFill>
                                        <a:srgbClr val="0B4F6C"/>
                                      </a:solidFill>
                                      <a:latin typeface="Cambria Math" panose="02040503050406030204" pitchFamily="18" charset="0"/>
                                    </a:rPr>
                                  </m:ctrlPr>
                                </m:fPr>
                                <m:num>
                                  <m:r>
                                    <a:rPr lang="en-US" sz="1100" b="0" i="1" dirty="0">
                                      <a:solidFill>
                                        <a:srgbClr val="0B4F6C"/>
                                      </a:solidFill>
                                      <a:latin typeface="Cambria Math"/>
                                    </a:rPr>
                                    <m:t>𝐿</m:t>
                                  </m:r>
                                </m:num>
                                <m:den>
                                  <m:r>
                                    <a:rPr lang="en-US" sz="1100" b="0" i="0" dirty="0">
                                      <a:solidFill>
                                        <a:srgbClr val="0B4F6C"/>
                                      </a:solidFill>
                                      <a:latin typeface="Cambria Math"/>
                                    </a:rPr>
                                    <m:t>2</m:t>
                                  </m:r>
                                </m:den>
                              </m:f>
                            </m:e>
                          </m:d>
                        </m:e>
                      </m:d>
                    </m:oMath>
                  </m:oMathPara>
                </a14:m>
                <a:endParaRPr dirty="0"/>
              </a:p>
            </p:txBody>
          </p:sp>
        </mc:Choice>
        <mc:Fallback>
          <p:sp>
            <p:nvSpPr>
              <p:cNvPr id="43" name="TextBox 42"/>
              <p:cNvSpPr txBox="1">
                <a:spLocks noRot="1" noChangeAspect="1" noMove="1" noResize="1" noEditPoints="1" noAdjustHandles="1" noChangeArrowheads="1" noChangeShapeType="1" noTextEdit="1"/>
              </p:cNvSpPr>
              <p:nvPr/>
            </p:nvSpPr>
            <p:spPr>
              <a:xfrm>
                <a:off x="9184038" y="2843784"/>
                <a:ext cx="2251642" cy="322524"/>
              </a:xfrm>
              <a:prstGeom prst="rect">
                <a:avLst/>
              </a:prstGeom>
              <a:blipFill>
                <a:blip r:embed="rId9"/>
                <a:stretch>
                  <a:fillRect t="-3846" b="-11538"/>
                </a:stretch>
              </a:blipFill>
            </p:spPr>
            <p:txBody>
              <a:bodyPr/>
              <a:lstStyle/>
              <a:p>
                <a:r>
                  <a:rPr lang="en-IL">
                    <a:noFill/>
                  </a:rPr>
                  <a:t> </a:t>
                </a:r>
              </a:p>
            </p:txBody>
          </p:sp>
        </mc:Fallback>
      </mc:AlternateContent>
      <p:sp>
        <p:nvSpPr>
          <p:cNvPr id="44" name="Rectangle 43"/>
          <p:cNvSpPr/>
          <p:nvPr/>
        </p:nvSpPr>
        <p:spPr>
          <a:xfrm>
            <a:off x="8915400" y="3355848"/>
            <a:ext cx="2788920" cy="9525"/>
          </a:xfrm>
          <a:prstGeom prst="rect">
            <a:avLst/>
          </a:prstGeom>
          <a:solidFill>
            <a:srgbClr val="D5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8915400" y="3465576"/>
            <a:ext cx="2788920" cy="219456"/>
          </a:xfrm>
          <a:prstGeom prst="rect">
            <a:avLst/>
          </a:prstGeom>
          <a:noFill/>
        </p:spPr>
        <p:txBody>
          <a:bodyPr wrap="square" lIns="0" tIns="0" rIns="0" bIns="0" anchor="t">
            <a:spAutoFit/>
          </a:bodyPr>
          <a:lstStyle/>
          <a:p>
            <a:pPr algn="l">
              <a:lnSpc>
                <a:spcPct val="100000"/>
              </a:lnSpc>
              <a:spcAft>
                <a:spcPts val="0"/>
              </a:spcAft>
            </a:pPr>
            <a:r>
              <a:rPr sz="1000" b="1" i="0">
                <a:solidFill>
                  <a:srgbClr val="1C7293"/>
                </a:solidFill>
                <a:latin typeface="Cambria"/>
              </a:rPr>
              <a:t>IN SIMSTUDIO WE INVERT THIS</a:t>
            </a:r>
          </a:p>
        </p:txBody>
      </p:sp>
      <p:sp>
        <p:nvSpPr>
          <p:cNvPr id="46" name="TextBox 45"/>
          <p:cNvSpPr txBox="1"/>
          <p:nvPr/>
        </p:nvSpPr>
        <p:spPr>
          <a:xfrm>
            <a:off x="8915400" y="3739896"/>
            <a:ext cx="2788920" cy="309187"/>
          </a:xfrm>
          <a:prstGeom prst="rect">
            <a:avLst/>
          </a:prstGeom>
          <a:noFill/>
        </p:spPr>
        <p:txBody>
          <a:bodyPr wrap="square" lIns="0" tIns="0" rIns="0" bIns="0" anchor="t">
            <a:spAutoFit/>
          </a:bodyPr>
          <a:lstStyle/>
          <a:p>
            <a:pPr algn="l">
              <a:lnSpc>
                <a:spcPct val="115000"/>
              </a:lnSpc>
              <a:spcAft>
                <a:spcPts val="0"/>
              </a:spcAft>
            </a:pPr>
            <a:r>
              <a:rPr sz="900" b="0" i="0" dirty="0">
                <a:solidFill>
                  <a:srgbClr val="33424D"/>
                </a:solidFill>
                <a:latin typeface="Calibri"/>
              </a:rPr>
              <a:t>SPEED</a:t>
            </a:r>
            <a:r>
              <a:rPr lang="en-US" sz="900" b="0" i="0" dirty="0">
                <a:solidFill>
                  <a:srgbClr val="33424D"/>
                </a:solidFill>
                <a:latin typeface="Calibri"/>
              </a:rPr>
              <a:t>,</a:t>
            </a:r>
            <a:r>
              <a:rPr sz="900" b="0" i="0" dirty="0">
                <a:solidFill>
                  <a:srgbClr val="33424D"/>
                </a:solidFill>
                <a:latin typeface="Calibri"/>
              </a:rPr>
              <a:t> a vehicle lights up successive channels; the slope of the streak (panel C):</a:t>
            </a:r>
          </a:p>
        </p:txBody>
      </p:sp>
      <mc:AlternateContent xmlns:mc="http://schemas.openxmlformats.org/markup-compatibility/2006">
        <mc:Choice xmlns:a14="http://schemas.microsoft.com/office/drawing/2010/main" Requires="a14">
          <p:sp>
            <p:nvSpPr>
              <p:cNvPr id="47" name="TextBox 46"/>
              <p:cNvSpPr txBox="1"/>
              <p:nvPr/>
            </p:nvSpPr>
            <p:spPr>
              <a:xfrm>
                <a:off x="9829800" y="4050792"/>
                <a:ext cx="960120" cy="438912"/>
              </a:xfrm>
              <a:prstGeom prst="rect">
                <a:avLst/>
              </a:prstGeom>
              <a:noFill/>
            </p:spPr>
            <p:txBody>
              <a:bodyPr wrap="none" lIns="0" tIns="0" rIns="0" bIns="0">
                <a:spAutoFit/>
              </a:bodyPr>
              <a:lstStyle/>
              <a:p>
                <a:pPr algn="ctr"/>
                <a14:m>
                  <m:oMathPara xmlns:m="http://schemas.openxmlformats.org/officeDocument/2006/math">
                    <m:oMathParaPr>
                      <m:jc m:val="center"/>
                    </m:oMathParaPr>
                    <m:oMath xmlns:m="http://schemas.openxmlformats.org/officeDocument/2006/math">
                      <m:r>
                        <a:rPr lang="en-US" sz="1100" b="0" i="1" dirty="0">
                          <a:solidFill>
                            <a:srgbClr val="0B4F6C"/>
                          </a:solidFill>
                          <a:latin typeface="Cambria Math"/>
                        </a:rPr>
                        <m:t>𝑣</m:t>
                      </m:r>
                      <m:r>
                        <a:rPr lang="en-US" sz="1100" b="0" i="0" dirty="0">
                          <a:solidFill>
                            <a:srgbClr val="0B4F6C"/>
                          </a:solidFill>
                          <a:latin typeface="Cambria Math"/>
                        </a:rPr>
                        <m:t> = </m:t>
                      </m:r>
                      <m:f>
                        <m:fPr>
                          <m:ctrlPr>
                            <a:rPr lang="en-US" sz="1100" b="0" i="1" dirty="0">
                              <a:solidFill>
                                <a:srgbClr val="0B4F6C"/>
                              </a:solidFill>
                              <a:latin typeface="Cambria Math" panose="02040503050406030204" pitchFamily="18" charset="0"/>
                            </a:rPr>
                          </m:ctrlPr>
                        </m:fPr>
                        <m:num>
                          <m:r>
                            <m:rPr>
                              <m:sty m:val="p"/>
                            </m:rPr>
                            <a:rPr lang="en-US" sz="1100" b="0" i="0" dirty="0">
                              <a:solidFill>
                                <a:srgbClr val="0B4F6C"/>
                              </a:solidFill>
                              <a:latin typeface="Cambria Math"/>
                            </a:rPr>
                            <m:t>Δ</m:t>
                          </m:r>
                          <m:r>
                            <a:rPr lang="en-US" sz="1100" b="0" i="1" dirty="0">
                              <a:solidFill>
                                <a:srgbClr val="0B4F6C"/>
                              </a:solidFill>
                              <a:latin typeface="Cambria Math"/>
                            </a:rPr>
                            <m:t>ℓ</m:t>
                          </m:r>
                        </m:num>
                        <m:den>
                          <m:r>
                            <m:rPr>
                              <m:sty m:val="p"/>
                            </m:rPr>
                            <a:rPr lang="en-US" sz="1100" b="0" i="0" dirty="0">
                              <a:solidFill>
                                <a:srgbClr val="0B4F6C"/>
                              </a:solidFill>
                              <a:latin typeface="Cambria Math"/>
                            </a:rPr>
                            <m:t>Δ</m:t>
                          </m:r>
                          <m:r>
                            <a:rPr lang="en-US" sz="1100" b="0" i="1" dirty="0">
                              <a:solidFill>
                                <a:srgbClr val="0B4F6C"/>
                              </a:solidFill>
                              <a:latin typeface="Cambria Math"/>
                            </a:rPr>
                            <m:t>𝑡</m:t>
                          </m:r>
                        </m:den>
                      </m:f>
                    </m:oMath>
                  </m:oMathPara>
                </a14:m>
                <a:endParaRPr dirty="0"/>
              </a:p>
            </p:txBody>
          </p:sp>
        </mc:Choice>
        <mc:Fallback>
          <p:sp>
            <p:nvSpPr>
              <p:cNvPr id="47" name="TextBox 46"/>
              <p:cNvSpPr txBox="1">
                <a:spLocks noRot="1" noChangeAspect="1" noMove="1" noResize="1" noEditPoints="1" noAdjustHandles="1" noChangeArrowheads="1" noChangeShapeType="1" noTextEdit="1"/>
              </p:cNvSpPr>
              <p:nvPr/>
            </p:nvSpPr>
            <p:spPr>
              <a:xfrm>
                <a:off x="9829800" y="4050792"/>
                <a:ext cx="960120" cy="438912"/>
              </a:xfrm>
              <a:prstGeom prst="rect">
                <a:avLst/>
              </a:prstGeom>
              <a:blipFill>
                <a:blip r:embed="rId10"/>
                <a:stretch>
                  <a:fillRect/>
                </a:stretch>
              </a:blipFill>
            </p:spPr>
            <p:txBody>
              <a:bodyPr/>
              <a:lstStyle/>
              <a:p>
                <a:r>
                  <a:rPr lang="en-IL">
                    <a:noFill/>
                  </a:rPr>
                  <a:t> </a:t>
                </a:r>
              </a:p>
            </p:txBody>
          </p:sp>
        </mc:Fallback>
      </mc:AlternateContent>
      <p:sp>
        <p:nvSpPr>
          <p:cNvPr id="48" name="TextBox 47"/>
          <p:cNvSpPr txBox="1"/>
          <p:nvPr/>
        </p:nvSpPr>
        <p:spPr>
          <a:xfrm>
            <a:off x="8915400" y="4581144"/>
            <a:ext cx="2788920" cy="309187"/>
          </a:xfrm>
          <a:prstGeom prst="rect">
            <a:avLst/>
          </a:prstGeom>
          <a:noFill/>
        </p:spPr>
        <p:txBody>
          <a:bodyPr wrap="square" lIns="0" tIns="0" rIns="0" bIns="0" anchor="t">
            <a:spAutoFit/>
          </a:bodyPr>
          <a:lstStyle/>
          <a:p>
            <a:pPr algn="l">
              <a:lnSpc>
                <a:spcPct val="115000"/>
              </a:lnSpc>
              <a:spcAft>
                <a:spcPts val="0"/>
              </a:spcAft>
            </a:pPr>
            <a:r>
              <a:rPr sz="900" b="0" i="0" dirty="0">
                <a:solidFill>
                  <a:srgbClr val="33424D"/>
                </a:solidFill>
                <a:latin typeface="Calibri"/>
              </a:rPr>
              <a:t>WEIGHT</a:t>
            </a:r>
            <a:r>
              <a:rPr lang="en-US" sz="900" b="0" i="0" dirty="0">
                <a:solidFill>
                  <a:srgbClr val="33424D"/>
                </a:solidFill>
                <a:latin typeface="Calibri"/>
              </a:rPr>
              <a:t>,</a:t>
            </a:r>
            <a:r>
              <a:rPr sz="900" b="0" i="0" dirty="0">
                <a:solidFill>
                  <a:srgbClr val="33424D"/>
                </a:solidFill>
                <a:latin typeface="Calibri"/>
              </a:rPr>
              <a:t> invert the amplitude decay, corrected for the distance r to the fiber (panel D):</a:t>
            </a:r>
          </a:p>
        </p:txBody>
      </p:sp>
      <mc:AlternateContent xmlns:mc="http://schemas.openxmlformats.org/markup-compatibility/2006">
        <mc:Choice xmlns:a14="http://schemas.microsoft.com/office/drawing/2010/main" Requires="a14">
          <p:sp>
            <p:nvSpPr>
              <p:cNvPr id="49" name="TextBox 48"/>
              <p:cNvSpPr txBox="1"/>
              <p:nvPr/>
            </p:nvSpPr>
            <p:spPr>
              <a:xfrm>
                <a:off x="9237749" y="4981771"/>
                <a:ext cx="2297937" cy="645433"/>
              </a:xfrm>
              <a:prstGeom prst="rect">
                <a:avLst/>
              </a:prstGeom>
              <a:noFill/>
            </p:spPr>
            <p:txBody>
              <a:bodyPr wrap="none" lIns="0" tIns="0" rIns="0" bIns="0">
                <a:spAutoFit/>
              </a:bodyPr>
              <a:lstStyle/>
              <a:p>
                <a:pPr algn="ctr"/>
                <a14:m>
                  <m:oMathPara xmlns:m="http://schemas.openxmlformats.org/officeDocument/2006/math">
                    <m:oMathParaPr>
                      <m:jc m:val="center"/>
                    </m:oMathParaPr>
                    <m:oMath xmlns:m="http://schemas.openxmlformats.org/officeDocument/2006/math">
                      <m:r>
                        <a:rPr lang="en-US" sz="1100" i="1" dirty="0" smtClean="0">
                          <a:solidFill>
                            <a:srgbClr val="0B4F6C"/>
                          </a:solidFill>
                          <a:latin typeface="Cambria Math"/>
                        </a:rPr>
                        <m:t>𝑊</m:t>
                      </m:r>
                      <m:r>
                        <a:rPr lang="en-US" sz="1100" i="1" dirty="0" smtClean="0">
                          <a:solidFill>
                            <a:srgbClr val="0B4F6C"/>
                          </a:solidFill>
                          <a:latin typeface="Cambria Math"/>
                        </a:rPr>
                        <m:t>=</m:t>
                      </m:r>
                      <m:f>
                        <m:fPr>
                          <m:ctrlPr>
                            <a:rPr lang="en-US" sz="1100" i="1" dirty="0">
                              <a:solidFill>
                                <a:srgbClr val="0B4F6C"/>
                              </a:solidFill>
                              <a:latin typeface="Cambria Math"/>
                            </a:rPr>
                          </m:ctrlPr>
                        </m:fPr>
                        <m:num>
                          <m:r>
                            <a:rPr lang="en-US" sz="1100" i="1" dirty="0">
                              <a:solidFill>
                                <a:srgbClr val="0B4F6C"/>
                              </a:solidFill>
                              <a:latin typeface="Cambria Math"/>
                            </a:rPr>
                            <m:t>𝐴</m:t>
                          </m:r>
                          <m:sSup>
                            <m:sSupPr>
                              <m:ctrlPr>
                                <a:rPr lang="en-US" sz="1100" i="1" dirty="0">
                                  <a:solidFill>
                                    <a:srgbClr val="0B4F6C"/>
                                  </a:solidFill>
                                  <a:latin typeface="Cambria Math"/>
                                </a:rPr>
                              </m:ctrlPr>
                            </m:sSupPr>
                            <m:e>
                              <m:d>
                                <m:dPr>
                                  <m:ctrlPr>
                                    <a:rPr lang="en-US" sz="1100" i="1" dirty="0">
                                      <a:solidFill>
                                        <a:srgbClr val="0B4F6C"/>
                                      </a:solidFill>
                                      <a:latin typeface="Cambria Math"/>
                                    </a:rPr>
                                  </m:ctrlPr>
                                </m:dPr>
                                <m:e>
                                  <m:r>
                                    <a:rPr lang="en-US" sz="1100" i="1" dirty="0">
                                      <a:solidFill>
                                        <a:srgbClr val="0B4F6C"/>
                                      </a:solidFill>
                                      <a:latin typeface="Cambria Math"/>
                                    </a:rPr>
                                    <m:t>𝑟</m:t>
                                  </m:r>
                                  <m:r>
                                    <a:rPr lang="en-US" sz="1100" i="1" dirty="0">
                                      <a:solidFill>
                                        <a:srgbClr val="0B4F6C"/>
                                      </a:solidFill>
                                      <a:latin typeface="Cambria Math"/>
                                    </a:rPr>
                                    <m:t>+</m:t>
                                  </m:r>
                                  <m:sSub>
                                    <m:sSubPr>
                                      <m:ctrlPr>
                                        <a:rPr lang="en-US" sz="1100" i="1" dirty="0">
                                          <a:solidFill>
                                            <a:srgbClr val="0B4F6C"/>
                                          </a:solidFill>
                                          <a:latin typeface="Cambria Math"/>
                                        </a:rPr>
                                      </m:ctrlPr>
                                    </m:sSubPr>
                                    <m:e>
                                      <m:r>
                                        <a:rPr lang="en-US" sz="1100" i="1" dirty="0">
                                          <a:solidFill>
                                            <a:srgbClr val="0B4F6C"/>
                                          </a:solidFill>
                                          <a:latin typeface="Cambria Math"/>
                                        </a:rPr>
                                        <m:t>𝑑</m:t>
                                      </m:r>
                                    </m:e>
                                    <m:sub>
                                      <m:r>
                                        <a:rPr lang="en-US" sz="1100" i="1" dirty="0">
                                          <a:solidFill>
                                            <a:srgbClr val="0B4F6C"/>
                                          </a:solidFill>
                                          <a:latin typeface="Cambria Math"/>
                                        </a:rPr>
                                        <m:t>0</m:t>
                                      </m:r>
                                    </m:sub>
                                  </m:sSub>
                                </m:e>
                              </m:d>
                            </m:e>
                            <m:sup>
                              <m:r>
                                <a:rPr lang="en-US" sz="1100" i="1" dirty="0">
                                  <a:solidFill>
                                    <a:srgbClr val="0B4F6C"/>
                                  </a:solidFill>
                                  <a:latin typeface="Cambria Math"/>
                                </a:rPr>
                                <m:t>2</m:t>
                              </m:r>
                            </m:sup>
                          </m:sSup>
                        </m:num>
                        <m:den>
                          <m:r>
                            <a:rPr lang="en-US" sz="1100" i="1" dirty="0">
                              <a:solidFill>
                                <a:srgbClr val="0B4F6C"/>
                              </a:solidFill>
                              <a:latin typeface="Cambria Math"/>
                            </a:rPr>
                            <m:t>𝑘</m:t>
                          </m:r>
                        </m:den>
                      </m:f>
                      <m:r>
                        <a:rPr lang="en-US" sz="1100" i="1" dirty="0">
                          <a:solidFill>
                            <a:srgbClr val="0B4F6C"/>
                          </a:solidFill>
                          <a:latin typeface="Cambria Math"/>
                        </a:rPr>
                        <m:t>,</m:t>
                      </m:r>
                      <m:r>
                        <a:rPr lang="en-US" sz="1100" b="0" i="1" dirty="0" smtClean="0">
                          <a:solidFill>
                            <a:srgbClr val="0B4F6C"/>
                          </a:solidFill>
                          <a:latin typeface="Cambria Math" panose="02040503050406030204" pitchFamily="18" charset="0"/>
                        </a:rPr>
                        <m:t>  </m:t>
                      </m:r>
                      <m:r>
                        <a:rPr lang="en-IL" sz="1100" b="0" i="1" dirty="0">
                          <a:solidFill>
                            <a:srgbClr val="0B4F6C"/>
                          </a:solidFill>
                          <a:latin typeface="Cambria Math"/>
                        </a:rPr>
                        <m:t>𝐴</m:t>
                      </m:r>
                      <m:r>
                        <a:rPr lang="en-US" sz="1100" b="0" i="1" dirty="0" smtClean="0">
                          <a:solidFill>
                            <a:srgbClr val="0B4F6C"/>
                          </a:solidFill>
                          <a:latin typeface="Cambria Math" panose="02040503050406030204" pitchFamily="18" charset="0"/>
                        </a:rPr>
                        <m:t>=</m:t>
                      </m:r>
                      <m:r>
                        <a:rPr lang="en-US" sz="1100" b="0" i="1" dirty="0" smtClean="0">
                          <a:solidFill>
                            <a:srgbClr val="0B4F6C"/>
                          </a:solidFill>
                          <a:latin typeface="Cambria Math" panose="02040503050406030204" pitchFamily="18" charset="0"/>
                        </a:rPr>
                        <m:t>𝑘</m:t>
                      </m:r>
                      <m:f>
                        <m:fPr>
                          <m:ctrlPr>
                            <a:rPr lang="en-IL" sz="1100" b="0" i="1" dirty="0" err="1">
                              <a:solidFill>
                                <a:srgbClr val="0B4F6C"/>
                              </a:solidFill>
                              <a:latin typeface="Cambria Math"/>
                            </a:rPr>
                          </m:ctrlPr>
                        </m:fPr>
                        <m:num>
                          <m:r>
                            <a:rPr lang="en-US" sz="1100" b="0" i="1" dirty="0" smtClean="0">
                              <a:solidFill>
                                <a:srgbClr val="0B4F6C"/>
                              </a:solidFill>
                              <a:latin typeface="Cambria Math" panose="02040503050406030204" pitchFamily="18" charset="0"/>
                            </a:rPr>
                            <m:t>𝑊</m:t>
                          </m:r>
                        </m:num>
                        <m:den>
                          <m:sSup>
                            <m:sSupPr>
                              <m:ctrlPr>
                                <a:rPr lang="en-US" sz="1100" b="0" i="1" dirty="0" smtClean="0">
                                  <a:solidFill>
                                    <a:srgbClr val="0B4F6C"/>
                                  </a:solidFill>
                                  <a:latin typeface="Cambria Math" panose="02040503050406030204" pitchFamily="18" charset="0"/>
                                </a:rPr>
                              </m:ctrlPr>
                            </m:sSupPr>
                            <m:e>
                              <m:d>
                                <m:dPr>
                                  <m:ctrlPr>
                                    <a:rPr lang="en-US" sz="1100" b="0" i="1" dirty="0" smtClean="0">
                                      <a:solidFill>
                                        <a:srgbClr val="0B4F6C"/>
                                      </a:solidFill>
                                      <a:latin typeface="Cambria Math" panose="02040503050406030204" pitchFamily="18" charset="0"/>
                                    </a:rPr>
                                  </m:ctrlPr>
                                </m:dPr>
                                <m:e>
                                  <m:r>
                                    <a:rPr lang="en-IL" sz="1100" i="1" dirty="0">
                                      <a:solidFill>
                                        <a:srgbClr val="0B4F6C"/>
                                      </a:solidFill>
                                      <a:latin typeface="Cambria Math"/>
                                    </a:rPr>
                                    <m:t>𝑟</m:t>
                                  </m:r>
                                  <m:r>
                                    <a:rPr lang="en-IL" sz="1100" i="1" dirty="0">
                                      <a:solidFill>
                                        <a:srgbClr val="0B4F6C"/>
                                      </a:solidFill>
                                      <a:latin typeface="Cambria Math"/>
                                    </a:rPr>
                                    <m:t>+</m:t>
                                  </m:r>
                                  <m:sSub>
                                    <m:sSubPr>
                                      <m:ctrlPr>
                                        <a:rPr lang="en-IL" sz="1100" i="1" dirty="0">
                                          <a:solidFill>
                                            <a:srgbClr val="0B4F6C"/>
                                          </a:solidFill>
                                          <a:latin typeface="Cambria Math" panose="02040503050406030204" pitchFamily="18" charset="0"/>
                                        </a:rPr>
                                      </m:ctrlPr>
                                    </m:sSubPr>
                                    <m:e>
                                      <m:r>
                                        <a:rPr lang="en-IL" sz="1100" i="1" dirty="0">
                                          <a:solidFill>
                                            <a:srgbClr val="0B4F6C"/>
                                          </a:solidFill>
                                          <a:latin typeface="Cambria Math"/>
                                        </a:rPr>
                                        <m:t>𝑑</m:t>
                                      </m:r>
                                    </m:e>
                                    <m:sub>
                                      <m:r>
                                        <a:rPr lang="en-IL" sz="1100" i="1" dirty="0">
                                          <a:solidFill>
                                            <a:srgbClr val="0B4F6C"/>
                                          </a:solidFill>
                                          <a:latin typeface="Cambria Math"/>
                                        </a:rPr>
                                        <m:t>0</m:t>
                                      </m:r>
                                    </m:sub>
                                  </m:sSub>
                                </m:e>
                              </m:d>
                            </m:e>
                            <m:sup>
                              <m:r>
                                <a:rPr lang="en-US" sz="1100" b="0" i="1" dirty="0" smtClean="0">
                                  <a:solidFill>
                                    <a:srgbClr val="0B4F6C"/>
                                  </a:solidFill>
                                  <a:latin typeface="Cambria Math" panose="02040503050406030204" pitchFamily="18" charset="0"/>
                                </a:rPr>
                                <m:t>2</m:t>
                              </m:r>
                            </m:sup>
                          </m:sSup>
                        </m:den>
                      </m:f>
                    </m:oMath>
                  </m:oMathPara>
                </a14:m>
                <a:endParaRPr lang="en-IL" sz="1100" i="1" dirty="0">
                  <a:solidFill>
                    <a:srgbClr val="0B4F6C"/>
                  </a:solidFill>
                  <a:latin typeface="Cambria Math"/>
                </a:endParaRPr>
              </a:p>
              <a:p>
                <a:pPr algn="ctr"/>
                <a:endParaRPr dirty="0"/>
              </a:p>
            </p:txBody>
          </p:sp>
        </mc:Choice>
        <mc:Fallback>
          <p:sp>
            <p:nvSpPr>
              <p:cNvPr id="49" name="TextBox 48"/>
              <p:cNvSpPr txBox="1">
                <a:spLocks noRot="1" noChangeAspect="1" noMove="1" noResize="1" noEditPoints="1" noAdjustHandles="1" noChangeArrowheads="1" noChangeShapeType="1" noTextEdit="1"/>
              </p:cNvSpPr>
              <p:nvPr/>
            </p:nvSpPr>
            <p:spPr>
              <a:xfrm>
                <a:off x="9237749" y="4981771"/>
                <a:ext cx="2297937" cy="645433"/>
              </a:xfrm>
              <a:prstGeom prst="rect">
                <a:avLst/>
              </a:prstGeom>
              <a:blipFill>
                <a:blip r:embed="rId11"/>
                <a:stretch>
                  <a:fillRect l="-1648"/>
                </a:stretch>
              </a:blipFill>
            </p:spPr>
            <p:txBody>
              <a:bodyPr/>
              <a:lstStyle/>
              <a:p>
                <a:r>
                  <a:rPr lang="en-IL">
                    <a:noFill/>
                  </a:rPr>
                  <a:t> </a:t>
                </a:r>
              </a:p>
            </p:txBody>
          </p:sp>
        </mc:Fallback>
      </mc:AlternateContent>
      <p:sp>
        <p:nvSpPr>
          <p:cNvPr id="50" name="TextBox 49"/>
          <p:cNvSpPr txBox="1"/>
          <p:nvPr/>
        </p:nvSpPr>
        <p:spPr>
          <a:xfrm>
            <a:off x="8915400" y="5440680"/>
            <a:ext cx="2788920" cy="526363"/>
          </a:xfrm>
          <a:prstGeom prst="rect">
            <a:avLst/>
          </a:prstGeom>
          <a:noFill/>
        </p:spPr>
        <p:txBody>
          <a:bodyPr wrap="square" lIns="0" tIns="0" rIns="0" bIns="0" anchor="t">
            <a:spAutoFit/>
          </a:bodyPr>
          <a:lstStyle/>
          <a:p>
            <a:pPr>
              <a:lnSpc>
                <a:spcPct val="110000"/>
              </a:lnSpc>
              <a:spcAft>
                <a:spcPts val="300"/>
              </a:spcAft>
            </a:pPr>
            <a:r>
              <a:rPr sz="900" b="1" dirty="0">
                <a:solidFill>
                  <a:srgbClr val="1C7293"/>
                </a:solidFill>
                <a:latin typeface="Calibri"/>
              </a:rPr>
              <a:t>•   </a:t>
            </a:r>
            <a:r>
              <a:rPr sz="900" b="1" dirty="0">
                <a:solidFill>
                  <a:srgbClr val="33424D"/>
                </a:solidFill>
                <a:latin typeface="Calibri"/>
              </a:rPr>
              <a:t>position</a:t>
            </a:r>
            <a:r>
              <a:rPr lang="en-US" sz="900" dirty="0">
                <a:solidFill>
                  <a:srgbClr val="33424D"/>
                </a:solidFill>
                <a:latin typeface="Calibri"/>
              </a:rPr>
              <a:t>,</a:t>
            </a:r>
            <a:r>
              <a:rPr sz="900" b="0" dirty="0">
                <a:solidFill>
                  <a:srgbClr val="33424D"/>
                </a:solidFill>
                <a:latin typeface="Calibri"/>
              </a:rPr>
              <a:t> the channel index that fires</a:t>
            </a:r>
          </a:p>
          <a:p>
            <a:pPr>
              <a:lnSpc>
                <a:spcPct val="110000"/>
              </a:lnSpc>
              <a:spcAft>
                <a:spcPts val="300"/>
              </a:spcAft>
            </a:pPr>
            <a:r>
              <a:rPr sz="900" b="1" dirty="0">
                <a:solidFill>
                  <a:srgbClr val="1C7293"/>
                </a:solidFill>
                <a:latin typeface="Calibri"/>
              </a:rPr>
              <a:t>•   </a:t>
            </a:r>
            <a:r>
              <a:rPr sz="900" b="1" dirty="0">
                <a:solidFill>
                  <a:srgbClr val="33424D"/>
                </a:solidFill>
                <a:latin typeface="Calibri"/>
              </a:rPr>
              <a:t>acceleration</a:t>
            </a:r>
            <a:r>
              <a:rPr lang="en-US" sz="900" dirty="0">
                <a:solidFill>
                  <a:srgbClr val="33424D"/>
                </a:solidFill>
                <a:latin typeface="Calibri"/>
              </a:rPr>
              <a:t>,</a:t>
            </a:r>
            <a:r>
              <a:rPr sz="900" b="0" dirty="0">
                <a:solidFill>
                  <a:srgbClr val="33424D"/>
                </a:solidFill>
                <a:latin typeface="Calibri"/>
              </a:rPr>
              <a:t> dv/dt along the track</a:t>
            </a:r>
          </a:p>
          <a:p>
            <a:pPr>
              <a:lnSpc>
                <a:spcPct val="110000"/>
              </a:lnSpc>
              <a:spcAft>
                <a:spcPts val="300"/>
              </a:spcAft>
            </a:pPr>
            <a:r>
              <a:rPr sz="900" b="1" dirty="0">
                <a:solidFill>
                  <a:srgbClr val="1C7293"/>
                </a:solidFill>
                <a:latin typeface="Calibri"/>
              </a:rPr>
              <a:t>•   </a:t>
            </a:r>
            <a:r>
              <a:rPr sz="900" b="0" dirty="0">
                <a:solidFill>
                  <a:srgbClr val="33424D"/>
                </a:solidFill>
                <a:latin typeface="Calibri"/>
              </a:rPr>
              <a:t>band &lt; 1 Hz: the vehicle's load, not street noise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1.jpg"/>
          <p:cNvPicPr>
            <a:picLocks noChangeAspect="1"/>
          </p:cNvPicPr>
          <p:nvPr/>
        </p:nvPicPr>
        <p:blipFill>
          <a:blip r:embed="rId3"/>
          <a:stretch>
            <a:fillRect/>
          </a:stretch>
        </p:blipFill>
        <p:spPr>
          <a:xfrm>
            <a:off x="292608" y="274320"/>
            <a:ext cx="2490940" cy="566928"/>
          </a:xfrm>
          <a:prstGeom prst="rect">
            <a:avLst/>
          </a:prstGeom>
        </p:spPr>
      </p:pic>
      <p:pic>
        <p:nvPicPr>
          <p:cNvPr id="3" name="Picture 2" descr="image2.png"/>
          <p:cNvPicPr>
            <a:picLocks noChangeAspect="1"/>
          </p:cNvPicPr>
          <p:nvPr/>
        </p:nvPicPr>
        <p:blipFill>
          <a:blip r:embed="rId4"/>
          <a:stretch>
            <a:fillRect/>
          </a:stretch>
        </p:blipFill>
        <p:spPr>
          <a:xfrm>
            <a:off x="11292840" y="219456"/>
            <a:ext cx="635887" cy="658368"/>
          </a:xfrm>
          <a:prstGeom prst="rect">
            <a:avLst/>
          </a:prstGeom>
        </p:spPr>
      </p:pic>
      <p:sp>
        <p:nvSpPr>
          <p:cNvPr id="4" name="TextBox 3"/>
          <p:cNvSpPr txBox="1"/>
          <p:nvPr/>
        </p:nvSpPr>
        <p:spPr>
          <a:xfrm>
            <a:off x="1737360" y="301752"/>
            <a:ext cx="8686800" cy="566928"/>
          </a:xfrm>
          <a:prstGeom prst="rect">
            <a:avLst/>
          </a:prstGeom>
          <a:noFill/>
        </p:spPr>
        <p:txBody>
          <a:bodyPr wrap="square" lIns="0" tIns="0" rIns="0" bIns="0" anchor="t">
            <a:spAutoFit/>
          </a:bodyPr>
          <a:lstStyle/>
          <a:p>
            <a:pPr algn="ctr">
              <a:lnSpc>
                <a:spcPct val="100000"/>
              </a:lnSpc>
              <a:spcAft>
                <a:spcPts val="0"/>
              </a:spcAft>
            </a:pPr>
            <a:r>
              <a:rPr sz="2500" b="1" i="0">
                <a:solidFill>
                  <a:srgbClr val="0B4F6C"/>
                </a:solidFill>
                <a:latin typeface="Cambria"/>
              </a:rPr>
              <a:t>Engineering Motivation &amp; Goals</a:t>
            </a:r>
          </a:p>
        </p:txBody>
      </p:sp>
      <p:sp>
        <p:nvSpPr>
          <p:cNvPr id="5" name="TextBox 4"/>
          <p:cNvSpPr txBox="1"/>
          <p:nvPr/>
        </p:nvSpPr>
        <p:spPr>
          <a:xfrm>
            <a:off x="320040" y="6455664"/>
            <a:ext cx="5486400" cy="274320"/>
          </a:xfrm>
          <a:prstGeom prst="rect">
            <a:avLst/>
          </a:prstGeom>
          <a:noFill/>
        </p:spPr>
        <p:txBody>
          <a:bodyPr wrap="square" lIns="0" tIns="0" rIns="0" bIns="0" anchor="t">
            <a:spAutoFit/>
          </a:bodyPr>
          <a:lstStyle/>
          <a:p>
            <a:pPr algn="l">
              <a:lnSpc>
                <a:spcPct val="100000"/>
              </a:lnSpc>
              <a:spcAft>
                <a:spcPts val="0"/>
              </a:spcAft>
            </a:pPr>
            <a:r>
              <a:rPr sz="900" b="0" i="1">
                <a:solidFill>
                  <a:srgbClr val="6B7A85"/>
                </a:solidFill>
                <a:latin typeface="Calibri"/>
              </a:rPr>
              <a:t>Optical Fibers for Smart Cities · SimStudio</a:t>
            </a:r>
          </a:p>
        </p:txBody>
      </p:sp>
      <p:sp>
        <p:nvSpPr>
          <p:cNvPr id="6" name="TextBox 5"/>
          <p:cNvSpPr txBox="1"/>
          <p:nvPr/>
        </p:nvSpPr>
        <p:spPr>
          <a:xfrm>
            <a:off x="11338560" y="6455664"/>
            <a:ext cx="640080" cy="274320"/>
          </a:xfrm>
          <a:prstGeom prst="rect">
            <a:avLst/>
          </a:prstGeom>
          <a:noFill/>
        </p:spPr>
        <p:txBody>
          <a:bodyPr wrap="square" lIns="0" tIns="0" rIns="0" bIns="0" anchor="t">
            <a:spAutoFit/>
          </a:bodyPr>
          <a:lstStyle/>
          <a:p>
            <a:pPr algn="r">
              <a:lnSpc>
                <a:spcPct val="100000"/>
              </a:lnSpc>
              <a:spcAft>
                <a:spcPts val="0"/>
              </a:spcAft>
            </a:pPr>
            <a:r>
              <a:rPr sz="1000" b="0" i="0">
                <a:solidFill>
                  <a:srgbClr val="6B7A85"/>
                </a:solidFill>
                <a:latin typeface="Calibri"/>
              </a:rPr>
              <a:t>4</a:t>
            </a:r>
          </a:p>
        </p:txBody>
      </p:sp>
      <p:sp>
        <p:nvSpPr>
          <p:cNvPr id="7" name="TextBox 6"/>
          <p:cNvSpPr txBox="1"/>
          <p:nvPr/>
        </p:nvSpPr>
        <p:spPr>
          <a:xfrm>
            <a:off x="594360" y="1325880"/>
            <a:ext cx="5029200" cy="2066912"/>
          </a:xfrm>
          <a:prstGeom prst="rect">
            <a:avLst/>
          </a:prstGeom>
          <a:noFill/>
        </p:spPr>
        <p:txBody>
          <a:bodyPr wrap="square" lIns="0" tIns="0" rIns="0" bIns="0" anchor="t">
            <a:spAutoFit/>
          </a:bodyPr>
          <a:lstStyle/>
          <a:p>
            <a:pPr marL="171450" indent="-171450">
              <a:lnSpc>
                <a:spcPct val="108000"/>
              </a:lnSpc>
              <a:spcAft>
                <a:spcPts val="1200"/>
              </a:spcAft>
              <a:buFont typeface="Courier New" panose="02070309020205020404" pitchFamily="49" charset="0"/>
              <a:buChar char="o"/>
            </a:pPr>
            <a:r>
              <a:rPr lang="en-US" sz="1200" dirty="0">
                <a:solidFill>
                  <a:srgbClr val="33373B"/>
                </a:solidFill>
              </a:rPr>
              <a:t>Re-use existing infrastructure. the fiber already exists, so no extra hardware is needed and incremental cost is low.</a:t>
            </a:r>
          </a:p>
          <a:p>
            <a:pPr marL="171450" indent="-171450">
              <a:lnSpc>
                <a:spcPct val="108000"/>
              </a:lnSpc>
              <a:spcAft>
                <a:spcPts val="1200"/>
              </a:spcAft>
              <a:buFont typeface="Courier New" panose="02070309020205020404" pitchFamily="49" charset="0"/>
              <a:buChar char="o"/>
            </a:pPr>
            <a:r>
              <a:rPr lang="en-US" sz="1200" dirty="0">
                <a:solidFill>
                  <a:srgbClr val="33373B"/>
                </a:solidFill>
              </a:rPr>
              <a:t>Every meter of fiber is an independent channel. a passing vehicle leaves a moving signature whose amplitude encodes its weight and whose slope across channels encodes its speed.</a:t>
            </a:r>
          </a:p>
          <a:p>
            <a:pPr marL="171450" indent="-171450">
              <a:lnSpc>
                <a:spcPct val="108000"/>
              </a:lnSpc>
              <a:spcAft>
                <a:spcPts val="1200"/>
              </a:spcAft>
              <a:buFont typeface="Courier New" panose="02070309020205020404" pitchFamily="49" charset="0"/>
              <a:buChar char="o"/>
            </a:pPr>
            <a:r>
              <a:rPr lang="en-US" sz="1200" dirty="0">
                <a:solidFill>
                  <a:srgbClr val="33373B"/>
                </a:solidFill>
              </a:rPr>
              <a:t>Continuous spatial coverage over tens of kilometers from a single cable, robust to lighting and weather.</a:t>
            </a:r>
          </a:p>
          <a:p>
            <a:pPr>
              <a:lnSpc>
                <a:spcPct val="105000"/>
              </a:lnSpc>
              <a:spcAft>
                <a:spcPts val="1100"/>
              </a:spcAft>
            </a:pPr>
            <a:endParaRPr sz="1350" b="0" dirty="0">
              <a:solidFill>
                <a:srgbClr val="33424D"/>
              </a:solidFill>
              <a:latin typeface="Calibri"/>
            </a:endParaRPr>
          </a:p>
        </p:txBody>
      </p:sp>
      <p:sp>
        <p:nvSpPr>
          <p:cNvPr id="8" name="TextBox 7"/>
          <p:cNvSpPr txBox="1"/>
          <p:nvPr/>
        </p:nvSpPr>
        <p:spPr>
          <a:xfrm>
            <a:off x="594360" y="4206240"/>
            <a:ext cx="5029200" cy="891847"/>
          </a:xfrm>
          <a:prstGeom prst="rect">
            <a:avLst/>
          </a:prstGeom>
          <a:noFill/>
        </p:spPr>
        <p:txBody>
          <a:bodyPr wrap="square" lIns="0" tIns="0" rIns="0" bIns="0" anchor="t">
            <a:spAutoFit/>
          </a:bodyPr>
          <a:lstStyle/>
          <a:p>
            <a:pPr algn="l">
              <a:lnSpc>
                <a:spcPct val="100000"/>
              </a:lnSpc>
              <a:spcAft>
                <a:spcPts val="300"/>
              </a:spcAft>
            </a:pPr>
            <a:r>
              <a:rPr sz="1350" b="1" i="0" dirty="0">
                <a:solidFill>
                  <a:srgbClr val="0B4F6C"/>
                </a:solidFill>
                <a:latin typeface="Calibri"/>
              </a:rPr>
              <a:t>Research question:</a:t>
            </a:r>
          </a:p>
          <a:p>
            <a:pPr algn="l">
              <a:lnSpc>
                <a:spcPct val="105000"/>
              </a:lnSpc>
              <a:spcAft>
                <a:spcPts val="0"/>
              </a:spcAft>
            </a:pPr>
            <a:r>
              <a:rPr sz="1350" b="0" i="0" dirty="0">
                <a:solidFill>
                  <a:srgbClr val="33424D"/>
                </a:solidFill>
                <a:latin typeface="Calibri"/>
              </a:rPr>
              <a:t>Can fusing DAS with camera and GPS reliably track individual vehicles across a road network, and detect anomalous behavior from the fused signal alone?</a:t>
            </a:r>
          </a:p>
        </p:txBody>
      </p:sp>
      <p:sp>
        <p:nvSpPr>
          <p:cNvPr id="9" name="TextBox 8"/>
          <p:cNvSpPr txBox="1"/>
          <p:nvPr/>
        </p:nvSpPr>
        <p:spPr>
          <a:xfrm>
            <a:off x="6400800" y="1170432"/>
            <a:ext cx="4754880" cy="274320"/>
          </a:xfrm>
          <a:prstGeom prst="rect">
            <a:avLst/>
          </a:prstGeom>
          <a:noFill/>
        </p:spPr>
        <p:txBody>
          <a:bodyPr wrap="square" lIns="0" tIns="0" rIns="0" bIns="0" anchor="t">
            <a:spAutoFit/>
          </a:bodyPr>
          <a:lstStyle/>
          <a:p>
            <a:pPr algn="l">
              <a:lnSpc>
                <a:spcPct val="100000"/>
              </a:lnSpc>
              <a:spcAft>
                <a:spcPts val="0"/>
              </a:spcAft>
            </a:pPr>
            <a:r>
              <a:rPr sz="1200" b="1" i="0">
                <a:solidFill>
                  <a:srgbClr val="1C7293"/>
                </a:solidFill>
                <a:latin typeface="Cambria"/>
              </a:rPr>
              <a:t>PROJECT TARGETS  →  ACHIEVED</a:t>
            </a:r>
          </a:p>
        </p:txBody>
      </p:sp>
      <p:sp>
        <p:nvSpPr>
          <p:cNvPr id="10" name="Rounded Rectangle 9"/>
          <p:cNvSpPr/>
          <p:nvPr/>
        </p:nvSpPr>
        <p:spPr>
          <a:xfrm>
            <a:off x="6400800" y="1572768"/>
            <a:ext cx="4754880" cy="621792"/>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6583680" y="1655064"/>
            <a:ext cx="2834640" cy="457200"/>
          </a:xfrm>
          <a:prstGeom prst="rect">
            <a:avLst/>
          </a:prstGeom>
          <a:noFill/>
        </p:spPr>
        <p:txBody>
          <a:bodyPr wrap="square" lIns="0" tIns="0" rIns="0" bIns="0" anchor="t">
            <a:spAutoFit/>
          </a:bodyPr>
          <a:lstStyle/>
          <a:p>
            <a:pPr algn="l">
              <a:lnSpc>
                <a:spcPct val="100000"/>
              </a:lnSpc>
              <a:spcAft>
                <a:spcPts val="0"/>
              </a:spcAft>
            </a:pPr>
            <a:r>
              <a:rPr sz="1200" b="1" i="0">
                <a:solidFill>
                  <a:srgbClr val="0B4F6C"/>
                </a:solidFill>
                <a:latin typeface="Calibri"/>
              </a:rPr>
              <a:t>Cross-street tracking</a:t>
            </a:r>
          </a:p>
          <a:p>
            <a:pPr algn="l">
              <a:lnSpc>
                <a:spcPct val="100000"/>
              </a:lnSpc>
              <a:spcAft>
                <a:spcPts val="0"/>
              </a:spcAft>
            </a:pPr>
            <a:r>
              <a:rPr sz="950" b="0" i="1">
                <a:solidFill>
                  <a:srgbClr val="6B7A85"/>
                </a:solidFill>
                <a:latin typeface="Calibri"/>
              </a:rPr>
              <a:t>target ≥ 90% accuracy</a:t>
            </a:r>
          </a:p>
        </p:txBody>
      </p:sp>
      <p:sp>
        <p:nvSpPr>
          <p:cNvPr id="12" name="TextBox 11"/>
          <p:cNvSpPr txBox="1"/>
          <p:nvPr/>
        </p:nvSpPr>
        <p:spPr>
          <a:xfrm>
            <a:off x="9372600" y="1755648"/>
            <a:ext cx="1691640" cy="274320"/>
          </a:xfrm>
          <a:prstGeom prst="rect">
            <a:avLst/>
          </a:prstGeom>
          <a:noFill/>
        </p:spPr>
        <p:txBody>
          <a:bodyPr wrap="square" lIns="0" tIns="0" rIns="0" bIns="0" anchor="t">
            <a:spAutoFit/>
          </a:bodyPr>
          <a:lstStyle/>
          <a:p>
            <a:pPr algn="r">
              <a:lnSpc>
                <a:spcPct val="100000"/>
              </a:lnSpc>
              <a:spcAft>
                <a:spcPts val="0"/>
              </a:spcAft>
            </a:pPr>
            <a:r>
              <a:rPr sz="1150" b="1" i="0">
                <a:solidFill>
                  <a:srgbClr val="2E7D5B"/>
                </a:solidFill>
                <a:latin typeface="Calibri"/>
              </a:rPr>
              <a:t>Sub-metre RMSE</a:t>
            </a:r>
          </a:p>
        </p:txBody>
      </p:sp>
      <p:sp>
        <p:nvSpPr>
          <p:cNvPr id="13" name="Rounded Rectangle 12"/>
          <p:cNvSpPr/>
          <p:nvPr/>
        </p:nvSpPr>
        <p:spPr>
          <a:xfrm>
            <a:off x="6400800" y="2244852"/>
            <a:ext cx="4754880" cy="621792"/>
          </a:xfrm>
          <a:prstGeom prst="roundRect">
            <a:avLst>
              <a:gd name="adj" fmla="val 6000"/>
            </a:avLst>
          </a:prstGeom>
          <a:solidFill>
            <a:srgbClr val="FFFFFF"/>
          </a:solidFill>
          <a:ln w="9525">
            <a:solidFill>
              <a:srgbClr val="D5DD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6583680" y="2327148"/>
            <a:ext cx="2834640" cy="457200"/>
          </a:xfrm>
          <a:prstGeom prst="rect">
            <a:avLst/>
          </a:prstGeom>
          <a:noFill/>
        </p:spPr>
        <p:txBody>
          <a:bodyPr wrap="square" lIns="0" tIns="0" rIns="0" bIns="0" anchor="t">
            <a:spAutoFit/>
          </a:bodyPr>
          <a:lstStyle/>
          <a:p>
            <a:pPr algn="l">
              <a:lnSpc>
                <a:spcPct val="100000"/>
              </a:lnSpc>
              <a:spcAft>
                <a:spcPts val="0"/>
              </a:spcAft>
            </a:pPr>
            <a:r>
              <a:rPr sz="1200" b="1" i="0">
                <a:solidFill>
                  <a:srgbClr val="0B4F6C"/>
                </a:solidFill>
                <a:latin typeface="Calibri"/>
              </a:rPr>
              <a:t>Position / speed tolerance</a:t>
            </a:r>
          </a:p>
          <a:p>
            <a:pPr algn="l">
              <a:lnSpc>
                <a:spcPct val="100000"/>
              </a:lnSpc>
              <a:spcAft>
                <a:spcPts val="0"/>
              </a:spcAft>
            </a:pPr>
            <a:r>
              <a:rPr sz="950" b="0" i="1">
                <a:solidFill>
                  <a:srgbClr val="6B7A85"/>
                </a:solidFill>
                <a:latin typeface="Calibri"/>
              </a:rPr>
              <a:t>target ≤ ±5 m</a:t>
            </a:r>
          </a:p>
        </p:txBody>
      </p:sp>
      <p:sp>
        <p:nvSpPr>
          <p:cNvPr id="15" name="TextBox 14"/>
          <p:cNvSpPr txBox="1"/>
          <p:nvPr/>
        </p:nvSpPr>
        <p:spPr>
          <a:xfrm>
            <a:off x="9372600" y="2427732"/>
            <a:ext cx="1691640" cy="274320"/>
          </a:xfrm>
          <a:prstGeom prst="rect">
            <a:avLst/>
          </a:prstGeom>
          <a:noFill/>
        </p:spPr>
        <p:txBody>
          <a:bodyPr wrap="square" lIns="0" tIns="0" rIns="0" bIns="0" anchor="t">
            <a:spAutoFit/>
          </a:bodyPr>
          <a:lstStyle/>
          <a:p>
            <a:pPr algn="r">
              <a:lnSpc>
                <a:spcPct val="100000"/>
              </a:lnSpc>
              <a:spcAft>
                <a:spcPts val="0"/>
              </a:spcAft>
            </a:pPr>
            <a:r>
              <a:rPr sz="1150" b="1" i="0">
                <a:solidFill>
                  <a:srgbClr val="2E7D5B"/>
                </a:solidFill>
                <a:latin typeface="Calibri"/>
              </a:rPr>
              <a:t>Max error 1.52 m</a:t>
            </a:r>
          </a:p>
        </p:txBody>
      </p:sp>
      <p:sp>
        <p:nvSpPr>
          <p:cNvPr id="16" name="Rounded Rectangle 15"/>
          <p:cNvSpPr/>
          <p:nvPr/>
        </p:nvSpPr>
        <p:spPr>
          <a:xfrm>
            <a:off x="6400800" y="2916936"/>
            <a:ext cx="4754880" cy="621792"/>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6583680" y="2999232"/>
            <a:ext cx="2834640" cy="457200"/>
          </a:xfrm>
          <a:prstGeom prst="rect">
            <a:avLst/>
          </a:prstGeom>
          <a:noFill/>
        </p:spPr>
        <p:txBody>
          <a:bodyPr wrap="square" lIns="0" tIns="0" rIns="0" bIns="0" anchor="t">
            <a:spAutoFit/>
          </a:bodyPr>
          <a:lstStyle/>
          <a:p>
            <a:pPr algn="l">
              <a:lnSpc>
                <a:spcPct val="100000"/>
              </a:lnSpc>
              <a:spcAft>
                <a:spcPts val="0"/>
              </a:spcAft>
            </a:pPr>
            <a:r>
              <a:rPr sz="1200" b="1" i="0">
                <a:solidFill>
                  <a:srgbClr val="0B4F6C"/>
                </a:solidFill>
                <a:latin typeface="Calibri"/>
              </a:rPr>
              <a:t>Anomaly detection</a:t>
            </a:r>
          </a:p>
          <a:p>
            <a:pPr algn="l">
              <a:lnSpc>
                <a:spcPct val="100000"/>
              </a:lnSpc>
              <a:spcAft>
                <a:spcPts val="0"/>
              </a:spcAft>
            </a:pPr>
            <a:r>
              <a:rPr sz="950" b="0" i="1">
                <a:solidFill>
                  <a:srgbClr val="6B7A85"/>
                </a:solidFill>
                <a:latin typeface="Calibri"/>
              </a:rPr>
              <a:t>target ≥ 5 / 10 scenarios</a:t>
            </a:r>
          </a:p>
        </p:txBody>
      </p:sp>
      <p:sp>
        <p:nvSpPr>
          <p:cNvPr id="18" name="TextBox 17"/>
          <p:cNvSpPr txBox="1"/>
          <p:nvPr/>
        </p:nvSpPr>
        <p:spPr>
          <a:xfrm>
            <a:off x="9372600" y="3099816"/>
            <a:ext cx="1691640" cy="274320"/>
          </a:xfrm>
          <a:prstGeom prst="rect">
            <a:avLst/>
          </a:prstGeom>
          <a:noFill/>
        </p:spPr>
        <p:txBody>
          <a:bodyPr wrap="square" lIns="0" tIns="0" rIns="0" bIns="0" anchor="t">
            <a:spAutoFit/>
          </a:bodyPr>
          <a:lstStyle/>
          <a:p>
            <a:pPr algn="r">
              <a:lnSpc>
                <a:spcPct val="100000"/>
              </a:lnSpc>
              <a:spcAft>
                <a:spcPts val="0"/>
              </a:spcAft>
            </a:pPr>
            <a:r>
              <a:rPr sz="1150" b="1" i="0">
                <a:solidFill>
                  <a:srgbClr val="2E7D5B"/>
                </a:solidFill>
                <a:latin typeface="Calibri"/>
              </a:rPr>
              <a:t>6 of 9 detected</a:t>
            </a:r>
          </a:p>
        </p:txBody>
      </p:sp>
      <p:sp>
        <p:nvSpPr>
          <p:cNvPr id="19" name="Rounded Rectangle 18"/>
          <p:cNvSpPr/>
          <p:nvPr/>
        </p:nvSpPr>
        <p:spPr>
          <a:xfrm>
            <a:off x="6400800" y="3589020"/>
            <a:ext cx="4754880" cy="621792"/>
          </a:xfrm>
          <a:prstGeom prst="roundRect">
            <a:avLst>
              <a:gd name="adj" fmla="val 6000"/>
            </a:avLst>
          </a:prstGeom>
          <a:solidFill>
            <a:srgbClr val="FFFFFF"/>
          </a:solidFill>
          <a:ln w="9525">
            <a:solidFill>
              <a:srgbClr val="D5DD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TextBox 19"/>
          <p:cNvSpPr txBox="1"/>
          <p:nvPr/>
        </p:nvSpPr>
        <p:spPr>
          <a:xfrm>
            <a:off x="6583680" y="3671315"/>
            <a:ext cx="2834640" cy="457200"/>
          </a:xfrm>
          <a:prstGeom prst="rect">
            <a:avLst/>
          </a:prstGeom>
          <a:noFill/>
        </p:spPr>
        <p:txBody>
          <a:bodyPr wrap="square" lIns="0" tIns="0" rIns="0" bIns="0" anchor="t">
            <a:spAutoFit/>
          </a:bodyPr>
          <a:lstStyle/>
          <a:p>
            <a:pPr algn="l">
              <a:lnSpc>
                <a:spcPct val="100000"/>
              </a:lnSpc>
              <a:spcAft>
                <a:spcPts val="0"/>
              </a:spcAft>
            </a:pPr>
            <a:r>
              <a:rPr sz="1200" b="1" i="0">
                <a:solidFill>
                  <a:srgbClr val="0B4F6C"/>
                </a:solidFill>
                <a:latin typeface="Calibri"/>
              </a:rPr>
              <a:t>Kalman fusion success</a:t>
            </a:r>
          </a:p>
          <a:p>
            <a:pPr algn="l">
              <a:lnSpc>
                <a:spcPct val="100000"/>
              </a:lnSpc>
              <a:spcAft>
                <a:spcPts val="0"/>
              </a:spcAft>
            </a:pPr>
            <a:r>
              <a:rPr sz="950" b="0" i="1">
                <a:solidFill>
                  <a:srgbClr val="6B7A85"/>
                </a:solidFill>
                <a:latin typeface="Calibri"/>
              </a:rPr>
              <a:t>target ≥ 90%</a:t>
            </a:r>
          </a:p>
        </p:txBody>
      </p:sp>
      <p:sp>
        <p:nvSpPr>
          <p:cNvPr id="21" name="TextBox 20"/>
          <p:cNvSpPr txBox="1"/>
          <p:nvPr/>
        </p:nvSpPr>
        <p:spPr>
          <a:xfrm>
            <a:off x="9372600" y="3771900"/>
            <a:ext cx="1691640" cy="274320"/>
          </a:xfrm>
          <a:prstGeom prst="rect">
            <a:avLst/>
          </a:prstGeom>
          <a:noFill/>
        </p:spPr>
        <p:txBody>
          <a:bodyPr wrap="square" lIns="0" tIns="0" rIns="0" bIns="0" anchor="t">
            <a:spAutoFit/>
          </a:bodyPr>
          <a:lstStyle/>
          <a:p>
            <a:pPr algn="r">
              <a:lnSpc>
                <a:spcPct val="100000"/>
              </a:lnSpc>
              <a:spcAft>
                <a:spcPts val="0"/>
              </a:spcAft>
            </a:pPr>
            <a:r>
              <a:rPr sz="1150" b="1" i="0">
                <a:solidFill>
                  <a:srgbClr val="2E7D5B"/>
                </a:solidFill>
                <a:latin typeface="Calibri"/>
              </a:rPr>
              <a:t>All 3 sensors fused</a:t>
            </a:r>
          </a:p>
        </p:txBody>
      </p:sp>
      <p:sp>
        <p:nvSpPr>
          <p:cNvPr id="22" name="Rounded Rectangle 21"/>
          <p:cNvSpPr/>
          <p:nvPr/>
        </p:nvSpPr>
        <p:spPr>
          <a:xfrm>
            <a:off x="6400800" y="4261104"/>
            <a:ext cx="4754880" cy="621792"/>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TextBox 22"/>
          <p:cNvSpPr txBox="1"/>
          <p:nvPr/>
        </p:nvSpPr>
        <p:spPr>
          <a:xfrm>
            <a:off x="6583680" y="4343400"/>
            <a:ext cx="2834640" cy="457200"/>
          </a:xfrm>
          <a:prstGeom prst="rect">
            <a:avLst/>
          </a:prstGeom>
          <a:noFill/>
        </p:spPr>
        <p:txBody>
          <a:bodyPr wrap="square" lIns="0" tIns="0" rIns="0" bIns="0" anchor="t">
            <a:spAutoFit/>
          </a:bodyPr>
          <a:lstStyle/>
          <a:p>
            <a:pPr algn="l">
              <a:lnSpc>
                <a:spcPct val="100000"/>
              </a:lnSpc>
              <a:spcAft>
                <a:spcPts val="0"/>
              </a:spcAft>
            </a:pPr>
            <a:r>
              <a:rPr sz="1200" b="1" i="0">
                <a:solidFill>
                  <a:srgbClr val="0B4F6C"/>
                </a:solidFill>
                <a:latin typeface="Calibri"/>
              </a:rPr>
              <a:t>Simultaneous vehicles / segments</a:t>
            </a:r>
          </a:p>
          <a:p>
            <a:pPr algn="l">
              <a:lnSpc>
                <a:spcPct val="100000"/>
              </a:lnSpc>
              <a:spcAft>
                <a:spcPts val="0"/>
              </a:spcAft>
            </a:pPr>
            <a:r>
              <a:rPr sz="950" b="0" i="1">
                <a:solidFill>
                  <a:srgbClr val="6B7A85"/>
                </a:solidFill>
                <a:latin typeface="Calibri"/>
              </a:rPr>
              <a:t>target ≤ 10 / ≤ 5</a:t>
            </a:r>
          </a:p>
        </p:txBody>
      </p:sp>
      <p:sp>
        <p:nvSpPr>
          <p:cNvPr id="24" name="TextBox 23"/>
          <p:cNvSpPr txBox="1"/>
          <p:nvPr/>
        </p:nvSpPr>
        <p:spPr>
          <a:xfrm>
            <a:off x="9372600" y="4443984"/>
            <a:ext cx="1691640" cy="274320"/>
          </a:xfrm>
          <a:prstGeom prst="rect">
            <a:avLst/>
          </a:prstGeom>
          <a:noFill/>
        </p:spPr>
        <p:txBody>
          <a:bodyPr wrap="square" lIns="0" tIns="0" rIns="0" bIns="0" anchor="t">
            <a:spAutoFit/>
          </a:bodyPr>
          <a:lstStyle/>
          <a:p>
            <a:pPr algn="r">
              <a:lnSpc>
                <a:spcPct val="100000"/>
              </a:lnSpc>
              <a:spcAft>
                <a:spcPts val="0"/>
              </a:spcAft>
            </a:pPr>
            <a:r>
              <a:rPr sz="1150" b="1" i="0">
                <a:solidFill>
                  <a:srgbClr val="2E7D5B"/>
                </a:solidFill>
                <a:latin typeface="Calibri"/>
              </a:rPr>
              <a:t>Run routinely</a:t>
            </a:r>
          </a:p>
        </p:txBody>
      </p:sp>
      <p:sp>
        <p:nvSpPr>
          <p:cNvPr id="25" name="Rounded Rectangle 24"/>
          <p:cNvSpPr/>
          <p:nvPr/>
        </p:nvSpPr>
        <p:spPr>
          <a:xfrm>
            <a:off x="6400800" y="4933188"/>
            <a:ext cx="4754880" cy="621792"/>
          </a:xfrm>
          <a:prstGeom prst="roundRect">
            <a:avLst>
              <a:gd name="adj" fmla="val 6000"/>
            </a:avLst>
          </a:prstGeom>
          <a:solidFill>
            <a:srgbClr val="FFFFFF"/>
          </a:solidFill>
          <a:ln w="9525">
            <a:solidFill>
              <a:srgbClr val="D5DD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TextBox 25"/>
          <p:cNvSpPr txBox="1"/>
          <p:nvPr/>
        </p:nvSpPr>
        <p:spPr>
          <a:xfrm>
            <a:off x="6583680" y="5015484"/>
            <a:ext cx="2834640" cy="457200"/>
          </a:xfrm>
          <a:prstGeom prst="rect">
            <a:avLst/>
          </a:prstGeom>
          <a:noFill/>
        </p:spPr>
        <p:txBody>
          <a:bodyPr wrap="square" lIns="0" tIns="0" rIns="0" bIns="0" anchor="t">
            <a:spAutoFit/>
          </a:bodyPr>
          <a:lstStyle/>
          <a:p>
            <a:pPr algn="l">
              <a:lnSpc>
                <a:spcPct val="100000"/>
              </a:lnSpc>
              <a:spcAft>
                <a:spcPts val="0"/>
              </a:spcAft>
            </a:pPr>
            <a:r>
              <a:rPr sz="1200" b="1" i="0">
                <a:solidFill>
                  <a:srgbClr val="0B4F6C"/>
                </a:solidFill>
                <a:latin typeface="Calibri"/>
              </a:rPr>
              <a:t>End-to-end latency</a:t>
            </a:r>
          </a:p>
          <a:p>
            <a:pPr algn="l">
              <a:lnSpc>
                <a:spcPct val="100000"/>
              </a:lnSpc>
              <a:spcAft>
                <a:spcPts val="0"/>
              </a:spcAft>
            </a:pPr>
            <a:r>
              <a:rPr sz="950" b="0" i="1">
                <a:solidFill>
                  <a:srgbClr val="6B7A85"/>
                </a:solidFill>
                <a:latin typeface="Calibri"/>
              </a:rPr>
              <a:t>target ≤ 60 s</a:t>
            </a:r>
          </a:p>
        </p:txBody>
      </p:sp>
      <p:sp>
        <p:nvSpPr>
          <p:cNvPr id="27" name="TextBox 26"/>
          <p:cNvSpPr txBox="1"/>
          <p:nvPr/>
        </p:nvSpPr>
        <p:spPr>
          <a:xfrm>
            <a:off x="9372600" y="5116068"/>
            <a:ext cx="1691640" cy="274320"/>
          </a:xfrm>
          <a:prstGeom prst="rect">
            <a:avLst/>
          </a:prstGeom>
          <a:noFill/>
        </p:spPr>
        <p:txBody>
          <a:bodyPr wrap="square" lIns="0" tIns="0" rIns="0" bIns="0" anchor="t">
            <a:spAutoFit/>
          </a:bodyPr>
          <a:lstStyle/>
          <a:p>
            <a:pPr algn="r">
              <a:lnSpc>
                <a:spcPct val="100000"/>
              </a:lnSpc>
              <a:spcAft>
                <a:spcPts val="0"/>
              </a:spcAft>
            </a:pPr>
            <a:r>
              <a:rPr sz="1150" b="1" i="0">
                <a:solidFill>
                  <a:srgbClr val="C97B2C"/>
                </a:solidFill>
                <a:latin typeface="Calibri"/>
              </a:rPr>
              <a:t>Profiling pending</a:t>
            </a:r>
          </a:p>
        </p:txBody>
      </p:sp>
      <p:sp>
        <p:nvSpPr>
          <p:cNvPr id="28" name="TextBox 27"/>
          <p:cNvSpPr txBox="1"/>
          <p:nvPr/>
        </p:nvSpPr>
        <p:spPr>
          <a:xfrm>
            <a:off x="6400800" y="5632704"/>
            <a:ext cx="4754880" cy="138499"/>
          </a:xfrm>
          <a:prstGeom prst="rect">
            <a:avLst/>
          </a:prstGeom>
          <a:noFill/>
        </p:spPr>
        <p:txBody>
          <a:bodyPr wrap="square" lIns="0" tIns="0" rIns="0" bIns="0" anchor="t">
            <a:spAutoFit/>
          </a:bodyPr>
          <a:lstStyle/>
          <a:p>
            <a:pPr>
              <a:spcAft>
                <a:spcPts val="400"/>
              </a:spcAft>
            </a:pPr>
            <a:r>
              <a:rPr lang="en-US" sz="900" i="1" dirty="0">
                <a:solidFill>
                  <a:srgbClr val="6B7277"/>
                </a:solidFill>
              </a:rPr>
              <a:t>Five targets met; only real-time latency (Partial) remains to be profiled.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1.jpg"/>
          <p:cNvPicPr>
            <a:picLocks noChangeAspect="1"/>
          </p:cNvPicPr>
          <p:nvPr/>
        </p:nvPicPr>
        <p:blipFill>
          <a:blip r:embed="rId3"/>
          <a:stretch>
            <a:fillRect/>
          </a:stretch>
        </p:blipFill>
        <p:spPr>
          <a:xfrm>
            <a:off x="292608" y="274320"/>
            <a:ext cx="2490940" cy="566928"/>
          </a:xfrm>
          <a:prstGeom prst="rect">
            <a:avLst/>
          </a:prstGeom>
        </p:spPr>
      </p:pic>
      <p:pic>
        <p:nvPicPr>
          <p:cNvPr id="3" name="Picture 2" descr="image2.png"/>
          <p:cNvPicPr>
            <a:picLocks noChangeAspect="1"/>
          </p:cNvPicPr>
          <p:nvPr/>
        </p:nvPicPr>
        <p:blipFill>
          <a:blip r:embed="rId4"/>
          <a:stretch>
            <a:fillRect/>
          </a:stretch>
        </p:blipFill>
        <p:spPr>
          <a:xfrm>
            <a:off x="11292840" y="219456"/>
            <a:ext cx="635887" cy="658368"/>
          </a:xfrm>
          <a:prstGeom prst="rect">
            <a:avLst/>
          </a:prstGeom>
        </p:spPr>
      </p:pic>
      <p:sp>
        <p:nvSpPr>
          <p:cNvPr id="4" name="TextBox 3"/>
          <p:cNvSpPr txBox="1"/>
          <p:nvPr/>
        </p:nvSpPr>
        <p:spPr>
          <a:xfrm>
            <a:off x="1737360" y="301752"/>
            <a:ext cx="8686800" cy="566928"/>
          </a:xfrm>
          <a:prstGeom prst="rect">
            <a:avLst/>
          </a:prstGeom>
          <a:noFill/>
        </p:spPr>
        <p:txBody>
          <a:bodyPr wrap="square" lIns="0" tIns="0" rIns="0" bIns="0" anchor="t">
            <a:spAutoFit/>
          </a:bodyPr>
          <a:lstStyle/>
          <a:p>
            <a:pPr algn="ctr">
              <a:lnSpc>
                <a:spcPct val="100000"/>
              </a:lnSpc>
              <a:spcAft>
                <a:spcPts val="0"/>
              </a:spcAft>
            </a:pPr>
            <a:r>
              <a:rPr sz="2500" b="1" i="0">
                <a:solidFill>
                  <a:srgbClr val="0B4F6C"/>
                </a:solidFill>
                <a:latin typeface="Cambria"/>
              </a:rPr>
              <a:t>System Architecture</a:t>
            </a:r>
          </a:p>
        </p:txBody>
      </p:sp>
      <p:sp>
        <p:nvSpPr>
          <p:cNvPr id="5" name="TextBox 4"/>
          <p:cNvSpPr txBox="1"/>
          <p:nvPr/>
        </p:nvSpPr>
        <p:spPr>
          <a:xfrm>
            <a:off x="320040" y="6455664"/>
            <a:ext cx="5486400" cy="274320"/>
          </a:xfrm>
          <a:prstGeom prst="rect">
            <a:avLst/>
          </a:prstGeom>
          <a:noFill/>
        </p:spPr>
        <p:txBody>
          <a:bodyPr wrap="square" lIns="0" tIns="0" rIns="0" bIns="0" anchor="t">
            <a:spAutoFit/>
          </a:bodyPr>
          <a:lstStyle/>
          <a:p>
            <a:pPr algn="l">
              <a:lnSpc>
                <a:spcPct val="100000"/>
              </a:lnSpc>
              <a:spcAft>
                <a:spcPts val="0"/>
              </a:spcAft>
            </a:pPr>
            <a:r>
              <a:rPr sz="900" b="0" i="1">
                <a:solidFill>
                  <a:srgbClr val="6B7A85"/>
                </a:solidFill>
                <a:latin typeface="Calibri"/>
              </a:rPr>
              <a:t>Optical Fibers for Smart Cities · SimStudio</a:t>
            </a:r>
          </a:p>
        </p:txBody>
      </p:sp>
      <p:sp>
        <p:nvSpPr>
          <p:cNvPr id="6" name="TextBox 5"/>
          <p:cNvSpPr txBox="1"/>
          <p:nvPr/>
        </p:nvSpPr>
        <p:spPr>
          <a:xfrm>
            <a:off x="11338560" y="6455664"/>
            <a:ext cx="640080" cy="274320"/>
          </a:xfrm>
          <a:prstGeom prst="rect">
            <a:avLst/>
          </a:prstGeom>
          <a:noFill/>
        </p:spPr>
        <p:txBody>
          <a:bodyPr wrap="square" lIns="0" tIns="0" rIns="0" bIns="0" anchor="t">
            <a:spAutoFit/>
          </a:bodyPr>
          <a:lstStyle/>
          <a:p>
            <a:pPr algn="r">
              <a:lnSpc>
                <a:spcPct val="100000"/>
              </a:lnSpc>
              <a:spcAft>
                <a:spcPts val="0"/>
              </a:spcAft>
            </a:pPr>
            <a:r>
              <a:rPr sz="1000" b="0" i="0">
                <a:solidFill>
                  <a:srgbClr val="6B7A85"/>
                </a:solidFill>
                <a:latin typeface="Calibri"/>
              </a:rPr>
              <a:t>5</a:t>
            </a:r>
          </a:p>
        </p:txBody>
      </p:sp>
      <p:sp>
        <p:nvSpPr>
          <p:cNvPr id="7" name="Rounded Rectangle 6"/>
          <p:cNvSpPr/>
          <p:nvPr/>
        </p:nvSpPr>
        <p:spPr>
          <a:xfrm>
            <a:off x="640080" y="1207008"/>
            <a:ext cx="1399032" cy="457200"/>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r>
              <a:rPr sz="1200" b="1">
                <a:solidFill>
                  <a:srgbClr val="FFFFFF"/>
                </a:solidFill>
                <a:latin typeface="Calibri"/>
              </a:rPr>
              <a:t>Simulate</a:t>
            </a:r>
          </a:p>
        </p:txBody>
      </p:sp>
      <p:sp>
        <p:nvSpPr>
          <p:cNvPr id="8" name="TextBox 7"/>
          <p:cNvSpPr txBox="1"/>
          <p:nvPr/>
        </p:nvSpPr>
        <p:spPr>
          <a:xfrm>
            <a:off x="2057400" y="1243584"/>
            <a:ext cx="219456" cy="365760"/>
          </a:xfrm>
          <a:prstGeom prst="rect">
            <a:avLst/>
          </a:prstGeom>
          <a:noFill/>
        </p:spPr>
        <p:txBody>
          <a:bodyPr wrap="square" lIns="0" tIns="0" rIns="0" bIns="0" anchor="t">
            <a:spAutoFit/>
          </a:bodyPr>
          <a:lstStyle/>
          <a:p>
            <a:pPr algn="ctr">
              <a:lnSpc>
                <a:spcPct val="100000"/>
              </a:lnSpc>
              <a:spcAft>
                <a:spcPts val="0"/>
              </a:spcAft>
            </a:pPr>
            <a:r>
              <a:rPr sz="1600" b="1" i="0">
                <a:solidFill>
                  <a:srgbClr val="3A6E8F"/>
                </a:solidFill>
                <a:latin typeface="Calibri"/>
              </a:rPr>
              <a:t>›</a:t>
            </a:r>
          </a:p>
        </p:txBody>
      </p:sp>
      <p:sp>
        <p:nvSpPr>
          <p:cNvPr id="9" name="Rounded Rectangle 8"/>
          <p:cNvSpPr/>
          <p:nvPr/>
        </p:nvSpPr>
        <p:spPr>
          <a:xfrm>
            <a:off x="2212848" y="1207008"/>
            <a:ext cx="1399032" cy="457200"/>
          </a:xfrm>
          <a:prstGeom prst="roundRect">
            <a:avLst>
              <a:gd name="adj" fmla="val 6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r>
              <a:rPr sz="1200" b="1">
                <a:solidFill>
                  <a:srgbClr val="FFFFFF"/>
                </a:solidFill>
                <a:latin typeface="Calibri"/>
              </a:rPr>
              <a:t>Sense</a:t>
            </a:r>
          </a:p>
        </p:txBody>
      </p:sp>
      <p:sp>
        <p:nvSpPr>
          <p:cNvPr id="10" name="TextBox 9"/>
          <p:cNvSpPr txBox="1"/>
          <p:nvPr/>
        </p:nvSpPr>
        <p:spPr>
          <a:xfrm>
            <a:off x="3630168" y="1243584"/>
            <a:ext cx="219456" cy="365760"/>
          </a:xfrm>
          <a:prstGeom prst="rect">
            <a:avLst/>
          </a:prstGeom>
          <a:noFill/>
        </p:spPr>
        <p:txBody>
          <a:bodyPr wrap="square" lIns="0" tIns="0" rIns="0" bIns="0" anchor="t">
            <a:spAutoFit/>
          </a:bodyPr>
          <a:lstStyle/>
          <a:p>
            <a:pPr algn="ctr">
              <a:lnSpc>
                <a:spcPct val="100000"/>
              </a:lnSpc>
              <a:spcAft>
                <a:spcPts val="0"/>
              </a:spcAft>
            </a:pPr>
            <a:r>
              <a:rPr sz="1600" b="1" i="0">
                <a:solidFill>
                  <a:srgbClr val="3A6E8F"/>
                </a:solidFill>
                <a:latin typeface="Calibri"/>
              </a:rPr>
              <a:t>›</a:t>
            </a:r>
          </a:p>
        </p:txBody>
      </p:sp>
      <p:sp>
        <p:nvSpPr>
          <p:cNvPr id="11" name="Rounded Rectangle 10"/>
          <p:cNvSpPr/>
          <p:nvPr/>
        </p:nvSpPr>
        <p:spPr>
          <a:xfrm>
            <a:off x="3785615" y="1207008"/>
            <a:ext cx="1399032" cy="457200"/>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r>
              <a:rPr sz="1200" b="1">
                <a:solidFill>
                  <a:srgbClr val="FFFFFF"/>
                </a:solidFill>
                <a:latin typeface="Calibri"/>
              </a:rPr>
              <a:t>Publish</a:t>
            </a:r>
          </a:p>
        </p:txBody>
      </p:sp>
      <p:sp>
        <p:nvSpPr>
          <p:cNvPr id="12" name="TextBox 11"/>
          <p:cNvSpPr txBox="1"/>
          <p:nvPr/>
        </p:nvSpPr>
        <p:spPr>
          <a:xfrm>
            <a:off x="5202936" y="1243584"/>
            <a:ext cx="219456" cy="365760"/>
          </a:xfrm>
          <a:prstGeom prst="rect">
            <a:avLst/>
          </a:prstGeom>
          <a:noFill/>
        </p:spPr>
        <p:txBody>
          <a:bodyPr wrap="square" lIns="0" tIns="0" rIns="0" bIns="0" anchor="t">
            <a:spAutoFit/>
          </a:bodyPr>
          <a:lstStyle/>
          <a:p>
            <a:pPr algn="ctr">
              <a:lnSpc>
                <a:spcPct val="100000"/>
              </a:lnSpc>
              <a:spcAft>
                <a:spcPts val="0"/>
              </a:spcAft>
            </a:pPr>
            <a:r>
              <a:rPr sz="1600" b="1" i="0">
                <a:solidFill>
                  <a:srgbClr val="3A6E8F"/>
                </a:solidFill>
                <a:latin typeface="Calibri"/>
              </a:rPr>
              <a:t>›</a:t>
            </a:r>
          </a:p>
        </p:txBody>
      </p:sp>
      <p:sp>
        <p:nvSpPr>
          <p:cNvPr id="13" name="Rounded Rectangle 12"/>
          <p:cNvSpPr/>
          <p:nvPr/>
        </p:nvSpPr>
        <p:spPr>
          <a:xfrm>
            <a:off x="5358383" y="1207008"/>
            <a:ext cx="1399032" cy="457200"/>
          </a:xfrm>
          <a:prstGeom prst="roundRect">
            <a:avLst>
              <a:gd name="adj" fmla="val 6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r>
              <a:rPr sz="1200" b="1">
                <a:solidFill>
                  <a:srgbClr val="FFFFFF"/>
                </a:solidFill>
                <a:latin typeface="Calibri"/>
              </a:rPr>
              <a:t>Track</a:t>
            </a:r>
          </a:p>
        </p:txBody>
      </p:sp>
      <p:sp>
        <p:nvSpPr>
          <p:cNvPr id="14" name="TextBox 13"/>
          <p:cNvSpPr txBox="1"/>
          <p:nvPr/>
        </p:nvSpPr>
        <p:spPr>
          <a:xfrm>
            <a:off x="6775703" y="1243584"/>
            <a:ext cx="219456" cy="365760"/>
          </a:xfrm>
          <a:prstGeom prst="rect">
            <a:avLst/>
          </a:prstGeom>
          <a:noFill/>
        </p:spPr>
        <p:txBody>
          <a:bodyPr wrap="square" lIns="0" tIns="0" rIns="0" bIns="0" anchor="t">
            <a:spAutoFit/>
          </a:bodyPr>
          <a:lstStyle/>
          <a:p>
            <a:pPr algn="ctr">
              <a:lnSpc>
                <a:spcPct val="100000"/>
              </a:lnSpc>
              <a:spcAft>
                <a:spcPts val="0"/>
              </a:spcAft>
            </a:pPr>
            <a:r>
              <a:rPr sz="1600" b="1" i="0">
                <a:solidFill>
                  <a:srgbClr val="3A6E8F"/>
                </a:solidFill>
                <a:latin typeface="Calibri"/>
              </a:rPr>
              <a:t>›</a:t>
            </a:r>
          </a:p>
        </p:txBody>
      </p:sp>
      <p:sp>
        <p:nvSpPr>
          <p:cNvPr id="15" name="Rounded Rectangle 14"/>
          <p:cNvSpPr/>
          <p:nvPr/>
        </p:nvSpPr>
        <p:spPr>
          <a:xfrm>
            <a:off x="6931151" y="1207008"/>
            <a:ext cx="1399032" cy="457200"/>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r>
              <a:rPr sz="1200" b="1">
                <a:solidFill>
                  <a:srgbClr val="FFFFFF"/>
                </a:solidFill>
                <a:latin typeface="Calibri"/>
              </a:rPr>
              <a:t>Fuse</a:t>
            </a:r>
          </a:p>
        </p:txBody>
      </p:sp>
      <p:sp>
        <p:nvSpPr>
          <p:cNvPr id="16" name="TextBox 15"/>
          <p:cNvSpPr txBox="1"/>
          <p:nvPr/>
        </p:nvSpPr>
        <p:spPr>
          <a:xfrm>
            <a:off x="8348471" y="1243584"/>
            <a:ext cx="219456" cy="365760"/>
          </a:xfrm>
          <a:prstGeom prst="rect">
            <a:avLst/>
          </a:prstGeom>
          <a:noFill/>
        </p:spPr>
        <p:txBody>
          <a:bodyPr wrap="square" lIns="0" tIns="0" rIns="0" bIns="0" anchor="t">
            <a:spAutoFit/>
          </a:bodyPr>
          <a:lstStyle/>
          <a:p>
            <a:pPr algn="ctr">
              <a:lnSpc>
                <a:spcPct val="100000"/>
              </a:lnSpc>
              <a:spcAft>
                <a:spcPts val="0"/>
              </a:spcAft>
            </a:pPr>
            <a:r>
              <a:rPr sz="1600" b="1" i="0">
                <a:solidFill>
                  <a:srgbClr val="3A6E8F"/>
                </a:solidFill>
                <a:latin typeface="Calibri"/>
              </a:rPr>
              <a:t>›</a:t>
            </a:r>
          </a:p>
        </p:txBody>
      </p:sp>
      <p:sp>
        <p:nvSpPr>
          <p:cNvPr id="17" name="Rounded Rectangle 16"/>
          <p:cNvSpPr/>
          <p:nvPr/>
        </p:nvSpPr>
        <p:spPr>
          <a:xfrm>
            <a:off x="8503919" y="1207008"/>
            <a:ext cx="1399032" cy="457200"/>
          </a:xfrm>
          <a:prstGeom prst="roundRect">
            <a:avLst>
              <a:gd name="adj" fmla="val 6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r>
              <a:rPr sz="1200" b="1">
                <a:solidFill>
                  <a:srgbClr val="FFFFFF"/>
                </a:solidFill>
                <a:latin typeface="Calibri"/>
              </a:rPr>
              <a:t>Export</a:t>
            </a:r>
          </a:p>
        </p:txBody>
      </p:sp>
      <p:sp>
        <p:nvSpPr>
          <p:cNvPr id="18" name="TextBox 17"/>
          <p:cNvSpPr txBox="1"/>
          <p:nvPr/>
        </p:nvSpPr>
        <p:spPr>
          <a:xfrm>
            <a:off x="9921240" y="1243584"/>
            <a:ext cx="219456" cy="365760"/>
          </a:xfrm>
          <a:prstGeom prst="rect">
            <a:avLst/>
          </a:prstGeom>
          <a:noFill/>
        </p:spPr>
        <p:txBody>
          <a:bodyPr wrap="square" lIns="0" tIns="0" rIns="0" bIns="0" anchor="t">
            <a:spAutoFit/>
          </a:bodyPr>
          <a:lstStyle/>
          <a:p>
            <a:pPr algn="ctr">
              <a:lnSpc>
                <a:spcPct val="100000"/>
              </a:lnSpc>
              <a:spcAft>
                <a:spcPts val="0"/>
              </a:spcAft>
            </a:pPr>
            <a:r>
              <a:rPr sz="1600" b="1" i="0">
                <a:solidFill>
                  <a:srgbClr val="3A6E8F"/>
                </a:solidFill>
                <a:latin typeface="Calibri"/>
              </a:rPr>
              <a:t>›</a:t>
            </a:r>
          </a:p>
        </p:txBody>
      </p:sp>
      <p:sp>
        <p:nvSpPr>
          <p:cNvPr id="19" name="Rounded Rectangle 18"/>
          <p:cNvSpPr/>
          <p:nvPr/>
        </p:nvSpPr>
        <p:spPr>
          <a:xfrm>
            <a:off x="10076688" y="1207008"/>
            <a:ext cx="1399032" cy="457200"/>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r>
              <a:rPr sz="1200" b="1">
                <a:solidFill>
                  <a:srgbClr val="FFFFFF"/>
                </a:solidFill>
                <a:latin typeface="Calibri"/>
              </a:rPr>
              <a:t>Analyze</a:t>
            </a:r>
          </a:p>
        </p:txBody>
      </p:sp>
      <p:sp>
        <p:nvSpPr>
          <p:cNvPr id="20" name="TextBox 19"/>
          <p:cNvSpPr txBox="1"/>
          <p:nvPr/>
        </p:nvSpPr>
        <p:spPr>
          <a:xfrm>
            <a:off x="640080" y="2148840"/>
            <a:ext cx="4160520" cy="2229265"/>
          </a:xfrm>
          <a:prstGeom prst="rect">
            <a:avLst/>
          </a:prstGeom>
          <a:noFill/>
        </p:spPr>
        <p:txBody>
          <a:bodyPr wrap="square" lIns="0" tIns="0" rIns="0" bIns="0" anchor="t">
            <a:spAutoFit/>
          </a:bodyPr>
          <a:lstStyle/>
          <a:p>
            <a:pPr marL="285750" indent="-285750">
              <a:lnSpc>
                <a:spcPct val="106000"/>
              </a:lnSpc>
              <a:spcAft>
                <a:spcPts val="900"/>
              </a:spcAft>
              <a:buFont typeface="Courier New" panose="02070309020205020404" pitchFamily="49" charset="0"/>
              <a:buChar char="o"/>
            </a:pPr>
            <a:r>
              <a:rPr lang="en-US" sz="1200" dirty="0">
                <a:solidFill>
                  <a:srgbClr val="33373B"/>
                </a:solidFill>
              </a:rPr>
              <a:t>Implemented entirely in Python. every stage consumes only upstream outputs.</a:t>
            </a:r>
          </a:p>
          <a:p>
            <a:pPr marL="285750" indent="-285750">
              <a:lnSpc>
                <a:spcPct val="106000"/>
              </a:lnSpc>
              <a:spcAft>
                <a:spcPts val="900"/>
              </a:spcAft>
              <a:buFont typeface="Courier New" panose="02070309020205020404" pitchFamily="49" charset="0"/>
              <a:buChar char="o"/>
            </a:pPr>
            <a:r>
              <a:rPr lang="en-US" sz="1200" dirty="0">
                <a:solidFill>
                  <a:srgbClr val="33373B"/>
                </a:solidFill>
              </a:rPr>
              <a:t>The anomaly model never imports the simulator so it cannot benefit from information a real deployment would not have.</a:t>
            </a:r>
          </a:p>
          <a:p>
            <a:pPr marL="285750" indent="-285750">
              <a:lnSpc>
                <a:spcPct val="106000"/>
              </a:lnSpc>
              <a:spcAft>
                <a:spcPts val="900"/>
              </a:spcAft>
              <a:buFont typeface="Courier New" panose="02070309020205020404" pitchFamily="49" charset="0"/>
              <a:buChar char="o"/>
            </a:pPr>
            <a:r>
              <a:rPr lang="en-US" sz="1200" dirty="0">
                <a:solidFill>
                  <a:srgbClr val="33373B"/>
                </a:solidFill>
              </a:rPr>
              <a:t>Acyclic dependencies: every component is independently testable (</a:t>
            </a:r>
            <a:r>
              <a:rPr lang="en-US" sz="1200" dirty="0" err="1">
                <a:solidFill>
                  <a:srgbClr val="33373B"/>
                </a:solidFill>
              </a:rPr>
              <a:t>pytest</a:t>
            </a:r>
            <a:r>
              <a:rPr lang="en-US" sz="1200" dirty="0">
                <a:solidFill>
                  <a:srgbClr val="33373B"/>
                </a:solidFill>
              </a:rPr>
              <a:t> suite guards each boundary).</a:t>
            </a:r>
          </a:p>
          <a:p>
            <a:pPr marL="285750" indent="-285750">
              <a:lnSpc>
                <a:spcPct val="106000"/>
              </a:lnSpc>
              <a:spcAft>
                <a:spcPts val="900"/>
              </a:spcAft>
              <a:buFont typeface="Courier New" panose="02070309020205020404" pitchFamily="49" charset="0"/>
              <a:buChar char="o"/>
            </a:pPr>
            <a:r>
              <a:rPr lang="en-US" sz="1200" dirty="0">
                <a:solidFill>
                  <a:srgbClr val="33373B"/>
                </a:solidFill>
              </a:rPr>
              <a:t>25 Hz simulation engine with a </a:t>
            </a:r>
            <a:r>
              <a:rPr lang="en-US" sz="1200" dirty="0" err="1">
                <a:solidFill>
                  <a:srgbClr val="33373B"/>
                </a:solidFill>
              </a:rPr>
              <a:t>Tkinter</a:t>
            </a:r>
            <a:r>
              <a:rPr lang="en-US" sz="1200" dirty="0">
                <a:solidFill>
                  <a:srgbClr val="33373B"/>
                </a:solidFill>
              </a:rPr>
              <a:t> desktop editor for interactive scene authoring.</a:t>
            </a:r>
          </a:p>
          <a:p>
            <a:pPr>
              <a:lnSpc>
                <a:spcPct val="105000"/>
              </a:lnSpc>
              <a:spcAft>
                <a:spcPts val="1300"/>
              </a:spcAft>
            </a:pPr>
            <a:endParaRPr sz="1300" b="0" dirty="0">
              <a:solidFill>
                <a:srgbClr val="33424D"/>
              </a:solidFill>
              <a:latin typeface="Calibri"/>
            </a:endParaRPr>
          </a:p>
        </p:txBody>
      </p:sp>
      <p:sp>
        <p:nvSpPr>
          <p:cNvPr id="21" name="Rounded Rectangle 20"/>
          <p:cNvSpPr/>
          <p:nvPr/>
        </p:nvSpPr>
        <p:spPr>
          <a:xfrm>
            <a:off x="5257800" y="2084831"/>
            <a:ext cx="5943600" cy="356616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pic>
        <p:nvPicPr>
          <p:cNvPr id="22" name="Picture 21" descr="image4.png"/>
          <p:cNvPicPr>
            <a:picLocks noChangeAspect="1"/>
          </p:cNvPicPr>
          <p:nvPr/>
        </p:nvPicPr>
        <p:blipFill>
          <a:blip r:embed="rId5"/>
          <a:stretch>
            <a:fillRect/>
          </a:stretch>
        </p:blipFill>
        <p:spPr>
          <a:xfrm>
            <a:off x="5440680" y="2300386"/>
            <a:ext cx="5577840" cy="2755937"/>
          </a:xfrm>
          <a:prstGeom prst="rect">
            <a:avLst/>
          </a:prstGeom>
        </p:spPr>
      </p:pic>
      <p:sp>
        <p:nvSpPr>
          <p:cNvPr id="23" name="TextBox 22"/>
          <p:cNvSpPr txBox="1"/>
          <p:nvPr/>
        </p:nvSpPr>
        <p:spPr>
          <a:xfrm>
            <a:off x="5440680" y="5138928"/>
            <a:ext cx="5577840" cy="411480"/>
          </a:xfrm>
          <a:prstGeom prst="rect">
            <a:avLst/>
          </a:prstGeom>
          <a:noFill/>
        </p:spPr>
        <p:txBody>
          <a:bodyPr wrap="square" lIns="0" tIns="0" rIns="0" bIns="0" anchor="t">
            <a:spAutoFit/>
          </a:bodyPr>
          <a:lstStyle/>
          <a:p>
            <a:pPr algn="ctr">
              <a:lnSpc>
                <a:spcPct val="115000"/>
              </a:lnSpc>
              <a:spcAft>
                <a:spcPts val="0"/>
              </a:spcAft>
            </a:pPr>
            <a:r>
              <a:rPr sz="1000" b="0" i="0">
                <a:solidFill>
                  <a:srgbClr val="6B7A85"/>
                </a:solidFill>
                <a:latin typeface="Calibri"/>
              </a:rPr>
              <a:t>End-to-end information flow: generation → sensing → publication → tracking → fusion → export → detection.  [Report Fig. 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1.jpg"/>
          <p:cNvPicPr>
            <a:picLocks noChangeAspect="1"/>
          </p:cNvPicPr>
          <p:nvPr/>
        </p:nvPicPr>
        <p:blipFill>
          <a:blip r:embed="rId3"/>
          <a:stretch>
            <a:fillRect/>
          </a:stretch>
        </p:blipFill>
        <p:spPr>
          <a:xfrm>
            <a:off x="292608" y="274320"/>
            <a:ext cx="2490940" cy="566928"/>
          </a:xfrm>
          <a:prstGeom prst="rect">
            <a:avLst/>
          </a:prstGeom>
        </p:spPr>
      </p:pic>
      <p:pic>
        <p:nvPicPr>
          <p:cNvPr id="3" name="Picture 2" descr="image2.png"/>
          <p:cNvPicPr>
            <a:picLocks noChangeAspect="1"/>
          </p:cNvPicPr>
          <p:nvPr/>
        </p:nvPicPr>
        <p:blipFill>
          <a:blip r:embed="rId4"/>
          <a:stretch>
            <a:fillRect/>
          </a:stretch>
        </p:blipFill>
        <p:spPr>
          <a:xfrm>
            <a:off x="11292840" y="219456"/>
            <a:ext cx="635887" cy="658368"/>
          </a:xfrm>
          <a:prstGeom prst="rect">
            <a:avLst/>
          </a:prstGeom>
        </p:spPr>
      </p:pic>
      <p:sp>
        <p:nvSpPr>
          <p:cNvPr id="4" name="TextBox 3"/>
          <p:cNvSpPr txBox="1"/>
          <p:nvPr/>
        </p:nvSpPr>
        <p:spPr>
          <a:xfrm>
            <a:off x="1737360" y="301752"/>
            <a:ext cx="8686800" cy="384721"/>
          </a:xfrm>
          <a:prstGeom prst="rect">
            <a:avLst/>
          </a:prstGeom>
          <a:noFill/>
        </p:spPr>
        <p:txBody>
          <a:bodyPr wrap="square" lIns="0" tIns="0" rIns="0" bIns="0" anchor="t">
            <a:spAutoFit/>
          </a:bodyPr>
          <a:lstStyle/>
          <a:p>
            <a:pPr algn="ctr">
              <a:lnSpc>
                <a:spcPct val="100000"/>
              </a:lnSpc>
              <a:spcAft>
                <a:spcPts val="0"/>
              </a:spcAft>
            </a:pPr>
            <a:r>
              <a:rPr sz="2500" b="1" i="0" dirty="0">
                <a:solidFill>
                  <a:srgbClr val="0B4F6C"/>
                </a:solidFill>
                <a:latin typeface="Cambria"/>
              </a:rPr>
              <a:t>Methods</a:t>
            </a:r>
            <a:r>
              <a:rPr lang="en-US" sz="2500" b="1" dirty="0">
                <a:solidFill>
                  <a:srgbClr val="0B4F6C"/>
                </a:solidFill>
                <a:latin typeface="Cambria"/>
              </a:rPr>
              <a:t>:</a:t>
            </a:r>
            <a:r>
              <a:rPr sz="2500" b="1" i="0" dirty="0">
                <a:solidFill>
                  <a:srgbClr val="0B4F6C"/>
                </a:solidFill>
                <a:latin typeface="Cambria"/>
              </a:rPr>
              <a:t> Sensor Models &amp; Kalman Fusion</a:t>
            </a:r>
          </a:p>
        </p:txBody>
      </p:sp>
      <p:sp>
        <p:nvSpPr>
          <p:cNvPr id="5" name="TextBox 4"/>
          <p:cNvSpPr txBox="1"/>
          <p:nvPr/>
        </p:nvSpPr>
        <p:spPr>
          <a:xfrm>
            <a:off x="320040" y="6455664"/>
            <a:ext cx="5486400" cy="274320"/>
          </a:xfrm>
          <a:prstGeom prst="rect">
            <a:avLst/>
          </a:prstGeom>
          <a:noFill/>
        </p:spPr>
        <p:txBody>
          <a:bodyPr wrap="square" lIns="0" tIns="0" rIns="0" bIns="0" anchor="t">
            <a:spAutoFit/>
          </a:bodyPr>
          <a:lstStyle/>
          <a:p>
            <a:pPr algn="l">
              <a:lnSpc>
                <a:spcPct val="100000"/>
              </a:lnSpc>
              <a:spcAft>
                <a:spcPts val="0"/>
              </a:spcAft>
            </a:pPr>
            <a:r>
              <a:rPr sz="900" b="0" i="1">
                <a:solidFill>
                  <a:srgbClr val="6B7A85"/>
                </a:solidFill>
                <a:latin typeface="Calibri"/>
              </a:rPr>
              <a:t>Optical Fibers for Smart Cities · SimStudio</a:t>
            </a:r>
          </a:p>
        </p:txBody>
      </p:sp>
      <p:sp>
        <p:nvSpPr>
          <p:cNvPr id="6" name="TextBox 5"/>
          <p:cNvSpPr txBox="1"/>
          <p:nvPr/>
        </p:nvSpPr>
        <p:spPr>
          <a:xfrm>
            <a:off x="11338560" y="6455664"/>
            <a:ext cx="640080" cy="274320"/>
          </a:xfrm>
          <a:prstGeom prst="rect">
            <a:avLst/>
          </a:prstGeom>
          <a:noFill/>
        </p:spPr>
        <p:txBody>
          <a:bodyPr wrap="square" lIns="0" tIns="0" rIns="0" bIns="0" anchor="t">
            <a:spAutoFit/>
          </a:bodyPr>
          <a:lstStyle/>
          <a:p>
            <a:pPr algn="r">
              <a:lnSpc>
                <a:spcPct val="100000"/>
              </a:lnSpc>
              <a:spcAft>
                <a:spcPts val="0"/>
              </a:spcAft>
            </a:pPr>
            <a:r>
              <a:rPr sz="1000" b="0" i="0">
                <a:solidFill>
                  <a:srgbClr val="6B7A85"/>
                </a:solidFill>
                <a:latin typeface="Calibri"/>
              </a:rPr>
              <a:t>6</a:t>
            </a:r>
          </a:p>
        </p:txBody>
      </p:sp>
      <p:sp>
        <p:nvSpPr>
          <p:cNvPr id="7" name="Rounded Rectangle 6"/>
          <p:cNvSpPr/>
          <p:nvPr/>
        </p:nvSpPr>
        <p:spPr>
          <a:xfrm>
            <a:off x="640080" y="1207008"/>
            <a:ext cx="3429000" cy="1783080"/>
          </a:xfrm>
          <a:prstGeom prst="roundRect">
            <a:avLst>
              <a:gd name="adj" fmla="val 6000"/>
            </a:avLst>
          </a:prstGeom>
          <a:solidFill>
            <a:srgbClr val="FFFFFF"/>
          </a:solidFill>
          <a:ln w="9525">
            <a:solidFill>
              <a:srgbClr val="D5DD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Rounded Rectangle 7"/>
          <p:cNvSpPr/>
          <p:nvPr/>
        </p:nvSpPr>
        <p:spPr>
          <a:xfrm>
            <a:off x="640080" y="1207008"/>
            <a:ext cx="3429000" cy="384048"/>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square" lIns="146304" rtlCol="0" anchor="ctr"/>
          <a:lstStyle/>
          <a:p>
            <a:pPr algn="ctr"/>
            <a:r>
              <a:rPr sz="1400" b="1">
                <a:solidFill>
                  <a:srgbClr val="FFFFFF"/>
                </a:solidFill>
                <a:latin typeface="Cambria"/>
              </a:rPr>
              <a:t>DAS  ·  primary</a:t>
            </a:r>
          </a:p>
        </p:txBody>
      </p:sp>
      <mc:AlternateContent xmlns:mc="http://schemas.openxmlformats.org/markup-compatibility/2006">
        <mc:Choice xmlns:a14="http://schemas.microsoft.com/office/drawing/2010/main" Requires="a14">
          <p:sp>
            <p:nvSpPr>
              <p:cNvPr id="9" name="TextBox 8"/>
              <p:cNvSpPr txBox="1"/>
              <p:nvPr/>
            </p:nvSpPr>
            <p:spPr>
              <a:xfrm>
                <a:off x="804671" y="1737360"/>
                <a:ext cx="3108960" cy="827406"/>
              </a:xfrm>
              <a:prstGeom prst="rect">
                <a:avLst/>
              </a:prstGeom>
              <a:noFill/>
            </p:spPr>
            <p:txBody>
              <a:bodyPr wrap="square" lIns="0" tIns="0" rIns="0" bIns="0" anchor="t">
                <a:spAutoFit/>
              </a:bodyPr>
              <a:lstStyle/>
              <a:p>
                <a:pPr marL="171450" indent="-171450">
                  <a:lnSpc>
                    <a:spcPct val="105000"/>
                  </a:lnSpc>
                  <a:spcAft>
                    <a:spcPts val="800"/>
                  </a:spcAft>
                  <a:buFont typeface="Courier New" panose="02070309020205020404" pitchFamily="49" charset="0"/>
                  <a:buChar char="o"/>
                </a:pPr>
                <a:r>
                  <a:rPr lang="en-US" sz="1100" dirty="0">
                    <a:solidFill>
                      <a:srgbClr val="33373B"/>
                    </a:solidFill>
                  </a:rPr>
                  <a:t>Flamant–</a:t>
                </a:r>
                <a:r>
                  <a:rPr lang="en-US" sz="1100" dirty="0" err="1">
                    <a:solidFill>
                      <a:srgbClr val="33373B"/>
                    </a:solidFill>
                  </a:rPr>
                  <a:t>Boussinesq</a:t>
                </a:r>
                <a:r>
                  <a:rPr lang="en-US" sz="1100" dirty="0">
                    <a:solidFill>
                      <a:srgbClr val="33373B"/>
                    </a:solidFill>
                  </a:rPr>
                  <a:t> strain:  </a:t>
                </a:r>
                <a14:m>
                  <m:oMath xmlns:m="http://schemas.openxmlformats.org/officeDocument/2006/math">
                    <m:r>
                      <a:rPr lang="en-US" sz="1100" i="1" dirty="0">
                        <a:solidFill>
                          <a:srgbClr val="33373B"/>
                        </a:solidFill>
                        <a:latin typeface="Cambria Math" panose="02040503050406030204" pitchFamily="18" charset="0"/>
                      </a:rPr>
                      <m:t>𝐴</m:t>
                    </m:r>
                    <m:r>
                      <a:rPr lang="en-US" sz="1100" i="1" dirty="0">
                        <a:solidFill>
                          <a:srgbClr val="33373B"/>
                        </a:solidFill>
                        <a:latin typeface="Cambria Math" panose="02040503050406030204" pitchFamily="18" charset="0"/>
                      </a:rPr>
                      <m:t>=</m:t>
                    </m:r>
                    <m:f>
                      <m:fPr>
                        <m:ctrlPr>
                          <a:rPr lang="en-US" sz="1100" i="1" dirty="0">
                            <a:solidFill>
                              <a:srgbClr val="33373B"/>
                            </a:solidFill>
                            <a:latin typeface="Cambria Math" panose="02040503050406030204" pitchFamily="18" charset="0"/>
                          </a:rPr>
                        </m:ctrlPr>
                      </m:fPr>
                      <m:num>
                        <m:r>
                          <a:rPr lang="en-US" sz="1100" i="1" dirty="0">
                            <a:solidFill>
                              <a:srgbClr val="33373B"/>
                            </a:solidFill>
                            <a:latin typeface="Cambria Math" panose="02040503050406030204" pitchFamily="18" charset="0"/>
                          </a:rPr>
                          <m:t>𝑊</m:t>
                        </m:r>
                      </m:num>
                      <m:den>
                        <m:sSup>
                          <m:sSupPr>
                            <m:ctrlPr>
                              <a:rPr lang="ar-AE" sz="1100" i="1" dirty="0">
                                <a:solidFill>
                                  <a:srgbClr val="33373B"/>
                                </a:solidFill>
                                <a:latin typeface="Cambria Math" panose="02040503050406030204" pitchFamily="18" charset="0"/>
                              </a:rPr>
                            </m:ctrlPr>
                          </m:sSupPr>
                          <m:e>
                            <m:d>
                              <m:dPr>
                                <m:ctrlPr>
                                  <a:rPr lang="ar-AE" sz="1100" i="1" dirty="0">
                                    <a:solidFill>
                                      <a:srgbClr val="33373B"/>
                                    </a:solidFill>
                                    <a:latin typeface="Cambria Math" panose="02040503050406030204" pitchFamily="18" charset="0"/>
                                  </a:rPr>
                                </m:ctrlPr>
                              </m:dPr>
                              <m:e>
                                <m:r>
                                  <a:rPr lang="ar-AE" sz="1100" i="1" dirty="0">
                                    <a:solidFill>
                                      <a:srgbClr val="33373B"/>
                                    </a:solidFill>
                                    <a:latin typeface="Cambria Math" panose="02040503050406030204" pitchFamily="18" charset="0"/>
                                  </a:rPr>
                                  <m:t>𝑟</m:t>
                                </m:r>
                                <m:r>
                                  <a:rPr lang="ar-AE" sz="1100" i="1" dirty="0">
                                    <a:solidFill>
                                      <a:srgbClr val="33373B"/>
                                    </a:solidFill>
                                    <a:latin typeface="Cambria Math" panose="02040503050406030204" pitchFamily="18" charset="0"/>
                                  </a:rPr>
                                  <m:t>+</m:t>
                                </m:r>
                                <m:sSub>
                                  <m:sSubPr>
                                    <m:ctrlPr>
                                      <a:rPr lang="ar-AE" sz="1100" i="1" dirty="0">
                                        <a:solidFill>
                                          <a:srgbClr val="33373B"/>
                                        </a:solidFill>
                                        <a:latin typeface="Cambria Math" panose="02040503050406030204" pitchFamily="18" charset="0"/>
                                      </a:rPr>
                                    </m:ctrlPr>
                                  </m:sSubPr>
                                  <m:e>
                                    <m:r>
                                      <a:rPr lang="ar-AE" sz="1100" i="1" dirty="0">
                                        <a:solidFill>
                                          <a:srgbClr val="33373B"/>
                                        </a:solidFill>
                                        <a:latin typeface="Cambria Math" panose="02040503050406030204" pitchFamily="18" charset="0"/>
                                      </a:rPr>
                                      <m:t>𝑑</m:t>
                                    </m:r>
                                  </m:e>
                                  <m:sub>
                                    <m:r>
                                      <a:rPr lang="ar-AE" sz="1100" i="1" dirty="0">
                                        <a:solidFill>
                                          <a:srgbClr val="33373B"/>
                                        </a:solidFill>
                                        <a:latin typeface="Cambria Math" panose="02040503050406030204" pitchFamily="18" charset="0"/>
                                      </a:rPr>
                                      <m:t>0</m:t>
                                    </m:r>
                                  </m:sub>
                                </m:sSub>
                              </m:e>
                            </m:d>
                          </m:e>
                          <m:sup>
                            <m:r>
                              <a:rPr lang="ar-AE" sz="1100" i="1" dirty="0">
                                <a:solidFill>
                                  <a:srgbClr val="33373B"/>
                                </a:solidFill>
                                <a:latin typeface="Cambria Math" panose="02040503050406030204" pitchFamily="18" charset="0"/>
                              </a:rPr>
                              <m:t>2</m:t>
                            </m:r>
                          </m:sup>
                        </m:sSup>
                      </m:den>
                    </m:f>
                  </m:oMath>
                </a14:m>
                <a:endParaRPr lang="en-US" sz="1100" dirty="0"/>
              </a:p>
              <a:p>
                <a:pPr marL="171450" indent="-171450">
                  <a:lnSpc>
                    <a:spcPct val="105000"/>
                  </a:lnSpc>
                  <a:spcAft>
                    <a:spcPts val="800"/>
                  </a:spcAft>
                  <a:buFont typeface="Courier New" panose="02070309020205020404" pitchFamily="49" charset="0"/>
                  <a:buChar char="o"/>
                </a:pPr>
                <a:r>
                  <a:rPr lang="en-US" sz="1100" dirty="0">
                    <a:solidFill>
                      <a:srgbClr val="33373B"/>
                    </a:solidFill>
                  </a:rPr>
                  <a:t>Detection sigmoid in SNR²; each meter = 1 channel</a:t>
                </a:r>
              </a:p>
              <a:p>
                <a:pPr marL="171450" indent="-171450">
                  <a:lnSpc>
                    <a:spcPct val="105000"/>
                  </a:lnSpc>
                  <a:spcAft>
                    <a:spcPts val="800"/>
                  </a:spcAft>
                  <a:buFont typeface="Courier New" panose="02070309020205020404" pitchFamily="49" charset="0"/>
                  <a:buChar char="o"/>
                </a:pPr>
                <a:r>
                  <a:rPr lang="en-US" sz="1100" dirty="0">
                    <a:solidFill>
                      <a:srgbClr val="33373B"/>
                    </a:solidFill>
                  </a:rPr>
                  <a:t>Along-fiber position &amp; speed </a:t>
                </a:r>
                <a14:m>
                  <m:oMath xmlns:m="http://schemas.openxmlformats.org/officeDocument/2006/math">
                    <m:r>
                      <a:rPr lang="en-US" sz="1100" i="1" dirty="0">
                        <a:solidFill>
                          <a:srgbClr val="33373B"/>
                        </a:solidFill>
                        <a:latin typeface="Cambria Math" panose="02040503050406030204" pitchFamily="18" charset="0"/>
                      </a:rPr>
                      <m:t>(~25 </m:t>
                    </m:r>
                    <m:r>
                      <a:rPr lang="en-US" sz="1100" i="1" dirty="0">
                        <a:solidFill>
                          <a:srgbClr val="33373B"/>
                        </a:solidFill>
                        <a:latin typeface="Cambria Math" panose="02040503050406030204" pitchFamily="18" charset="0"/>
                      </a:rPr>
                      <m:t>𝐻𝑧</m:t>
                    </m:r>
                    <m:r>
                      <a:rPr lang="en-US" sz="1100" i="1" dirty="0">
                        <a:solidFill>
                          <a:srgbClr val="33373B"/>
                        </a:solidFill>
                        <a:latin typeface="Cambria Math" panose="02040503050406030204" pitchFamily="18" charset="0"/>
                      </a:rPr>
                      <m:t>)</m:t>
                    </m:r>
                  </m:oMath>
                </a14:m>
                <a:endParaRPr lang="en-US" sz="1100" dirty="0">
                  <a:solidFill>
                    <a:srgbClr val="33373B"/>
                  </a:solidFill>
                </a:endParaRPr>
              </a:p>
            </p:txBody>
          </p:sp>
        </mc:Choice>
        <mc:Fallback>
          <p:sp>
            <p:nvSpPr>
              <p:cNvPr id="9" name="TextBox 8"/>
              <p:cNvSpPr txBox="1">
                <a:spLocks noRot="1" noChangeAspect="1" noMove="1" noResize="1" noEditPoints="1" noAdjustHandles="1" noChangeArrowheads="1" noChangeShapeType="1" noTextEdit="1"/>
              </p:cNvSpPr>
              <p:nvPr/>
            </p:nvSpPr>
            <p:spPr>
              <a:xfrm>
                <a:off x="804671" y="1737360"/>
                <a:ext cx="3108960" cy="827406"/>
              </a:xfrm>
              <a:prstGeom prst="rect">
                <a:avLst/>
              </a:prstGeom>
              <a:blipFill>
                <a:blip r:embed="rId5"/>
                <a:stretch>
                  <a:fillRect l="-2439" r="-407" b="-8955"/>
                </a:stretch>
              </a:blipFill>
            </p:spPr>
            <p:txBody>
              <a:bodyPr/>
              <a:lstStyle/>
              <a:p>
                <a:r>
                  <a:rPr lang="en-IL">
                    <a:noFill/>
                  </a:rPr>
                  <a:t> </a:t>
                </a:r>
              </a:p>
            </p:txBody>
          </p:sp>
        </mc:Fallback>
      </mc:AlternateContent>
      <p:sp>
        <p:nvSpPr>
          <p:cNvPr id="10" name="Rounded Rectangle 9"/>
          <p:cNvSpPr/>
          <p:nvPr/>
        </p:nvSpPr>
        <p:spPr>
          <a:xfrm>
            <a:off x="4233672" y="1207008"/>
            <a:ext cx="3429000" cy="1783080"/>
          </a:xfrm>
          <a:prstGeom prst="roundRect">
            <a:avLst>
              <a:gd name="adj" fmla="val 6000"/>
            </a:avLst>
          </a:prstGeom>
          <a:solidFill>
            <a:srgbClr val="FFFFFF"/>
          </a:solidFill>
          <a:ln w="9525">
            <a:solidFill>
              <a:srgbClr val="D5DD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Rounded Rectangle 10"/>
          <p:cNvSpPr/>
          <p:nvPr/>
        </p:nvSpPr>
        <p:spPr>
          <a:xfrm>
            <a:off x="4233672" y="1207008"/>
            <a:ext cx="3429000" cy="384048"/>
          </a:xfrm>
          <a:prstGeom prst="roundRect">
            <a:avLst>
              <a:gd name="adj" fmla="val 6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wrap="square" lIns="146304" rtlCol="0" anchor="ctr"/>
          <a:lstStyle/>
          <a:p>
            <a:pPr algn="ctr"/>
            <a:r>
              <a:rPr sz="1400" b="1">
                <a:solidFill>
                  <a:srgbClr val="FFFFFF"/>
                </a:solidFill>
                <a:latin typeface="Cambria"/>
              </a:rPr>
              <a:t>Camera</a:t>
            </a:r>
          </a:p>
        </p:txBody>
      </p:sp>
      <mc:AlternateContent xmlns:mc="http://schemas.openxmlformats.org/markup-compatibility/2006">
        <mc:Choice xmlns:a14="http://schemas.microsoft.com/office/drawing/2010/main" Requires="a14">
          <p:sp>
            <p:nvSpPr>
              <p:cNvPr id="12" name="TextBox 11"/>
              <p:cNvSpPr txBox="1"/>
              <p:nvPr/>
            </p:nvSpPr>
            <p:spPr>
              <a:xfrm>
                <a:off x="4398264" y="1737360"/>
                <a:ext cx="3108960" cy="731162"/>
              </a:xfrm>
              <a:prstGeom prst="rect">
                <a:avLst/>
              </a:prstGeom>
              <a:noFill/>
            </p:spPr>
            <p:txBody>
              <a:bodyPr wrap="square" lIns="0" tIns="0" rIns="0" bIns="0" anchor="t">
                <a:spAutoFit/>
              </a:bodyPr>
              <a:lstStyle/>
              <a:p>
                <a:pPr marL="171450" indent="-171450">
                  <a:lnSpc>
                    <a:spcPct val="105000"/>
                  </a:lnSpc>
                  <a:spcAft>
                    <a:spcPts val="800"/>
                  </a:spcAft>
                  <a:buFont typeface="Courier New" panose="02070309020205020404" pitchFamily="49" charset="0"/>
                  <a:buChar char="o"/>
                </a:pPr>
                <a:r>
                  <a:rPr lang="en-US" sz="1100" dirty="0">
                    <a:solidFill>
                      <a:srgbClr val="33373B"/>
                    </a:solidFill>
                  </a:rPr>
                  <a:t>Full 2-D (x, y) position, </a:t>
                </a:r>
                <a14:m>
                  <m:oMath xmlns:m="http://schemas.openxmlformats.org/officeDocument/2006/math">
                    <m:r>
                      <a:rPr lang="en-US" sz="1100" i="1" dirty="0">
                        <a:solidFill>
                          <a:srgbClr val="33373B"/>
                        </a:solidFill>
                        <a:latin typeface="Cambria Math" panose="02040503050406030204" pitchFamily="18" charset="0"/>
                      </a:rPr>
                      <m:t>~</m:t>
                    </m:r>
                    <m:r>
                      <a:rPr lang="en-US" sz="1100" i="1" dirty="0">
                        <a:solidFill>
                          <a:srgbClr val="33373B"/>
                        </a:solidFill>
                        <a:latin typeface="Cambria Math" panose="02040503050406030204" pitchFamily="18" charset="0"/>
                      </a:rPr>
                      <m:t>𝑓𝑟𝑎𝑚𝑒</m:t>
                    </m:r>
                    <m:r>
                      <a:rPr lang="en-US" sz="1100" i="1" dirty="0">
                        <a:solidFill>
                          <a:srgbClr val="33373B"/>
                        </a:solidFill>
                        <a:latin typeface="Cambria Math" panose="02040503050406030204" pitchFamily="18" charset="0"/>
                      </a:rPr>
                      <m:t> </m:t>
                    </m:r>
                    <m:r>
                      <a:rPr lang="en-US" sz="1100" i="1" dirty="0">
                        <a:solidFill>
                          <a:srgbClr val="33373B"/>
                        </a:solidFill>
                        <a:latin typeface="Cambria Math" panose="02040503050406030204" pitchFamily="18" charset="0"/>
                      </a:rPr>
                      <m:t>𝑟𝑎𝑡𝑒</m:t>
                    </m:r>
                  </m:oMath>
                </a14:m>
                <a:endParaRPr lang="en-US" sz="1100" dirty="0">
                  <a:solidFill>
                    <a:srgbClr val="33373B"/>
                  </a:solidFill>
                </a:endParaRPr>
              </a:p>
              <a:p>
                <a:pPr marL="171450" indent="-171450">
                  <a:lnSpc>
                    <a:spcPct val="105000"/>
                  </a:lnSpc>
                  <a:spcAft>
                    <a:spcPts val="800"/>
                  </a:spcAft>
                  <a:buFont typeface="Courier New" panose="02070309020205020404" pitchFamily="49" charset="0"/>
                  <a:buChar char="o"/>
                </a:pPr>
                <a:r>
                  <a:rPr lang="en-US" sz="1100" dirty="0">
                    <a:solidFill>
                      <a:srgbClr val="33373B"/>
                    </a:solidFill>
                  </a:rPr>
                  <a:t>Pinhole projection with stochastic FOV gating</a:t>
                </a:r>
              </a:p>
              <a:p>
                <a:pPr marL="171450" indent="-171450">
                  <a:lnSpc>
                    <a:spcPct val="105000"/>
                  </a:lnSpc>
                  <a:spcAft>
                    <a:spcPts val="800"/>
                  </a:spcAft>
                  <a:buFont typeface="Courier New" panose="02070309020205020404" pitchFamily="49" charset="0"/>
                  <a:buChar char="o"/>
                </a:pPr>
                <a:r>
                  <a:rPr lang="en-US" sz="1100" dirty="0">
                    <a:solidFill>
                      <a:srgbClr val="33373B"/>
                    </a:solidFill>
                  </a:rPr>
                  <a:t>Noise: floor + range + off-axis angle</a:t>
                </a:r>
              </a:p>
            </p:txBody>
          </p:sp>
        </mc:Choice>
        <mc:Fallback>
          <p:sp>
            <p:nvSpPr>
              <p:cNvPr id="12" name="TextBox 11"/>
              <p:cNvSpPr txBox="1">
                <a:spLocks noRot="1" noChangeAspect="1" noMove="1" noResize="1" noEditPoints="1" noAdjustHandles="1" noChangeArrowheads="1" noChangeShapeType="1" noTextEdit="1"/>
              </p:cNvSpPr>
              <p:nvPr/>
            </p:nvSpPr>
            <p:spPr>
              <a:xfrm>
                <a:off x="4398264" y="1737360"/>
                <a:ext cx="3108960" cy="731162"/>
              </a:xfrm>
              <a:prstGeom prst="rect">
                <a:avLst/>
              </a:prstGeom>
              <a:blipFill>
                <a:blip r:embed="rId6"/>
                <a:stretch>
                  <a:fillRect l="-2439" t="-5085" b="-10169"/>
                </a:stretch>
              </a:blipFill>
            </p:spPr>
            <p:txBody>
              <a:bodyPr/>
              <a:lstStyle/>
              <a:p>
                <a:r>
                  <a:rPr lang="en-IL">
                    <a:noFill/>
                  </a:rPr>
                  <a:t> </a:t>
                </a:r>
              </a:p>
            </p:txBody>
          </p:sp>
        </mc:Fallback>
      </mc:AlternateContent>
      <p:sp>
        <p:nvSpPr>
          <p:cNvPr id="13" name="Rounded Rectangle 12"/>
          <p:cNvSpPr/>
          <p:nvPr/>
        </p:nvSpPr>
        <p:spPr>
          <a:xfrm>
            <a:off x="7827264" y="1207008"/>
            <a:ext cx="3429000" cy="1783080"/>
          </a:xfrm>
          <a:prstGeom prst="roundRect">
            <a:avLst>
              <a:gd name="adj" fmla="val 6000"/>
            </a:avLst>
          </a:prstGeom>
          <a:solidFill>
            <a:srgbClr val="FFFFFF"/>
          </a:solidFill>
          <a:ln w="9525">
            <a:solidFill>
              <a:srgbClr val="D5DD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Rounded Rectangle 13"/>
          <p:cNvSpPr/>
          <p:nvPr/>
        </p:nvSpPr>
        <p:spPr>
          <a:xfrm>
            <a:off x="7827264" y="1207008"/>
            <a:ext cx="3429000" cy="384048"/>
          </a:xfrm>
          <a:prstGeom prst="roundRect">
            <a:avLst>
              <a:gd name="adj" fmla="val 6000"/>
            </a:avLst>
          </a:prstGeom>
          <a:solidFill>
            <a:srgbClr val="3A6E8F"/>
          </a:solidFill>
          <a:ln>
            <a:noFill/>
          </a:ln>
          <a:effectLst/>
        </p:spPr>
        <p:style>
          <a:lnRef idx="1">
            <a:schemeClr val="accent1"/>
          </a:lnRef>
          <a:fillRef idx="3">
            <a:schemeClr val="accent1"/>
          </a:fillRef>
          <a:effectRef idx="2">
            <a:schemeClr val="accent1"/>
          </a:effectRef>
          <a:fontRef idx="minor">
            <a:schemeClr val="lt1"/>
          </a:fontRef>
        </p:style>
        <p:txBody>
          <a:bodyPr wrap="square" lIns="146304" rtlCol="0" anchor="ctr"/>
          <a:lstStyle/>
          <a:p>
            <a:pPr algn="ctr"/>
            <a:r>
              <a:rPr sz="1400" b="1">
                <a:solidFill>
                  <a:srgbClr val="FFFFFF"/>
                </a:solidFill>
                <a:latin typeface="Cambria"/>
              </a:rPr>
              <a:t>GPS</a:t>
            </a:r>
          </a:p>
        </p:txBody>
      </p:sp>
      <mc:AlternateContent xmlns:mc="http://schemas.openxmlformats.org/markup-compatibility/2006">
        <mc:Choice xmlns:a14="http://schemas.microsoft.com/office/drawing/2010/main" Requires="a14">
          <p:sp>
            <p:nvSpPr>
              <p:cNvPr id="15" name="TextBox 14"/>
              <p:cNvSpPr txBox="1"/>
              <p:nvPr/>
            </p:nvSpPr>
            <p:spPr>
              <a:xfrm>
                <a:off x="7991856" y="1737360"/>
                <a:ext cx="3108960" cy="731162"/>
              </a:xfrm>
              <a:prstGeom prst="rect">
                <a:avLst/>
              </a:prstGeom>
              <a:noFill/>
            </p:spPr>
            <p:txBody>
              <a:bodyPr wrap="square" lIns="0" tIns="0" rIns="0" bIns="0" anchor="t">
                <a:spAutoFit/>
              </a:bodyPr>
              <a:lstStyle/>
              <a:p>
                <a:pPr marL="171450" indent="-171450">
                  <a:lnSpc>
                    <a:spcPct val="105000"/>
                  </a:lnSpc>
                  <a:spcAft>
                    <a:spcPts val="800"/>
                  </a:spcAft>
                  <a:buFont typeface="Courier New" panose="02070309020205020404" pitchFamily="49" charset="0"/>
                  <a:buChar char="o"/>
                </a:pPr>
                <a:r>
                  <a:rPr lang="en-US" sz="1100" dirty="0">
                    <a:solidFill>
                      <a:srgbClr val="33373B"/>
                    </a:solidFill>
                  </a:rPr>
                  <a:t>Absolute position (x, y), </a:t>
                </a:r>
                <a14:m>
                  <m:oMath xmlns:m="http://schemas.openxmlformats.org/officeDocument/2006/math">
                    <m:r>
                      <a:rPr lang="en-US" sz="1100" i="1" dirty="0">
                        <a:solidFill>
                          <a:srgbClr val="33373B"/>
                        </a:solidFill>
                        <a:latin typeface="Cambria Math" panose="02040503050406030204" pitchFamily="18" charset="0"/>
                      </a:rPr>
                      <m:t>~</m:t>
                    </m:r>
                    <m:r>
                      <a:rPr lang="en-US" sz="1100" i="1" dirty="0">
                        <a:solidFill>
                          <a:srgbClr val="33373B"/>
                        </a:solidFill>
                        <a:latin typeface="Cambria Math" panose="02040503050406030204" pitchFamily="18" charset="0"/>
                      </a:rPr>
                      <m:t>1 </m:t>
                    </m:r>
                    <m:r>
                      <a:rPr lang="en-US" sz="1100" i="1" dirty="0">
                        <a:solidFill>
                          <a:srgbClr val="33373B"/>
                        </a:solidFill>
                        <a:latin typeface="Cambria Math" panose="02040503050406030204" pitchFamily="18" charset="0"/>
                      </a:rPr>
                      <m:t>𝐻𝑧</m:t>
                    </m:r>
                    <m:r>
                      <a:rPr lang="en-US" sz="1100" i="1" dirty="0">
                        <a:solidFill>
                          <a:srgbClr val="33373B"/>
                        </a:solidFill>
                        <a:latin typeface="Cambria Math" panose="02040503050406030204" pitchFamily="18" charset="0"/>
                      </a:rPr>
                      <m:t> </m:t>
                    </m:r>
                  </m:oMath>
                </a14:m>
                <a:r>
                  <a:rPr lang="en-US" sz="1100" dirty="0">
                    <a:solidFill>
                      <a:srgbClr val="33373B"/>
                    </a:solidFill>
                  </a:rPr>
                  <a:t>, </a:t>
                </a:r>
                <a14:m>
                  <m:oMath xmlns:m="http://schemas.openxmlformats.org/officeDocument/2006/math">
                    <m:r>
                      <a:rPr lang="en-US" sz="1100" i="1" dirty="0">
                        <a:solidFill>
                          <a:srgbClr val="33373B"/>
                        </a:solidFill>
                        <a:latin typeface="Cambria Math" panose="02040503050406030204" pitchFamily="18" charset="0"/>
                      </a:rPr>
                      <m:t>𝜎</m:t>
                    </m:r>
                    <m:r>
                      <a:rPr lang="en-US" sz="1100" i="1" dirty="0">
                        <a:solidFill>
                          <a:srgbClr val="33373B"/>
                        </a:solidFill>
                        <a:latin typeface="Cambria Math" panose="02040503050406030204" pitchFamily="18" charset="0"/>
                      </a:rPr>
                      <m:t>₀≈2.5 </m:t>
                    </m:r>
                    <m:r>
                      <a:rPr lang="en-US" sz="1100" i="1" dirty="0">
                        <a:solidFill>
                          <a:srgbClr val="33373B"/>
                        </a:solidFill>
                        <a:latin typeface="Cambria Math" panose="02040503050406030204" pitchFamily="18" charset="0"/>
                      </a:rPr>
                      <m:t>𝑚</m:t>
                    </m:r>
                  </m:oMath>
                </a14:m>
                <a:endParaRPr lang="en-US" sz="1100" dirty="0">
                  <a:solidFill>
                    <a:srgbClr val="33373B"/>
                  </a:solidFill>
                </a:endParaRPr>
              </a:p>
              <a:p>
                <a:pPr marL="171450" indent="-171450">
                  <a:lnSpc>
                    <a:spcPct val="105000"/>
                  </a:lnSpc>
                  <a:spcAft>
                    <a:spcPts val="800"/>
                  </a:spcAft>
                  <a:buFont typeface="Courier New" panose="02070309020205020404" pitchFamily="49" charset="0"/>
                  <a:buChar char="o"/>
                </a:pPr>
                <a:r>
                  <a:rPr lang="en-US" sz="1100" dirty="0">
                    <a:solidFill>
                      <a:srgbClr val="33373B"/>
                    </a:solidFill>
                  </a:rPr>
                  <a:t>Noise grows with distance from receiver</a:t>
                </a:r>
              </a:p>
              <a:p>
                <a:pPr marL="171450" indent="-171450">
                  <a:lnSpc>
                    <a:spcPct val="105000"/>
                  </a:lnSpc>
                  <a:spcAft>
                    <a:spcPts val="800"/>
                  </a:spcAft>
                  <a:buFont typeface="Courier New" panose="02070309020205020404" pitchFamily="49" charset="0"/>
                  <a:buChar char="o"/>
                </a:pPr>
                <a:r>
                  <a:rPr lang="en-US" sz="1100" dirty="0">
                    <a:solidFill>
                      <a:srgbClr val="33373B"/>
                    </a:solidFill>
                  </a:rPr>
                  <a:t>Low rate and accuracy</a:t>
                </a:r>
              </a:p>
            </p:txBody>
          </p:sp>
        </mc:Choice>
        <mc:Fallback>
          <p:sp>
            <p:nvSpPr>
              <p:cNvPr id="15" name="TextBox 14"/>
              <p:cNvSpPr txBox="1">
                <a:spLocks noRot="1" noChangeAspect="1" noMove="1" noResize="1" noEditPoints="1" noAdjustHandles="1" noChangeArrowheads="1" noChangeShapeType="1" noTextEdit="1"/>
              </p:cNvSpPr>
              <p:nvPr/>
            </p:nvSpPr>
            <p:spPr>
              <a:xfrm>
                <a:off x="7991856" y="1737360"/>
                <a:ext cx="3108960" cy="731162"/>
              </a:xfrm>
              <a:prstGeom prst="rect">
                <a:avLst/>
              </a:prstGeom>
              <a:blipFill>
                <a:blip r:embed="rId7"/>
                <a:stretch>
                  <a:fillRect l="-2439" t="-5085" b="-10169"/>
                </a:stretch>
              </a:blipFill>
            </p:spPr>
            <p:txBody>
              <a:bodyPr/>
              <a:lstStyle/>
              <a:p>
                <a:r>
                  <a:rPr lang="en-IL">
                    <a:noFill/>
                  </a:rPr>
                  <a:t> </a:t>
                </a:r>
              </a:p>
            </p:txBody>
          </p:sp>
        </mc:Fallback>
      </mc:AlternateContent>
      <p:sp>
        <p:nvSpPr>
          <p:cNvPr id="16" name="Rounded Rectangle 15"/>
          <p:cNvSpPr/>
          <p:nvPr/>
        </p:nvSpPr>
        <p:spPr>
          <a:xfrm>
            <a:off x="322027" y="3154680"/>
            <a:ext cx="3273551" cy="251460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819333" y="3261280"/>
            <a:ext cx="2434387" cy="176972"/>
          </a:xfrm>
          <a:prstGeom prst="rect">
            <a:avLst/>
          </a:prstGeom>
          <a:noFill/>
        </p:spPr>
        <p:txBody>
          <a:bodyPr wrap="square" lIns="0" tIns="0" rIns="0" bIns="0" anchor="t">
            <a:spAutoFit/>
          </a:bodyPr>
          <a:lstStyle/>
          <a:p>
            <a:pPr algn="l">
              <a:lnSpc>
                <a:spcPct val="100000"/>
              </a:lnSpc>
              <a:spcAft>
                <a:spcPts val="0"/>
              </a:spcAft>
            </a:pPr>
            <a:r>
              <a:rPr sz="1150" b="1" i="0" dirty="0">
                <a:solidFill>
                  <a:srgbClr val="1C7293"/>
                </a:solidFill>
                <a:latin typeface="Cambria"/>
              </a:rPr>
              <a:t>SNR-DRIVEN MEASUREMENT NOISE</a:t>
            </a:r>
          </a:p>
        </p:txBody>
      </p:sp>
      <mc:AlternateContent xmlns:mc="http://schemas.openxmlformats.org/markup-compatibility/2006">
        <mc:Choice xmlns:a14="http://schemas.microsoft.com/office/drawing/2010/main" Requires="a14">
          <p:sp>
            <p:nvSpPr>
              <p:cNvPr id="18" name="TextBox 17"/>
              <p:cNvSpPr txBox="1"/>
              <p:nvPr/>
            </p:nvSpPr>
            <p:spPr>
              <a:xfrm>
                <a:off x="523195" y="3675887"/>
                <a:ext cx="2908949" cy="1994777"/>
              </a:xfrm>
              <a:prstGeom prst="rect">
                <a:avLst/>
              </a:prstGeom>
              <a:noFill/>
            </p:spPr>
            <p:txBody>
              <a:bodyPr wrap="square" lIns="0" tIns="0" rIns="0" bIns="0" anchor="t">
                <a:spAutoFit/>
              </a:bodyPr>
              <a:lstStyle/>
              <a:p>
                <a:pPr marL="171450" indent="-171450">
                  <a:lnSpc>
                    <a:spcPct val="106000"/>
                  </a:lnSpc>
                  <a:spcAft>
                    <a:spcPts val="600"/>
                  </a:spcAft>
                  <a:buFont typeface="Courier New" panose="02070309020205020404" pitchFamily="49" charset="0"/>
                  <a:buChar char="o"/>
                </a:pPr>
                <a:r>
                  <a:rPr lang="en-US" sz="1200" dirty="0">
                    <a:solidFill>
                      <a:srgbClr val="33373B"/>
                    </a:solidFill>
                  </a:rPr>
                  <a:t>Each sensor exposes a physically-derived uncertainty the Kalman filter consumes directly:  </a:t>
                </a:r>
                <a14:m>
                  <m:oMath xmlns:m="http://schemas.openxmlformats.org/officeDocument/2006/math">
                    <m:sSub>
                      <m:sSubPr>
                        <m:ctrlPr>
                          <a:rPr lang="el-GR" sz="1200" i="1" dirty="0">
                            <a:solidFill>
                              <a:srgbClr val="33373B"/>
                            </a:solidFill>
                            <a:latin typeface="Cambria Math" panose="02040503050406030204" pitchFamily="18" charset="0"/>
                          </a:rPr>
                        </m:ctrlPr>
                      </m:sSubPr>
                      <m:e>
                        <m:r>
                          <a:rPr lang="el-GR" sz="1200" i="1" dirty="0">
                            <a:solidFill>
                              <a:srgbClr val="33373B"/>
                            </a:solidFill>
                            <a:latin typeface="Cambria Math" panose="02040503050406030204" pitchFamily="18" charset="0"/>
                          </a:rPr>
                          <m:t>𝜎</m:t>
                        </m:r>
                      </m:e>
                      <m:sub>
                        <m:r>
                          <a:rPr lang="en-US" sz="1200" i="1" dirty="0">
                            <a:solidFill>
                              <a:srgbClr val="33373B"/>
                            </a:solidFill>
                            <a:latin typeface="Cambria Math" panose="02040503050406030204" pitchFamily="18" charset="0"/>
                          </a:rPr>
                          <m:t>𝐷𝐴𝑆</m:t>
                        </m:r>
                      </m:sub>
                    </m:sSub>
                    <m:r>
                      <a:rPr lang="en-US" sz="1200" i="1" dirty="0">
                        <a:solidFill>
                          <a:srgbClr val="33373B"/>
                        </a:solidFill>
                        <a:latin typeface="Cambria Math" panose="02040503050406030204" pitchFamily="18" charset="0"/>
                      </a:rPr>
                      <m:t>=</m:t>
                    </m:r>
                    <m:func>
                      <m:funcPr>
                        <m:ctrlPr>
                          <a:rPr lang="en-US" sz="1200" i="1" dirty="0">
                            <a:solidFill>
                              <a:srgbClr val="33373B"/>
                            </a:solidFill>
                            <a:latin typeface="Cambria Math" panose="02040503050406030204" pitchFamily="18" charset="0"/>
                          </a:rPr>
                        </m:ctrlPr>
                      </m:funcPr>
                      <m:fName>
                        <m:r>
                          <m:rPr>
                            <m:sty m:val="p"/>
                          </m:rPr>
                          <a:rPr lang="en-US" sz="1200" dirty="0">
                            <a:solidFill>
                              <a:srgbClr val="33373B"/>
                            </a:solidFill>
                            <a:latin typeface="Cambria Math" panose="02040503050406030204" pitchFamily="18" charset="0"/>
                          </a:rPr>
                          <m:t>max</m:t>
                        </m:r>
                      </m:fName>
                      <m:e>
                        <m:d>
                          <m:dPr>
                            <m:ctrlPr>
                              <a:rPr lang="en-US" sz="1200" i="1" dirty="0">
                                <a:solidFill>
                                  <a:srgbClr val="33373B"/>
                                </a:solidFill>
                                <a:latin typeface="Cambria Math" panose="02040503050406030204" pitchFamily="18" charset="0"/>
                              </a:rPr>
                            </m:ctrlPr>
                          </m:dPr>
                          <m:e>
                            <m:r>
                              <a:rPr lang="en-US" sz="1200" i="1" dirty="0">
                                <a:solidFill>
                                  <a:srgbClr val="33373B"/>
                                </a:solidFill>
                                <a:latin typeface="Cambria Math" panose="02040503050406030204" pitchFamily="18" charset="0"/>
                              </a:rPr>
                              <m:t>0.8,</m:t>
                            </m:r>
                            <m:f>
                              <m:fPr>
                                <m:ctrlPr>
                                  <a:rPr lang="en-US" sz="1200" i="1" dirty="0">
                                    <a:solidFill>
                                      <a:srgbClr val="33373B"/>
                                    </a:solidFill>
                                    <a:latin typeface="Cambria Math" panose="02040503050406030204" pitchFamily="18" charset="0"/>
                                  </a:rPr>
                                </m:ctrlPr>
                              </m:fPr>
                              <m:num>
                                <m:sSub>
                                  <m:sSubPr>
                                    <m:ctrlPr>
                                      <a:rPr lang="en-US" sz="1200" i="1" dirty="0">
                                        <a:solidFill>
                                          <a:srgbClr val="33373B"/>
                                        </a:solidFill>
                                        <a:latin typeface="Cambria Math" panose="02040503050406030204" pitchFamily="18" charset="0"/>
                                      </a:rPr>
                                    </m:ctrlPr>
                                  </m:sSubPr>
                                  <m:e>
                                    <m:r>
                                      <a:rPr lang="en-US" sz="1200" i="1" dirty="0">
                                        <a:solidFill>
                                          <a:srgbClr val="33373B"/>
                                        </a:solidFill>
                                        <a:latin typeface="Cambria Math" panose="02040503050406030204" pitchFamily="18" charset="0"/>
                                      </a:rPr>
                                      <m:t>𝑘</m:t>
                                    </m:r>
                                  </m:e>
                                  <m:sub>
                                    <m:r>
                                      <a:rPr lang="en-US" sz="1200" i="1" dirty="0">
                                        <a:solidFill>
                                          <a:srgbClr val="33373B"/>
                                        </a:solidFill>
                                        <a:latin typeface="Cambria Math" panose="02040503050406030204" pitchFamily="18" charset="0"/>
                                      </a:rPr>
                                      <m:t>𝑑𝑎𝑠</m:t>
                                    </m:r>
                                  </m:sub>
                                </m:sSub>
                              </m:num>
                              <m:den>
                                <m:rad>
                                  <m:radPr>
                                    <m:degHide m:val="on"/>
                                    <m:ctrlPr>
                                      <a:rPr lang="en-US" sz="1200" i="1" dirty="0">
                                        <a:solidFill>
                                          <a:srgbClr val="33373B"/>
                                        </a:solidFill>
                                        <a:latin typeface="Cambria Math" panose="02040503050406030204" pitchFamily="18" charset="0"/>
                                      </a:rPr>
                                    </m:ctrlPr>
                                  </m:radPr>
                                  <m:deg/>
                                  <m:e>
                                    <m:r>
                                      <a:rPr lang="en-US" sz="1200" i="1" dirty="0">
                                        <a:solidFill>
                                          <a:srgbClr val="33373B"/>
                                        </a:solidFill>
                                        <a:latin typeface="Cambria Math" panose="02040503050406030204" pitchFamily="18" charset="0"/>
                                      </a:rPr>
                                      <m:t>𝑆𝑁𝑅</m:t>
                                    </m:r>
                                  </m:e>
                                </m:rad>
                              </m:den>
                            </m:f>
                          </m:e>
                        </m:d>
                      </m:e>
                    </m:func>
                  </m:oMath>
                </a14:m>
                <a:r>
                  <a:rPr lang="en-US" sz="1200" dirty="0">
                    <a:solidFill>
                      <a:srgbClr val="33373B"/>
                    </a:solidFill>
                  </a:rPr>
                  <a:t>,  scaled by confidence.</a:t>
                </a:r>
              </a:p>
              <a:p>
                <a:pPr marL="171450" indent="-171450">
                  <a:lnSpc>
                    <a:spcPct val="106000"/>
                  </a:lnSpc>
                  <a:spcAft>
                    <a:spcPts val="600"/>
                  </a:spcAft>
                  <a:buFont typeface="Courier New" panose="02070309020205020404" pitchFamily="49" charset="0"/>
                  <a:buChar char="o"/>
                </a:pPr>
                <a:r>
                  <a:rPr lang="en-US" sz="1200" dirty="0">
                    <a:solidFill>
                      <a:srgbClr val="33373B"/>
                    </a:solidFill>
                  </a:rPr>
                  <a:t>So the filter trusts a heavy, nearby vehicle far more than a light, distant one automatically, with no manual tuning. </a:t>
                </a:r>
              </a:p>
              <a:p>
                <a:pPr marL="171450" indent="-171450">
                  <a:lnSpc>
                    <a:spcPct val="106000"/>
                  </a:lnSpc>
                  <a:spcAft>
                    <a:spcPts val="600"/>
                  </a:spcAft>
                  <a:buFont typeface="Courier New" panose="02070309020205020404" pitchFamily="49" charset="0"/>
                  <a:buChar char="o"/>
                </a:pPr>
                <a:r>
                  <a:rPr sz="1150" dirty="0">
                    <a:solidFill>
                      <a:srgbClr val="33424D"/>
                    </a:solidFill>
                    <a:latin typeface="Calibri"/>
                  </a:rPr>
                  <a:t>DAS variance can be an order of magnitude smaller than GPS.</a:t>
                </a:r>
              </a:p>
            </p:txBody>
          </p:sp>
        </mc:Choice>
        <mc:Fallback>
          <p:sp>
            <p:nvSpPr>
              <p:cNvPr id="18" name="TextBox 17"/>
              <p:cNvSpPr txBox="1">
                <a:spLocks noRot="1" noChangeAspect="1" noMove="1" noResize="1" noEditPoints="1" noAdjustHandles="1" noChangeArrowheads="1" noChangeShapeType="1" noTextEdit="1"/>
              </p:cNvSpPr>
              <p:nvPr/>
            </p:nvSpPr>
            <p:spPr>
              <a:xfrm>
                <a:off x="523195" y="3675887"/>
                <a:ext cx="2908949" cy="1994777"/>
              </a:xfrm>
              <a:prstGeom prst="rect">
                <a:avLst/>
              </a:prstGeom>
              <a:blipFill>
                <a:blip r:embed="rId8"/>
                <a:stretch>
                  <a:fillRect l="-3043" t="-2532" b="-3797"/>
                </a:stretch>
              </a:blipFill>
            </p:spPr>
            <p:txBody>
              <a:bodyPr/>
              <a:lstStyle/>
              <a:p>
                <a:r>
                  <a:rPr lang="en-IL">
                    <a:noFill/>
                  </a:rPr>
                  <a:t> </a:t>
                </a:r>
              </a:p>
            </p:txBody>
          </p:sp>
        </mc:Fallback>
      </mc:AlternateContent>
      <p:sp>
        <p:nvSpPr>
          <p:cNvPr id="19" name="Rounded Rectangle 18"/>
          <p:cNvSpPr/>
          <p:nvPr/>
        </p:nvSpPr>
        <p:spPr>
          <a:xfrm>
            <a:off x="8406119" y="3154680"/>
            <a:ext cx="3172968" cy="251460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TextBox 19"/>
          <p:cNvSpPr txBox="1"/>
          <p:nvPr/>
        </p:nvSpPr>
        <p:spPr>
          <a:xfrm>
            <a:off x="8912974" y="3270316"/>
            <a:ext cx="2090272" cy="176972"/>
          </a:xfrm>
          <a:prstGeom prst="rect">
            <a:avLst/>
          </a:prstGeom>
          <a:noFill/>
        </p:spPr>
        <p:txBody>
          <a:bodyPr wrap="square" lIns="0" tIns="0" rIns="0" bIns="0" anchor="t">
            <a:spAutoFit/>
          </a:bodyPr>
          <a:lstStyle/>
          <a:p>
            <a:pPr algn="l">
              <a:lnSpc>
                <a:spcPct val="100000"/>
              </a:lnSpc>
              <a:spcAft>
                <a:spcPts val="0"/>
              </a:spcAft>
            </a:pPr>
            <a:r>
              <a:rPr sz="1150" b="1" i="0">
                <a:solidFill>
                  <a:srgbClr val="1C7293"/>
                </a:solidFill>
                <a:latin typeface="Cambria"/>
              </a:rPr>
              <a:t>TRACKING &amp; KALMAN FUSION</a:t>
            </a:r>
          </a:p>
        </p:txBody>
      </p:sp>
      <p:sp>
        <p:nvSpPr>
          <p:cNvPr id="21" name="TextBox 20"/>
          <p:cNvSpPr txBox="1"/>
          <p:nvPr/>
        </p:nvSpPr>
        <p:spPr>
          <a:xfrm>
            <a:off x="8549413" y="3675887"/>
            <a:ext cx="2929090" cy="1934184"/>
          </a:xfrm>
          <a:prstGeom prst="rect">
            <a:avLst/>
          </a:prstGeom>
          <a:noFill/>
        </p:spPr>
        <p:txBody>
          <a:bodyPr wrap="square" lIns="0" tIns="0" rIns="0" bIns="0" anchor="t">
            <a:spAutoFit/>
          </a:bodyPr>
          <a:lstStyle/>
          <a:p>
            <a:pPr marL="171450" indent="-171450">
              <a:lnSpc>
                <a:spcPct val="105000"/>
              </a:lnSpc>
              <a:spcAft>
                <a:spcPts val="700"/>
              </a:spcAft>
              <a:buFont typeface="Courier New" panose="02070309020205020404" pitchFamily="49" charset="0"/>
              <a:buChar char="o"/>
            </a:pPr>
            <a:r>
              <a:rPr sz="1150" dirty="0" err="1">
                <a:solidFill>
                  <a:srgbClr val="33424D"/>
                </a:solidFill>
                <a:latin typeface="Calibri"/>
              </a:rPr>
              <a:t>TrackManager</a:t>
            </a:r>
            <a:r>
              <a:rPr sz="1150" dirty="0">
                <a:solidFill>
                  <a:srgbClr val="33424D"/>
                </a:solidFill>
                <a:latin typeface="Calibri"/>
              </a:rPr>
              <a:t> keeps a stable global track ID across segment</a:t>
            </a:r>
            <a:r>
              <a:rPr lang="en-US" sz="1150" dirty="0">
                <a:solidFill>
                  <a:srgbClr val="33424D"/>
                </a:solidFill>
                <a:latin typeface="Calibri"/>
              </a:rPr>
              <a:t>,</a:t>
            </a:r>
            <a:r>
              <a:rPr sz="1150" dirty="0">
                <a:solidFill>
                  <a:srgbClr val="33424D"/>
                </a:solidFill>
                <a:latin typeface="Calibri"/>
              </a:rPr>
              <a:t> kinematics only, never the oracle ID.</a:t>
            </a:r>
          </a:p>
          <a:p>
            <a:pPr marL="171450" indent="-171450">
              <a:lnSpc>
                <a:spcPct val="105000"/>
              </a:lnSpc>
              <a:spcAft>
                <a:spcPts val="700"/>
              </a:spcAft>
              <a:buFont typeface="Courier New" panose="02070309020205020404" pitchFamily="49" charset="0"/>
              <a:buChar char="o"/>
            </a:pPr>
            <a:r>
              <a:rPr sz="1150" dirty="0">
                <a:solidFill>
                  <a:srgbClr val="33424D"/>
                </a:solidFill>
                <a:latin typeface="Calibri"/>
              </a:rPr>
              <a:t>Candidates scored by predicted-vs-measured </a:t>
            </a:r>
            <a:r>
              <a:rPr lang="en-US" sz="1150" dirty="0">
                <a:solidFill>
                  <a:srgbClr val="33424D"/>
                </a:solidFill>
                <a:latin typeface="Calibri"/>
              </a:rPr>
              <a:t>properties.</a:t>
            </a:r>
            <a:r>
              <a:rPr sz="1150" dirty="0">
                <a:solidFill>
                  <a:srgbClr val="33424D"/>
                </a:solidFill>
                <a:latin typeface="Calibri"/>
              </a:rPr>
              <a:t> 3 agreeing hits to confirm</a:t>
            </a:r>
            <a:r>
              <a:rPr lang="en-US" sz="1150" dirty="0">
                <a:solidFill>
                  <a:srgbClr val="33424D"/>
                </a:solidFill>
                <a:latin typeface="Calibri"/>
              </a:rPr>
              <a:t> so</a:t>
            </a:r>
            <a:r>
              <a:rPr sz="1150" dirty="0">
                <a:solidFill>
                  <a:srgbClr val="33424D"/>
                </a:solidFill>
                <a:latin typeface="Calibri"/>
              </a:rPr>
              <a:t> DAS ghosts rejected.</a:t>
            </a:r>
          </a:p>
          <a:p>
            <a:pPr marL="171450" indent="-171450">
              <a:lnSpc>
                <a:spcPct val="105000"/>
              </a:lnSpc>
              <a:spcAft>
                <a:spcPts val="700"/>
              </a:spcAft>
              <a:buFont typeface="Courier New" panose="02070309020205020404" pitchFamily="49" charset="0"/>
              <a:buChar char="o"/>
            </a:pPr>
            <a:r>
              <a:rPr sz="1150" dirty="0">
                <a:solidFill>
                  <a:srgbClr val="33424D"/>
                </a:solidFill>
                <a:latin typeface="Calibri"/>
              </a:rPr>
              <a:t>6-state constant-acceleration Kalman filter, decoupled x/y, Joseph-form covariance.</a:t>
            </a:r>
          </a:p>
          <a:p>
            <a:pPr marL="171450" indent="-171450">
              <a:lnSpc>
                <a:spcPct val="105000"/>
              </a:lnSpc>
              <a:spcAft>
                <a:spcPts val="700"/>
              </a:spcAft>
              <a:buFont typeface="Courier New" panose="02070309020205020404" pitchFamily="49" charset="0"/>
              <a:buChar char="o"/>
            </a:pPr>
            <a:r>
              <a:rPr sz="1150" dirty="0">
                <a:solidFill>
                  <a:srgbClr val="33424D"/>
                </a:solidFill>
                <a:latin typeface="Calibri"/>
              </a:rPr>
              <a:t>a sustained rise above 1.0 is an anomaly.</a:t>
            </a:r>
          </a:p>
        </p:txBody>
      </p:sp>
      <p:pic>
        <p:nvPicPr>
          <p:cNvPr id="22" name="Picture 21" descr="fig5_flow.png">
            <a:extLst>
              <a:ext uri="{FF2B5EF4-FFF2-40B4-BE49-F238E27FC236}">
                <a16:creationId xmlns:a16="http://schemas.microsoft.com/office/drawing/2014/main" id="{0102A35E-F7C6-284A-603D-AAB5ED50718C}"/>
              </a:ext>
            </a:extLst>
          </p:cNvPr>
          <p:cNvPicPr>
            <a:picLocks noChangeAspect="1"/>
          </p:cNvPicPr>
          <p:nvPr/>
        </p:nvPicPr>
        <p:blipFill>
          <a:blip r:embed="rId9"/>
          <a:srcRect l="3074" r="2863"/>
          <a:stretch>
            <a:fillRect/>
          </a:stretch>
        </p:blipFill>
        <p:spPr>
          <a:xfrm>
            <a:off x="3950207" y="3198001"/>
            <a:ext cx="4078225" cy="242795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1.jpg"/>
          <p:cNvPicPr>
            <a:picLocks noChangeAspect="1"/>
          </p:cNvPicPr>
          <p:nvPr/>
        </p:nvPicPr>
        <p:blipFill>
          <a:blip r:embed="rId3"/>
          <a:stretch>
            <a:fillRect/>
          </a:stretch>
        </p:blipFill>
        <p:spPr>
          <a:xfrm>
            <a:off x="292608" y="274320"/>
            <a:ext cx="2490940" cy="566928"/>
          </a:xfrm>
          <a:prstGeom prst="rect">
            <a:avLst/>
          </a:prstGeom>
        </p:spPr>
      </p:pic>
      <p:pic>
        <p:nvPicPr>
          <p:cNvPr id="3" name="Picture 2" descr="image2.png"/>
          <p:cNvPicPr>
            <a:picLocks noChangeAspect="1"/>
          </p:cNvPicPr>
          <p:nvPr/>
        </p:nvPicPr>
        <p:blipFill>
          <a:blip r:embed="rId4"/>
          <a:stretch>
            <a:fillRect/>
          </a:stretch>
        </p:blipFill>
        <p:spPr>
          <a:xfrm>
            <a:off x="11292840" y="219456"/>
            <a:ext cx="635887" cy="658368"/>
          </a:xfrm>
          <a:prstGeom prst="rect">
            <a:avLst/>
          </a:prstGeom>
        </p:spPr>
      </p:pic>
      <p:sp>
        <p:nvSpPr>
          <p:cNvPr id="4" name="TextBox 3"/>
          <p:cNvSpPr txBox="1"/>
          <p:nvPr/>
        </p:nvSpPr>
        <p:spPr>
          <a:xfrm>
            <a:off x="1737360" y="301752"/>
            <a:ext cx="8686800" cy="384721"/>
          </a:xfrm>
          <a:prstGeom prst="rect">
            <a:avLst/>
          </a:prstGeom>
          <a:noFill/>
        </p:spPr>
        <p:txBody>
          <a:bodyPr wrap="square" lIns="0" tIns="0" rIns="0" bIns="0" anchor="t">
            <a:spAutoFit/>
          </a:bodyPr>
          <a:lstStyle/>
          <a:p>
            <a:pPr algn="ctr">
              <a:lnSpc>
                <a:spcPct val="100000"/>
              </a:lnSpc>
              <a:spcAft>
                <a:spcPts val="0"/>
              </a:spcAft>
            </a:pPr>
            <a:r>
              <a:rPr sz="2500" b="1" i="0" dirty="0">
                <a:solidFill>
                  <a:srgbClr val="0B4F6C"/>
                </a:solidFill>
                <a:latin typeface="Cambria"/>
              </a:rPr>
              <a:t>Anomaly</a:t>
            </a:r>
            <a:r>
              <a:rPr lang="en-US" sz="2500" b="1" i="0" dirty="0">
                <a:solidFill>
                  <a:srgbClr val="0B4F6C"/>
                </a:solidFill>
                <a:latin typeface="Cambria"/>
              </a:rPr>
              <a:t> </a:t>
            </a:r>
            <a:r>
              <a:rPr sz="2500" b="1" i="0" dirty="0">
                <a:solidFill>
                  <a:srgbClr val="0B4F6C"/>
                </a:solidFill>
                <a:latin typeface="Cambria"/>
              </a:rPr>
              <a:t>Detection Model</a:t>
            </a:r>
          </a:p>
        </p:txBody>
      </p:sp>
      <p:sp>
        <p:nvSpPr>
          <p:cNvPr id="5" name="TextBox 4"/>
          <p:cNvSpPr txBox="1"/>
          <p:nvPr/>
        </p:nvSpPr>
        <p:spPr>
          <a:xfrm>
            <a:off x="320040" y="6455664"/>
            <a:ext cx="5486400" cy="274320"/>
          </a:xfrm>
          <a:prstGeom prst="rect">
            <a:avLst/>
          </a:prstGeom>
          <a:noFill/>
        </p:spPr>
        <p:txBody>
          <a:bodyPr wrap="square" lIns="0" tIns="0" rIns="0" bIns="0" anchor="t">
            <a:spAutoFit/>
          </a:bodyPr>
          <a:lstStyle/>
          <a:p>
            <a:pPr algn="l">
              <a:lnSpc>
                <a:spcPct val="100000"/>
              </a:lnSpc>
              <a:spcAft>
                <a:spcPts val="0"/>
              </a:spcAft>
            </a:pPr>
            <a:r>
              <a:rPr sz="900" b="0" i="1">
                <a:solidFill>
                  <a:srgbClr val="6B7A85"/>
                </a:solidFill>
                <a:latin typeface="Calibri"/>
              </a:rPr>
              <a:t>Optical Fibers for Smart Cities · SimStudio</a:t>
            </a:r>
          </a:p>
        </p:txBody>
      </p:sp>
      <p:sp>
        <p:nvSpPr>
          <p:cNvPr id="6" name="TextBox 5"/>
          <p:cNvSpPr txBox="1"/>
          <p:nvPr/>
        </p:nvSpPr>
        <p:spPr>
          <a:xfrm>
            <a:off x="11338560" y="6455664"/>
            <a:ext cx="640080" cy="274320"/>
          </a:xfrm>
          <a:prstGeom prst="rect">
            <a:avLst/>
          </a:prstGeom>
          <a:noFill/>
        </p:spPr>
        <p:txBody>
          <a:bodyPr wrap="square" lIns="0" tIns="0" rIns="0" bIns="0" anchor="t">
            <a:spAutoFit/>
          </a:bodyPr>
          <a:lstStyle/>
          <a:p>
            <a:pPr algn="r">
              <a:lnSpc>
                <a:spcPct val="100000"/>
              </a:lnSpc>
              <a:spcAft>
                <a:spcPts val="0"/>
              </a:spcAft>
            </a:pPr>
            <a:r>
              <a:rPr sz="1000" b="0" i="0">
                <a:solidFill>
                  <a:srgbClr val="6B7A85"/>
                </a:solidFill>
                <a:latin typeface="Calibri"/>
              </a:rPr>
              <a:t>7</a:t>
            </a:r>
          </a:p>
        </p:txBody>
      </p:sp>
      <p:sp>
        <p:nvSpPr>
          <p:cNvPr id="7" name="TextBox 6"/>
          <p:cNvSpPr txBox="1"/>
          <p:nvPr/>
        </p:nvSpPr>
        <p:spPr>
          <a:xfrm>
            <a:off x="594360" y="1280160"/>
            <a:ext cx="5212080" cy="2359620"/>
          </a:xfrm>
          <a:prstGeom prst="rect">
            <a:avLst/>
          </a:prstGeom>
          <a:noFill/>
        </p:spPr>
        <p:txBody>
          <a:bodyPr wrap="square" lIns="0" tIns="0" rIns="0" bIns="0" anchor="t">
            <a:spAutoFit/>
          </a:bodyPr>
          <a:lstStyle/>
          <a:p>
            <a:pPr marL="171450" indent="-171450">
              <a:lnSpc>
                <a:spcPct val="106000"/>
              </a:lnSpc>
              <a:spcAft>
                <a:spcPts val="800"/>
              </a:spcAft>
              <a:buFont typeface="Courier New" panose="02070309020205020404" pitchFamily="49" charset="0"/>
              <a:buChar char="o"/>
            </a:pPr>
            <a:r>
              <a:rPr lang="en-US" sz="1200" b="1" dirty="0">
                <a:solidFill>
                  <a:srgbClr val="33373B"/>
                </a:solidFill>
              </a:rPr>
              <a:t>A read only, unsupervised model. it learns the distribution of normal driving and scores each vehicle by deviation. </a:t>
            </a:r>
          </a:p>
          <a:p>
            <a:pPr marL="171450" indent="-171450">
              <a:lnSpc>
                <a:spcPct val="106000"/>
              </a:lnSpc>
              <a:spcAft>
                <a:spcPts val="800"/>
              </a:spcAft>
              <a:buFont typeface="Courier New" panose="02070309020205020404" pitchFamily="49" charset="0"/>
              <a:buChar char="o"/>
            </a:pPr>
            <a:r>
              <a:rPr lang="en-US" sz="1200" dirty="0">
                <a:solidFill>
                  <a:srgbClr val="33373B"/>
                </a:solidFill>
              </a:rPr>
              <a:t>Layer 1: Each vehicle trajectory → a 166-feature behavioral fingerprint across 9 semantic groups.</a:t>
            </a:r>
          </a:p>
          <a:p>
            <a:pPr marL="171450" indent="-171450">
              <a:lnSpc>
                <a:spcPct val="106000"/>
              </a:lnSpc>
              <a:spcAft>
                <a:spcPts val="800"/>
              </a:spcAft>
              <a:buFont typeface="Courier New" panose="02070309020205020404" pitchFamily="49" charset="0"/>
              <a:buChar char="o"/>
            </a:pPr>
            <a:r>
              <a:rPr lang="en-US" sz="1200" b="1" dirty="0">
                <a:solidFill>
                  <a:srgbClr val="33373B"/>
                </a:solidFill>
              </a:rPr>
              <a:t>Layer 2: the per feature Z-score baseline flags a vehicle when its largest |Z| exceeds the decision threshold, and reports which features drove the flag.</a:t>
            </a:r>
          </a:p>
          <a:p>
            <a:pPr marL="171450" indent="-171450">
              <a:lnSpc>
                <a:spcPct val="106000"/>
              </a:lnSpc>
              <a:spcAft>
                <a:spcPts val="800"/>
              </a:spcAft>
              <a:buFont typeface="Courier New" panose="02070309020205020404" pitchFamily="49" charset="0"/>
              <a:buChar char="o"/>
            </a:pPr>
            <a:r>
              <a:rPr lang="en-US" sz="1200" dirty="0">
                <a:solidFill>
                  <a:srgbClr val="33373B"/>
                </a:solidFill>
              </a:rPr>
              <a:t>DAS weight is back-estimated from the Flamant–</a:t>
            </a:r>
            <a:r>
              <a:rPr lang="en-US" sz="1200" dirty="0" err="1">
                <a:solidFill>
                  <a:srgbClr val="33373B"/>
                </a:solidFill>
              </a:rPr>
              <a:t>Boussinesq</a:t>
            </a:r>
            <a:r>
              <a:rPr lang="en-US" sz="1200" dirty="0">
                <a:solidFill>
                  <a:srgbClr val="33373B"/>
                </a:solidFill>
              </a:rPr>
              <a:t> law to flag overweight or misclassified vehicles.</a:t>
            </a:r>
          </a:p>
          <a:p>
            <a:pPr marL="171450" indent="-171450">
              <a:lnSpc>
                <a:spcPct val="106000"/>
              </a:lnSpc>
              <a:spcAft>
                <a:spcPts val="800"/>
              </a:spcAft>
              <a:buFont typeface="Courier New" panose="02070309020205020404" pitchFamily="49" charset="0"/>
              <a:buChar char="o"/>
            </a:pPr>
            <a:r>
              <a:rPr lang="en-US" sz="1200" dirty="0">
                <a:solidFill>
                  <a:srgbClr val="33373B"/>
                </a:solidFill>
              </a:rPr>
              <a:t>CUSUM on NIS is a complementary temporal diagnostic: the Z-score says whether a vehicle is anomalous, CUSUM says when it started.</a:t>
            </a:r>
          </a:p>
        </p:txBody>
      </p:sp>
      <p:sp>
        <p:nvSpPr>
          <p:cNvPr id="8" name="TextBox 7"/>
          <p:cNvSpPr txBox="1"/>
          <p:nvPr/>
        </p:nvSpPr>
        <p:spPr>
          <a:xfrm>
            <a:off x="6172200" y="1207008"/>
            <a:ext cx="4846320" cy="274320"/>
          </a:xfrm>
          <a:prstGeom prst="rect">
            <a:avLst/>
          </a:prstGeom>
          <a:noFill/>
        </p:spPr>
        <p:txBody>
          <a:bodyPr wrap="square" lIns="0" tIns="0" rIns="0" bIns="0" anchor="t">
            <a:spAutoFit/>
          </a:bodyPr>
          <a:lstStyle/>
          <a:p>
            <a:pPr algn="l">
              <a:lnSpc>
                <a:spcPct val="100000"/>
              </a:lnSpc>
              <a:spcAft>
                <a:spcPts val="0"/>
              </a:spcAft>
            </a:pPr>
            <a:r>
              <a:rPr sz="1150" b="1" i="0">
                <a:solidFill>
                  <a:srgbClr val="1C7293"/>
                </a:solidFill>
                <a:latin typeface="Cambria"/>
              </a:rPr>
              <a:t>166 FEATURES PER VEHICLE  ·  9 GROUPS</a:t>
            </a:r>
          </a:p>
        </p:txBody>
      </p:sp>
      <p:sp>
        <p:nvSpPr>
          <p:cNvPr id="9" name="Rounded Rectangle 8"/>
          <p:cNvSpPr/>
          <p:nvPr/>
        </p:nvSpPr>
        <p:spPr>
          <a:xfrm>
            <a:off x="6172200" y="1600200"/>
            <a:ext cx="4846320" cy="40233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6355080" y="1691640"/>
            <a:ext cx="3840480" cy="256032"/>
          </a:xfrm>
          <a:prstGeom prst="rect">
            <a:avLst/>
          </a:prstGeom>
          <a:noFill/>
        </p:spPr>
        <p:txBody>
          <a:bodyPr wrap="square" lIns="0" tIns="0" rIns="0" bIns="0" anchor="t">
            <a:spAutoFit/>
          </a:bodyPr>
          <a:lstStyle/>
          <a:p>
            <a:pPr algn="l">
              <a:lnSpc>
                <a:spcPct val="100000"/>
              </a:lnSpc>
              <a:spcAft>
                <a:spcPts val="0"/>
              </a:spcAft>
            </a:pPr>
            <a:r>
              <a:rPr sz="1150" b="0" i="0">
                <a:solidFill>
                  <a:srgbClr val="33424D"/>
                </a:solidFill>
                <a:latin typeface="Calibri"/>
              </a:rPr>
              <a:t>Coverage &amp; sensor utility</a:t>
            </a:r>
          </a:p>
        </p:txBody>
      </p:sp>
      <p:sp>
        <p:nvSpPr>
          <p:cNvPr id="11" name="TextBox 10"/>
          <p:cNvSpPr txBox="1"/>
          <p:nvPr/>
        </p:nvSpPr>
        <p:spPr>
          <a:xfrm>
            <a:off x="10149840" y="1691640"/>
            <a:ext cx="731520" cy="256032"/>
          </a:xfrm>
          <a:prstGeom prst="rect">
            <a:avLst/>
          </a:prstGeom>
          <a:noFill/>
        </p:spPr>
        <p:txBody>
          <a:bodyPr wrap="square" lIns="0" tIns="0" rIns="0" bIns="0" anchor="t">
            <a:spAutoFit/>
          </a:bodyPr>
          <a:lstStyle/>
          <a:p>
            <a:pPr algn="r">
              <a:lnSpc>
                <a:spcPct val="100000"/>
              </a:lnSpc>
              <a:spcAft>
                <a:spcPts val="0"/>
              </a:spcAft>
            </a:pPr>
            <a:r>
              <a:rPr sz="1150" b="1" i="0">
                <a:solidFill>
                  <a:srgbClr val="1C7293"/>
                </a:solidFill>
                <a:latin typeface="Calibri"/>
              </a:rPr>
              <a:t>54</a:t>
            </a:r>
          </a:p>
        </p:txBody>
      </p:sp>
      <p:sp>
        <p:nvSpPr>
          <p:cNvPr id="12" name="Rounded Rectangle 11"/>
          <p:cNvSpPr/>
          <p:nvPr/>
        </p:nvSpPr>
        <p:spPr>
          <a:xfrm>
            <a:off x="6172200" y="2034540"/>
            <a:ext cx="4846320" cy="402336"/>
          </a:xfrm>
          <a:prstGeom prst="roundRect">
            <a:avLst>
              <a:gd name="adj" fmla="val 6000"/>
            </a:avLst>
          </a:prstGeom>
          <a:solidFill>
            <a:srgbClr val="FFFFFF"/>
          </a:solidFill>
          <a:ln w="9525">
            <a:solidFill>
              <a:srgbClr val="D5DD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6355080" y="2125980"/>
            <a:ext cx="3840480" cy="256032"/>
          </a:xfrm>
          <a:prstGeom prst="rect">
            <a:avLst/>
          </a:prstGeom>
          <a:noFill/>
        </p:spPr>
        <p:txBody>
          <a:bodyPr wrap="square" lIns="0" tIns="0" rIns="0" bIns="0" anchor="t">
            <a:spAutoFit/>
          </a:bodyPr>
          <a:lstStyle/>
          <a:p>
            <a:pPr algn="l">
              <a:lnSpc>
                <a:spcPct val="100000"/>
              </a:lnSpc>
              <a:spcAft>
                <a:spcPts val="0"/>
              </a:spcAft>
            </a:pPr>
            <a:r>
              <a:rPr sz="1150" b="0" i="0">
                <a:solidFill>
                  <a:srgbClr val="33424D"/>
                </a:solidFill>
                <a:latin typeface="Calibri"/>
              </a:rPr>
              <a:t>Kinematics</a:t>
            </a:r>
          </a:p>
        </p:txBody>
      </p:sp>
      <p:sp>
        <p:nvSpPr>
          <p:cNvPr id="14" name="TextBox 13"/>
          <p:cNvSpPr txBox="1"/>
          <p:nvPr/>
        </p:nvSpPr>
        <p:spPr>
          <a:xfrm>
            <a:off x="10149840" y="2125980"/>
            <a:ext cx="731520" cy="256032"/>
          </a:xfrm>
          <a:prstGeom prst="rect">
            <a:avLst/>
          </a:prstGeom>
          <a:noFill/>
        </p:spPr>
        <p:txBody>
          <a:bodyPr wrap="square" lIns="0" tIns="0" rIns="0" bIns="0" anchor="t">
            <a:spAutoFit/>
          </a:bodyPr>
          <a:lstStyle/>
          <a:p>
            <a:pPr algn="r">
              <a:lnSpc>
                <a:spcPct val="100000"/>
              </a:lnSpc>
              <a:spcAft>
                <a:spcPts val="0"/>
              </a:spcAft>
            </a:pPr>
            <a:r>
              <a:rPr sz="1150" b="1" i="0">
                <a:solidFill>
                  <a:srgbClr val="1C7293"/>
                </a:solidFill>
                <a:latin typeface="Calibri"/>
              </a:rPr>
              <a:t>35</a:t>
            </a:r>
          </a:p>
        </p:txBody>
      </p:sp>
      <p:sp>
        <p:nvSpPr>
          <p:cNvPr id="15" name="Rounded Rectangle 14"/>
          <p:cNvSpPr/>
          <p:nvPr/>
        </p:nvSpPr>
        <p:spPr>
          <a:xfrm>
            <a:off x="6172200" y="2468880"/>
            <a:ext cx="4846320" cy="40233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6355080" y="2560320"/>
            <a:ext cx="3840480" cy="256032"/>
          </a:xfrm>
          <a:prstGeom prst="rect">
            <a:avLst/>
          </a:prstGeom>
          <a:noFill/>
        </p:spPr>
        <p:txBody>
          <a:bodyPr wrap="square" lIns="0" tIns="0" rIns="0" bIns="0" anchor="t">
            <a:spAutoFit/>
          </a:bodyPr>
          <a:lstStyle/>
          <a:p>
            <a:pPr algn="l">
              <a:lnSpc>
                <a:spcPct val="100000"/>
              </a:lnSpc>
              <a:spcAft>
                <a:spcPts val="0"/>
              </a:spcAft>
            </a:pPr>
            <a:r>
              <a:rPr sz="1150" b="0" i="0">
                <a:solidFill>
                  <a:srgbClr val="33424D"/>
                </a:solidFill>
                <a:latin typeface="Calibri"/>
              </a:rPr>
              <a:t>Inter-vehicle interaction</a:t>
            </a:r>
          </a:p>
        </p:txBody>
      </p:sp>
      <p:sp>
        <p:nvSpPr>
          <p:cNvPr id="17" name="TextBox 16"/>
          <p:cNvSpPr txBox="1"/>
          <p:nvPr/>
        </p:nvSpPr>
        <p:spPr>
          <a:xfrm>
            <a:off x="10149840" y="2560320"/>
            <a:ext cx="731520" cy="256032"/>
          </a:xfrm>
          <a:prstGeom prst="rect">
            <a:avLst/>
          </a:prstGeom>
          <a:noFill/>
        </p:spPr>
        <p:txBody>
          <a:bodyPr wrap="square" lIns="0" tIns="0" rIns="0" bIns="0" anchor="t">
            <a:spAutoFit/>
          </a:bodyPr>
          <a:lstStyle/>
          <a:p>
            <a:pPr algn="r">
              <a:lnSpc>
                <a:spcPct val="100000"/>
              </a:lnSpc>
              <a:spcAft>
                <a:spcPts val="0"/>
              </a:spcAft>
            </a:pPr>
            <a:r>
              <a:rPr sz="1150" b="1" i="0">
                <a:solidFill>
                  <a:srgbClr val="1C7293"/>
                </a:solidFill>
                <a:latin typeface="Calibri"/>
              </a:rPr>
              <a:t>20</a:t>
            </a:r>
          </a:p>
        </p:txBody>
      </p:sp>
      <p:sp>
        <p:nvSpPr>
          <p:cNvPr id="18" name="Rounded Rectangle 17"/>
          <p:cNvSpPr/>
          <p:nvPr/>
        </p:nvSpPr>
        <p:spPr>
          <a:xfrm>
            <a:off x="6172200" y="2903220"/>
            <a:ext cx="4846320" cy="402336"/>
          </a:xfrm>
          <a:prstGeom prst="roundRect">
            <a:avLst>
              <a:gd name="adj" fmla="val 6000"/>
            </a:avLst>
          </a:prstGeom>
          <a:solidFill>
            <a:srgbClr val="FFFFFF"/>
          </a:solidFill>
          <a:ln w="9525">
            <a:solidFill>
              <a:srgbClr val="D5DD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TextBox 18"/>
          <p:cNvSpPr txBox="1"/>
          <p:nvPr/>
        </p:nvSpPr>
        <p:spPr>
          <a:xfrm>
            <a:off x="6355080" y="2994660"/>
            <a:ext cx="3840480" cy="256032"/>
          </a:xfrm>
          <a:prstGeom prst="rect">
            <a:avLst/>
          </a:prstGeom>
          <a:noFill/>
        </p:spPr>
        <p:txBody>
          <a:bodyPr wrap="square" lIns="0" tIns="0" rIns="0" bIns="0" anchor="t">
            <a:spAutoFit/>
          </a:bodyPr>
          <a:lstStyle/>
          <a:p>
            <a:pPr algn="l">
              <a:lnSpc>
                <a:spcPct val="100000"/>
              </a:lnSpc>
              <a:spcAft>
                <a:spcPts val="0"/>
              </a:spcAft>
            </a:pPr>
            <a:r>
              <a:rPr sz="1150" b="0" i="0">
                <a:solidFill>
                  <a:srgbClr val="33424D"/>
                </a:solidFill>
                <a:latin typeface="Calibri"/>
              </a:rPr>
              <a:t>Kalman-filter quality</a:t>
            </a:r>
          </a:p>
        </p:txBody>
      </p:sp>
      <p:sp>
        <p:nvSpPr>
          <p:cNvPr id="20" name="TextBox 19"/>
          <p:cNvSpPr txBox="1"/>
          <p:nvPr/>
        </p:nvSpPr>
        <p:spPr>
          <a:xfrm>
            <a:off x="10149840" y="2994660"/>
            <a:ext cx="731520" cy="256032"/>
          </a:xfrm>
          <a:prstGeom prst="rect">
            <a:avLst/>
          </a:prstGeom>
          <a:noFill/>
        </p:spPr>
        <p:txBody>
          <a:bodyPr wrap="square" lIns="0" tIns="0" rIns="0" bIns="0" anchor="t">
            <a:spAutoFit/>
          </a:bodyPr>
          <a:lstStyle/>
          <a:p>
            <a:pPr algn="r">
              <a:lnSpc>
                <a:spcPct val="100000"/>
              </a:lnSpc>
              <a:spcAft>
                <a:spcPts val="0"/>
              </a:spcAft>
            </a:pPr>
            <a:r>
              <a:rPr sz="1150" b="1" i="0">
                <a:solidFill>
                  <a:srgbClr val="1C7293"/>
                </a:solidFill>
                <a:latin typeface="Calibri"/>
              </a:rPr>
              <a:t>13</a:t>
            </a:r>
          </a:p>
        </p:txBody>
      </p:sp>
      <p:sp>
        <p:nvSpPr>
          <p:cNvPr id="21" name="Rounded Rectangle 20"/>
          <p:cNvSpPr/>
          <p:nvPr/>
        </p:nvSpPr>
        <p:spPr>
          <a:xfrm>
            <a:off x="6172200" y="3337560"/>
            <a:ext cx="4846320" cy="40233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TextBox 21"/>
          <p:cNvSpPr txBox="1"/>
          <p:nvPr/>
        </p:nvSpPr>
        <p:spPr>
          <a:xfrm>
            <a:off x="6355080" y="3429000"/>
            <a:ext cx="3840480" cy="256032"/>
          </a:xfrm>
          <a:prstGeom prst="rect">
            <a:avLst/>
          </a:prstGeom>
          <a:noFill/>
        </p:spPr>
        <p:txBody>
          <a:bodyPr wrap="square" lIns="0" tIns="0" rIns="0" bIns="0" anchor="t">
            <a:spAutoFit/>
          </a:bodyPr>
          <a:lstStyle/>
          <a:p>
            <a:pPr algn="l">
              <a:lnSpc>
                <a:spcPct val="100000"/>
              </a:lnSpc>
              <a:spcAft>
                <a:spcPts val="0"/>
              </a:spcAft>
            </a:pPr>
            <a:r>
              <a:rPr sz="1150" b="0" i="0">
                <a:solidFill>
                  <a:srgbClr val="33424D"/>
                </a:solidFill>
                <a:latin typeface="Calibri"/>
              </a:rPr>
              <a:t>Sensor disagreement</a:t>
            </a:r>
          </a:p>
        </p:txBody>
      </p:sp>
      <p:sp>
        <p:nvSpPr>
          <p:cNvPr id="23" name="TextBox 22"/>
          <p:cNvSpPr txBox="1"/>
          <p:nvPr/>
        </p:nvSpPr>
        <p:spPr>
          <a:xfrm>
            <a:off x="10149840" y="3429000"/>
            <a:ext cx="731520" cy="256032"/>
          </a:xfrm>
          <a:prstGeom prst="rect">
            <a:avLst/>
          </a:prstGeom>
          <a:noFill/>
        </p:spPr>
        <p:txBody>
          <a:bodyPr wrap="square" lIns="0" tIns="0" rIns="0" bIns="0" anchor="t">
            <a:spAutoFit/>
          </a:bodyPr>
          <a:lstStyle/>
          <a:p>
            <a:pPr algn="r">
              <a:lnSpc>
                <a:spcPct val="100000"/>
              </a:lnSpc>
              <a:spcAft>
                <a:spcPts val="0"/>
              </a:spcAft>
            </a:pPr>
            <a:r>
              <a:rPr sz="1150" b="1" i="0">
                <a:solidFill>
                  <a:srgbClr val="1C7293"/>
                </a:solidFill>
                <a:latin typeface="Calibri"/>
              </a:rPr>
              <a:t>11</a:t>
            </a:r>
          </a:p>
        </p:txBody>
      </p:sp>
      <p:sp>
        <p:nvSpPr>
          <p:cNvPr id="24" name="Rounded Rectangle 23"/>
          <p:cNvSpPr/>
          <p:nvPr/>
        </p:nvSpPr>
        <p:spPr>
          <a:xfrm>
            <a:off x="6172200" y="3771900"/>
            <a:ext cx="4846320" cy="402336"/>
          </a:xfrm>
          <a:prstGeom prst="roundRect">
            <a:avLst>
              <a:gd name="adj" fmla="val 6000"/>
            </a:avLst>
          </a:prstGeom>
          <a:solidFill>
            <a:srgbClr val="FFFFFF"/>
          </a:solidFill>
          <a:ln w="9525">
            <a:solidFill>
              <a:srgbClr val="D5DD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TextBox 24"/>
          <p:cNvSpPr txBox="1"/>
          <p:nvPr/>
        </p:nvSpPr>
        <p:spPr>
          <a:xfrm>
            <a:off x="6355080" y="3863339"/>
            <a:ext cx="3840480" cy="256032"/>
          </a:xfrm>
          <a:prstGeom prst="rect">
            <a:avLst/>
          </a:prstGeom>
          <a:noFill/>
        </p:spPr>
        <p:txBody>
          <a:bodyPr wrap="square" lIns="0" tIns="0" rIns="0" bIns="0" anchor="t">
            <a:spAutoFit/>
          </a:bodyPr>
          <a:lstStyle/>
          <a:p>
            <a:pPr algn="l">
              <a:lnSpc>
                <a:spcPct val="100000"/>
              </a:lnSpc>
              <a:spcAft>
                <a:spcPts val="0"/>
              </a:spcAft>
            </a:pPr>
            <a:r>
              <a:rPr sz="1150" b="0" i="0">
                <a:solidFill>
                  <a:srgbClr val="33424D"/>
                </a:solidFill>
                <a:latin typeface="Calibri"/>
              </a:rPr>
              <a:t>DAS signal quality</a:t>
            </a:r>
          </a:p>
        </p:txBody>
      </p:sp>
      <p:sp>
        <p:nvSpPr>
          <p:cNvPr id="26" name="TextBox 25"/>
          <p:cNvSpPr txBox="1"/>
          <p:nvPr/>
        </p:nvSpPr>
        <p:spPr>
          <a:xfrm>
            <a:off x="10149840" y="3863339"/>
            <a:ext cx="731520" cy="256032"/>
          </a:xfrm>
          <a:prstGeom prst="rect">
            <a:avLst/>
          </a:prstGeom>
          <a:noFill/>
        </p:spPr>
        <p:txBody>
          <a:bodyPr wrap="square" lIns="0" tIns="0" rIns="0" bIns="0" anchor="t">
            <a:spAutoFit/>
          </a:bodyPr>
          <a:lstStyle/>
          <a:p>
            <a:pPr algn="r">
              <a:lnSpc>
                <a:spcPct val="100000"/>
              </a:lnSpc>
              <a:spcAft>
                <a:spcPts val="0"/>
              </a:spcAft>
            </a:pPr>
            <a:r>
              <a:rPr sz="1150" b="1" i="0">
                <a:solidFill>
                  <a:srgbClr val="1C7293"/>
                </a:solidFill>
                <a:latin typeface="Calibri"/>
              </a:rPr>
              <a:t>11</a:t>
            </a:r>
          </a:p>
        </p:txBody>
      </p:sp>
      <p:sp>
        <p:nvSpPr>
          <p:cNvPr id="27" name="Rounded Rectangle 26"/>
          <p:cNvSpPr/>
          <p:nvPr/>
        </p:nvSpPr>
        <p:spPr>
          <a:xfrm>
            <a:off x="6172200" y="4206240"/>
            <a:ext cx="4846320" cy="40233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8" name="TextBox 27"/>
          <p:cNvSpPr txBox="1"/>
          <p:nvPr/>
        </p:nvSpPr>
        <p:spPr>
          <a:xfrm>
            <a:off x="6355080" y="4297679"/>
            <a:ext cx="3840480" cy="256032"/>
          </a:xfrm>
          <a:prstGeom prst="rect">
            <a:avLst/>
          </a:prstGeom>
          <a:noFill/>
        </p:spPr>
        <p:txBody>
          <a:bodyPr wrap="square" lIns="0" tIns="0" rIns="0" bIns="0" anchor="t">
            <a:spAutoFit/>
          </a:bodyPr>
          <a:lstStyle/>
          <a:p>
            <a:pPr algn="l">
              <a:lnSpc>
                <a:spcPct val="100000"/>
              </a:lnSpc>
              <a:spcAft>
                <a:spcPts val="0"/>
              </a:spcAft>
            </a:pPr>
            <a:r>
              <a:rPr sz="1150" b="0" i="0">
                <a:solidFill>
                  <a:srgbClr val="33424D"/>
                </a:solidFill>
                <a:latin typeface="Calibri"/>
              </a:rPr>
              <a:t>Camera &amp; GPS</a:t>
            </a:r>
          </a:p>
        </p:txBody>
      </p:sp>
      <p:sp>
        <p:nvSpPr>
          <p:cNvPr id="29" name="TextBox 28"/>
          <p:cNvSpPr txBox="1"/>
          <p:nvPr/>
        </p:nvSpPr>
        <p:spPr>
          <a:xfrm>
            <a:off x="10149840" y="4297679"/>
            <a:ext cx="731520" cy="256032"/>
          </a:xfrm>
          <a:prstGeom prst="rect">
            <a:avLst/>
          </a:prstGeom>
          <a:noFill/>
        </p:spPr>
        <p:txBody>
          <a:bodyPr wrap="square" lIns="0" tIns="0" rIns="0" bIns="0" anchor="t">
            <a:spAutoFit/>
          </a:bodyPr>
          <a:lstStyle/>
          <a:p>
            <a:pPr algn="r">
              <a:lnSpc>
                <a:spcPct val="100000"/>
              </a:lnSpc>
              <a:spcAft>
                <a:spcPts val="0"/>
              </a:spcAft>
            </a:pPr>
            <a:r>
              <a:rPr sz="1150" b="1" i="0">
                <a:solidFill>
                  <a:srgbClr val="1C7293"/>
                </a:solidFill>
                <a:latin typeface="Calibri"/>
              </a:rPr>
              <a:t>8</a:t>
            </a:r>
          </a:p>
        </p:txBody>
      </p:sp>
      <p:sp>
        <p:nvSpPr>
          <p:cNvPr id="30" name="Rounded Rectangle 29"/>
          <p:cNvSpPr/>
          <p:nvPr/>
        </p:nvSpPr>
        <p:spPr>
          <a:xfrm>
            <a:off x="6172200" y="4640579"/>
            <a:ext cx="4846320" cy="402336"/>
          </a:xfrm>
          <a:prstGeom prst="roundRect">
            <a:avLst>
              <a:gd name="adj" fmla="val 6000"/>
            </a:avLst>
          </a:prstGeom>
          <a:solidFill>
            <a:srgbClr val="FFFFFF"/>
          </a:solidFill>
          <a:ln w="9525">
            <a:solidFill>
              <a:srgbClr val="D5DD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1" name="TextBox 30"/>
          <p:cNvSpPr txBox="1"/>
          <p:nvPr/>
        </p:nvSpPr>
        <p:spPr>
          <a:xfrm>
            <a:off x="6355080" y="4732019"/>
            <a:ext cx="3840480" cy="256032"/>
          </a:xfrm>
          <a:prstGeom prst="rect">
            <a:avLst/>
          </a:prstGeom>
          <a:noFill/>
        </p:spPr>
        <p:txBody>
          <a:bodyPr wrap="square" lIns="0" tIns="0" rIns="0" bIns="0" anchor="t">
            <a:spAutoFit/>
          </a:bodyPr>
          <a:lstStyle/>
          <a:p>
            <a:pPr algn="l">
              <a:lnSpc>
                <a:spcPct val="100000"/>
              </a:lnSpc>
              <a:spcAft>
                <a:spcPts val="0"/>
              </a:spcAft>
            </a:pPr>
            <a:r>
              <a:rPr sz="1150" b="0" i="0">
                <a:solidFill>
                  <a:srgbClr val="33424D"/>
                </a:solidFill>
                <a:latin typeface="Calibri"/>
              </a:rPr>
              <a:t>DAS weight estimation</a:t>
            </a:r>
          </a:p>
        </p:txBody>
      </p:sp>
      <p:sp>
        <p:nvSpPr>
          <p:cNvPr id="32" name="TextBox 31"/>
          <p:cNvSpPr txBox="1"/>
          <p:nvPr/>
        </p:nvSpPr>
        <p:spPr>
          <a:xfrm>
            <a:off x="10149840" y="4732019"/>
            <a:ext cx="731520" cy="256032"/>
          </a:xfrm>
          <a:prstGeom prst="rect">
            <a:avLst/>
          </a:prstGeom>
          <a:noFill/>
        </p:spPr>
        <p:txBody>
          <a:bodyPr wrap="square" lIns="0" tIns="0" rIns="0" bIns="0" anchor="t">
            <a:spAutoFit/>
          </a:bodyPr>
          <a:lstStyle/>
          <a:p>
            <a:pPr algn="r">
              <a:lnSpc>
                <a:spcPct val="100000"/>
              </a:lnSpc>
              <a:spcAft>
                <a:spcPts val="0"/>
              </a:spcAft>
            </a:pPr>
            <a:r>
              <a:rPr sz="1150" b="1" i="0">
                <a:solidFill>
                  <a:srgbClr val="1C7293"/>
                </a:solidFill>
                <a:latin typeface="Calibri"/>
              </a:rPr>
              <a:t>3</a:t>
            </a:r>
          </a:p>
        </p:txBody>
      </p:sp>
      <p:sp>
        <p:nvSpPr>
          <p:cNvPr id="33" name="Rounded Rectangle 32"/>
          <p:cNvSpPr/>
          <p:nvPr/>
        </p:nvSpPr>
        <p:spPr>
          <a:xfrm>
            <a:off x="6172200" y="5074919"/>
            <a:ext cx="4846320" cy="40233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4" name="TextBox 33"/>
          <p:cNvSpPr txBox="1"/>
          <p:nvPr/>
        </p:nvSpPr>
        <p:spPr>
          <a:xfrm>
            <a:off x="6355080" y="5166359"/>
            <a:ext cx="3840480" cy="256032"/>
          </a:xfrm>
          <a:prstGeom prst="rect">
            <a:avLst/>
          </a:prstGeom>
          <a:noFill/>
        </p:spPr>
        <p:txBody>
          <a:bodyPr wrap="square" lIns="0" tIns="0" rIns="0" bIns="0" anchor="t">
            <a:spAutoFit/>
          </a:bodyPr>
          <a:lstStyle/>
          <a:p>
            <a:pPr algn="l">
              <a:lnSpc>
                <a:spcPct val="100000"/>
              </a:lnSpc>
              <a:spcAft>
                <a:spcPts val="0"/>
              </a:spcAft>
            </a:pPr>
            <a:r>
              <a:rPr sz="1150" b="0" i="0">
                <a:solidFill>
                  <a:srgbClr val="33424D"/>
                </a:solidFill>
                <a:latin typeface="Calibri"/>
              </a:rPr>
              <a:t>Scenario context</a:t>
            </a:r>
          </a:p>
        </p:txBody>
      </p:sp>
      <p:sp>
        <p:nvSpPr>
          <p:cNvPr id="35" name="TextBox 34"/>
          <p:cNvSpPr txBox="1"/>
          <p:nvPr/>
        </p:nvSpPr>
        <p:spPr>
          <a:xfrm>
            <a:off x="10149840" y="5166359"/>
            <a:ext cx="731520" cy="256032"/>
          </a:xfrm>
          <a:prstGeom prst="rect">
            <a:avLst/>
          </a:prstGeom>
          <a:noFill/>
        </p:spPr>
        <p:txBody>
          <a:bodyPr wrap="square" lIns="0" tIns="0" rIns="0" bIns="0" anchor="t">
            <a:spAutoFit/>
          </a:bodyPr>
          <a:lstStyle/>
          <a:p>
            <a:pPr algn="r">
              <a:lnSpc>
                <a:spcPct val="100000"/>
              </a:lnSpc>
              <a:spcAft>
                <a:spcPts val="0"/>
              </a:spcAft>
            </a:pPr>
            <a:r>
              <a:rPr sz="1150" b="1" i="0">
                <a:solidFill>
                  <a:srgbClr val="1C7293"/>
                </a:solidFill>
                <a:latin typeface="Calibri"/>
              </a:rPr>
              <a:t>1</a:t>
            </a:r>
          </a:p>
        </p:txBody>
      </p:sp>
      <p:sp>
        <p:nvSpPr>
          <p:cNvPr id="36" name="TextBox 35"/>
          <p:cNvSpPr txBox="1"/>
          <p:nvPr/>
        </p:nvSpPr>
        <p:spPr>
          <a:xfrm>
            <a:off x="6172200" y="5541264"/>
            <a:ext cx="4846320" cy="274320"/>
          </a:xfrm>
          <a:prstGeom prst="rect">
            <a:avLst/>
          </a:prstGeom>
          <a:noFill/>
        </p:spPr>
        <p:txBody>
          <a:bodyPr wrap="square" lIns="0" tIns="0" rIns="0" bIns="0" anchor="t">
            <a:spAutoFit/>
          </a:bodyPr>
          <a:lstStyle/>
          <a:p>
            <a:pPr algn="l">
              <a:lnSpc>
                <a:spcPct val="100000"/>
              </a:lnSpc>
              <a:spcAft>
                <a:spcPts val="0"/>
              </a:spcAft>
            </a:pPr>
            <a:r>
              <a:rPr sz="950" b="0" i="1">
                <a:solidFill>
                  <a:srgbClr val="6B7A85"/>
                </a:solidFill>
                <a:latin typeface="Calibri"/>
              </a:rPr>
              <a:t>156 features are scored by the model (identifiers &amp; metadata excluded).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1.jpg"/>
          <p:cNvPicPr>
            <a:picLocks noChangeAspect="1"/>
          </p:cNvPicPr>
          <p:nvPr/>
        </p:nvPicPr>
        <p:blipFill>
          <a:blip r:embed="rId3"/>
          <a:stretch>
            <a:fillRect/>
          </a:stretch>
        </p:blipFill>
        <p:spPr>
          <a:xfrm>
            <a:off x="292608" y="274320"/>
            <a:ext cx="2490940" cy="566928"/>
          </a:xfrm>
          <a:prstGeom prst="rect">
            <a:avLst/>
          </a:prstGeom>
        </p:spPr>
      </p:pic>
      <p:pic>
        <p:nvPicPr>
          <p:cNvPr id="3" name="Picture 2" descr="image2.png"/>
          <p:cNvPicPr>
            <a:picLocks noChangeAspect="1"/>
          </p:cNvPicPr>
          <p:nvPr/>
        </p:nvPicPr>
        <p:blipFill>
          <a:blip r:embed="rId4"/>
          <a:stretch>
            <a:fillRect/>
          </a:stretch>
        </p:blipFill>
        <p:spPr>
          <a:xfrm>
            <a:off x="11292840" y="219456"/>
            <a:ext cx="635887" cy="658368"/>
          </a:xfrm>
          <a:prstGeom prst="rect">
            <a:avLst/>
          </a:prstGeom>
        </p:spPr>
      </p:pic>
      <p:sp>
        <p:nvSpPr>
          <p:cNvPr id="4" name="TextBox 3"/>
          <p:cNvSpPr txBox="1"/>
          <p:nvPr/>
        </p:nvSpPr>
        <p:spPr>
          <a:xfrm>
            <a:off x="1737360" y="301752"/>
            <a:ext cx="8686800" cy="384721"/>
          </a:xfrm>
          <a:prstGeom prst="rect">
            <a:avLst/>
          </a:prstGeom>
          <a:noFill/>
        </p:spPr>
        <p:txBody>
          <a:bodyPr wrap="square" lIns="0" tIns="0" rIns="0" bIns="0" anchor="t">
            <a:spAutoFit/>
          </a:bodyPr>
          <a:lstStyle/>
          <a:p>
            <a:pPr algn="ctr">
              <a:lnSpc>
                <a:spcPct val="100000"/>
              </a:lnSpc>
              <a:spcAft>
                <a:spcPts val="0"/>
              </a:spcAft>
            </a:pPr>
            <a:r>
              <a:rPr sz="2500" b="1" i="0" dirty="0">
                <a:solidFill>
                  <a:srgbClr val="0B4F6C"/>
                </a:solidFill>
                <a:latin typeface="Cambria"/>
              </a:rPr>
              <a:t>Demonstration </a:t>
            </a:r>
            <a:r>
              <a:rPr sz="2500" b="1" i="0" dirty="0" err="1">
                <a:solidFill>
                  <a:srgbClr val="0B4F6C"/>
                </a:solidFill>
                <a:latin typeface="Cambria"/>
              </a:rPr>
              <a:t>SimStudio</a:t>
            </a:r>
            <a:endParaRPr sz="2500" b="1" i="0" dirty="0">
              <a:solidFill>
                <a:srgbClr val="0B4F6C"/>
              </a:solidFill>
              <a:latin typeface="Cambria"/>
            </a:endParaRPr>
          </a:p>
        </p:txBody>
      </p:sp>
      <p:sp>
        <p:nvSpPr>
          <p:cNvPr id="5" name="TextBox 4"/>
          <p:cNvSpPr txBox="1"/>
          <p:nvPr/>
        </p:nvSpPr>
        <p:spPr>
          <a:xfrm>
            <a:off x="320040" y="6455664"/>
            <a:ext cx="5486400" cy="274320"/>
          </a:xfrm>
          <a:prstGeom prst="rect">
            <a:avLst/>
          </a:prstGeom>
          <a:noFill/>
        </p:spPr>
        <p:txBody>
          <a:bodyPr wrap="square" lIns="0" tIns="0" rIns="0" bIns="0" anchor="t">
            <a:spAutoFit/>
          </a:bodyPr>
          <a:lstStyle/>
          <a:p>
            <a:pPr algn="l">
              <a:lnSpc>
                <a:spcPct val="100000"/>
              </a:lnSpc>
              <a:spcAft>
                <a:spcPts val="0"/>
              </a:spcAft>
            </a:pPr>
            <a:r>
              <a:rPr sz="900" b="0" i="1">
                <a:solidFill>
                  <a:srgbClr val="6B7A85"/>
                </a:solidFill>
                <a:latin typeface="Calibri"/>
              </a:rPr>
              <a:t>Optical Fibers for Smart Cities · SimStudio</a:t>
            </a:r>
          </a:p>
        </p:txBody>
      </p:sp>
      <p:sp>
        <p:nvSpPr>
          <p:cNvPr id="6" name="TextBox 5"/>
          <p:cNvSpPr txBox="1"/>
          <p:nvPr/>
        </p:nvSpPr>
        <p:spPr>
          <a:xfrm>
            <a:off x="11338560" y="6455664"/>
            <a:ext cx="640080" cy="274320"/>
          </a:xfrm>
          <a:prstGeom prst="rect">
            <a:avLst/>
          </a:prstGeom>
          <a:noFill/>
        </p:spPr>
        <p:txBody>
          <a:bodyPr wrap="square" lIns="0" tIns="0" rIns="0" bIns="0" anchor="t">
            <a:spAutoFit/>
          </a:bodyPr>
          <a:lstStyle/>
          <a:p>
            <a:pPr algn="r">
              <a:lnSpc>
                <a:spcPct val="100000"/>
              </a:lnSpc>
              <a:spcAft>
                <a:spcPts val="0"/>
              </a:spcAft>
            </a:pPr>
            <a:r>
              <a:rPr sz="1000" b="0" i="0">
                <a:solidFill>
                  <a:srgbClr val="6B7A85"/>
                </a:solidFill>
                <a:latin typeface="Calibri"/>
              </a:rPr>
              <a:t>8</a:t>
            </a:r>
          </a:p>
        </p:txBody>
      </p:sp>
      <p:sp>
        <p:nvSpPr>
          <p:cNvPr id="7" name="Rounded Rectangle 6"/>
          <p:cNvSpPr/>
          <p:nvPr/>
        </p:nvSpPr>
        <p:spPr>
          <a:xfrm>
            <a:off x="594360" y="1170432"/>
            <a:ext cx="10881360" cy="566928"/>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square" lIns="228600" rtlCol="0" anchor="ctr"/>
          <a:lstStyle/>
          <a:p>
            <a:pPr algn="l"/>
            <a:r>
              <a:rPr sz="1500" b="1" dirty="0">
                <a:solidFill>
                  <a:srgbClr val="FFFFFF"/>
                </a:solidFill>
                <a:latin typeface="Cambria"/>
              </a:rPr>
              <a:t>▶  LIVE DEMO</a:t>
            </a:r>
            <a:endParaRPr sz="1050" i="1" dirty="0">
              <a:solidFill>
                <a:srgbClr val="8EAFC2"/>
              </a:solidFill>
              <a:latin typeface="Calibri"/>
            </a:endParaRPr>
          </a:p>
        </p:txBody>
      </p:sp>
      <p:sp>
        <p:nvSpPr>
          <p:cNvPr id="8" name="Rounded Rectangle 7"/>
          <p:cNvSpPr/>
          <p:nvPr/>
        </p:nvSpPr>
        <p:spPr>
          <a:xfrm>
            <a:off x="594360" y="1920240"/>
            <a:ext cx="2651760" cy="233172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pic>
        <p:nvPicPr>
          <p:cNvPr id="9" name="Picture 8" descr="image10.png"/>
          <p:cNvPicPr>
            <a:picLocks noChangeAspect="1"/>
          </p:cNvPicPr>
          <p:nvPr/>
        </p:nvPicPr>
        <p:blipFill>
          <a:blip r:embed="rId5"/>
          <a:stretch>
            <a:fillRect/>
          </a:stretch>
        </p:blipFill>
        <p:spPr>
          <a:xfrm>
            <a:off x="685800" y="2029968"/>
            <a:ext cx="2468880" cy="1485617"/>
          </a:xfrm>
          <a:prstGeom prst="rect">
            <a:avLst/>
          </a:prstGeom>
        </p:spPr>
      </p:pic>
      <p:sp>
        <p:nvSpPr>
          <p:cNvPr id="10" name="TextBox 9"/>
          <p:cNvSpPr txBox="1"/>
          <p:nvPr/>
        </p:nvSpPr>
        <p:spPr>
          <a:xfrm>
            <a:off x="685800" y="3931920"/>
            <a:ext cx="2468880" cy="274320"/>
          </a:xfrm>
          <a:prstGeom prst="rect">
            <a:avLst/>
          </a:prstGeom>
          <a:noFill/>
        </p:spPr>
        <p:txBody>
          <a:bodyPr wrap="square" lIns="0" tIns="0" rIns="0" bIns="0" anchor="t">
            <a:spAutoFit/>
          </a:bodyPr>
          <a:lstStyle/>
          <a:p>
            <a:pPr algn="ctr">
              <a:lnSpc>
                <a:spcPct val="100000"/>
              </a:lnSpc>
              <a:spcAft>
                <a:spcPts val="0"/>
              </a:spcAft>
            </a:pPr>
            <a:r>
              <a:rPr sz="1100" b="1" i="0">
                <a:solidFill>
                  <a:srgbClr val="0B4F6C"/>
                </a:solidFill>
                <a:latin typeface="Calibri"/>
              </a:rPr>
              <a:t>1 · Import real streets (OSM)</a:t>
            </a:r>
          </a:p>
        </p:txBody>
      </p:sp>
      <p:sp>
        <p:nvSpPr>
          <p:cNvPr id="11" name="Rounded Rectangle 10"/>
          <p:cNvSpPr/>
          <p:nvPr/>
        </p:nvSpPr>
        <p:spPr>
          <a:xfrm>
            <a:off x="3392424" y="1920240"/>
            <a:ext cx="2651760" cy="233172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pic>
        <p:nvPicPr>
          <p:cNvPr id="12" name="Picture 11" descr="image11.png"/>
          <p:cNvPicPr>
            <a:picLocks noChangeAspect="1"/>
          </p:cNvPicPr>
          <p:nvPr/>
        </p:nvPicPr>
        <p:blipFill>
          <a:blip r:embed="rId6"/>
          <a:stretch>
            <a:fillRect/>
          </a:stretch>
        </p:blipFill>
        <p:spPr>
          <a:xfrm>
            <a:off x="3483864" y="2029968"/>
            <a:ext cx="2468880" cy="1485617"/>
          </a:xfrm>
          <a:prstGeom prst="rect">
            <a:avLst/>
          </a:prstGeom>
        </p:spPr>
      </p:pic>
      <p:sp>
        <p:nvSpPr>
          <p:cNvPr id="13" name="TextBox 12"/>
          <p:cNvSpPr txBox="1"/>
          <p:nvPr/>
        </p:nvSpPr>
        <p:spPr>
          <a:xfrm>
            <a:off x="3483864" y="3931920"/>
            <a:ext cx="2468880" cy="274320"/>
          </a:xfrm>
          <a:prstGeom prst="rect">
            <a:avLst/>
          </a:prstGeom>
          <a:noFill/>
        </p:spPr>
        <p:txBody>
          <a:bodyPr wrap="square" lIns="0" tIns="0" rIns="0" bIns="0" anchor="t">
            <a:spAutoFit/>
          </a:bodyPr>
          <a:lstStyle/>
          <a:p>
            <a:pPr algn="ctr">
              <a:lnSpc>
                <a:spcPct val="100000"/>
              </a:lnSpc>
              <a:spcAft>
                <a:spcPts val="0"/>
              </a:spcAft>
            </a:pPr>
            <a:r>
              <a:rPr sz="1100" b="1" i="0">
                <a:solidFill>
                  <a:srgbClr val="0B4F6C"/>
                </a:solidFill>
                <a:latin typeface="Calibri"/>
              </a:rPr>
              <a:t>2 · Build &amp; place sensors</a:t>
            </a:r>
          </a:p>
        </p:txBody>
      </p:sp>
      <p:sp>
        <p:nvSpPr>
          <p:cNvPr id="14" name="Rounded Rectangle 13"/>
          <p:cNvSpPr/>
          <p:nvPr/>
        </p:nvSpPr>
        <p:spPr>
          <a:xfrm>
            <a:off x="6190488" y="1920240"/>
            <a:ext cx="2651760" cy="233172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pic>
        <p:nvPicPr>
          <p:cNvPr id="15" name="Picture 14" descr="image12.png"/>
          <p:cNvPicPr>
            <a:picLocks noChangeAspect="1"/>
          </p:cNvPicPr>
          <p:nvPr/>
        </p:nvPicPr>
        <p:blipFill>
          <a:blip r:embed="rId7"/>
          <a:stretch>
            <a:fillRect/>
          </a:stretch>
        </p:blipFill>
        <p:spPr>
          <a:xfrm>
            <a:off x="6281927" y="2029968"/>
            <a:ext cx="2468880" cy="1485617"/>
          </a:xfrm>
          <a:prstGeom prst="rect">
            <a:avLst/>
          </a:prstGeom>
        </p:spPr>
      </p:pic>
      <p:sp>
        <p:nvSpPr>
          <p:cNvPr id="16" name="TextBox 15"/>
          <p:cNvSpPr txBox="1"/>
          <p:nvPr/>
        </p:nvSpPr>
        <p:spPr>
          <a:xfrm>
            <a:off x="6281927" y="3931920"/>
            <a:ext cx="2468880" cy="274320"/>
          </a:xfrm>
          <a:prstGeom prst="rect">
            <a:avLst/>
          </a:prstGeom>
          <a:noFill/>
        </p:spPr>
        <p:txBody>
          <a:bodyPr wrap="square" lIns="0" tIns="0" rIns="0" bIns="0" anchor="t">
            <a:spAutoFit/>
          </a:bodyPr>
          <a:lstStyle/>
          <a:p>
            <a:pPr algn="ctr">
              <a:lnSpc>
                <a:spcPct val="100000"/>
              </a:lnSpc>
              <a:spcAft>
                <a:spcPts val="0"/>
              </a:spcAft>
            </a:pPr>
            <a:r>
              <a:rPr sz="1100" b="1" i="0">
                <a:solidFill>
                  <a:srgbClr val="0B4F6C"/>
                </a:solidFill>
                <a:latin typeface="Calibri"/>
              </a:rPr>
              <a:t>3 · Simulate traffic (25 Hz)</a:t>
            </a:r>
          </a:p>
        </p:txBody>
      </p:sp>
      <p:sp>
        <p:nvSpPr>
          <p:cNvPr id="17" name="Rounded Rectangle 16"/>
          <p:cNvSpPr/>
          <p:nvPr/>
        </p:nvSpPr>
        <p:spPr>
          <a:xfrm>
            <a:off x="8988552" y="1920240"/>
            <a:ext cx="2651760" cy="233172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pic>
        <p:nvPicPr>
          <p:cNvPr id="18" name="Picture 17" descr="image13.png"/>
          <p:cNvPicPr>
            <a:picLocks noChangeAspect="1"/>
          </p:cNvPicPr>
          <p:nvPr/>
        </p:nvPicPr>
        <p:blipFill>
          <a:blip r:embed="rId8"/>
          <a:stretch>
            <a:fillRect/>
          </a:stretch>
        </p:blipFill>
        <p:spPr>
          <a:xfrm>
            <a:off x="9079992" y="2029968"/>
            <a:ext cx="2468880" cy="1485617"/>
          </a:xfrm>
          <a:prstGeom prst="rect">
            <a:avLst/>
          </a:prstGeom>
        </p:spPr>
      </p:pic>
      <p:sp>
        <p:nvSpPr>
          <p:cNvPr id="19" name="TextBox 18"/>
          <p:cNvSpPr txBox="1"/>
          <p:nvPr/>
        </p:nvSpPr>
        <p:spPr>
          <a:xfrm>
            <a:off x="9079992" y="3931920"/>
            <a:ext cx="2468880" cy="274320"/>
          </a:xfrm>
          <a:prstGeom prst="rect">
            <a:avLst/>
          </a:prstGeom>
          <a:noFill/>
        </p:spPr>
        <p:txBody>
          <a:bodyPr wrap="square" lIns="0" tIns="0" rIns="0" bIns="0" anchor="t">
            <a:spAutoFit/>
          </a:bodyPr>
          <a:lstStyle/>
          <a:p>
            <a:pPr algn="ctr">
              <a:lnSpc>
                <a:spcPct val="100000"/>
              </a:lnSpc>
              <a:spcAft>
                <a:spcPts val="0"/>
              </a:spcAft>
            </a:pPr>
            <a:r>
              <a:rPr sz="1100" b="1" i="0">
                <a:solidFill>
                  <a:srgbClr val="0B4F6C"/>
                </a:solidFill>
                <a:latin typeface="Calibri"/>
              </a:rPr>
              <a:t>4 · Inspect fused data streams</a:t>
            </a:r>
          </a:p>
        </p:txBody>
      </p:sp>
      <p:sp>
        <p:nvSpPr>
          <p:cNvPr id="20" name="Rounded Rectangle 19"/>
          <p:cNvSpPr/>
          <p:nvPr/>
        </p:nvSpPr>
        <p:spPr>
          <a:xfrm>
            <a:off x="594360" y="4434840"/>
            <a:ext cx="10881360" cy="1234440"/>
          </a:xfrm>
          <a:prstGeom prst="roundRect">
            <a:avLst>
              <a:gd name="adj" fmla="val 6000"/>
            </a:avLst>
          </a:prstGeom>
          <a:solidFill>
            <a:srgbClr val="EAF1F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TextBox 20"/>
          <p:cNvSpPr txBox="1"/>
          <p:nvPr/>
        </p:nvSpPr>
        <p:spPr>
          <a:xfrm>
            <a:off x="822960" y="4590288"/>
            <a:ext cx="10424160" cy="927177"/>
          </a:xfrm>
          <a:prstGeom prst="rect">
            <a:avLst/>
          </a:prstGeom>
          <a:noFill/>
        </p:spPr>
        <p:txBody>
          <a:bodyPr wrap="square" lIns="0" tIns="0" rIns="0" bIns="0" anchor="t">
            <a:spAutoFit/>
          </a:bodyPr>
          <a:lstStyle/>
          <a:p>
            <a:pPr marL="171450" indent="-171450">
              <a:lnSpc>
                <a:spcPct val="106000"/>
              </a:lnSpc>
              <a:spcAft>
                <a:spcPts val="600"/>
              </a:spcAft>
              <a:buFont typeface="Courier New" panose="02070309020205020404" pitchFamily="49" charset="0"/>
              <a:buChar char="o"/>
            </a:pPr>
            <a:r>
              <a:rPr lang="en-US" sz="1200" dirty="0">
                <a:solidFill>
                  <a:srgbClr val="33373B"/>
                </a:solidFill>
              </a:rPr>
              <a:t>Workflow: generate a scenario, run the simulation (optionally in batch), collect the exports, then run feature extraction and anomaly scoring.</a:t>
            </a:r>
          </a:p>
          <a:p>
            <a:pPr marL="171450" indent="-171450">
              <a:lnSpc>
                <a:spcPct val="106000"/>
              </a:lnSpc>
              <a:spcAft>
                <a:spcPts val="600"/>
              </a:spcAft>
              <a:buFont typeface="Courier New" panose="02070309020205020404" pitchFamily="49" charset="0"/>
              <a:buChar char="o"/>
            </a:pPr>
            <a:r>
              <a:rPr lang="en-US" sz="1200" dirty="0">
                <a:solidFill>
                  <a:srgbClr val="33373B"/>
                </a:solidFill>
              </a:rPr>
              <a:t>Each recorded run produces trajectories, a styled Excel workbook, an audit report and per-track visualizations, the same files are then fed to the anomaly layer later </a:t>
            </a:r>
            <a:r>
              <a:rPr lang="en-IL" sz="1200" dirty="0">
                <a:solidFill>
                  <a:srgbClr val="33373B"/>
                </a:solidFill>
              </a:rPr>
              <a:t>to score each vehicle.</a:t>
            </a:r>
            <a:endParaRPr lang="en-US" sz="1200" dirty="0">
              <a:solidFill>
                <a:srgbClr val="33373B"/>
              </a:solidFill>
            </a:endParaRPr>
          </a:p>
          <a:p>
            <a:pPr>
              <a:lnSpc>
                <a:spcPct val="105000"/>
              </a:lnSpc>
              <a:spcAft>
                <a:spcPts val="600"/>
              </a:spcAft>
            </a:pPr>
            <a:r>
              <a:rPr sz="1200" b="0" dirty="0">
                <a:solidFill>
                  <a:srgbClr val="33424D"/>
                </a:solidFill>
                <a:latin typeface="Calibri"/>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1.jpg"/>
          <p:cNvPicPr>
            <a:picLocks noChangeAspect="1"/>
          </p:cNvPicPr>
          <p:nvPr/>
        </p:nvPicPr>
        <p:blipFill>
          <a:blip r:embed="rId3"/>
          <a:stretch>
            <a:fillRect/>
          </a:stretch>
        </p:blipFill>
        <p:spPr>
          <a:xfrm>
            <a:off x="292608" y="274320"/>
            <a:ext cx="2490940" cy="566928"/>
          </a:xfrm>
          <a:prstGeom prst="rect">
            <a:avLst/>
          </a:prstGeom>
        </p:spPr>
      </p:pic>
      <p:pic>
        <p:nvPicPr>
          <p:cNvPr id="3" name="Picture 2" descr="image2.png"/>
          <p:cNvPicPr>
            <a:picLocks noChangeAspect="1"/>
          </p:cNvPicPr>
          <p:nvPr/>
        </p:nvPicPr>
        <p:blipFill>
          <a:blip r:embed="rId4"/>
          <a:stretch>
            <a:fillRect/>
          </a:stretch>
        </p:blipFill>
        <p:spPr>
          <a:xfrm>
            <a:off x="11292840" y="219456"/>
            <a:ext cx="635887" cy="658368"/>
          </a:xfrm>
          <a:prstGeom prst="rect">
            <a:avLst/>
          </a:prstGeom>
        </p:spPr>
      </p:pic>
      <p:sp>
        <p:nvSpPr>
          <p:cNvPr id="4" name="TextBox 3"/>
          <p:cNvSpPr txBox="1"/>
          <p:nvPr/>
        </p:nvSpPr>
        <p:spPr>
          <a:xfrm>
            <a:off x="1752600" y="310896"/>
            <a:ext cx="8686800" cy="384721"/>
          </a:xfrm>
          <a:prstGeom prst="rect">
            <a:avLst/>
          </a:prstGeom>
          <a:noFill/>
        </p:spPr>
        <p:txBody>
          <a:bodyPr wrap="square" lIns="0" tIns="0" rIns="0" bIns="0" anchor="t">
            <a:spAutoFit/>
          </a:bodyPr>
          <a:lstStyle/>
          <a:p>
            <a:pPr algn="ctr">
              <a:lnSpc>
                <a:spcPct val="100000"/>
              </a:lnSpc>
              <a:spcAft>
                <a:spcPts val="0"/>
              </a:spcAft>
            </a:pPr>
            <a:r>
              <a:rPr sz="2500" b="1" i="0" dirty="0">
                <a:solidFill>
                  <a:srgbClr val="0B4F6C"/>
                </a:solidFill>
                <a:latin typeface="Cambria"/>
              </a:rPr>
              <a:t>Results Tracking Accuracy</a:t>
            </a:r>
          </a:p>
        </p:txBody>
      </p:sp>
      <p:sp>
        <p:nvSpPr>
          <p:cNvPr id="5" name="TextBox 4"/>
          <p:cNvSpPr txBox="1"/>
          <p:nvPr/>
        </p:nvSpPr>
        <p:spPr>
          <a:xfrm>
            <a:off x="320040" y="6455664"/>
            <a:ext cx="5486400" cy="274320"/>
          </a:xfrm>
          <a:prstGeom prst="rect">
            <a:avLst/>
          </a:prstGeom>
          <a:noFill/>
        </p:spPr>
        <p:txBody>
          <a:bodyPr wrap="square" lIns="0" tIns="0" rIns="0" bIns="0" anchor="t">
            <a:spAutoFit/>
          </a:bodyPr>
          <a:lstStyle/>
          <a:p>
            <a:pPr algn="l">
              <a:lnSpc>
                <a:spcPct val="100000"/>
              </a:lnSpc>
              <a:spcAft>
                <a:spcPts val="0"/>
              </a:spcAft>
            </a:pPr>
            <a:r>
              <a:rPr sz="900" b="0" i="1">
                <a:solidFill>
                  <a:srgbClr val="6B7A85"/>
                </a:solidFill>
                <a:latin typeface="Calibri"/>
              </a:rPr>
              <a:t>Optical Fibers for Smart Cities · SimStudio</a:t>
            </a:r>
          </a:p>
        </p:txBody>
      </p:sp>
      <p:sp>
        <p:nvSpPr>
          <p:cNvPr id="6" name="TextBox 5"/>
          <p:cNvSpPr txBox="1"/>
          <p:nvPr/>
        </p:nvSpPr>
        <p:spPr>
          <a:xfrm>
            <a:off x="11338560" y="6455664"/>
            <a:ext cx="640080" cy="274320"/>
          </a:xfrm>
          <a:prstGeom prst="rect">
            <a:avLst/>
          </a:prstGeom>
          <a:noFill/>
        </p:spPr>
        <p:txBody>
          <a:bodyPr wrap="square" lIns="0" tIns="0" rIns="0" bIns="0" anchor="t">
            <a:spAutoFit/>
          </a:bodyPr>
          <a:lstStyle/>
          <a:p>
            <a:pPr algn="r">
              <a:lnSpc>
                <a:spcPct val="100000"/>
              </a:lnSpc>
              <a:spcAft>
                <a:spcPts val="0"/>
              </a:spcAft>
            </a:pPr>
            <a:r>
              <a:rPr sz="1000" b="0" i="0">
                <a:solidFill>
                  <a:srgbClr val="6B7A85"/>
                </a:solidFill>
                <a:latin typeface="Calibri"/>
              </a:rPr>
              <a:t>9</a:t>
            </a:r>
          </a:p>
        </p:txBody>
      </p:sp>
      <p:sp>
        <p:nvSpPr>
          <p:cNvPr id="7" name="Rounded Rectangle 6"/>
          <p:cNvSpPr/>
          <p:nvPr/>
        </p:nvSpPr>
        <p:spPr>
          <a:xfrm>
            <a:off x="594360" y="1234440"/>
            <a:ext cx="2148840" cy="96012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594360" y="1344168"/>
            <a:ext cx="2148840" cy="777240"/>
          </a:xfrm>
          <a:prstGeom prst="rect">
            <a:avLst/>
          </a:prstGeom>
          <a:noFill/>
        </p:spPr>
        <p:txBody>
          <a:bodyPr wrap="square" lIns="0" tIns="0" rIns="0" bIns="0" anchor="t">
            <a:spAutoFit/>
          </a:bodyPr>
          <a:lstStyle/>
          <a:p>
            <a:pPr algn="ctr">
              <a:lnSpc>
                <a:spcPct val="100000"/>
              </a:lnSpc>
              <a:spcAft>
                <a:spcPts val="200"/>
              </a:spcAft>
            </a:pPr>
            <a:r>
              <a:rPr sz="2600" b="1" i="0">
                <a:solidFill>
                  <a:srgbClr val="0B4F6C"/>
                </a:solidFill>
                <a:latin typeface="Cambria"/>
              </a:rPr>
              <a:t>0.35 m</a:t>
            </a:r>
          </a:p>
          <a:p>
            <a:pPr algn="ctr">
              <a:lnSpc>
                <a:spcPct val="100000"/>
              </a:lnSpc>
              <a:spcAft>
                <a:spcPts val="0"/>
              </a:spcAft>
            </a:pPr>
            <a:r>
              <a:rPr sz="1050" b="0" i="0">
                <a:solidFill>
                  <a:srgbClr val="6B7A85"/>
                </a:solidFill>
                <a:latin typeface="Calibri"/>
              </a:rPr>
              <a:t>mean track RMSE</a:t>
            </a:r>
          </a:p>
        </p:txBody>
      </p:sp>
      <p:sp>
        <p:nvSpPr>
          <p:cNvPr id="9" name="Rounded Rectangle 8"/>
          <p:cNvSpPr/>
          <p:nvPr/>
        </p:nvSpPr>
        <p:spPr>
          <a:xfrm>
            <a:off x="2907792" y="1234440"/>
            <a:ext cx="2148840" cy="96012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2907792" y="1344168"/>
            <a:ext cx="2148840" cy="777240"/>
          </a:xfrm>
          <a:prstGeom prst="rect">
            <a:avLst/>
          </a:prstGeom>
          <a:noFill/>
        </p:spPr>
        <p:txBody>
          <a:bodyPr wrap="square" lIns="0" tIns="0" rIns="0" bIns="0" anchor="t">
            <a:spAutoFit/>
          </a:bodyPr>
          <a:lstStyle/>
          <a:p>
            <a:pPr algn="ctr">
              <a:lnSpc>
                <a:spcPct val="100000"/>
              </a:lnSpc>
              <a:spcAft>
                <a:spcPts val="200"/>
              </a:spcAft>
            </a:pPr>
            <a:r>
              <a:rPr sz="2600" b="1" i="0">
                <a:solidFill>
                  <a:srgbClr val="0B4F6C"/>
                </a:solidFill>
                <a:latin typeface="Cambria"/>
              </a:rPr>
              <a:t>0.49 m</a:t>
            </a:r>
          </a:p>
          <a:p>
            <a:pPr algn="ctr">
              <a:lnSpc>
                <a:spcPct val="100000"/>
              </a:lnSpc>
              <a:spcAft>
                <a:spcPts val="0"/>
              </a:spcAft>
            </a:pPr>
            <a:r>
              <a:rPr sz="1050" b="0" i="0">
                <a:solidFill>
                  <a:srgbClr val="6B7A85"/>
                </a:solidFill>
                <a:latin typeface="Calibri"/>
              </a:rPr>
              <a:t>cross-segment RMSE</a:t>
            </a:r>
          </a:p>
        </p:txBody>
      </p:sp>
      <p:sp>
        <p:nvSpPr>
          <p:cNvPr id="11" name="Rounded Rectangle 10"/>
          <p:cNvSpPr/>
          <p:nvPr/>
        </p:nvSpPr>
        <p:spPr>
          <a:xfrm>
            <a:off x="5221224" y="1234440"/>
            <a:ext cx="2148840" cy="96012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5221224" y="1344168"/>
            <a:ext cx="2148840" cy="777240"/>
          </a:xfrm>
          <a:prstGeom prst="rect">
            <a:avLst/>
          </a:prstGeom>
          <a:noFill/>
        </p:spPr>
        <p:txBody>
          <a:bodyPr wrap="square" lIns="0" tIns="0" rIns="0" bIns="0" anchor="t">
            <a:spAutoFit/>
          </a:bodyPr>
          <a:lstStyle/>
          <a:p>
            <a:pPr algn="ctr">
              <a:lnSpc>
                <a:spcPct val="100000"/>
              </a:lnSpc>
              <a:spcAft>
                <a:spcPts val="200"/>
              </a:spcAft>
            </a:pPr>
            <a:r>
              <a:rPr sz="2600" b="1" i="0">
                <a:solidFill>
                  <a:srgbClr val="2E7D5B"/>
                </a:solidFill>
                <a:latin typeface="Cambria"/>
              </a:rPr>
              <a:t>1.52 m</a:t>
            </a:r>
          </a:p>
          <a:p>
            <a:pPr algn="ctr">
              <a:lnSpc>
                <a:spcPct val="100000"/>
              </a:lnSpc>
              <a:spcAft>
                <a:spcPts val="0"/>
              </a:spcAft>
            </a:pPr>
            <a:r>
              <a:rPr sz="1050" b="0" i="0">
                <a:solidFill>
                  <a:srgbClr val="6B7A85"/>
                </a:solidFill>
                <a:latin typeface="Calibri"/>
              </a:rPr>
              <a:t>max error  (≤ ±5 m)</a:t>
            </a:r>
          </a:p>
        </p:txBody>
      </p:sp>
      <p:sp>
        <p:nvSpPr>
          <p:cNvPr id="13" name="TextBox 12"/>
          <p:cNvSpPr txBox="1"/>
          <p:nvPr/>
        </p:nvSpPr>
        <p:spPr>
          <a:xfrm>
            <a:off x="594360" y="2514600"/>
            <a:ext cx="6766560" cy="1708225"/>
          </a:xfrm>
          <a:prstGeom prst="rect">
            <a:avLst/>
          </a:prstGeom>
          <a:noFill/>
        </p:spPr>
        <p:txBody>
          <a:bodyPr wrap="square" lIns="0" tIns="0" rIns="0" bIns="0" anchor="t">
            <a:spAutoFit/>
          </a:bodyPr>
          <a:lstStyle/>
          <a:p>
            <a:pPr marL="171450" indent="-171450">
              <a:lnSpc>
                <a:spcPct val="106000"/>
              </a:lnSpc>
              <a:spcAft>
                <a:spcPts val="900"/>
              </a:spcAft>
              <a:buFont typeface="Courier New" panose="02070309020205020404" pitchFamily="49" charset="0"/>
              <a:buChar char="o"/>
            </a:pPr>
            <a:r>
              <a:rPr lang="en-US" sz="1200" b="1" dirty="0">
                <a:solidFill>
                  <a:srgbClr val="33373B"/>
                </a:solidFill>
              </a:rPr>
              <a:t>A vehicle fused across the seg1→seg2 boundary reached 0.49 m RMSE (max 1.52 m). the mean across the nine evaluation scenarios was 0.35 m (best 0.19, worst 0.45).</a:t>
            </a:r>
          </a:p>
          <a:p>
            <a:pPr marL="171450" indent="-171450">
              <a:lnSpc>
                <a:spcPct val="106000"/>
              </a:lnSpc>
              <a:spcAft>
                <a:spcPts val="900"/>
              </a:spcAft>
              <a:buFont typeface="Courier New" panose="02070309020205020404" pitchFamily="49" charset="0"/>
              <a:buChar char="o"/>
            </a:pPr>
            <a:r>
              <a:rPr lang="en-US" sz="1200" dirty="0">
                <a:solidFill>
                  <a:srgbClr val="33373B"/>
                </a:solidFill>
              </a:rPr>
              <a:t>DAS gives high rate, high trust updates along the fiber. the camera contributes accurate fixes at intersections. GPS supplies low-rate absolute corrections between DAS zones.</a:t>
            </a:r>
          </a:p>
          <a:p>
            <a:pPr marL="171450" indent="-171450">
              <a:lnSpc>
                <a:spcPct val="106000"/>
              </a:lnSpc>
              <a:spcAft>
                <a:spcPts val="900"/>
              </a:spcAft>
              <a:buFont typeface="Courier New" panose="02070309020205020404" pitchFamily="49" charset="0"/>
              <a:buChar char="o"/>
            </a:pPr>
            <a:r>
              <a:rPr lang="en-US" sz="1200" dirty="0">
                <a:solidFill>
                  <a:srgbClr val="33373B"/>
                </a:solidFill>
              </a:rPr>
              <a:t>A stable identity is maintained across every segment transition.</a:t>
            </a:r>
          </a:p>
          <a:p>
            <a:pPr marL="171450" indent="-171450">
              <a:lnSpc>
                <a:spcPct val="106000"/>
              </a:lnSpc>
              <a:spcAft>
                <a:spcPts val="900"/>
              </a:spcAft>
              <a:buFont typeface="Courier New" panose="02070309020205020404" pitchFamily="49" charset="0"/>
              <a:buChar char="o"/>
            </a:pPr>
            <a:r>
              <a:rPr lang="en-US" sz="1200" dirty="0">
                <a:solidFill>
                  <a:srgbClr val="33373B"/>
                </a:solidFill>
              </a:rPr>
              <a:t>Fixing a subtle GPS fragmentation or a ghost track bug with an identity aware ambiguity guard ensured GPS reached the correct confirmed track rather than orphan fragments, improving fusion accuracy.</a:t>
            </a:r>
          </a:p>
        </p:txBody>
      </p:sp>
      <p:sp>
        <p:nvSpPr>
          <p:cNvPr id="14" name="Rounded Rectangle 13"/>
          <p:cNvSpPr/>
          <p:nvPr/>
        </p:nvSpPr>
        <p:spPr>
          <a:xfrm>
            <a:off x="7635240" y="1188720"/>
            <a:ext cx="3840480" cy="452628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pic>
        <p:nvPicPr>
          <p:cNvPr id="15" name="Picture 14" descr="image15.png"/>
          <p:cNvPicPr>
            <a:picLocks noChangeAspect="1"/>
          </p:cNvPicPr>
          <p:nvPr/>
        </p:nvPicPr>
        <p:blipFill>
          <a:blip r:embed="rId5"/>
          <a:stretch>
            <a:fillRect/>
          </a:stretch>
        </p:blipFill>
        <p:spPr>
          <a:xfrm>
            <a:off x="7901577" y="1394460"/>
            <a:ext cx="3307805" cy="3611880"/>
          </a:xfrm>
          <a:prstGeom prst="rect">
            <a:avLst/>
          </a:prstGeom>
        </p:spPr>
      </p:pic>
      <p:sp>
        <p:nvSpPr>
          <p:cNvPr id="16" name="TextBox 15"/>
          <p:cNvSpPr txBox="1"/>
          <p:nvPr/>
        </p:nvSpPr>
        <p:spPr>
          <a:xfrm>
            <a:off x="7772400" y="5212080"/>
            <a:ext cx="3566160" cy="365760"/>
          </a:xfrm>
          <a:prstGeom prst="rect">
            <a:avLst/>
          </a:prstGeom>
          <a:noFill/>
        </p:spPr>
        <p:txBody>
          <a:bodyPr wrap="square" lIns="0" tIns="0" rIns="0" bIns="0" anchor="t">
            <a:spAutoFit/>
          </a:bodyPr>
          <a:lstStyle/>
          <a:p>
            <a:pPr algn="ctr">
              <a:lnSpc>
                <a:spcPct val="100000"/>
              </a:lnSpc>
              <a:spcAft>
                <a:spcPts val="0"/>
              </a:spcAft>
            </a:pPr>
            <a:r>
              <a:rPr sz="1050" b="0" i="0">
                <a:solidFill>
                  <a:srgbClr val="6B7A85"/>
                </a:solidFill>
                <a:latin typeface="Calibri"/>
              </a:rPr>
              <a:t>Fused cross-segment track vs. ground truth.</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1.jpg"/>
          <p:cNvPicPr>
            <a:picLocks noChangeAspect="1"/>
          </p:cNvPicPr>
          <p:nvPr/>
        </p:nvPicPr>
        <p:blipFill>
          <a:blip r:embed="rId3"/>
          <a:stretch>
            <a:fillRect/>
          </a:stretch>
        </p:blipFill>
        <p:spPr>
          <a:xfrm>
            <a:off x="292608" y="274320"/>
            <a:ext cx="2490940" cy="566928"/>
          </a:xfrm>
          <a:prstGeom prst="rect">
            <a:avLst/>
          </a:prstGeom>
        </p:spPr>
      </p:pic>
      <p:pic>
        <p:nvPicPr>
          <p:cNvPr id="3" name="Picture 2" descr="image2.png"/>
          <p:cNvPicPr>
            <a:picLocks noChangeAspect="1"/>
          </p:cNvPicPr>
          <p:nvPr/>
        </p:nvPicPr>
        <p:blipFill>
          <a:blip r:embed="rId4"/>
          <a:stretch>
            <a:fillRect/>
          </a:stretch>
        </p:blipFill>
        <p:spPr>
          <a:xfrm>
            <a:off x="11292840" y="219456"/>
            <a:ext cx="635887" cy="658368"/>
          </a:xfrm>
          <a:prstGeom prst="rect">
            <a:avLst/>
          </a:prstGeom>
        </p:spPr>
      </p:pic>
      <p:sp>
        <p:nvSpPr>
          <p:cNvPr id="4" name="TextBox 3"/>
          <p:cNvSpPr txBox="1"/>
          <p:nvPr/>
        </p:nvSpPr>
        <p:spPr>
          <a:xfrm>
            <a:off x="1737360" y="301752"/>
            <a:ext cx="8686800" cy="384721"/>
          </a:xfrm>
          <a:prstGeom prst="rect">
            <a:avLst/>
          </a:prstGeom>
          <a:noFill/>
        </p:spPr>
        <p:txBody>
          <a:bodyPr wrap="square" lIns="0" tIns="0" rIns="0" bIns="0" anchor="t">
            <a:spAutoFit/>
          </a:bodyPr>
          <a:lstStyle/>
          <a:p>
            <a:pPr algn="ctr">
              <a:lnSpc>
                <a:spcPct val="100000"/>
              </a:lnSpc>
              <a:spcAft>
                <a:spcPts val="0"/>
              </a:spcAft>
            </a:pPr>
            <a:r>
              <a:rPr sz="2500" b="1" i="0" dirty="0">
                <a:solidFill>
                  <a:srgbClr val="0B4F6C"/>
                </a:solidFill>
                <a:latin typeface="Cambria"/>
              </a:rPr>
              <a:t>Results Anomaly Detection</a:t>
            </a:r>
          </a:p>
        </p:txBody>
      </p:sp>
      <p:sp>
        <p:nvSpPr>
          <p:cNvPr id="5" name="TextBox 4"/>
          <p:cNvSpPr txBox="1"/>
          <p:nvPr/>
        </p:nvSpPr>
        <p:spPr>
          <a:xfrm>
            <a:off x="320040" y="6455664"/>
            <a:ext cx="5486400" cy="274320"/>
          </a:xfrm>
          <a:prstGeom prst="rect">
            <a:avLst/>
          </a:prstGeom>
          <a:noFill/>
        </p:spPr>
        <p:txBody>
          <a:bodyPr wrap="square" lIns="0" tIns="0" rIns="0" bIns="0" anchor="t">
            <a:spAutoFit/>
          </a:bodyPr>
          <a:lstStyle/>
          <a:p>
            <a:pPr algn="l">
              <a:lnSpc>
                <a:spcPct val="100000"/>
              </a:lnSpc>
              <a:spcAft>
                <a:spcPts val="0"/>
              </a:spcAft>
            </a:pPr>
            <a:r>
              <a:rPr sz="900" b="0" i="1">
                <a:solidFill>
                  <a:srgbClr val="6B7A85"/>
                </a:solidFill>
                <a:latin typeface="Calibri"/>
              </a:rPr>
              <a:t>Optical Fibers for Smart Cities · SimStudio</a:t>
            </a:r>
          </a:p>
        </p:txBody>
      </p:sp>
      <p:sp>
        <p:nvSpPr>
          <p:cNvPr id="6" name="TextBox 5"/>
          <p:cNvSpPr txBox="1"/>
          <p:nvPr/>
        </p:nvSpPr>
        <p:spPr>
          <a:xfrm>
            <a:off x="11338560" y="6455664"/>
            <a:ext cx="640080" cy="274320"/>
          </a:xfrm>
          <a:prstGeom prst="rect">
            <a:avLst/>
          </a:prstGeom>
          <a:noFill/>
        </p:spPr>
        <p:txBody>
          <a:bodyPr wrap="square" lIns="0" tIns="0" rIns="0" bIns="0" anchor="t">
            <a:spAutoFit/>
          </a:bodyPr>
          <a:lstStyle/>
          <a:p>
            <a:pPr algn="r">
              <a:lnSpc>
                <a:spcPct val="100000"/>
              </a:lnSpc>
              <a:spcAft>
                <a:spcPts val="0"/>
              </a:spcAft>
            </a:pPr>
            <a:r>
              <a:rPr sz="1000" b="0" i="0">
                <a:solidFill>
                  <a:srgbClr val="6B7A85"/>
                </a:solidFill>
                <a:latin typeface="Calibri"/>
              </a:rPr>
              <a:t>10</a:t>
            </a:r>
          </a:p>
        </p:txBody>
      </p:sp>
      <p:sp>
        <p:nvSpPr>
          <p:cNvPr id="7" name="Rounded Rectangle 6"/>
          <p:cNvSpPr/>
          <p:nvPr/>
        </p:nvSpPr>
        <p:spPr>
          <a:xfrm>
            <a:off x="594359" y="1280160"/>
            <a:ext cx="5120639" cy="123444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594359" y="1635770"/>
            <a:ext cx="2377440" cy="523220"/>
          </a:xfrm>
          <a:prstGeom prst="rect">
            <a:avLst/>
          </a:prstGeom>
          <a:noFill/>
        </p:spPr>
        <p:txBody>
          <a:bodyPr wrap="square" lIns="0" tIns="0" rIns="0" bIns="0" anchor="t">
            <a:spAutoFit/>
          </a:bodyPr>
          <a:lstStyle/>
          <a:p>
            <a:pPr algn="ctr">
              <a:lnSpc>
                <a:spcPct val="100000"/>
              </a:lnSpc>
              <a:spcAft>
                <a:spcPts val="200"/>
              </a:spcAft>
            </a:pPr>
            <a:r>
              <a:rPr sz="3400" b="1" i="0" dirty="0">
                <a:solidFill>
                  <a:srgbClr val="2E7D5B"/>
                </a:solidFill>
                <a:latin typeface="Cambria"/>
              </a:rPr>
              <a:t>6 / 9</a:t>
            </a:r>
          </a:p>
        </p:txBody>
      </p:sp>
      <mc:AlternateContent xmlns:mc="http://schemas.openxmlformats.org/markup-compatibility/2006">
        <mc:Choice xmlns:a14="http://schemas.microsoft.com/office/drawing/2010/main" Requires="a14">
          <p:sp>
            <p:nvSpPr>
              <p:cNvPr id="9" name="TextBox 8"/>
              <p:cNvSpPr txBox="1"/>
              <p:nvPr/>
            </p:nvSpPr>
            <p:spPr>
              <a:xfrm>
                <a:off x="594360" y="2788920"/>
                <a:ext cx="5120640" cy="1592872"/>
              </a:xfrm>
              <a:prstGeom prst="rect">
                <a:avLst/>
              </a:prstGeom>
              <a:noFill/>
            </p:spPr>
            <p:txBody>
              <a:bodyPr wrap="square" lIns="0" tIns="0" rIns="0" bIns="0" anchor="t">
                <a:spAutoFit/>
              </a:bodyPr>
              <a:lstStyle/>
              <a:p>
                <a:pPr marL="171450" indent="-171450">
                  <a:lnSpc>
                    <a:spcPct val="106000"/>
                  </a:lnSpc>
                  <a:spcAft>
                    <a:spcPts val="900"/>
                  </a:spcAft>
                  <a:buFont typeface="Courier New" panose="02070309020205020404" pitchFamily="49" charset="0"/>
                  <a:buChar char="o"/>
                </a:pPr>
                <a:r>
                  <a:rPr lang="en-US" sz="1200" dirty="0">
                    <a:solidFill>
                      <a:srgbClr val="33373B"/>
                    </a:solidFill>
                  </a:rPr>
                  <a:t>Detected: hard braking, stalled vehicle, collision, reckless driving, speeding, overweight, longitudinal &amp; sensor level anomalies separate clearly.</a:t>
                </a:r>
              </a:p>
              <a:p>
                <a:pPr marL="171450" indent="-171450">
                  <a:lnSpc>
                    <a:spcPct val="106000"/>
                  </a:lnSpc>
                  <a:spcAft>
                    <a:spcPts val="900"/>
                  </a:spcAft>
                  <a:buFont typeface="Courier New" panose="02070309020205020404" pitchFamily="49" charset="0"/>
                  <a:buChar char="o"/>
                </a:pPr>
                <a:r>
                  <a:rPr lang="en-US" sz="1200" dirty="0">
                    <a:solidFill>
                      <a:srgbClr val="33373B"/>
                    </a:solidFill>
                  </a:rPr>
                  <a:t>Interpretable: for over speeding the flag was driven by relative speed at closest approach, mean speed, and lateral velocity.</a:t>
                </a:r>
              </a:p>
              <a:p>
                <a:pPr marL="171450" indent="-171450">
                  <a:lnSpc>
                    <a:spcPct val="106000"/>
                  </a:lnSpc>
                  <a:spcAft>
                    <a:spcPts val="900"/>
                  </a:spcAft>
                  <a:buFont typeface="Courier New" panose="02070309020205020404" pitchFamily="49" charset="0"/>
                  <a:buChar char="o"/>
                </a:pPr>
                <a:r>
                  <a:rPr lang="en-US" sz="1200" b="1" dirty="0">
                    <a:solidFill>
                      <a:srgbClr val="33373B"/>
                    </a:solidFill>
                  </a:rPr>
                  <a:t>Missed: lane straddling (6.2 </a:t>
                </a:r>
                <a14:m>
                  <m:oMath xmlns:m="http://schemas.openxmlformats.org/officeDocument/2006/math">
                    <m:r>
                      <a:rPr lang="en-US" sz="1200" b="1" i="1" dirty="0">
                        <a:solidFill>
                          <a:srgbClr val="33373B"/>
                        </a:solidFill>
                        <a:latin typeface="Cambria Math" panose="02040503050406030204" pitchFamily="18" charset="0"/>
                      </a:rPr>
                      <m:t>𝝈</m:t>
                    </m:r>
                  </m:oMath>
                </a14:m>
                <a:r>
                  <a:rPr lang="en-US" sz="1200" b="1" dirty="0">
                    <a:solidFill>
                      <a:srgbClr val="33373B"/>
                    </a:solidFill>
                  </a:rPr>
                  <a:t>), weaving (5.0 </a:t>
                </a:r>
                <a14:m>
                  <m:oMath xmlns:m="http://schemas.openxmlformats.org/officeDocument/2006/math">
                    <m:r>
                      <a:rPr lang="en-US" sz="1200" b="1" i="1" dirty="0">
                        <a:solidFill>
                          <a:srgbClr val="33373B"/>
                        </a:solidFill>
                        <a:latin typeface="Cambria Math" panose="02040503050406030204" pitchFamily="18" charset="0"/>
                      </a:rPr>
                      <m:t>𝝈</m:t>
                    </m:r>
                  </m:oMath>
                </a14:m>
                <a:r>
                  <a:rPr lang="en-US" sz="1200" b="1" dirty="0">
                    <a:solidFill>
                      <a:srgbClr val="33373B"/>
                    </a:solidFill>
                  </a:rPr>
                  <a:t>), tailgating (2.1 </a:t>
                </a:r>
                <a14:m>
                  <m:oMath xmlns:m="http://schemas.openxmlformats.org/officeDocument/2006/math">
                    <m:r>
                      <a:rPr lang="en-US" sz="1200" b="1" i="1" dirty="0">
                        <a:solidFill>
                          <a:srgbClr val="33373B"/>
                        </a:solidFill>
                        <a:latin typeface="Cambria Math" panose="02040503050406030204" pitchFamily="18" charset="0"/>
                      </a:rPr>
                      <m:t>𝝈</m:t>
                    </m:r>
                  </m:oMath>
                </a14:m>
                <a:r>
                  <a:rPr lang="en-US" sz="1200" b="1" dirty="0">
                    <a:solidFill>
                      <a:srgbClr val="33373B"/>
                    </a:solidFill>
                  </a:rPr>
                  <a:t>), subtle behaviors below the conservative </a:t>
                </a:r>
                <a14:m>
                  <m:oMath xmlns:m="http://schemas.openxmlformats.org/officeDocument/2006/math">
                    <m:r>
                      <a:rPr lang="en-US" sz="1200" b="1" i="1" dirty="0">
                        <a:solidFill>
                          <a:srgbClr val="33373B"/>
                        </a:solidFill>
                        <a:latin typeface="Cambria Math" panose="02040503050406030204" pitchFamily="18" charset="0"/>
                      </a:rPr>
                      <m:t>≈</m:t>
                    </m:r>
                    <m:r>
                      <a:rPr lang="en-US" sz="1200" b="1" i="1" dirty="0">
                        <a:solidFill>
                          <a:srgbClr val="33373B"/>
                        </a:solidFill>
                        <a:latin typeface="Cambria Math" panose="02040503050406030204" pitchFamily="18" charset="0"/>
                      </a:rPr>
                      <m:t>𝟏𝟓</m:t>
                    </m:r>
                    <m:r>
                      <a:rPr lang="en-US" sz="1200" b="1" i="1" dirty="0">
                        <a:solidFill>
                          <a:srgbClr val="33373B"/>
                        </a:solidFill>
                        <a:latin typeface="Cambria Math" panose="02040503050406030204" pitchFamily="18" charset="0"/>
                      </a:rPr>
                      <m:t>.</m:t>
                    </m:r>
                    <m:r>
                      <a:rPr lang="en-US" sz="1200" b="1" i="1" dirty="0">
                        <a:solidFill>
                          <a:srgbClr val="33373B"/>
                        </a:solidFill>
                        <a:latin typeface="Cambria Math" panose="02040503050406030204" pitchFamily="18" charset="0"/>
                      </a:rPr>
                      <m:t>𝟒</m:t>
                    </m:r>
                    <m:r>
                      <a:rPr lang="en-US" sz="1200" b="1" i="1" dirty="0">
                        <a:solidFill>
                          <a:srgbClr val="33373B"/>
                        </a:solidFill>
                        <a:latin typeface="Cambria Math" panose="02040503050406030204" pitchFamily="18" charset="0"/>
                      </a:rPr>
                      <m:t> </m:t>
                    </m:r>
                    <m:r>
                      <a:rPr lang="en-US" sz="1200" b="1" i="1" dirty="0">
                        <a:solidFill>
                          <a:srgbClr val="33373B"/>
                        </a:solidFill>
                        <a:latin typeface="Cambria Math" panose="02040503050406030204" pitchFamily="18" charset="0"/>
                      </a:rPr>
                      <m:t>𝝈</m:t>
                    </m:r>
                    <m:r>
                      <a:rPr lang="en-US" sz="1200" b="1" i="1" dirty="0">
                        <a:solidFill>
                          <a:srgbClr val="33373B"/>
                        </a:solidFill>
                        <a:latin typeface="Cambria Math" panose="02040503050406030204" pitchFamily="18" charset="0"/>
                      </a:rPr>
                      <m:t> </m:t>
                    </m:r>
                  </m:oMath>
                </a14:m>
                <a:r>
                  <a:rPr lang="en-US" sz="1200" b="1" dirty="0">
                    <a:solidFill>
                      <a:srgbClr val="33373B"/>
                    </a:solidFill>
                  </a:rPr>
                  <a:t>threshold chosen to keep false positives low.</a:t>
                </a:r>
              </a:p>
            </p:txBody>
          </p:sp>
        </mc:Choice>
        <mc:Fallback>
          <p:sp>
            <p:nvSpPr>
              <p:cNvPr id="9" name="TextBox 8"/>
              <p:cNvSpPr txBox="1">
                <a:spLocks noRot="1" noChangeAspect="1" noMove="1" noResize="1" noEditPoints="1" noAdjustHandles="1" noChangeArrowheads="1" noChangeShapeType="1" noTextEdit="1"/>
              </p:cNvSpPr>
              <p:nvPr/>
            </p:nvSpPr>
            <p:spPr>
              <a:xfrm>
                <a:off x="594360" y="2788920"/>
                <a:ext cx="5120640" cy="1592872"/>
              </a:xfrm>
              <a:prstGeom prst="rect">
                <a:avLst/>
              </a:prstGeom>
              <a:blipFill>
                <a:blip r:embed="rId5"/>
                <a:stretch>
                  <a:fillRect l="-1980" t="-2362" r="-990" b="-3937"/>
                </a:stretch>
              </a:blipFill>
            </p:spPr>
            <p:txBody>
              <a:bodyPr/>
              <a:lstStyle/>
              <a:p>
                <a:r>
                  <a:rPr lang="en-IL">
                    <a:noFill/>
                  </a:rPr>
                  <a:t> </a:t>
                </a:r>
              </a:p>
            </p:txBody>
          </p:sp>
        </mc:Fallback>
      </mc:AlternateContent>
      <p:sp>
        <p:nvSpPr>
          <p:cNvPr id="10" name="Rounded Rectangle 9"/>
          <p:cNvSpPr/>
          <p:nvPr/>
        </p:nvSpPr>
        <p:spPr>
          <a:xfrm>
            <a:off x="5989320" y="1188720"/>
            <a:ext cx="5486400" cy="452628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pic>
        <p:nvPicPr>
          <p:cNvPr id="11" name="Picture 10" descr="image16.png"/>
          <p:cNvPicPr>
            <a:picLocks noChangeAspect="1"/>
          </p:cNvPicPr>
          <p:nvPr/>
        </p:nvPicPr>
        <p:blipFill>
          <a:blip r:embed="rId6"/>
          <a:stretch>
            <a:fillRect/>
          </a:stretch>
        </p:blipFill>
        <p:spPr>
          <a:xfrm>
            <a:off x="6172200" y="2103120"/>
            <a:ext cx="5120640" cy="2651484"/>
          </a:xfrm>
          <a:prstGeom prst="rect">
            <a:avLst/>
          </a:prstGeom>
        </p:spPr>
      </p:pic>
      <p:sp>
        <p:nvSpPr>
          <p:cNvPr id="12" name="TextBox 11"/>
          <p:cNvSpPr txBox="1"/>
          <p:nvPr/>
        </p:nvSpPr>
        <p:spPr>
          <a:xfrm>
            <a:off x="6172200" y="5074920"/>
            <a:ext cx="5120640" cy="411480"/>
          </a:xfrm>
          <a:prstGeom prst="rect">
            <a:avLst/>
          </a:prstGeom>
          <a:noFill/>
        </p:spPr>
        <p:txBody>
          <a:bodyPr wrap="square" lIns="0" tIns="0" rIns="0" bIns="0" anchor="t">
            <a:spAutoFit/>
          </a:bodyPr>
          <a:lstStyle/>
          <a:p>
            <a:pPr algn="ctr">
              <a:lnSpc>
                <a:spcPct val="100000"/>
              </a:lnSpc>
              <a:spcAft>
                <a:spcPts val="0"/>
              </a:spcAft>
            </a:pPr>
            <a:r>
              <a:rPr sz="1050" b="0" i="0">
                <a:solidFill>
                  <a:srgbClr val="6B7A85"/>
                </a:solidFill>
                <a:latin typeface="Calibri"/>
              </a:rPr>
              <a:t>Injected-vehicle anomaly score per scenario vs. the conservative decision threshold (dashed).</a:t>
            </a:r>
          </a:p>
        </p:txBody>
      </p:sp>
      <p:sp>
        <p:nvSpPr>
          <p:cNvPr id="13" name="TextBox 12">
            <a:extLst>
              <a:ext uri="{FF2B5EF4-FFF2-40B4-BE49-F238E27FC236}">
                <a16:creationId xmlns:a16="http://schemas.microsoft.com/office/drawing/2014/main" id="{F91A89C5-4DA2-6F0B-3AD6-E9D4CA330FBB}"/>
              </a:ext>
            </a:extLst>
          </p:cNvPr>
          <p:cNvSpPr txBox="1"/>
          <p:nvPr/>
        </p:nvSpPr>
        <p:spPr>
          <a:xfrm>
            <a:off x="2743198" y="1417320"/>
            <a:ext cx="2971800" cy="960120"/>
          </a:xfrm>
          <a:prstGeom prst="rect">
            <a:avLst/>
          </a:prstGeom>
          <a:noFill/>
        </p:spPr>
        <p:txBody>
          <a:bodyPr wrap="square" lIns="0" tIns="0" rIns="0" bIns="0" anchor="ctr">
            <a:spAutoFit/>
          </a:bodyPr>
          <a:lstStyle/>
          <a:p>
            <a:pPr algn="l">
              <a:lnSpc>
                <a:spcPct val="100000"/>
              </a:lnSpc>
              <a:spcBef>
                <a:spcPts val="0"/>
              </a:spcBef>
              <a:spcAft>
                <a:spcPts val="300"/>
              </a:spcAft>
            </a:pPr>
            <a:r>
              <a:rPr sz="1500" b="1" i="0" dirty="0">
                <a:solidFill>
                  <a:srgbClr val="0B2A45"/>
                </a:solidFill>
                <a:latin typeface="Calibri"/>
              </a:rPr>
              <a:t>anomalies detected</a:t>
            </a:r>
          </a:p>
          <a:p>
            <a:pPr algn="l">
              <a:lnSpc>
                <a:spcPct val="100000"/>
              </a:lnSpc>
              <a:spcBef>
                <a:spcPts val="0"/>
              </a:spcBef>
              <a:spcAft>
                <a:spcPts val="300"/>
              </a:spcAft>
            </a:pPr>
            <a:r>
              <a:rPr sz="1250" b="0" i="1" dirty="0">
                <a:solidFill>
                  <a:srgbClr val="2E7D32"/>
                </a:solidFill>
                <a:latin typeface="Calibri"/>
              </a:rPr>
              <a:t>target ≥ 5 / 10  —  met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1.jpg"/>
          <p:cNvPicPr>
            <a:picLocks noChangeAspect="1"/>
          </p:cNvPicPr>
          <p:nvPr/>
        </p:nvPicPr>
        <p:blipFill>
          <a:blip r:embed="rId3"/>
          <a:stretch>
            <a:fillRect/>
          </a:stretch>
        </p:blipFill>
        <p:spPr>
          <a:xfrm>
            <a:off x="292608" y="274320"/>
            <a:ext cx="2490940" cy="566928"/>
          </a:xfrm>
          <a:prstGeom prst="rect">
            <a:avLst/>
          </a:prstGeom>
        </p:spPr>
      </p:pic>
      <p:pic>
        <p:nvPicPr>
          <p:cNvPr id="3" name="Picture 2" descr="image2.png"/>
          <p:cNvPicPr>
            <a:picLocks noChangeAspect="1"/>
          </p:cNvPicPr>
          <p:nvPr/>
        </p:nvPicPr>
        <p:blipFill>
          <a:blip r:embed="rId4"/>
          <a:stretch>
            <a:fillRect/>
          </a:stretch>
        </p:blipFill>
        <p:spPr>
          <a:xfrm>
            <a:off x="11292840" y="219456"/>
            <a:ext cx="635887" cy="658368"/>
          </a:xfrm>
          <a:prstGeom prst="rect">
            <a:avLst/>
          </a:prstGeom>
        </p:spPr>
      </p:pic>
      <p:sp>
        <p:nvSpPr>
          <p:cNvPr id="4" name="TextBox 3"/>
          <p:cNvSpPr txBox="1"/>
          <p:nvPr/>
        </p:nvSpPr>
        <p:spPr>
          <a:xfrm>
            <a:off x="1737360" y="301752"/>
            <a:ext cx="8686800" cy="566928"/>
          </a:xfrm>
          <a:prstGeom prst="rect">
            <a:avLst/>
          </a:prstGeom>
          <a:noFill/>
        </p:spPr>
        <p:txBody>
          <a:bodyPr wrap="square" lIns="0" tIns="0" rIns="0" bIns="0" anchor="t">
            <a:spAutoFit/>
          </a:bodyPr>
          <a:lstStyle/>
          <a:p>
            <a:pPr algn="ctr">
              <a:lnSpc>
                <a:spcPct val="100000"/>
              </a:lnSpc>
              <a:spcAft>
                <a:spcPts val="0"/>
              </a:spcAft>
            </a:pPr>
            <a:r>
              <a:rPr sz="2500" b="1" i="0">
                <a:solidFill>
                  <a:srgbClr val="0B4F6C"/>
                </a:solidFill>
                <a:latin typeface="Cambria"/>
              </a:rPr>
              <a:t>Real-World Validation — Klausner St.</a:t>
            </a:r>
          </a:p>
        </p:txBody>
      </p:sp>
      <p:sp>
        <p:nvSpPr>
          <p:cNvPr id="5" name="TextBox 4"/>
          <p:cNvSpPr txBox="1"/>
          <p:nvPr/>
        </p:nvSpPr>
        <p:spPr>
          <a:xfrm>
            <a:off x="320040" y="6455664"/>
            <a:ext cx="5486400" cy="274320"/>
          </a:xfrm>
          <a:prstGeom prst="rect">
            <a:avLst/>
          </a:prstGeom>
          <a:noFill/>
        </p:spPr>
        <p:txBody>
          <a:bodyPr wrap="square" lIns="0" tIns="0" rIns="0" bIns="0" anchor="t">
            <a:spAutoFit/>
          </a:bodyPr>
          <a:lstStyle/>
          <a:p>
            <a:pPr algn="l">
              <a:lnSpc>
                <a:spcPct val="100000"/>
              </a:lnSpc>
              <a:spcAft>
                <a:spcPts val="0"/>
              </a:spcAft>
            </a:pPr>
            <a:r>
              <a:rPr sz="900" b="0" i="1">
                <a:solidFill>
                  <a:srgbClr val="6B7A85"/>
                </a:solidFill>
                <a:latin typeface="Calibri"/>
              </a:rPr>
              <a:t>Optical Fibers for Smart Cities · SimStudio</a:t>
            </a:r>
          </a:p>
        </p:txBody>
      </p:sp>
      <p:sp>
        <p:nvSpPr>
          <p:cNvPr id="6" name="TextBox 5"/>
          <p:cNvSpPr txBox="1"/>
          <p:nvPr/>
        </p:nvSpPr>
        <p:spPr>
          <a:xfrm>
            <a:off x="11338560" y="6455664"/>
            <a:ext cx="640080" cy="274320"/>
          </a:xfrm>
          <a:prstGeom prst="rect">
            <a:avLst/>
          </a:prstGeom>
          <a:noFill/>
        </p:spPr>
        <p:txBody>
          <a:bodyPr wrap="square" lIns="0" tIns="0" rIns="0" bIns="0" anchor="t">
            <a:spAutoFit/>
          </a:bodyPr>
          <a:lstStyle/>
          <a:p>
            <a:pPr algn="r">
              <a:lnSpc>
                <a:spcPct val="100000"/>
              </a:lnSpc>
              <a:spcAft>
                <a:spcPts val="0"/>
              </a:spcAft>
            </a:pPr>
            <a:r>
              <a:rPr sz="1000" b="0" i="0">
                <a:solidFill>
                  <a:srgbClr val="6B7A85"/>
                </a:solidFill>
                <a:latin typeface="Calibri"/>
              </a:rPr>
              <a:t>11</a:t>
            </a:r>
          </a:p>
        </p:txBody>
      </p:sp>
      <p:sp>
        <p:nvSpPr>
          <p:cNvPr id="8" name="Rounded Rectangle 7"/>
          <p:cNvSpPr/>
          <p:nvPr/>
        </p:nvSpPr>
        <p:spPr>
          <a:xfrm>
            <a:off x="594360" y="3657600"/>
            <a:ext cx="1645920" cy="96012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594360" y="3767328"/>
            <a:ext cx="1645920" cy="777240"/>
          </a:xfrm>
          <a:prstGeom prst="rect">
            <a:avLst/>
          </a:prstGeom>
          <a:noFill/>
        </p:spPr>
        <p:txBody>
          <a:bodyPr wrap="square" lIns="0" tIns="0" rIns="0" bIns="0" anchor="t">
            <a:spAutoFit/>
          </a:bodyPr>
          <a:lstStyle/>
          <a:p>
            <a:pPr algn="ctr">
              <a:lnSpc>
                <a:spcPct val="100000"/>
              </a:lnSpc>
              <a:spcAft>
                <a:spcPts val="200"/>
              </a:spcAft>
            </a:pPr>
            <a:r>
              <a:rPr sz="2600" b="1" i="0">
                <a:solidFill>
                  <a:srgbClr val="0B4F6C"/>
                </a:solidFill>
                <a:latin typeface="Cambria"/>
              </a:rPr>
              <a:t>1.17 m</a:t>
            </a:r>
          </a:p>
          <a:p>
            <a:pPr algn="ctr">
              <a:lnSpc>
                <a:spcPct val="100000"/>
              </a:lnSpc>
              <a:spcAft>
                <a:spcPts val="0"/>
              </a:spcAft>
            </a:pPr>
            <a:r>
              <a:rPr sz="1050" b="0" i="0">
                <a:solidFill>
                  <a:srgbClr val="6B7A85"/>
                </a:solidFill>
                <a:latin typeface="Calibri"/>
              </a:rPr>
              <a:t>fused track RMSE</a:t>
            </a:r>
          </a:p>
        </p:txBody>
      </p:sp>
      <p:sp>
        <p:nvSpPr>
          <p:cNvPr id="10" name="Rounded Rectangle 9"/>
          <p:cNvSpPr/>
          <p:nvPr/>
        </p:nvSpPr>
        <p:spPr>
          <a:xfrm>
            <a:off x="2377440" y="3657600"/>
            <a:ext cx="1645920" cy="96012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2377440" y="3767328"/>
            <a:ext cx="1645920" cy="777240"/>
          </a:xfrm>
          <a:prstGeom prst="rect">
            <a:avLst/>
          </a:prstGeom>
          <a:noFill/>
        </p:spPr>
        <p:txBody>
          <a:bodyPr wrap="square" lIns="0" tIns="0" rIns="0" bIns="0" anchor="t">
            <a:spAutoFit/>
          </a:bodyPr>
          <a:lstStyle/>
          <a:p>
            <a:pPr algn="ctr">
              <a:lnSpc>
                <a:spcPct val="100000"/>
              </a:lnSpc>
              <a:spcAft>
                <a:spcPts val="200"/>
              </a:spcAft>
            </a:pPr>
            <a:r>
              <a:rPr sz="2600" b="1" i="0">
                <a:solidFill>
                  <a:srgbClr val="2E7D5B"/>
                </a:solidFill>
                <a:latin typeface="Cambria"/>
              </a:rPr>
              <a:t>0.33 m</a:t>
            </a:r>
          </a:p>
          <a:p>
            <a:pPr algn="ctr">
              <a:lnSpc>
                <a:spcPct val="100000"/>
              </a:lnSpc>
              <a:spcAft>
                <a:spcPts val="0"/>
              </a:spcAft>
            </a:pPr>
            <a:r>
              <a:rPr sz="1050" b="0" i="0">
                <a:solidFill>
                  <a:srgbClr val="6B7A85"/>
                </a:solidFill>
                <a:latin typeface="Calibri"/>
              </a:rPr>
              <a:t>DAS per-sensor RMSE</a:t>
            </a:r>
          </a:p>
        </p:txBody>
      </p:sp>
      <p:sp>
        <p:nvSpPr>
          <p:cNvPr id="12" name="Rounded Rectangle 11"/>
          <p:cNvSpPr/>
          <p:nvPr/>
        </p:nvSpPr>
        <p:spPr>
          <a:xfrm>
            <a:off x="4160520" y="3657600"/>
            <a:ext cx="1645920" cy="96012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4160520" y="3767328"/>
            <a:ext cx="1645920" cy="777240"/>
          </a:xfrm>
          <a:prstGeom prst="rect">
            <a:avLst/>
          </a:prstGeom>
          <a:noFill/>
        </p:spPr>
        <p:txBody>
          <a:bodyPr wrap="square" lIns="0" tIns="0" rIns="0" bIns="0" anchor="t">
            <a:spAutoFit/>
          </a:bodyPr>
          <a:lstStyle/>
          <a:p>
            <a:pPr algn="ctr">
              <a:lnSpc>
                <a:spcPct val="100000"/>
              </a:lnSpc>
              <a:spcAft>
                <a:spcPts val="200"/>
              </a:spcAft>
            </a:pPr>
            <a:r>
              <a:rPr sz="2600" b="1" i="0">
                <a:solidFill>
                  <a:srgbClr val="C97B2C"/>
                </a:solidFill>
                <a:latin typeface="Cambria"/>
              </a:rPr>
              <a:t>2.49 m</a:t>
            </a:r>
          </a:p>
          <a:p>
            <a:pPr algn="ctr">
              <a:lnSpc>
                <a:spcPct val="100000"/>
              </a:lnSpc>
              <a:spcAft>
                <a:spcPts val="0"/>
              </a:spcAft>
            </a:pPr>
            <a:r>
              <a:rPr sz="1050" b="0" i="0">
                <a:solidFill>
                  <a:srgbClr val="6B7A85"/>
                </a:solidFill>
                <a:latin typeface="Calibri"/>
              </a:rPr>
              <a:t>camera per-sensor RMSE</a:t>
            </a:r>
          </a:p>
        </p:txBody>
      </p:sp>
      <mc:AlternateContent xmlns:mc="http://schemas.openxmlformats.org/markup-compatibility/2006">
        <mc:Choice xmlns:a14="http://schemas.microsoft.com/office/drawing/2010/main" Requires="a14">
          <p:sp>
            <p:nvSpPr>
              <p:cNvPr id="14" name="TextBox 13"/>
              <p:cNvSpPr txBox="1"/>
              <p:nvPr/>
            </p:nvSpPr>
            <p:spPr>
              <a:xfrm>
                <a:off x="640080" y="4846320"/>
                <a:ext cx="5166360" cy="526041"/>
              </a:xfrm>
              <a:prstGeom prst="rect">
                <a:avLst/>
              </a:prstGeom>
              <a:noFill/>
            </p:spPr>
            <p:txBody>
              <a:bodyPr wrap="square" lIns="0" tIns="0" rIns="0" bIns="0" anchor="t">
                <a:spAutoFit/>
              </a:bodyPr>
              <a:lstStyle/>
              <a:p>
                <a:pPr>
                  <a:lnSpc>
                    <a:spcPct val="105000"/>
                  </a:lnSpc>
                  <a:spcAft>
                    <a:spcPts val="400"/>
                  </a:spcAft>
                </a:pPr>
                <a:r>
                  <a:rPr lang="en-US" sz="1100" i="1" dirty="0">
                    <a:solidFill>
                      <a:srgbClr val="33373B"/>
                    </a:solidFill>
                  </a:rPr>
                  <a:t>The camera's measured error far exceeded its reported </a:t>
                </a:r>
                <a14:m>
                  <m:oMath xmlns:m="http://schemas.openxmlformats.org/officeDocument/2006/math">
                    <m:r>
                      <a:rPr lang="el-GR" sz="1100" i="1" dirty="0">
                        <a:solidFill>
                          <a:srgbClr val="33373B"/>
                        </a:solidFill>
                        <a:latin typeface="Cambria Math" panose="02040503050406030204" pitchFamily="18" charset="0"/>
                      </a:rPr>
                      <m:t>𝜎</m:t>
                    </m:r>
                    <m:r>
                      <a:rPr lang="en-US" sz="1100" i="1" dirty="0">
                        <a:solidFill>
                          <a:srgbClr val="33373B"/>
                        </a:solidFill>
                        <a:latin typeface="Cambria Math" panose="02040503050406030204" pitchFamily="18" charset="0"/>
                      </a:rPr>
                      <m:t>=0.2</m:t>
                    </m:r>
                    <m:r>
                      <a:rPr lang="en-US" sz="1100" i="1" dirty="0">
                        <a:solidFill>
                          <a:srgbClr val="33373B"/>
                        </a:solidFill>
                        <a:latin typeface="Cambria Math" panose="02040503050406030204" pitchFamily="18" charset="0"/>
                      </a:rPr>
                      <m:t>𝑚</m:t>
                    </m:r>
                    <m:r>
                      <a:rPr lang="en-US" sz="1100" i="1" dirty="0">
                        <a:solidFill>
                          <a:srgbClr val="33373B"/>
                        </a:solidFill>
                        <a:latin typeface="Cambria Math" panose="02040503050406030204" pitchFamily="18" charset="0"/>
                      </a:rPr>
                      <m:t>,</m:t>
                    </m:r>
                  </m:oMath>
                </a14:m>
                <a:r>
                  <a:rPr lang="el-GR" sz="1100" i="1" dirty="0">
                    <a:solidFill>
                      <a:srgbClr val="33373B"/>
                    </a:solidFill>
                  </a:rPr>
                  <a:t> </a:t>
                </a:r>
                <a:r>
                  <a:rPr lang="en-US" sz="1100" i="1" dirty="0">
                    <a:solidFill>
                      <a:srgbClr val="33373B"/>
                    </a:solidFill>
                  </a:rPr>
                  <a:t>exactly the failure mode the design anticipates. </a:t>
                </a:r>
                <a:r>
                  <a:rPr lang="en-IL" sz="1100" i="1" dirty="0">
                    <a:solidFill>
                      <a:srgbClr val="33373B"/>
                    </a:solidFill>
                  </a:rPr>
                  <a:t>Cameras must be calibrated at each site before a larger real world deployment.</a:t>
                </a:r>
              </a:p>
            </p:txBody>
          </p:sp>
        </mc:Choice>
        <mc:Fallback>
          <p:sp>
            <p:nvSpPr>
              <p:cNvPr id="14" name="TextBox 13"/>
              <p:cNvSpPr txBox="1">
                <a:spLocks noRot="1" noChangeAspect="1" noMove="1" noResize="1" noEditPoints="1" noAdjustHandles="1" noChangeArrowheads="1" noChangeShapeType="1" noTextEdit="1"/>
              </p:cNvSpPr>
              <p:nvPr/>
            </p:nvSpPr>
            <p:spPr>
              <a:xfrm>
                <a:off x="640080" y="4846320"/>
                <a:ext cx="5166360" cy="526041"/>
              </a:xfrm>
              <a:prstGeom prst="rect">
                <a:avLst/>
              </a:prstGeom>
              <a:blipFill>
                <a:blip r:embed="rId5"/>
                <a:stretch>
                  <a:fillRect l="-1716" t="-7143" r="-1225" b="-16667"/>
                </a:stretch>
              </a:blipFill>
            </p:spPr>
            <p:txBody>
              <a:bodyPr/>
              <a:lstStyle/>
              <a:p>
                <a:r>
                  <a:rPr lang="en-IL">
                    <a:noFill/>
                  </a:rPr>
                  <a:t> </a:t>
                </a:r>
              </a:p>
            </p:txBody>
          </p:sp>
        </mc:Fallback>
      </mc:AlternateContent>
      <p:sp>
        <p:nvSpPr>
          <p:cNvPr id="19" name="TextBox 18">
            <a:extLst>
              <a:ext uri="{FF2B5EF4-FFF2-40B4-BE49-F238E27FC236}">
                <a16:creationId xmlns:a16="http://schemas.microsoft.com/office/drawing/2014/main" id="{D99D3786-C09E-653D-7338-D1B0A9CDD2A2}"/>
              </a:ext>
            </a:extLst>
          </p:cNvPr>
          <p:cNvSpPr txBox="1"/>
          <p:nvPr/>
        </p:nvSpPr>
        <p:spPr>
          <a:xfrm>
            <a:off x="640080" y="1417320"/>
            <a:ext cx="5212080" cy="2117439"/>
          </a:xfrm>
          <a:prstGeom prst="rect">
            <a:avLst/>
          </a:prstGeom>
          <a:noFill/>
        </p:spPr>
        <p:txBody>
          <a:bodyPr wrap="square" lIns="0" tIns="0" rIns="0" bIns="0">
            <a:spAutoFit/>
          </a:bodyPr>
          <a:lstStyle/>
          <a:p>
            <a:pPr marL="171450" indent="-171450">
              <a:lnSpc>
                <a:spcPct val="106000"/>
              </a:lnSpc>
              <a:spcAft>
                <a:spcPts val="800"/>
              </a:spcAft>
              <a:buFont typeface="Courier New" panose="02070309020205020404" pitchFamily="49" charset="0"/>
              <a:buChar char="o"/>
            </a:pPr>
            <a:r>
              <a:rPr lang="en-US" sz="1400" b="1" dirty="0">
                <a:solidFill>
                  <a:srgbClr val="33373B"/>
                </a:solidFill>
              </a:rPr>
              <a:t>A real camera + DAS channel operated on an existing telecom fiber on Klausner St., beside the TAU campus.</a:t>
            </a:r>
          </a:p>
          <a:p>
            <a:pPr marL="171450" indent="-171450">
              <a:lnSpc>
                <a:spcPct val="106000"/>
              </a:lnSpc>
              <a:spcAft>
                <a:spcPts val="800"/>
              </a:spcAft>
              <a:buFont typeface="Courier New" panose="02070309020205020404" pitchFamily="49" charset="0"/>
              <a:buChar char="o"/>
            </a:pPr>
            <a:r>
              <a:rPr lang="en-US" sz="1400" dirty="0">
                <a:solidFill>
                  <a:srgbClr val="33373B"/>
                </a:solidFill>
              </a:rPr>
              <a:t>A city bus decelerating to a bus stop was replayed through the exact, unchanged pipeline on the true street geometry.</a:t>
            </a:r>
          </a:p>
          <a:p>
            <a:pPr marL="171450" indent="-171450">
              <a:lnSpc>
                <a:spcPct val="106000"/>
              </a:lnSpc>
              <a:spcAft>
                <a:spcPts val="800"/>
              </a:spcAft>
              <a:buFont typeface="Courier New" panose="02070309020205020404" pitchFamily="49" charset="0"/>
              <a:buChar char="o"/>
            </a:pPr>
            <a:r>
              <a:rPr lang="en-US" sz="1400" dirty="0">
                <a:solidFill>
                  <a:srgbClr val="33373B"/>
                </a:solidFill>
              </a:rPr>
              <a:t>Fused 84 DAS + 30 camera measurements over 41.8 s, ran on prediction alone for 42% of the run (longest gap 3.98 s) and never lost the track through the stop.</a:t>
            </a:r>
          </a:p>
          <a:p>
            <a:pPr algn="l">
              <a:lnSpc>
                <a:spcPct val="106000"/>
              </a:lnSpc>
              <a:spcBef>
                <a:spcPts val="0"/>
              </a:spcBef>
              <a:spcAft>
                <a:spcPts val="800"/>
              </a:spcAft>
            </a:pPr>
            <a:endParaRPr sz="1350" b="0" dirty="0">
              <a:solidFill>
                <a:srgbClr val="33373B"/>
              </a:solidFill>
              <a:latin typeface="Calibri"/>
            </a:endParaRPr>
          </a:p>
        </p:txBody>
      </p:sp>
      <p:sp>
        <p:nvSpPr>
          <p:cNvPr id="20" name="Rounded Rectangle 19">
            <a:extLst>
              <a:ext uri="{FF2B5EF4-FFF2-40B4-BE49-F238E27FC236}">
                <a16:creationId xmlns:a16="http://schemas.microsoft.com/office/drawing/2014/main" id="{BC57DFA2-75A5-1F9B-A25D-963CDAC1EEC0}"/>
              </a:ext>
            </a:extLst>
          </p:cNvPr>
          <p:cNvSpPr/>
          <p:nvPr/>
        </p:nvSpPr>
        <p:spPr>
          <a:xfrm>
            <a:off x="6080760" y="1371600"/>
            <a:ext cx="5532120" cy="4617720"/>
          </a:xfrm>
          <a:prstGeom prst="roundRect">
            <a:avLst>
              <a:gd name="adj" fmla="val 3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klausner_map.png">
            <a:extLst>
              <a:ext uri="{FF2B5EF4-FFF2-40B4-BE49-F238E27FC236}">
                <a16:creationId xmlns:a16="http://schemas.microsoft.com/office/drawing/2014/main" id="{E6F3287B-3C29-1D15-5088-49761062B83F}"/>
              </a:ext>
            </a:extLst>
          </p:cNvPr>
          <p:cNvPicPr>
            <a:picLocks noChangeAspect="1"/>
          </p:cNvPicPr>
          <p:nvPr/>
        </p:nvPicPr>
        <p:blipFill>
          <a:blip r:embed="rId6"/>
          <a:stretch>
            <a:fillRect/>
          </a:stretch>
        </p:blipFill>
        <p:spPr>
          <a:xfrm>
            <a:off x="6217920" y="2509450"/>
            <a:ext cx="3017520" cy="2342018"/>
          </a:xfrm>
          <a:prstGeom prst="rect">
            <a:avLst/>
          </a:prstGeom>
        </p:spPr>
      </p:pic>
      <p:pic>
        <p:nvPicPr>
          <p:cNvPr id="22" name="Picture 21" descr="klausner_bus_track.png">
            <a:extLst>
              <a:ext uri="{FF2B5EF4-FFF2-40B4-BE49-F238E27FC236}">
                <a16:creationId xmlns:a16="http://schemas.microsoft.com/office/drawing/2014/main" id="{C41346F0-FB32-2404-C9D5-AFF974C05332}"/>
              </a:ext>
            </a:extLst>
          </p:cNvPr>
          <p:cNvPicPr>
            <a:picLocks noChangeAspect="1"/>
          </p:cNvPicPr>
          <p:nvPr/>
        </p:nvPicPr>
        <p:blipFill>
          <a:blip r:embed="rId7"/>
          <a:stretch>
            <a:fillRect/>
          </a:stretch>
        </p:blipFill>
        <p:spPr>
          <a:xfrm>
            <a:off x="8529045" y="2145772"/>
            <a:ext cx="2809515" cy="3115095"/>
          </a:xfrm>
          <a:prstGeom prst="rect">
            <a:avLst/>
          </a:prstGeom>
        </p:spPr>
      </p:pic>
      <p:sp>
        <p:nvSpPr>
          <p:cNvPr id="23" name="TextBox 22">
            <a:extLst>
              <a:ext uri="{FF2B5EF4-FFF2-40B4-BE49-F238E27FC236}">
                <a16:creationId xmlns:a16="http://schemas.microsoft.com/office/drawing/2014/main" id="{32BF44B3-91D9-C22F-9DB6-447CC0FB5A94}"/>
              </a:ext>
            </a:extLst>
          </p:cNvPr>
          <p:cNvSpPr txBox="1"/>
          <p:nvPr/>
        </p:nvSpPr>
        <p:spPr>
          <a:xfrm>
            <a:off x="6217920" y="5650992"/>
            <a:ext cx="5257800" cy="320040"/>
          </a:xfrm>
          <a:prstGeom prst="rect">
            <a:avLst/>
          </a:prstGeom>
          <a:noFill/>
        </p:spPr>
        <p:txBody>
          <a:bodyPr wrap="square" lIns="0" tIns="0" rIns="0" bIns="0" anchor="t">
            <a:spAutoFit/>
          </a:bodyPr>
          <a:lstStyle/>
          <a:p>
            <a:pPr algn="ctr">
              <a:lnSpc>
                <a:spcPct val="100000"/>
              </a:lnSpc>
              <a:spcBef>
                <a:spcPts val="0"/>
              </a:spcBef>
              <a:spcAft>
                <a:spcPts val="400"/>
              </a:spcAft>
            </a:pPr>
            <a:r>
              <a:rPr sz="1050" b="0" i="1">
                <a:solidFill>
                  <a:srgbClr val="6B7277"/>
                </a:solidFill>
                <a:latin typeface="Calibri"/>
              </a:rPr>
              <a:t>Klausner St. site (OSM) and the fused bus track through the stop.</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1.jpg"/>
          <p:cNvPicPr>
            <a:picLocks noChangeAspect="1"/>
          </p:cNvPicPr>
          <p:nvPr/>
        </p:nvPicPr>
        <p:blipFill>
          <a:blip r:embed="rId3"/>
          <a:stretch>
            <a:fillRect/>
          </a:stretch>
        </p:blipFill>
        <p:spPr>
          <a:xfrm>
            <a:off x="292608" y="274320"/>
            <a:ext cx="2490940" cy="566928"/>
          </a:xfrm>
          <a:prstGeom prst="rect">
            <a:avLst/>
          </a:prstGeom>
        </p:spPr>
      </p:pic>
      <p:pic>
        <p:nvPicPr>
          <p:cNvPr id="3" name="Picture 2" descr="image2.png"/>
          <p:cNvPicPr>
            <a:picLocks noChangeAspect="1"/>
          </p:cNvPicPr>
          <p:nvPr/>
        </p:nvPicPr>
        <p:blipFill>
          <a:blip r:embed="rId4"/>
          <a:stretch>
            <a:fillRect/>
          </a:stretch>
        </p:blipFill>
        <p:spPr>
          <a:xfrm>
            <a:off x="11292840" y="219456"/>
            <a:ext cx="635887" cy="658368"/>
          </a:xfrm>
          <a:prstGeom prst="rect">
            <a:avLst/>
          </a:prstGeom>
        </p:spPr>
      </p:pic>
      <p:sp>
        <p:nvSpPr>
          <p:cNvPr id="4" name="TextBox 3"/>
          <p:cNvSpPr txBox="1"/>
          <p:nvPr/>
        </p:nvSpPr>
        <p:spPr>
          <a:xfrm>
            <a:off x="1737360" y="301752"/>
            <a:ext cx="8686800" cy="566928"/>
          </a:xfrm>
          <a:prstGeom prst="rect">
            <a:avLst/>
          </a:prstGeom>
          <a:noFill/>
        </p:spPr>
        <p:txBody>
          <a:bodyPr wrap="square" lIns="0" tIns="0" rIns="0" bIns="0" anchor="t">
            <a:spAutoFit/>
          </a:bodyPr>
          <a:lstStyle/>
          <a:p>
            <a:pPr algn="ctr">
              <a:lnSpc>
                <a:spcPct val="100000"/>
              </a:lnSpc>
              <a:spcAft>
                <a:spcPts val="0"/>
              </a:spcAft>
            </a:pPr>
            <a:r>
              <a:rPr sz="2400" b="1" i="0">
                <a:solidFill>
                  <a:srgbClr val="0B4F6C"/>
                </a:solidFill>
                <a:latin typeface="Cambria"/>
              </a:rPr>
              <a:t>Continuation &amp; Project Documentation</a:t>
            </a:r>
          </a:p>
        </p:txBody>
      </p:sp>
      <p:sp>
        <p:nvSpPr>
          <p:cNvPr id="5" name="TextBox 4"/>
          <p:cNvSpPr txBox="1"/>
          <p:nvPr/>
        </p:nvSpPr>
        <p:spPr>
          <a:xfrm>
            <a:off x="320040" y="6455664"/>
            <a:ext cx="5486400" cy="274320"/>
          </a:xfrm>
          <a:prstGeom prst="rect">
            <a:avLst/>
          </a:prstGeom>
          <a:noFill/>
        </p:spPr>
        <p:txBody>
          <a:bodyPr wrap="square" lIns="0" tIns="0" rIns="0" bIns="0" anchor="t">
            <a:spAutoFit/>
          </a:bodyPr>
          <a:lstStyle/>
          <a:p>
            <a:pPr algn="l">
              <a:lnSpc>
                <a:spcPct val="100000"/>
              </a:lnSpc>
              <a:spcAft>
                <a:spcPts val="0"/>
              </a:spcAft>
            </a:pPr>
            <a:r>
              <a:rPr sz="900" b="0" i="1">
                <a:solidFill>
                  <a:srgbClr val="6B7A85"/>
                </a:solidFill>
                <a:latin typeface="Calibri"/>
              </a:rPr>
              <a:t>Optical Fibers for Smart Cities · SimStudio</a:t>
            </a:r>
          </a:p>
        </p:txBody>
      </p:sp>
      <p:sp>
        <p:nvSpPr>
          <p:cNvPr id="6" name="TextBox 5"/>
          <p:cNvSpPr txBox="1"/>
          <p:nvPr/>
        </p:nvSpPr>
        <p:spPr>
          <a:xfrm>
            <a:off x="11338560" y="6455664"/>
            <a:ext cx="640080" cy="274320"/>
          </a:xfrm>
          <a:prstGeom prst="rect">
            <a:avLst/>
          </a:prstGeom>
          <a:noFill/>
        </p:spPr>
        <p:txBody>
          <a:bodyPr wrap="square" lIns="0" tIns="0" rIns="0" bIns="0" anchor="t">
            <a:spAutoFit/>
          </a:bodyPr>
          <a:lstStyle/>
          <a:p>
            <a:pPr algn="r">
              <a:lnSpc>
                <a:spcPct val="100000"/>
              </a:lnSpc>
              <a:spcAft>
                <a:spcPts val="0"/>
              </a:spcAft>
            </a:pPr>
            <a:r>
              <a:rPr sz="1000" b="0" i="0">
                <a:solidFill>
                  <a:srgbClr val="6B7A85"/>
                </a:solidFill>
                <a:latin typeface="Calibri"/>
              </a:rPr>
              <a:t>13</a:t>
            </a:r>
          </a:p>
        </p:txBody>
      </p:sp>
      <p:sp>
        <p:nvSpPr>
          <p:cNvPr id="7" name="TextBox 6"/>
          <p:cNvSpPr txBox="1"/>
          <p:nvPr/>
        </p:nvSpPr>
        <p:spPr>
          <a:xfrm>
            <a:off x="621792" y="969264"/>
            <a:ext cx="5486400" cy="237744"/>
          </a:xfrm>
          <a:prstGeom prst="rect">
            <a:avLst/>
          </a:prstGeom>
          <a:noFill/>
        </p:spPr>
        <p:txBody>
          <a:bodyPr wrap="square" lIns="0" tIns="0" rIns="0" bIns="0" anchor="t">
            <a:spAutoFit/>
          </a:bodyPr>
          <a:lstStyle/>
          <a:p>
            <a:pPr algn="l">
              <a:lnSpc>
                <a:spcPct val="100000"/>
              </a:lnSpc>
              <a:spcAft>
                <a:spcPts val="0"/>
              </a:spcAft>
            </a:pPr>
            <a:r>
              <a:rPr sz="1100" b="1" i="0">
                <a:solidFill>
                  <a:srgbClr val="1C7293"/>
                </a:solidFill>
                <a:latin typeface="Cambria"/>
              </a:rPr>
              <a:t>SUGGESTIONS FOR CONTINUATION</a:t>
            </a:r>
          </a:p>
        </p:txBody>
      </p:sp>
      <p:sp>
        <p:nvSpPr>
          <p:cNvPr id="8" name="Rounded Rectangle 7"/>
          <p:cNvSpPr/>
          <p:nvPr/>
        </p:nvSpPr>
        <p:spPr>
          <a:xfrm>
            <a:off x="594360" y="1243584"/>
            <a:ext cx="3529584" cy="1243584"/>
          </a:xfrm>
          <a:prstGeom prst="roundRect">
            <a:avLst>
              <a:gd name="adj" fmla="val 6000"/>
            </a:avLst>
          </a:prstGeom>
          <a:solidFill>
            <a:srgbClr val="FFFFFF"/>
          </a:solidFill>
          <a:ln w="9525">
            <a:solidFill>
              <a:srgbClr val="D5DD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Oval 8"/>
          <p:cNvSpPr/>
          <p:nvPr/>
        </p:nvSpPr>
        <p:spPr>
          <a:xfrm>
            <a:off x="777240" y="1399032"/>
            <a:ext cx="365760" cy="365760"/>
          </a:xfrm>
          <a:prstGeom prst="ellipse">
            <a:avLst/>
          </a:prstGeom>
          <a:solidFill>
            <a:srgbClr val="C97B2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mbria"/>
              </a:rPr>
              <a:t>1</a:t>
            </a:r>
          </a:p>
        </p:txBody>
      </p:sp>
      <p:sp>
        <p:nvSpPr>
          <p:cNvPr id="10" name="TextBox 9"/>
          <p:cNvSpPr txBox="1"/>
          <p:nvPr/>
        </p:nvSpPr>
        <p:spPr>
          <a:xfrm>
            <a:off x="1252728" y="1426464"/>
            <a:ext cx="2706624" cy="310896"/>
          </a:xfrm>
          <a:prstGeom prst="rect">
            <a:avLst/>
          </a:prstGeom>
          <a:noFill/>
        </p:spPr>
        <p:txBody>
          <a:bodyPr wrap="square" lIns="0" tIns="0" rIns="0" bIns="0" anchor="ctr">
            <a:spAutoFit/>
          </a:bodyPr>
          <a:lstStyle/>
          <a:p>
            <a:pPr algn="l">
              <a:lnSpc>
                <a:spcPct val="100000"/>
              </a:lnSpc>
              <a:spcAft>
                <a:spcPts val="0"/>
              </a:spcAft>
            </a:pPr>
            <a:r>
              <a:rPr sz="1300" b="1" i="0">
                <a:solidFill>
                  <a:srgbClr val="0B4F6C"/>
                </a:solidFill>
                <a:latin typeface="Cambria"/>
              </a:rPr>
              <a:t>Catch the tricky anomalies</a:t>
            </a:r>
          </a:p>
        </p:txBody>
      </p:sp>
      <p:sp>
        <p:nvSpPr>
          <p:cNvPr id="11" name="TextBox 10"/>
          <p:cNvSpPr txBox="1"/>
          <p:nvPr/>
        </p:nvSpPr>
        <p:spPr>
          <a:xfrm>
            <a:off x="795528" y="1847088"/>
            <a:ext cx="3127248" cy="566928"/>
          </a:xfrm>
          <a:prstGeom prst="rect">
            <a:avLst/>
          </a:prstGeom>
          <a:noFill/>
        </p:spPr>
        <p:txBody>
          <a:bodyPr wrap="square" lIns="0" tIns="0" rIns="0" bIns="0" anchor="t">
            <a:spAutoFit/>
          </a:bodyPr>
          <a:lstStyle/>
          <a:p>
            <a:pPr algn="l">
              <a:lnSpc>
                <a:spcPct val="115000"/>
              </a:lnSpc>
              <a:spcAft>
                <a:spcPts val="0"/>
              </a:spcAft>
            </a:pPr>
            <a:r>
              <a:rPr sz="950" b="0" i="0">
                <a:solidFill>
                  <a:srgbClr val="33424D"/>
                </a:solidFill>
                <a:latin typeface="Calibri"/>
              </a:rPr>
              <a:t>Use the labelled examples we now have to train a smarter model, so it can spot the hard cases we miss today (weaving, straddling, tailgating).</a:t>
            </a:r>
          </a:p>
        </p:txBody>
      </p:sp>
      <p:sp>
        <p:nvSpPr>
          <p:cNvPr id="12" name="Rounded Rectangle 11"/>
          <p:cNvSpPr/>
          <p:nvPr/>
        </p:nvSpPr>
        <p:spPr>
          <a:xfrm>
            <a:off x="4325112" y="1243584"/>
            <a:ext cx="3529584" cy="1243584"/>
          </a:xfrm>
          <a:prstGeom prst="roundRect">
            <a:avLst>
              <a:gd name="adj" fmla="val 6000"/>
            </a:avLst>
          </a:prstGeom>
          <a:solidFill>
            <a:srgbClr val="FFFFFF"/>
          </a:solidFill>
          <a:ln w="9525">
            <a:solidFill>
              <a:srgbClr val="D5DD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Oval 12"/>
          <p:cNvSpPr/>
          <p:nvPr/>
        </p:nvSpPr>
        <p:spPr>
          <a:xfrm>
            <a:off x="4507992" y="1399032"/>
            <a:ext cx="365760" cy="3657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mbria"/>
              </a:rPr>
              <a:t>2</a:t>
            </a:r>
          </a:p>
        </p:txBody>
      </p:sp>
      <p:sp>
        <p:nvSpPr>
          <p:cNvPr id="14" name="TextBox 13"/>
          <p:cNvSpPr txBox="1"/>
          <p:nvPr/>
        </p:nvSpPr>
        <p:spPr>
          <a:xfrm>
            <a:off x="4983480" y="1426464"/>
            <a:ext cx="2706624" cy="310896"/>
          </a:xfrm>
          <a:prstGeom prst="rect">
            <a:avLst/>
          </a:prstGeom>
          <a:noFill/>
        </p:spPr>
        <p:txBody>
          <a:bodyPr wrap="square" lIns="0" tIns="0" rIns="0" bIns="0" anchor="ctr">
            <a:spAutoFit/>
          </a:bodyPr>
          <a:lstStyle/>
          <a:p>
            <a:pPr algn="l">
              <a:lnSpc>
                <a:spcPct val="100000"/>
              </a:lnSpc>
              <a:spcAft>
                <a:spcPts val="0"/>
              </a:spcAft>
            </a:pPr>
            <a:r>
              <a:rPr sz="1300" b="1" i="0">
                <a:solidFill>
                  <a:srgbClr val="0B4F6C"/>
                </a:solidFill>
                <a:latin typeface="Cambria"/>
              </a:rPr>
              <a:t>Add better features</a:t>
            </a:r>
          </a:p>
        </p:txBody>
      </p:sp>
      <p:sp>
        <p:nvSpPr>
          <p:cNvPr id="15" name="TextBox 14"/>
          <p:cNvSpPr txBox="1"/>
          <p:nvPr/>
        </p:nvSpPr>
        <p:spPr>
          <a:xfrm>
            <a:off x="4526280" y="1847088"/>
            <a:ext cx="3127248" cy="566928"/>
          </a:xfrm>
          <a:prstGeom prst="rect">
            <a:avLst/>
          </a:prstGeom>
          <a:noFill/>
        </p:spPr>
        <p:txBody>
          <a:bodyPr wrap="square" lIns="0" tIns="0" rIns="0" bIns="0" anchor="t">
            <a:spAutoFit/>
          </a:bodyPr>
          <a:lstStyle/>
          <a:p>
            <a:pPr algn="l">
              <a:lnSpc>
                <a:spcPct val="115000"/>
              </a:lnSpc>
              <a:spcAft>
                <a:spcPts val="0"/>
              </a:spcAft>
            </a:pPr>
            <a:r>
              <a:rPr sz="950" b="0" i="0">
                <a:solidFill>
                  <a:srgbClr val="33424D"/>
                </a:solidFill>
                <a:latin typeface="Calibri"/>
              </a:rPr>
              <a:t>Measure side-to-side motion and how close cars get, and combine the 'what happened' and 'when it happened' signals so odd behaviour stands out.</a:t>
            </a:r>
          </a:p>
        </p:txBody>
      </p:sp>
      <p:sp>
        <p:nvSpPr>
          <p:cNvPr id="16" name="Rounded Rectangle 15"/>
          <p:cNvSpPr/>
          <p:nvPr/>
        </p:nvSpPr>
        <p:spPr>
          <a:xfrm>
            <a:off x="8055864" y="1243584"/>
            <a:ext cx="3529584" cy="1243584"/>
          </a:xfrm>
          <a:prstGeom prst="roundRect">
            <a:avLst>
              <a:gd name="adj" fmla="val 6000"/>
            </a:avLst>
          </a:prstGeom>
          <a:solidFill>
            <a:srgbClr val="FFFFFF"/>
          </a:solidFill>
          <a:ln w="9525">
            <a:solidFill>
              <a:srgbClr val="D5DD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Oval 16"/>
          <p:cNvSpPr/>
          <p:nvPr/>
        </p:nvSpPr>
        <p:spPr>
          <a:xfrm>
            <a:off x="8238744" y="1399032"/>
            <a:ext cx="365760" cy="365760"/>
          </a:xfrm>
          <a:prstGeom prst="ellipse">
            <a:avLst/>
          </a:prstGeom>
          <a:solidFill>
            <a:srgbClr val="C97B2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mbria"/>
              </a:rPr>
              <a:t>3</a:t>
            </a:r>
          </a:p>
        </p:txBody>
      </p:sp>
      <p:sp>
        <p:nvSpPr>
          <p:cNvPr id="18" name="TextBox 17"/>
          <p:cNvSpPr txBox="1"/>
          <p:nvPr/>
        </p:nvSpPr>
        <p:spPr>
          <a:xfrm>
            <a:off x="8714232" y="1426464"/>
            <a:ext cx="2706624" cy="310896"/>
          </a:xfrm>
          <a:prstGeom prst="rect">
            <a:avLst/>
          </a:prstGeom>
          <a:noFill/>
        </p:spPr>
        <p:txBody>
          <a:bodyPr wrap="square" lIns="0" tIns="0" rIns="0" bIns="0" anchor="ctr">
            <a:spAutoFit/>
          </a:bodyPr>
          <a:lstStyle/>
          <a:p>
            <a:pPr algn="l">
              <a:lnSpc>
                <a:spcPct val="100000"/>
              </a:lnSpc>
              <a:spcAft>
                <a:spcPts val="0"/>
              </a:spcAft>
            </a:pPr>
            <a:r>
              <a:rPr sz="1300" b="1" i="0">
                <a:solidFill>
                  <a:srgbClr val="0B4F6C"/>
                </a:solidFill>
                <a:latin typeface="Cambria"/>
              </a:rPr>
              <a:t>Calibrate the cameras</a:t>
            </a:r>
          </a:p>
        </p:txBody>
      </p:sp>
      <p:sp>
        <p:nvSpPr>
          <p:cNvPr id="19" name="TextBox 18"/>
          <p:cNvSpPr txBox="1"/>
          <p:nvPr/>
        </p:nvSpPr>
        <p:spPr>
          <a:xfrm>
            <a:off x="8257032" y="1847088"/>
            <a:ext cx="3127248" cy="566928"/>
          </a:xfrm>
          <a:prstGeom prst="rect">
            <a:avLst/>
          </a:prstGeom>
          <a:noFill/>
        </p:spPr>
        <p:txBody>
          <a:bodyPr wrap="square" lIns="0" tIns="0" rIns="0" bIns="0" anchor="t">
            <a:spAutoFit/>
          </a:bodyPr>
          <a:lstStyle/>
          <a:p>
            <a:pPr algn="l">
              <a:lnSpc>
                <a:spcPct val="115000"/>
              </a:lnSpc>
              <a:spcAft>
                <a:spcPts val="0"/>
              </a:spcAft>
            </a:pPr>
            <a:r>
              <a:rPr sz="950" b="0" i="0">
                <a:solidFill>
                  <a:srgbClr val="33424D"/>
                </a:solidFill>
                <a:latin typeface="Calibri"/>
              </a:rPr>
              <a:t>Check each camera's real accuracy at its own spot before trusting it, so it helps the fusion instead of hurting it.</a:t>
            </a:r>
          </a:p>
        </p:txBody>
      </p:sp>
      <p:sp>
        <p:nvSpPr>
          <p:cNvPr id="20" name="Rounded Rectangle 19"/>
          <p:cNvSpPr/>
          <p:nvPr/>
        </p:nvSpPr>
        <p:spPr>
          <a:xfrm>
            <a:off x="594360" y="2624328"/>
            <a:ext cx="3529584" cy="1243584"/>
          </a:xfrm>
          <a:prstGeom prst="roundRect">
            <a:avLst>
              <a:gd name="adj" fmla="val 6000"/>
            </a:avLst>
          </a:prstGeom>
          <a:solidFill>
            <a:srgbClr val="FFFFFF"/>
          </a:solidFill>
          <a:ln w="9525">
            <a:solidFill>
              <a:srgbClr val="D5DD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Oval 20"/>
          <p:cNvSpPr/>
          <p:nvPr/>
        </p:nvSpPr>
        <p:spPr>
          <a:xfrm>
            <a:off x="777240" y="2779776"/>
            <a:ext cx="365760" cy="3657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mbria"/>
              </a:rPr>
              <a:t>4</a:t>
            </a:r>
          </a:p>
        </p:txBody>
      </p:sp>
      <p:sp>
        <p:nvSpPr>
          <p:cNvPr id="22" name="TextBox 21"/>
          <p:cNvSpPr txBox="1"/>
          <p:nvPr/>
        </p:nvSpPr>
        <p:spPr>
          <a:xfrm>
            <a:off x="1252728" y="2807208"/>
            <a:ext cx="2706624" cy="310896"/>
          </a:xfrm>
          <a:prstGeom prst="rect">
            <a:avLst/>
          </a:prstGeom>
          <a:noFill/>
        </p:spPr>
        <p:txBody>
          <a:bodyPr wrap="square" lIns="0" tIns="0" rIns="0" bIns="0" anchor="ctr">
            <a:spAutoFit/>
          </a:bodyPr>
          <a:lstStyle/>
          <a:p>
            <a:pPr algn="l">
              <a:lnSpc>
                <a:spcPct val="100000"/>
              </a:lnSpc>
              <a:spcAft>
                <a:spcPts val="0"/>
              </a:spcAft>
            </a:pPr>
            <a:r>
              <a:rPr sz="1300" b="1" i="0">
                <a:solidFill>
                  <a:srgbClr val="0B4F6C"/>
                </a:solidFill>
                <a:latin typeface="Cambria"/>
              </a:rPr>
              <a:t>Test on real streets</a:t>
            </a:r>
          </a:p>
        </p:txBody>
      </p:sp>
      <p:sp>
        <p:nvSpPr>
          <p:cNvPr id="23" name="TextBox 22"/>
          <p:cNvSpPr txBox="1"/>
          <p:nvPr/>
        </p:nvSpPr>
        <p:spPr>
          <a:xfrm>
            <a:off x="795528" y="3227832"/>
            <a:ext cx="3127248" cy="566928"/>
          </a:xfrm>
          <a:prstGeom prst="rect">
            <a:avLst/>
          </a:prstGeom>
          <a:noFill/>
        </p:spPr>
        <p:txBody>
          <a:bodyPr wrap="square" lIns="0" tIns="0" rIns="0" bIns="0" anchor="t">
            <a:spAutoFit/>
          </a:bodyPr>
          <a:lstStyle/>
          <a:p>
            <a:pPr algn="l">
              <a:lnSpc>
                <a:spcPct val="115000"/>
              </a:lnSpc>
              <a:spcAft>
                <a:spcPts val="0"/>
              </a:spcAft>
            </a:pPr>
            <a:r>
              <a:rPr sz="950" b="0" i="0">
                <a:solidFill>
                  <a:srgbClr val="33424D"/>
                </a:solidFill>
                <a:latin typeface="Calibri"/>
              </a:rPr>
              <a:t>Put a real DAS device on an instrumented street and run a longer real-world trial, building on our single Klausner recording.</a:t>
            </a:r>
          </a:p>
        </p:txBody>
      </p:sp>
      <p:sp>
        <p:nvSpPr>
          <p:cNvPr id="24" name="Rounded Rectangle 23"/>
          <p:cNvSpPr/>
          <p:nvPr/>
        </p:nvSpPr>
        <p:spPr>
          <a:xfrm>
            <a:off x="4325112" y="2624328"/>
            <a:ext cx="3529584" cy="1243584"/>
          </a:xfrm>
          <a:prstGeom prst="roundRect">
            <a:avLst>
              <a:gd name="adj" fmla="val 6000"/>
            </a:avLst>
          </a:prstGeom>
          <a:solidFill>
            <a:srgbClr val="FFFFFF"/>
          </a:solidFill>
          <a:ln w="9525">
            <a:solidFill>
              <a:srgbClr val="D5DD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Oval 24"/>
          <p:cNvSpPr/>
          <p:nvPr/>
        </p:nvSpPr>
        <p:spPr>
          <a:xfrm>
            <a:off x="4507992" y="2779776"/>
            <a:ext cx="365760" cy="365760"/>
          </a:xfrm>
          <a:prstGeom prst="ellipse">
            <a:avLst/>
          </a:prstGeom>
          <a:solidFill>
            <a:srgbClr val="C97B2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mbria"/>
              </a:rPr>
              <a:t>5</a:t>
            </a:r>
          </a:p>
        </p:txBody>
      </p:sp>
      <p:sp>
        <p:nvSpPr>
          <p:cNvPr id="26" name="TextBox 25"/>
          <p:cNvSpPr txBox="1"/>
          <p:nvPr/>
        </p:nvSpPr>
        <p:spPr>
          <a:xfrm>
            <a:off x="4983480" y="2807208"/>
            <a:ext cx="2706624" cy="310896"/>
          </a:xfrm>
          <a:prstGeom prst="rect">
            <a:avLst/>
          </a:prstGeom>
          <a:noFill/>
        </p:spPr>
        <p:txBody>
          <a:bodyPr wrap="square" lIns="0" tIns="0" rIns="0" bIns="0" anchor="ctr">
            <a:spAutoFit/>
          </a:bodyPr>
          <a:lstStyle/>
          <a:p>
            <a:pPr algn="l">
              <a:lnSpc>
                <a:spcPct val="100000"/>
              </a:lnSpc>
              <a:spcAft>
                <a:spcPts val="0"/>
              </a:spcAft>
            </a:pPr>
            <a:r>
              <a:rPr sz="1300" b="1" i="0">
                <a:solidFill>
                  <a:srgbClr val="0B4F6C"/>
                </a:solidFill>
                <a:latin typeface="Cambria"/>
              </a:rPr>
              <a:t>Use the raw fiber signal</a:t>
            </a:r>
          </a:p>
        </p:txBody>
      </p:sp>
      <p:sp>
        <p:nvSpPr>
          <p:cNvPr id="27" name="TextBox 26"/>
          <p:cNvSpPr txBox="1"/>
          <p:nvPr/>
        </p:nvSpPr>
        <p:spPr>
          <a:xfrm>
            <a:off x="4526280" y="3227832"/>
            <a:ext cx="3127248" cy="566928"/>
          </a:xfrm>
          <a:prstGeom prst="rect">
            <a:avLst/>
          </a:prstGeom>
          <a:noFill/>
        </p:spPr>
        <p:txBody>
          <a:bodyPr wrap="square" lIns="0" tIns="0" rIns="0" bIns="0" anchor="t">
            <a:spAutoFit/>
          </a:bodyPr>
          <a:lstStyle/>
          <a:p>
            <a:pPr algn="l">
              <a:lnSpc>
                <a:spcPct val="115000"/>
              </a:lnSpc>
              <a:spcAft>
                <a:spcPts val="0"/>
              </a:spcAft>
            </a:pPr>
            <a:r>
              <a:rPr sz="950" b="0" i="0">
                <a:solidFill>
                  <a:srgbClr val="33424D"/>
                </a:solidFill>
                <a:latin typeface="Calibri"/>
              </a:rPr>
              <a:t>Work directly with the full DAS signal, not just simplified numbers, to detect events earlier and in more detail.</a:t>
            </a:r>
          </a:p>
        </p:txBody>
      </p:sp>
      <p:sp>
        <p:nvSpPr>
          <p:cNvPr id="28" name="Rounded Rectangle 27"/>
          <p:cNvSpPr/>
          <p:nvPr/>
        </p:nvSpPr>
        <p:spPr>
          <a:xfrm>
            <a:off x="8055864" y="2624328"/>
            <a:ext cx="3529584" cy="1243584"/>
          </a:xfrm>
          <a:prstGeom prst="roundRect">
            <a:avLst>
              <a:gd name="adj" fmla="val 6000"/>
            </a:avLst>
          </a:prstGeom>
          <a:solidFill>
            <a:srgbClr val="FFFFFF"/>
          </a:solidFill>
          <a:ln w="9525">
            <a:solidFill>
              <a:srgbClr val="D5DD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9" name="Oval 28"/>
          <p:cNvSpPr/>
          <p:nvPr/>
        </p:nvSpPr>
        <p:spPr>
          <a:xfrm>
            <a:off x="8238744" y="2779776"/>
            <a:ext cx="365760" cy="3657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mbria"/>
              </a:rPr>
              <a:t>6</a:t>
            </a:r>
          </a:p>
        </p:txBody>
      </p:sp>
      <p:sp>
        <p:nvSpPr>
          <p:cNvPr id="30" name="TextBox 29"/>
          <p:cNvSpPr txBox="1"/>
          <p:nvPr/>
        </p:nvSpPr>
        <p:spPr>
          <a:xfrm>
            <a:off x="8714232" y="2807208"/>
            <a:ext cx="2706624" cy="310896"/>
          </a:xfrm>
          <a:prstGeom prst="rect">
            <a:avLst/>
          </a:prstGeom>
          <a:noFill/>
        </p:spPr>
        <p:txBody>
          <a:bodyPr wrap="square" lIns="0" tIns="0" rIns="0" bIns="0" anchor="ctr">
            <a:spAutoFit/>
          </a:bodyPr>
          <a:lstStyle/>
          <a:p>
            <a:pPr algn="l">
              <a:lnSpc>
                <a:spcPct val="100000"/>
              </a:lnSpc>
              <a:spcAft>
                <a:spcPts val="0"/>
              </a:spcAft>
            </a:pPr>
            <a:r>
              <a:rPr sz="1300" b="1" i="0">
                <a:solidFill>
                  <a:srgbClr val="0B4F6C"/>
                </a:solidFill>
                <a:latin typeface="Cambria"/>
              </a:rPr>
              <a:t>Run it live, city-wide</a:t>
            </a:r>
          </a:p>
        </p:txBody>
      </p:sp>
      <p:sp>
        <p:nvSpPr>
          <p:cNvPr id="31" name="TextBox 30"/>
          <p:cNvSpPr txBox="1"/>
          <p:nvPr/>
        </p:nvSpPr>
        <p:spPr>
          <a:xfrm>
            <a:off x="8257032" y="3227832"/>
            <a:ext cx="3127248" cy="566928"/>
          </a:xfrm>
          <a:prstGeom prst="rect">
            <a:avLst/>
          </a:prstGeom>
          <a:noFill/>
        </p:spPr>
        <p:txBody>
          <a:bodyPr wrap="square" lIns="0" tIns="0" rIns="0" bIns="0" anchor="t">
            <a:spAutoFit/>
          </a:bodyPr>
          <a:lstStyle/>
          <a:p>
            <a:pPr algn="l">
              <a:lnSpc>
                <a:spcPct val="115000"/>
              </a:lnSpc>
              <a:spcAft>
                <a:spcPts val="0"/>
              </a:spcAft>
            </a:pPr>
            <a:r>
              <a:rPr sz="950" b="0" i="0">
                <a:solidFill>
                  <a:srgbClr val="33424D"/>
                </a:solidFill>
                <a:latin typeface="Calibri"/>
              </a:rPr>
              <a:t>Make it fast enough for real time, follow cars across many intersections, and show live tracks and alerts on a dashboard.</a:t>
            </a:r>
          </a:p>
        </p:txBody>
      </p:sp>
      <p:sp>
        <p:nvSpPr>
          <p:cNvPr id="32" name="TextBox 31"/>
          <p:cNvSpPr txBox="1"/>
          <p:nvPr/>
        </p:nvSpPr>
        <p:spPr>
          <a:xfrm>
            <a:off x="621792" y="3950208"/>
            <a:ext cx="5486400" cy="237744"/>
          </a:xfrm>
          <a:prstGeom prst="rect">
            <a:avLst/>
          </a:prstGeom>
          <a:noFill/>
        </p:spPr>
        <p:txBody>
          <a:bodyPr wrap="square" lIns="0" tIns="0" rIns="0" bIns="0" anchor="t">
            <a:spAutoFit/>
          </a:bodyPr>
          <a:lstStyle/>
          <a:p>
            <a:pPr algn="l">
              <a:lnSpc>
                <a:spcPct val="100000"/>
              </a:lnSpc>
              <a:spcAft>
                <a:spcPts val="0"/>
              </a:spcAft>
            </a:pPr>
            <a:r>
              <a:rPr sz="1100" b="1" i="0">
                <a:solidFill>
                  <a:srgbClr val="1C7293"/>
                </a:solidFill>
                <a:latin typeface="Cambria"/>
              </a:rPr>
              <a:t>PROJECT DOCUMENTATION</a:t>
            </a:r>
          </a:p>
        </p:txBody>
      </p:sp>
      <p:sp>
        <p:nvSpPr>
          <p:cNvPr id="33" name="Rounded Rectangle 32"/>
          <p:cNvSpPr/>
          <p:nvPr/>
        </p:nvSpPr>
        <p:spPr>
          <a:xfrm>
            <a:off x="594360" y="4206240"/>
            <a:ext cx="3529584" cy="100584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4" name="TextBox 33"/>
          <p:cNvSpPr txBox="1"/>
          <p:nvPr/>
        </p:nvSpPr>
        <p:spPr>
          <a:xfrm>
            <a:off x="795528" y="4325112"/>
            <a:ext cx="3127248" cy="237744"/>
          </a:xfrm>
          <a:prstGeom prst="rect">
            <a:avLst/>
          </a:prstGeom>
          <a:noFill/>
        </p:spPr>
        <p:txBody>
          <a:bodyPr wrap="square" lIns="0" tIns="0" rIns="0" bIns="0" anchor="t">
            <a:spAutoFit/>
          </a:bodyPr>
          <a:lstStyle/>
          <a:p>
            <a:pPr algn="l">
              <a:lnSpc>
                <a:spcPct val="100000"/>
              </a:lnSpc>
              <a:spcAft>
                <a:spcPts val="0"/>
              </a:spcAft>
            </a:pPr>
            <a:r>
              <a:rPr sz="1250" b="1" i="0">
                <a:solidFill>
                  <a:srgbClr val="0B4F6C"/>
                </a:solidFill>
                <a:latin typeface="Cambria"/>
              </a:rPr>
              <a:t>SimStudio</a:t>
            </a:r>
          </a:p>
        </p:txBody>
      </p:sp>
      <p:sp>
        <p:nvSpPr>
          <p:cNvPr id="35" name="TextBox 34"/>
          <p:cNvSpPr txBox="1"/>
          <p:nvPr/>
        </p:nvSpPr>
        <p:spPr>
          <a:xfrm>
            <a:off x="795528" y="4617720"/>
            <a:ext cx="3127248" cy="548640"/>
          </a:xfrm>
          <a:prstGeom prst="rect">
            <a:avLst/>
          </a:prstGeom>
          <a:noFill/>
        </p:spPr>
        <p:txBody>
          <a:bodyPr wrap="square" lIns="0" tIns="0" rIns="0" bIns="0" anchor="t">
            <a:spAutoFit/>
          </a:bodyPr>
          <a:lstStyle/>
          <a:p>
            <a:pPr algn="l">
              <a:lnSpc>
                <a:spcPct val="115000"/>
              </a:lnSpc>
              <a:spcAft>
                <a:spcPts val="0"/>
              </a:spcAft>
            </a:pPr>
            <a:r>
              <a:rPr sz="900" b="0" i="0">
                <a:solidFill>
                  <a:srgbClr val="33424D"/>
                </a:solidFill>
                <a:latin typeface="Calibri"/>
              </a:rPr>
              <a:t>Engine &amp; sensor models, event bus, track manager, Kalman fusion, export/audit, Tkinter editor; install script + packaged macOS app.</a:t>
            </a:r>
          </a:p>
        </p:txBody>
      </p:sp>
      <p:sp>
        <p:nvSpPr>
          <p:cNvPr id="36" name="Rounded Rectangle 35"/>
          <p:cNvSpPr/>
          <p:nvPr/>
        </p:nvSpPr>
        <p:spPr>
          <a:xfrm>
            <a:off x="4325112" y="4206240"/>
            <a:ext cx="3529584" cy="100584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7" name="TextBox 36"/>
          <p:cNvSpPr txBox="1"/>
          <p:nvPr/>
        </p:nvSpPr>
        <p:spPr>
          <a:xfrm>
            <a:off x="4526280" y="4325112"/>
            <a:ext cx="3127248" cy="237744"/>
          </a:xfrm>
          <a:prstGeom prst="rect">
            <a:avLst/>
          </a:prstGeom>
          <a:noFill/>
        </p:spPr>
        <p:txBody>
          <a:bodyPr wrap="square" lIns="0" tIns="0" rIns="0" bIns="0" anchor="t">
            <a:spAutoFit/>
          </a:bodyPr>
          <a:lstStyle/>
          <a:p>
            <a:pPr algn="l">
              <a:lnSpc>
                <a:spcPct val="100000"/>
              </a:lnSpc>
              <a:spcAft>
                <a:spcPts val="0"/>
              </a:spcAft>
            </a:pPr>
            <a:r>
              <a:rPr sz="1250" b="1" i="0">
                <a:solidFill>
                  <a:srgbClr val="0B4F6C"/>
                </a:solidFill>
                <a:latin typeface="Cambria"/>
              </a:rPr>
              <a:t>Anomaly model &amp; tests</a:t>
            </a:r>
          </a:p>
        </p:txBody>
      </p:sp>
      <p:sp>
        <p:nvSpPr>
          <p:cNvPr id="38" name="TextBox 37"/>
          <p:cNvSpPr txBox="1"/>
          <p:nvPr/>
        </p:nvSpPr>
        <p:spPr>
          <a:xfrm>
            <a:off x="4526280" y="4617720"/>
            <a:ext cx="3127248" cy="548640"/>
          </a:xfrm>
          <a:prstGeom prst="rect">
            <a:avLst/>
          </a:prstGeom>
          <a:noFill/>
        </p:spPr>
        <p:txBody>
          <a:bodyPr wrap="square" lIns="0" tIns="0" rIns="0" bIns="0" anchor="t">
            <a:spAutoFit/>
          </a:bodyPr>
          <a:lstStyle/>
          <a:p>
            <a:pPr algn="l">
              <a:lnSpc>
                <a:spcPct val="115000"/>
              </a:lnSpc>
              <a:spcAft>
                <a:spcPts val="0"/>
              </a:spcAft>
            </a:pPr>
            <a:r>
              <a:rPr sz="900" b="0" i="0">
                <a:solidFill>
                  <a:srgbClr val="33424D"/>
                </a:solidFill>
                <a:latin typeface="Calibri"/>
              </a:rPr>
              <a:t>Feature extractor, CUSUM detector, per-feature Z-score scorer, batch scripts; pytest across simulator core, filter, tracker and export.</a:t>
            </a:r>
          </a:p>
        </p:txBody>
      </p:sp>
      <p:sp>
        <p:nvSpPr>
          <p:cNvPr id="39" name="Rounded Rectangle 38"/>
          <p:cNvSpPr/>
          <p:nvPr/>
        </p:nvSpPr>
        <p:spPr>
          <a:xfrm>
            <a:off x="8055864" y="4206240"/>
            <a:ext cx="3529584" cy="100584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0" name="TextBox 39"/>
          <p:cNvSpPr txBox="1"/>
          <p:nvPr/>
        </p:nvSpPr>
        <p:spPr>
          <a:xfrm>
            <a:off x="8257032" y="4325112"/>
            <a:ext cx="3127248" cy="237744"/>
          </a:xfrm>
          <a:prstGeom prst="rect">
            <a:avLst/>
          </a:prstGeom>
          <a:noFill/>
        </p:spPr>
        <p:txBody>
          <a:bodyPr wrap="square" lIns="0" tIns="0" rIns="0" bIns="0" anchor="t">
            <a:spAutoFit/>
          </a:bodyPr>
          <a:lstStyle/>
          <a:p>
            <a:pPr algn="l">
              <a:lnSpc>
                <a:spcPct val="100000"/>
              </a:lnSpc>
              <a:spcAft>
                <a:spcPts val="0"/>
              </a:spcAft>
            </a:pPr>
            <a:r>
              <a:rPr sz="1250" b="1" i="0">
                <a:solidFill>
                  <a:srgbClr val="0B4F6C"/>
                </a:solidFill>
                <a:latin typeface="Cambria"/>
              </a:rPr>
              <a:t>Data &amp; repository</a:t>
            </a:r>
          </a:p>
        </p:txBody>
      </p:sp>
      <p:sp>
        <p:nvSpPr>
          <p:cNvPr id="41" name="TextBox 40"/>
          <p:cNvSpPr txBox="1"/>
          <p:nvPr/>
        </p:nvSpPr>
        <p:spPr>
          <a:xfrm>
            <a:off x="8257032" y="4617720"/>
            <a:ext cx="3127248" cy="548640"/>
          </a:xfrm>
          <a:prstGeom prst="rect">
            <a:avLst/>
          </a:prstGeom>
          <a:noFill/>
        </p:spPr>
        <p:txBody>
          <a:bodyPr wrap="square" lIns="0" tIns="0" rIns="0" bIns="0" anchor="t">
            <a:spAutoFit/>
          </a:bodyPr>
          <a:lstStyle/>
          <a:p>
            <a:pPr algn="l">
              <a:lnSpc>
                <a:spcPct val="115000"/>
              </a:lnSpc>
              <a:spcAft>
                <a:spcPts val="0"/>
              </a:spcAft>
            </a:pPr>
            <a:r>
              <a:rPr sz="900" b="0" i="0">
                <a:solidFill>
                  <a:srgbClr val="33424D"/>
                </a:solidFill>
                <a:latin typeface="Calibri"/>
              </a:rPr>
              <a:t>OSM networks, ~150 normal scenarios (12 conditions) + 9 injected-anomaly scenarios; README, changelog, validation protocol — github.com/noasapir3/simstudio-das-fusion</a:t>
            </a:r>
          </a:p>
        </p:txBody>
      </p:sp>
      <p:sp>
        <p:nvSpPr>
          <p:cNvPr id="42" name="Rounded Rectangle 41"/>
          <p:cNvSpPr/>
          <p:nvPr/>
        </p:nvSpPr>
        <p:spPr>
          <a:xfrm>
            <a:off x="594360" y="5358384"/>
            <a:ext cx="10927080" cy="969264"/>
          </a:xfrm>
          <a:prstGeom prst="roundRect">
            <a:avLst>
              <a:gd name="adj" fmla="val 6000"/>
            </a:avLst>
          </a:prstGeom>
          <a:noFill/>
          <a:ln w="9525">
            <a:solidFill>
              <a:srgbClr val="D5DD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3" name="TextBox 42"/>
          <p:cNvSpPr txBox="1"/>
          <p:nvPr/>
        </p:nvSpPr>
        <p:spPr>
          <a:xfrm>
            <a:off x="594360" y="5440680"/>
            <a:ext cx="10927080" cy="219456"/>
          </a:xfrm>
          <a:prstGeom prst="rect">
            <a:avLst/>
          </a:prstGeom>
          <a:noFill/>
        </p:spPr>
        <p:txBody>
          <a:bodyPr wrap="square" lIns="0" tIns="0" rIns="0" bIns="0" anchor="t">
            <a:spAutoFit/>
          </a:bodyPr>
          <a:lstStyle/>
          <a:p>
            <a:pPr algn="ctr">
              <a:lnSpc>
                <a:spcPct val="100000"/>
              </a:lnSpc>
              <a:spcAft>
                <a:spcPts val="0"/>
              </a:spcAft>
            </a:pPr>
            <a:r>
              <a:rPr sz="1050" b="1" i="0">
                <a:solidFill>
                  <a:srgbClr val="1C7293"/>
                </a:solidFill>
                <a:latin typeface="Cambria"/>
              </a:rPr>
              <a:t>KEY REFERENCES</a:t>
            </a:r>
          </a:p>
        </p:txBody>
      </p:sp>
      <p:sp>
        <p:nvSpPr>
          <p:cNvPr id="44" name="TextBox 43"/>
          <p:cNvSpPr txBox="1"/>
          <p:nvPr/>
        </p:nvSpPr>
        <p:spPr>
          <a:xfrm>
            <a:off x="822960" y="5705856"/>
            <a:ext cx="10515600" cy="566928"/>
          </a:xfrm>
          <a:prstGeom prst="rect">
            <a:avLst/>
          </a:prstGeom>
          <a:noFill/>
        </p:spPr>
        <p:txBody>
          <a:bodyPr wrap="square" lIns="0" tIns="0" rIns="0" bIns="0" anchor="t">
            <a:spAutoFit/>
          </a:bodyPr>
          <a:lstStyle/>
          <a:p>
            <a:pPr>
              <a:lnSpc>
                <a:spcPct val="110000"/>
              </a:lnSpc>
              <a:spcAft>
                <a:spcPts val="300"/>
              </a:spcAft>
            </a:pPr>
            <a:r>
              <a:rPr sz="900" b="1">
                <a:solidFill>
                  <a:srgbClr val="6B7A85"/>
                </a:solidFill>
                <a:latin typeface="Calibri"/>
              </a:rPr>
              <a:t>○   </a:t>
            </a:r>
            <a:r>
              <a:rPr sz="900" b="0">
                <a:solidFill>
                  <a:srgbClr val="33424D"/>
                </a:solidFill>
                <a:latin typeface="Calibri"/>
              </a:rPr>
              <a:t>Cohen, K., Hen, L., &amp; Lellouch, A. "A fiber-optic traffic monitoring network trained with video inputs," Scientific Reports, vol. 15, art. 14928, 2025 (arXiv:2412.12743).</a:t>
            </a:r>
          </a:p>
          <a:p>
            <a:pPr>
              <a:lnSpc>
                <a:spcPct val="110000"/>
              </a:lnSpc>
              <a:spcAft>
                <a:spcPts val="300"/>
              </a:spcAft>
            </a:pPr>
            <a:r>
              <a:rPr sz="900" b="1">
                <a:solidFill>
                  <a:srgbClr val="6B7A85"/>
                </a:solidFill>
                <a:latin typeface="Calibri"/>
              </a:rPr>
              <a:t>○   </a:t>
            </a:r>
            <a:r>
              <a:rPr sz="900" b="0">
                <a:solidFill>
                  <a:srgbClr val="33424D"/>
                </a:solidFill>
                <a:latin typeface="Calibri"/>
              </a:rPr>
              <a:t>Kalman, R. E. J. Basic Eng. 82(1):35–45, 1960.   ·   Page, E. S. Biometrika 41(1–2):100–115, 1954.   ·   Welch &amp; Bishop, "An Introduction to the Kalman Filter," UNC.   ·   OpenStreetMap contributors.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2430</TotalTime>
  <Words>4829</Words>
  <Application>Microsoft Macintosh PowerPoint</Application>
  <PresentationFormat>Widescreen</PresentationFormat>
  <Paragraphs>393</Paragraphs>
  <Slides>12</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Cambria</vt:lpstr>
      <vt:lpstr>Cambria Math</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Nitai Dobrecki</cp:lastModifiedBy>
  <cp:revision>5</cp:revision>
  <dcterms:created xsi:type="dcterms:W3CDTF">2013-01-27T09:14:16Z</dcterms:created>
  <dcterms:modified xsi:type="dcterms:W3CDTF">2026-07-14T11:16:22Z</dcterms:modified>
  <cp:category/>
</cp:coreProperties>
</file>